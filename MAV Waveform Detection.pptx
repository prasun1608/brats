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6" r:id="rId1"/>
    <p:sldMasterId id="2147484193" r:id="rId2"/>
  </p:sldMasterIdLst>
  <p:notesMasterIdLst>
    <p:notesMasterId r:id="rId48"/>
  </p:notesMasterIdLst>
  <p:handoutMasterIdLst>
    <p:handoutMasterId r:id="rId49"/>
  </p:handoutMasterIdLst>
  <p:sldIdLst>
    <p:sldId id="269" r:id="rId3"/>
    <p:sldId id="270" r:id="rId4"/>
    <p:sldId id="283" r:id="rId5"/>
    <p:sldId id="271" r:id="rId6"/>
    <p:sldId id="284" r:id="rId7"/>
    <p:sldId id="285" r:id="rId8"/>
    <p:sldId id="300" r:id="rId9"/>
    <p:sldId id="301" r:id="rId10"/>
    <p:sldId id="302" r:id="rId11"/>
    <p:sldId id="307" r:id="rId12"/>
    <p:sldId id="309" r:id="rId13"/>
    <p:sldId id="310" r:id="rId14"/>
    <p:sldId id="313" r:id="rId15"/>
    <p:sldId id="314" r:id="rId16"/>
    <p:sldId id="303" r:id="rId17"/>
    <p:sldId id="305" r:id="rId18"/>
    <p:sldId id="308" r:id="rId19"/>
    <p:sldId id="311" r:id="rId20"/>
    <p:sldId id="317" r:id="rId21"/>
    <p:sldId id="315" r:id="rId22"/>
    <p:sldId id="319" r:id="rId23"/>
    <p:sldId id="320" r:id="rId24"/>
    <p:sldId id="322" r:id="rId25"/>
    <p:sldId id="323" r:id="rId26"/>
    <p:sldId id="324" r:id="rId27"/>
    <p:sldId id="327" r:id="rId28"/>
    <p:sldId id="328" r:id="rId29"/>
    <p:sldId id="325" r:id="rId30"/>
    <p:sldId id="326" r:id="rId31"/>
    <p:sldId id="329" r:id="rId32"/>
    <p:sldId id="331" r:id="rId33"/>
    <p:sldId id="330" r:id="rId34"/>
    <p:sldId id="332" r:id="rId35"/>
    <p:sldId id="333" r:id="rId36"/>
    <p:sldId id="334" r:id="rId37"/>
    <p:sldId id="335" r:id="rId38"/>
    <p:sldId id="336" r:id="rId39"/>
    <p:sldId id="337" r:id="rId40"/>
    <p:sldId id="338" r:id="rId41"/>
    <p:sldId id="339" r:id="rId42"/>
    <p:sldId id="340" r:id="rId43"/>
    <p:sldId id="341" r:id="rId44"/>
    <p:sldId id="342" r:id="rId45"/>
    <p:sldId id="343" r:id="rId46"/>
    <p:sldId id="274"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100"/>
    <a:srgbClr val="64A70B"/>
    <a:srgbClr val="C00D1E"/>
    <a:srgbClr val="FF6EF3"/>
    <a:srgbClr val="59595B"/>
    <a:srgbClr val="D1D2D4"/>
    <a:srgbClr val="818386"/>
    <a:srgbClr val="280071"/>
    <a:srgbClr val="00A3E1"/>
    <a:srgbClr val="808284"/>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7239"/>
  </p:normalViewPr>
  <p:slideViewPr>
    <p:cSldViewPr snapToGrid="0">
      <p:cViewPr varScale="1">
        <p:scale>
          <a:sx n="62" d="100"/>
          <a:sy n="62" d="100"/>
        </p:scale>
        <p:origin x="868" y="52"/>
      </p:cViewPr>
      <p:guideLst/>
    </p:cSldViewPr>
  </p:slideViewPr>
  <p:notesTextViewPr>
    <p:cViewPr>
      <p:scale>
        <a:sx n="3" d="2"/>
        <a:sy n="3" d="2"/>
      </p:scale>
      <p:origin x="0" y="0"/>
    </p:cViewPr>
  </p:notesTextViewPr>
  <p:sorterViewPr>
    <p:cViewPr>
      <p:scale>
        <a:sx n="200" d="100"/>
        <a:sy n="200" d="100"/>
      </p:scale>
      <p:origin x="0" y="-5296"/>
    </p:cViewPr>
  </p:sorterViewPr>
  <p:notesViewPr>
    <p:cSldViewPr snapToGrid="0">
      <p:cViewPr varScale="1">
        <p:scale>
          <a:sx n="148" d="100"/>
          <a:sy n="148" d="100"/>
        </p:scale>
        <p:origin x="5384"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3E3-2944-A875-C91D8466824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3E3-2944-A875-C91D8466824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F3E3-2944-A875-C91D8466824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F3E3-2944-A875-C91D8466824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F3E3-2944-A875-C91D84668243}"/>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688488903047677E-2"/>
          <c:y val="7.0276753914892132E-2"/>
          <c:w val="0.92786284113836681"/>
          <c:h val="0.8309444858439905"/>
        </c:manualLayout>
      </c:layout>
      <c:barChart>
        <c:barDir val="col"/>
        <c:grouping val="stacked"/>
        <c:varyColors val="0"/>
        <c:ser>
          <c:idx val="0"/>
          <c:order val="0"/>
          <c:tx>
            <c:strRef>
              <c:f>Sheet1!$B$1</c:f>
              <c:strCache>
                <c:ptCount val="1"/>
                <c:pt idx="0">
                  <c:v>Color1</c:v>
                </c:pt>
              </c:strCache>
            </c:strRef>
          </c:tx>
          <c:spPr>
            <a:solidFill>
              <a:schemeClr val="accent1"/>
            </a:solidFill>
            <a:ln w="19050">
              <a:solidFill>
                <a:schemeClr val="lt1"/>
              </a:solidFill>
            </a:ln>
            <a:effectLst/>
          </c:spPr>
          <c:invertIfNegative val="0"/>
          <c:cat>
            <c:strRef>
              <c:f>Sheet1!$A$2:$A$4</c:f>
              <c:strCache>
                <c:ptCount val="3"/>
                <c:pt idx="0">
                  <c:v>Option 1</c:v>
                </c:pt>
                <c:pt idx="1">
                  <c:v>Option 2</c:v>
                </c:pt>
                <c:pt idx="2">
                  <c:v>Option 3</c:v>
                </c:pt>
              </c:strCache>
            </c:strRef>
          </c:cat>
          <c:val>
            <c:numRef>
              <c:f>Sheet1!$B$2:$B$4</c:f>
              <c:numCache>
                <c:formatCode>General</c:formatCode>
                <c:ptCount val="3"/>
                <c:pt idx="0">
                  <c:v>8</c:v>
                </c:pt>
                <c:pt idx="1">
                  <c:v>5</c:v>
                </c:pt>
                <c:pt idx="2">
                  <c:v>9</c:v>
                </c:pt>
              </c:numCache>
            </c:numRef>
          </c:val>
          <c:extLst>
            <c:ext xmlns:c16="http://schemas.microsoft.com/office/drawing/2014/chart" uri="{C3380CC4-5D6E-409C-BE32-E72D297353CC}">
              <c16:uniqueId val="{00000000-5A5B-4E47-A7A9-16506EBB437C}"/>
            </c:ext>
          </c:extLst>
        </c:ser>
        <c:ser>
          <c:idx val="1"/>
          <c:order val="1"/>
          <c:tx>
            <c:strRef>
              <c:f>Sheet1!$C$1</c:f>
              <c:strCache>
                <c:ptCount val="1"/>
                <c:pt idx="0">
                  <c:v>Color2</c:v>
                </c:pt>
              </c:strCache>
            </c:strRef>
          </c:tx>
          <c:spPr>
            <a:solidFill>
              <a:schemeClr val="accent2"/>
            </a:solidFill>
            <a:ln w="19050">
              <a:solidFill>
                <a:schemeClr val="lt1"/>
              </a:solidFill>
            </a:ln>
            <a:effectLst/>
          </c:spPr>
          <c:invertIfNegative val="0"/>
          <c:cat>
            <c:strRef>
              <c:f>Sheet1!$A$2:$A$4</c:f>
              <c:strCache>
                <c:ptCount val="3"/>
                <c:pt idx="0">
                  <c:v>Option 1</c:v>
                </c:pt>
                <c:pt idx="1">
                  <c:v>Option 2</c:v>
                </c:pt>
                <c:pt idx="2">
                  <c:v>Option 3</c:v>
                </c:pt>
              </c:strCache>
            </c:strRef>
          </c:cat>
          <c:val>
            <c:numRef>
              <c:f>Sheet1!$C$2:$C$4</c:f>
              <c:numCache>
                <c:formatCode>General</c:formatCode>
                <c:ptCount val="3"/>
                <c:pt idx="0">
                  <c:v>5</c:v>
                </c:pt>
                <c:pt idx="1">
                  <c:v>3</c:v>
                </c:pt>
                <c:pt idx="2">
                  <c:v>10</c:v>
                </c:pt>
              </c:numCache>
            </c:numRef>
          </c:val>
          <c:extLst>
            <c:ext xmlns:c16="http://schemas.microsoft.com/office/drawing/2014/chart" uri="{C3380CC4-5D6E-409C-BE32-E72D297353CC}">
              <c16:uniqueId val="{00000001-5A5B-4E47-A7A9-16506EBB437C}"/>
            </c:ext>
          </c:extLst>
        </c:ser>
        <c:ser>
          <c:idx val="2"/>
          <c:order val="2"/>
          <c:tx>
            <c:strRef>
              <c:f>Sheet1!$D$1</c:f>
              <c:strCache>
                <c:ptCount val="1"/>
                <c:pt idx="0">
                  <c:v>Color3</c:v>
                </c:pt>
              </c:strCache>
            </c:strRef>
          </c:tx>
          <c:spPr>
            <a:solidFill>
              <a:schemeClr val="accent3"/>
            </a:solidFill>
            <a:ln w="19050">
              <a:solidFill>
                <a:schemeClr val="lt1"/>
              </a:solidFill>
            </a:ln>
            <a:effectLst/>
          </c:spPr>
          <c:invertIfNegative val="0"/>
          <c:cat>
            <c:strRef>
              <c:f>Sheet1!$A$2:$A$4</c:f>
              <c:strCache>
                <c:ptCount val="3"/>
                <c:pt idx="0">
                  <c:v>Option 1</c:v>
                </c:pt>
                <c:pt idx="1">
                  <c:v>Option 2</c:v>
                </c:pt>
                <c:pt idx="2">
                  <c:v>Option 3</c:v>
                </c:pt>
              </c:strCache>
            </c:strRef>
          </c:cat>
          <c:val>
            <c:numRef>
              <c:f>Sheet1!$D$2:$D$4</c:f>
              <c:numCache>
                <c:formatCode>General</c:formatCode>
                <c:ptCount val="3"/>
                <c:pt idx="0">
                  <c:v>4</c:v>
                </c:pt>
                <c:pt idx="1">
                  <c:v>2</c:v>
                </c:pt>
                <c:pt idx="2">
                  <c:v>1</c:v>
                </c:pt>
              </c:numCache>
            </c:numRef>
          </c:val>
          <c:extLst>
            <c:ext xmlns:c16="http://schemas.microsoft.com/office/drawing/2014/chart" uri="{C3380CC4-5D6E-409C-BE32-E72D297353CC}">
              <c16:uniqueId val="{00000002-5A5B-4E47-A7A9-16506EBB437C}"/>
            </c:ext>
          </c:extLst>
        </c:ser>
        <c:ser>
          <c:idx val="3"/>
          <c:order val="3"/>
          <c:tx>
            <c:strRef>
              <c:f>Sheet1!$E$1</c:f>
              <c:strCache>
                <c:ptCount val="1"/>
                <c:pt idx="0">
                  <c:v>Color4</c:v>
                </c:pt>
              </c:strCache>
            </c:strRef>
          </c:tx>
          <c:spPr>
            <a:solidFill>
              <a:schemeClr val="accent4"/>
            </a:solidFill>
            <a:ln w="19050">
              <a:solidFill>
                <a:schemeClr val="lt1"/>
              </a:solidFill>
            </a:ln>
            <a:effectLst/>
          </c:spPr>
          <c:invertIfNegative val="0"/>
          <c:cat>
            <c:strRef>
              <c:f>Sheet1!$A$2:$A$4</c:f>
              <c:strCache>
                <c:ptCount val="3"/>
                <c:pt idx="0">
                  <c:v>Option 1</c:v>
                </c:pt>
                <c:pt idx="1">
                  <c:v>Option 2</c:v>
                </c:pt>
                <c:pt idx="2">
                  <c:v>Option 3</c:v>
                </c:pt>
              </c:strCache>
            </c:strRef>
          </c:cat>
          <c:val>
            <c:numRef>
              <c:f>Sheet1!$E$2:$E$4</c:f>
              <c:numCache>
                <c:formatCode>General</c:formatCode>
                <c:ptCount val="3"/>
                <c:pt idx="0">
                  <c:v>1</c:v>
                </c:pt>
                <c:pt idx="1">
                  <c:v>5</c:v>
                </c:pt>
                <c:pt idx="2">
                  <c:v>2</c:v>
                </c:pt>
              </c:numCache>
            </c:numRef>
          </c:val>
          <c:extLst>
            <c:ext xmlns:c16="http://schemas.microsoft.com/office/drawing/2014/chart" uri="{C3380CC4-5D6E-409C-BE32-E72D297353CC}">
              <c16:uniqueId val="{00000003-5A5B-4E47-A7A9-16506EBB437C}"/>
            </c:ext>
          </c:extLst>
        </c:ser>
        <c:ser>
          <c:idx val="4"/>
          <c:order val="4"/>
          <c:tx>
            <c:strRef>
              <c:f>Sheet1!$F$1</c:f>
              <c:strCache>
                <c:ptCount val="1"/>
                <c:pt idx="0">
                  <c:v>Color5</c:v>
                </c:pt>
              </c:strCache>
            </c:strRef>
          </c:tx>
          <c:spPr>
            <a:solidFill>
              <a:schemeClr val="accent5"/>
            </a:solidFill>
            <a:ln w="19050">
              <a:solidFill>
                <a:schemeClr val="lt1"/>
              </a:solidFill>
            </a:ln>
            <a:effectLst/>
          </c:spPr>
          <c:invertIfNegative val="0"/>
          <c:cat>
            <c:strRef>
              <c:f>Sheet1!$A$2:$A$4</c:f>
              <c:strCache>
                <c:ptCount val="3"/>
                <c:pt idx="0">
                  <c:v>Option 1</c:v>
                </c:pt>
                <c:pt idx="1">
                  <c:v>Option 2</c:v>
                </c:pt>
                <c:pt idx="2">
                  <c:v>Option 3</c:v>
                </c:pt>
              </c:strCache>
            </c:strRef>
          </c:cat>
          <c:val>
            <c:numRef>
              <c:f>Sheet1!$F$2:$F$4</c:f>
              <c:numCache>
                <c:formatCode>General</c:formatCode>
                <c:ptCount val="3"/>
                <c:pt idx="0">
                  <c:v>3</c:v>
                </c:pt>
                <c:pt idx="1">
                  <c:v>4</c:v>
                </c:pt>
                <c:pt idx="2">
                  <c:v>7</c:v>
                </c:pt>
              </c:numCache>
            </c:numRef>
          </c:val>
          <c:extLst>
            <c:ext xmlns:c16="http://schemas.microsoft.com/office/drawing/2014/chart" uri="{C3380CC4-5D6E-409C-BE32-E72D297353CC}">
              <c16:uniqueId val="{00000004-5A5B-4E47-A7A9-16506EBB437C}"/>
            </c:ext>
          </c:extLst>
        </c:ser>
        <c:ser>
          <c:idx val="5"/>
          <c:order val="5"/>
          <c:tx>
            <c:strRef>
              <c:f>Sheet1!$G$1</c:f>
              <c:strCache>
                <c:ptCount val="1"/>
                <c:pt idx="0">
                  <c:v>Color6</c:v>
                </c:pt>
              </c:strCache>
            </c:strRef>
          </c:tx>
          <c:spPr>
            <a:solidFill>
              <a:schemeClr val="accent6"/>
            </a:solidFill>
            <a:ln w="19050">
              <a:solidFill>
                <a:schemeClr val="lt1"/>
              </a:solidFill>
            </a:ln>
            <a:effectLst/>
          </c:spPr>
          <c:invertIfNegative val="0"/>
          <c:cat>
            <c:strRef>
              <c:f>Sheet1!$A$2:$A$4</c:f>
              <c:strCache>
                <c:ptCount val="3"/>
                <c:pt idx="0">
                  <c:v>Option 1</c:v>
                </c:pt>
                <c:pt idx="1">
                  <c:v>Option 2</c:v>
                </c:pt>
                <c:pt idx="2">
                  <c:v>Option 3</c:v>
                </c:pt>
              </c:strCache>
            </c:strRef>
          </c:cat>
          <c:val>
            <c:numRef>
              <c:f>Sheet1!$G$2:$G$4</c:f>
              <c:numCache>
                <c:formatCode>General</c:formatCode>
                <c:ptCount val="3"/>
                <c:pt idx="0">
                  <c:v>2</c:v>
                </c:pt>
                <c:pt idx="1">
                  <c:v>3</c:v>
                </c:pt>
                <c:pt idx="2">
                  <c:v>5</c:v>
                </c:pt>
              </c:numCache>
            </c:numRef>
          </c:val>
          <c:extLst>
            <c:ext xmlns:c16="http://schemas.microsoft.com/office/drawing/2014/chart" uri="{C3380CC4-5D6E-409C-BE32-E72D297353CC}">
              <c16:uniqueId val="{00000005-5A5B-4E47-A7A9-16506EBB437C}"/>
            </c:ext>
          </c:extLst>
        </c:ser>
        <c:ser>
          <c:idx val="6"/>
          <c:order val="6"/>
          <c:tx>
            <c:strRef>
              <c:f>Sheet1!$H$1</c:f>
              <c:strCache>
                <c:ptCount val="1"/>
                <c:pt idx="0">
                  <c:v>Color7</c:v>
                </c:pt>
              </c:strCache>
            </c:strRef>
          </c:tx>
          <c:spPr>
            <a:solidFill>
              <a:schemeClr val="accent1">
                <a:lumMod val="50000"/>
              </a:schemeClr>
            </a:solidFill>
            <a:ln w="19050">
              <a:solidFill>
                <a:schemeClr val="lt1"/>
              </a:solidFill>
            </a:ln>
            <a:effectLst/>
          </c:spPr>
          <c:invertIfNegative val="0"/>
          <c:cat>
            <c:strRef>
              <c:f>Sheet1!$A$2:$A$4</c:f>
              <c:strCache>
                <c:ptCount val="3"/>
                <c:pt idx="0">
                  <c:v>Option 1</c:v>
                </c:pt>
                <c:pt idx="1">
                  <c:v>Option 2</c:v>
                </c:pt>
                <c:pt idx="2">
                  <c:v>Option 3</c:v>
                </c:pt>
              </c:strCache>
            </c:strRef>
          </c:cat>
          <c:val>
            <c:numRef>
              <c:f>Sheet1!$H$2:$H$4</c:f>
              <c:numCache>
                <c:formatCode>General</c:formatCode>
                <c:ptCount val="3"/>
                <c:pt idx="0">
                  <c:v>1</c:v>
                </c:pt>
                <c:pt idx="1">
                  <c:v>3</c:v>
                </c:pt>
                <c:pt idx="2">
                  <c:v>2</c:v>
                </c:pt>
              </c:numCache>
            </c:numRef>
          </c:val>
          <c:extLst>
            <c:ext xmlns:c16="http://schemas.microsoft.com/office/drawing/2014/chart" uri="{C3380CC4-5D6E-409C-BE32-E72D297353CC}">
              <c16:uniqueId val="{00000006-5A5B-4E47-A7A9-16506EBB437C}"/>
            </c:ext>
          </c:extLst>
        </c:ser>
        <c:ser>
          <c:idx val="7"/>
          <c:order val="7"/>
          <c:tx>
            <c:strRef>
              <c:f>Sheet1!$I$1</c:f>
              <c:strCache>
                <c:ptCount val="1"/>
                <c:pt idx="0">
                  <c:v>Color8</c:v>
                </c:pt>
              </c:strCache>
            </c:strRef>
          </c:tx>
          <c:spPr>
            <a:solidFill>
              <a:schemeClr val="accent2">
                <a:lumMod val="50000"/>
              </a:schemeClr>
            </a:solidFill>
            <a:ln w="19050">
              <a:solidFill>
                <a:schemeClr val="lt1"/>
              </a:solidFill>
            </a:ln>
            <a:effectLst/>
          </c:spPr>
          <c:invertIfNegative val="0"/>
          <c:cat>
            <c:strRef>
              <c:f>Sheet1!$A$2:$A$4</c:f>
              <c:strCache>
                <c:ptCount val="3"/>
                <c:pt idx="0">
                  <c:v>Option 1</c:v>
                </c:pt>
                <c:pt idx="1">
                  <c:v>Option 2</c:v>
                </c:pt>
                <c:pt idx="2">
                  <c:v>Option 3</c:v>
                </c:pt>
              </c:strCache>
            </c:strRef>
          </c:cat>
          <c:val>
            <c:numRef>
              <c:f>Sheet1!$I$2:$I$4</c:f>
              <c:numCache>
                <c:formatCode>General</c:formatCode>
                <c:ptCount val="3"/>
                <c:pt idx="0">
                  <c:v>6</c:v>
                </c:pt>
                <c:pt idx="1">
                  <c:v>1</c:v>
                </c:pt>
                <c:pt idx="2">
                  <c:v>4</c:v>
                </c:pt>
              </c:numCache>
            </c:numRef>
          </c:val>
          <c:extLst>
            <c:ext xmlns:c16="http://schemas.microsoft.com/office/drawing/2014/chart" uri="{C3380CC4-5D6E-409C-BE32-E72D297353CC}">
              <c16:uniqueId val="{00000007-5A5B-4E47-A7A9-16506EBB437C}"/>
            </c:ext>
          </c:extLst>
        </c:ser>
        <c:ser>
          <c:idx val="8"/>
          <c:order val="8"/>
          <c:tx>
            <c:strRef>
              <c:f>Sheet1!$J$1</c:f>
              <c:strCache>
                <c:ptCount val="1"/>
                <c:pt idx="0">
                  <c:v>Color9</c:v>
                </c:pt>
              </c:strCache>
            </c:strRef>
          </c:tx>
          <c:spPr>
            <a:solidFill>
              <a:schemeClr val="accent3">
                <a:lumMod val="50000"/>
              </a:schemeClr>
            </a:solidFill>
            <a:ln w="19050">
              <a:solidFill>
                <a:schemeClr val="lt1"/>
              </a:solidFill>
            </a:ln>
            <a:effectLst/>
          </c:spPr>
          <c:invertIfNegative val="0"/>
          <c:cat>
            <c:strRef>
              <c:f>Sheet1!$A$2:$A$4</c:f>
              <c:strCache>
                <c:ptCount val="3"/>
                <c:pt idx="0">
                  <c:v>Option 1</c:v>
                </c:pt>
                <c:pt idx="1">
                  <c:v>Option 2</c:v>
                </c:pt>
                <c:pt idx="2">
                  <c:v>Option 3</c:v>
                </c:pt>
              </c:strCache>
            </c:strRef>
          </c:cat>
          <c:val>
            <c:numRef>
              <c:f>Sheet1!$J$2:$J$4</c:f>
              <c:numCache>
                <c:formatCode>General</c:formatCode>
                <c:ptCount val="3"/>
                <c:pt idx="0">
                  <c:v>1</c:v>
                </c:pt>
                <c:pt idx="1">
                  <c:v>7</c:v>
                </c:pt>
                <c:pt idx="2">
                  <c:v>3</c:v>
                </c:pt>
              </c:numCache>
            </c:numRef>
          </c:val>
          <c:extLst>
            <c:ext xmlns:c16="http://schemas.microsoft.com/office/drawing/2014/chart" uri="{C3380CC4-5D6E-409C-BE32-E72D297353CC}">
              <c16:uniqueId val="{00000008-5A5B-4E47-A7A9-16506EBB437C}"/>
            </c:ext>
          </c:extLst>
        </c:ser>
        <c:dLbls>
          <c:showLegendKey val="0"/>
          <c:showVal val="0"/>
          <c:showCatName val="0"/>
          <c:showSerName val="0"/>
          <c:showPercent val="0"/>
          <c:showBubbleSize val="0"/>
        </c:dLbls>
        <c:gapWidth val="44"/>
        <c:overlap val="100"/>
        <c:axId val="894225424"/>
        <c:axId val="894215256"/>
      </c:barChart>
      <c:catAx>
        <c:axId val="894225424"/>
        <c:scaling>
          <c:orientation val="minMax"/>
        </c:scaling>
        <c:delete val="0"/>
        <c:axPos val="b"/>
        <c:numFmt formatCode="General" sourceLinked="1"/>
        <c:majorTickMark val="none"/>
        <c:minorTickMark val="none"/>
        <c:tickLblPos val="nextTo"/>
        <c:spPr>
          <a:noFill/>
          <a:ln w="25400" cap="flat" cmpd="sng" algn="ctr">
            <a:solidFill>
              <a:schemeClr val="tx1">
                <a:lumMod val="95000"/>
                <a:lumOff val="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rial" panose="020B0604020202020204" pitchFamily="34" charset="0"/>
                <a:ea typeface="+mn-ea"/>
                <a:cs typeface="Arial" panose="020B0604020202020204" pitchFamily="34" charset="0"/>
              </a:defRPr>
            </a:pPr>
            <a:endParaRPr lang="en-US"/>
          </a:p>
        </c:txPr>
        <c:crossAx val="894215256"/>
        <c:crosses val="autoZero"/>
        <c:auto val="1"/>
        <c:lblAlgn val="ctr"/>
        <c:lblOffset val="100"/>
        <c:noMultiLvlLbl val="0"/>
      </c:catAx>
      <c:valAx>
        <c:axId val="894215256"/>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894225424"/>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lumMod val="95000"/>
              <a:lumOff val="5000"/>
            </a:schemeClr>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038C50C-BDC5-D043-B3B4-B62CE30644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02725CD-9725-8340-A873-BC8AD831FA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DAA68F3-1945-D04E-8B4C-41BE1D1EDD5A}" type="datetimeFigureOut">
              <a:rPr lang="en-US" smtClean="0"/>
              <a:t>09-Jun-23</a:t>
            </a:fld>
            <a:endParaRPr lang="en-US"/>
          </a:p>
        </p:txBody>
      </p:sp>
      <p:sp>
        <p:nvSpPr>
          <p:cNvPr id="4" name="Footer Placeholder 3">
            <a:extLst>
              <a:ext uri="{FF2B5EF4-FFF2-40B4-BE49-F238E27FC236}">
                <a16:creationId xmlns:a16="http://schemas.microsoft.com/office/drawing/2014/main" id="{AF832F1B-E2FD-FC44-A501-3EC6B82C248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23DDA4C-D2D0-E84C-84DB-C85F38E50E4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3DE395-7052-6646-9E9D-5134B5B00ED7}" type="slidenum">
              <a:rPr lang="en-US" smtClean="0"/>
              <a:t>‹#›</a:t>
            </a:fld>
            <a:endParaRPr lang="en-US"/>
          </a:p>
        </p:txBody>
      </p:sp>
    </p:spTree>
    <p:extLst>
      <p:ext uri="{BB962C8B-B14F-4D97-AF65-F5344CB8AC3E}">
        <p14:creationId xmlns:p14="http://schemas.microsoft.com/office/powerpoint/2010/main" val="22289304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0BF96A-CBBD-4CCF-8C87-6E114B9E4329}" type="datetimeFigureOut">
              <a:rPr lang="en-US" smtClean="0"/>
              <a:t>09-Jun-23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054870-0C88-4C71-9CDA-A7BCC1106D63}" type="slidenum">
              <a:rPr lang="en-US" smtClean="0"/>
              <a:t>‹#›</a:t>
            </a:fld>
            <a:endParaRPr lang="en-US"/>
          </a:p>
        </p:txBody>
      </p:sp>
    </p:spTree>
    <p:extLst>
      <p:ext uri="{BB962C8B-B14F-4D97-AF65-F5344CB8AC3E}">
        <p14:creationId xmlns:p14="http://schemas.microsoft.com/office/powerpoint/2010/main" val="2758115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p:bg>
      <p:bgPr>
        <a:solidFill>
          <a:schemeClr val="tx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91DB10C-0BFA-EA44-870C-0E8416B3613E}"/>
              </a:ext>
            </a:extLst>
          </p:cNvPr>
          <p:cNvSpPr>
            <a:spLocks noGrp="1"/>
          </p:cNvSpPr>
          <p:nvPr>
            <p:ph type="dt" sz="half" idx="10"/>
          </p:nvPr>
        </p:nvSpPr>
        <p:spPr/>
        <p:txBody>
          <a:bodyPr/>
          <a:lstStyle>
            <a:lvl1pPr>
              <a:defRPr>
                <a:solidFill>
                  <a:schemeClr val="bg1"/>
                </a:solidFill>
              </a:defRPr>
            </a:lvl1pPr>
          </a:lstStyle>
          <a:p>
            <a:fld id="{B8FDEC20-994C-6747-9500-226CB0C467E7}" type="datetime4">
              <a:rPr lang="en-US" smtClean="0"/>
              <a:pPr/>
              <a:t>June 9, 2023</a:t>
            </a:fld>
            <a:endParaRPr lang="en-US" dirty="0"/>
          </a:p>
        </p:txBody>
      </p:sp>
      <p:sp>
        <p:nvSpPr>
          <p:cNvPr id="4" name="Footer Placeholder 3">
            <a:extLst>
              <a:ext uri="{FF2B5EF4-FFF2-40B4-BE49-F238E27FC236}">
                <a16:creationId xmlns:a16="http://schemas.microsoft.com/office/drawing/2014/main" id="{6234B5B2-FA61-CA4F-ACE9-4BA473C55137}"/>
              </a:ext>
            </a:extLst>
          </p:cNvPr>
          <p:cNvSpPr>
            <a:spLocks noGrp="1"/>
          </p:cNvSpPr>
          <p:nvPr>
            <p:ph type="ftr" sz="quarter" idx="11"/>
          </p:nvPr>
        </p:nvSpPr>
        <p:spPr/>
        <p:txBody>
          <a:bodyPr/>
          <a:lstStyle>
            <a:lvl1pPr>
              <a:defRPr>
                <a:solidFill>
                  <a:schemeClr val="bg1"/>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A76EBA66-063E-2E41-B529-E6DC2A2818AD}"/>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
        <p:nvSpPr>
          <p:cNvPr id="7" name="Text Placeholder 6">
            <a:extLst>
              <a:ext uri="{FF2B5EF4-FFF2-40B4-BE49-F238E27FC236}">
                <a16:creationId xmlns:a16="http://schemas.microsoft.com/office/drawing/2014/main" id="{A223CD91-7639-5D42-A1A5-A065F2BC5901}"/>
              </a:ext>
            </a:extLst>
          </p:cNvPr>
          <p:cNvSpPr>
            <a:spLocks noGrp="1"/>
          </p:cNvSpPr>
          <p:nvPr>
            <p:ph type="body" sz="quarter" idx="24" hasCustomPrompt="1"/>
          </p:nvPr>
        </p:nvSpPr>
        <p:spPr>
          <a:xfrm>
            <a:off x="342900" y="3622381"/>
            <a:ext cx="11506200" cy="423863"/>
          </a:xfrm>
          <a:prstGeom prst="rect">
            <a:avLst/>
          </a:prstGeom>
        </p:spPr>
        <p:txBody>
          <a:bodyPr tIns="0" anchor="t">
            <a:noAutofit/>
          </a:bodyPr>
          <a:lstStyle>
            <a:lvl1pPr>
              <a:lnSpc>
                <a:spcPct val="80000"/>
              </a:lnSpc>
              <a:spcBef>
                <a:spcPts val="0"/>
              </a:spcBef>
              <a:buFontTx/>
              <a:buNone/>
              <a:defRPr sz="2800" b="1" spc="0">
                <a:solidFill>
                  <a:schemeClr val="bg1"/>
                </a:solidFill>
                <a:effectLst>
                  <a:outerShdw blurRad="38100" dist="12700" dir="5400000" algn="ctr" rotWithShape="0">
                    <a:srgbClr val="000000">
                      <a:alpha val="10000"/>
                    </a:srgbClr>
                  </a:outerShdw>
                </a:effectLst>
              </a:defRPr>
            </a:lvl1pPr>
            <a:lvl2pPr>
              <a:spcAft>
                <a:spcPts val="0"/>
              </a:spcAft>
              <a:buFontTx/>
              <a:buNone/>
              <a:defRPr sz="2800" b="1" spc="0">
                <a:solidFill>
                  <a:schemeClr val="bg1"/>
                </a:solidFill>
                <a:effectLst>
                  <a:outerShdw blurRad="38100" dist="12700" dir="5400000" algn="ctr" rotWithShape="0">
                    <a:srgbClr val="000000">
                      <a:alpha val="10000"/>
                    </a:srgbClr>
                  </a:outerShdw>
                </a:effectLst>
              </a:defRPr>
            </a:lvl2pPr>
            <a:lvl3pPr>
              <a:lnSpc>
                <a:spcPct val="100000"/>
              </a:lnSpc>
              <a:spcBef>
                <a:spcPts val="0"/>
              </a:spcBef>
              <a:buFontTx/>
              <a:buNone/>
              <a:defRPr sz="2800" b="1" spc="0">
                <a:solidFill>
                  <a:schemeClr val="bg1"/>
                </a:solidFill>
                <a:effectLst>
                  <a:outerShdw blurRad="38100" dist="12700" dir="5400000" algn="ctr" rotWithShape="0">
                    <a:srgbClr val="000000">
                      <a:alpha val="10000"/>
                    </a:srgbClr>
                  </a:outerShdw>
                </a:effectLst>
              </a:defRPr>
            </a:lvl3pPr>
            <a:lvl4pPr>
              <a:spcAft>
                <a:spcPts val="0"/>
              </a:spcAft>
              <a:buFontTx/>
              <a:buNone/>
              <a:defRPr sz="2800" b="1" spc="0">
                <a:solidFill>
                  <a:schemeClr val="bg1"/>
                </a:solidFill>
                <a:effectLst>
                  <a:outerShdw blurRad="38100" dist="12700" dir="5400000" algn="ctr" rotWithShape="0">
                    <a:srgbClr val="000000">
                      <a:alpha val="10000"/>
                    </a:srgbClr>
                  </a:outerShdw>
                </a:effectLst>
              </a:defRPr>
            </a:lvl4pPr>
            <a:lvl5pPr marL="0" indent="0">
              <a:spcAft>
                <a:spcPts val="0"/>
              </a:spcAft>
              <a:buFontTx/>
              <a:buNone/>
              <a:defRPr sz="2800" b="1" spc="0">
                <a:solidFill>
                  <a:schemeClr val="bg1"/>
                </a:solidFill>
                <a:effectLst>
                  <a:outerShdw blurRad="38100" dist="12700" dir="5400000" algn="ctr" rotWithShape="0">
                    <a:srgbClr val="000000">
                      <a:alpha val="10000"/>
                    </a:srgbClr>
                  </a:outerShdw>
                </a:effectLst>
              </a:defRPr>
            </a:lvl5pPr>
          </a:lstStyle>
          <a:p>
            <a:pPr lvl="0"/>
            <a:r>
              <a:rPr lang="en-US" dirty="0"/>
              <a:t>Subtitle</a:t>
            </a:r>
          </a:p>
        </p:txBody>
      </p:sp>
      <p:sp>
        <p:nvSpPr>
          <p:cNvPr id="8" name="Text Placeholder 9">
            <a:extLst>
              <a:ext uri="{FF2B5EF4-FFF2-40B4-BE49-F238E27FC236}">
                <a16:creationId xmlns:a16="http://schemas.microsoft.com/office/drawing/2014/main" id="{82FB3200-FC05-314C-817D-26A42C784B08}"/>
              </a:ext>
            </a:extLst>
          </p:cNvPr>
          <p:cNvSpPr>
            <a:spLocks noGrp="1"/>
          </p:cNvSpPr>
          <p:nvPr>
            <p:ph type="body" sz="quarter" idx="25" hasCustomPrompt="1"/>
          </p:nvPr>
        </p:nvSpPr>
        <p:spPr>
          <a:xfrm>
            <a:off x="342900" y="4070647"/>
            <a:ext cx="11506200" cy="898525"/>
          </a:xfrm>
          <a:prstGeom prst="rect">
            <a:avLst/>
          </a:prstGeom>
        </p:spPr>
        <p:txBody>
          <a:bodyPr>
            <a:noAutofit/>
          </a:bodyPr>
          <a:lstStyle>
            <a:lvl1pPr>
              <a:lnSpc>
                <a:spcPct val="100000"/>
              </a:lnSpc>
              <a:spcBef>
                <a:spcPts val="0"/>
              </a:spcBef>
              <a:buFontTx/>
              <a:buNone/>
              <a:defRPr sz="2400" b="0" spc="0">
                <a:solidFill>
                  <a:schemeClr val="bg1"/>
                </a:solidFill>
                <a:effectLst>
                  <a:outerShdw blurRad="38100" dist="12700" dir="5400000" algn="ctr" rotWithShape="0">
                    <a:srgbClr val="000000">
                      <a:alpha val="10000"/>
                    </a:srgbClr>
                  </a:outerShdw>
                </a:effectLst>
              </a:defRPr>
            </a:lvl1pPr>
            <a:lvl2pPr>
              <a:spcAft>
                <a:spcPts val="0"/>
              </a:spcAft>
              <a:buFontTx/>
              <a:buNone/>
              <a:defRPr sz="2400" b="0" spc="0">
                <a:solidFill>
                  <a:schemeClr val="bg1"/>
                </a:solidFill>
                <a:effectLst>
                  <a:outerShdw blurRad="38100" dist="12700" dir="5400000" algn="ctr" rotWithShape="0">
                    <a:srgbClr val="000000">
                      <a:alpha val="10000"/>
                    </a:srgbClr>
                  </a:outerShdw>
                </a:effectLst>
              </a:defRPr>
            </a:lvl2pPr>
            <a:lvl3pPr>
              <a:lnSpc>
                <a:spcPct val="100000"/>
              </a:lnSpc>
              <a:spcBef>
                <a:spcPts val="0"/>
              </a:spcBef>
              <a:buFontTx/>
              <a:buNone/>
              <a:defRPr sz="2400" b="0" spc="0">
                <a:solidFill>
                  <a:schemeClr val="bg1"/>
                </a:solidFill>
                <a:effectLst>
                  <a:outerShdw blurRad="38100" dist="12700" dir="5400000" algn="ctr" rotWithShape="0">
                    <a:srgbClr val="000000">
                      <a:alpha val="10000"/>
                    </a:srgbClr>
                  </a:outerShdw>
                </a:effectLst>
              </a:defRPr>
            </a:lvl3pPr>
            <a:lvl4pPr>
              <a:spcAft>
                <a:spcPts val="0"/>
              </a:spcAft>
              <a:buFontTx/>
              <a:buNone/>
              <a:defRPr sz="2400" b="0" spc="0">
                <a:solidFill>
                  <a:schemeClr val="bg1"/>
                </a:solidFill>
                <a:effectLst>
                  <a:outerShdw blurRad="38100" dist="12700" dir="5400000" algn="ctr" rotWithShape="0">
                    <a:srgbClr val="000000">
                      <a:alpha val="10000"/>
                    </a:srgbClr>
                  </a:outerShdw>
                </a:effectLst>
              </a:defRPr>
            </a:lvl4pPr>
            <a:lvl5pPr marL="0" indent="0">
              <a:spcAft>
                <a:spcPts val="0"/>
              </a:spcAft>
              <a:buFontTx/>
              <a:buNone/>
              <a:defRPr sz="2400" b="0" spc="0">
                <a:solidFill>
                  <a:schemeClr val="bg1"/>
                </a:solidFill>
                <a:effectLst>
                  <a:outerShdw blurRad="38100" dist="12700" dir="5400000" algn="ctr" rotWithShape="0">
                    <a:srgbClr val="000000">
                      <a:alpha val="10000"/>
                    </a:srgbClr>
                  </a:outerShdw>
                </a:effectLst>
              </a:defRPr>
            </a:lvl5pPr>
          </a:lstStyle>
          <a:p>
            <a:pPr lvl="0"/>
            <a:r>
              <a:rPr lang="en-US" dirty="0"/>
              <a:t>Speaker or date</a:t>
            </a:r>
          </a:p>
        </p:txBody>
      </p:sp>
      <p:sp>
        <p:nvSpPr>
          <p:cNvPr id="11" name="Title 5">
            <a:extLst>
              <a:ext uri="{FF2B5EF4-FFF2-40B4-BE49-F238E27FC236}">
                <a16:creationId xmlns:a16="http://schemas.microsoft.com/office/drawing/2014/main" id="{69ED4049-B7CA-DA44-9DB9-BBA76C135AE8}"/>
              </a:ext>
            </a:extLst>
          </p:cNvPr>
          <p:cNvSpPr>
            <a:spLocks noGrp="1"/>
          </p:cNvSpPr>
          <p:nvPr>
            <p:ph type="title" hasCustomPrompt="1"/>
          </p:nvPr>
        </p:nvSpPr>
        <p:spPr>
          <a:xfrm>
            <a:off x="342900" y="854777"/>
            <a:ext cx="11506200" cy="2743200"/>
          </a:xfrm>
        </p:spPr>
        <p:txBody>
          <a:bodyPr bIns="0" anchor="b">
            <a:noAutofit/>
          </a:bodyPr>
          <a:lstStyle>
            <a:lvl1pPr>
              <a:defRPr sz="5400" spc="-200" baseline="0">
                <a:solidFill>
                  <a:schemeClr val="bg1"/>
                </a:solidFill>
                <a:effectLst>
                  <a:outerShdw blurRad="38100" dist="12700" dir="5400000" algn="ctr" rotWithShape="0">
                    <a:srgbClr val="000000">
                      <a:alpha val="10000"/>
                    </a:srgbClr>
                  </a:outerShdw>
                </a:effectLst>
              </a:defRPr>
            </a:lvl1pPr>
          </a:lstStyle>
          <a:p>
            <a:r>
              <a:rPr lang="en-US" dirty="0"/>
              <a:t>Title</a:t>
            </a:r>
          </a:p>
        </p:txBody>
      </p:sp>
      <p:grpSp>
        <p:nvGrpSpPr>
          <p:cNvPr id="13" name="Group 12">
            <a:extLst>
              <a:ext uri="{FF2B5EF4-FFF2-40B4-BE49-F238E27FC236}">
                <a16:creationId xmlns:a16="http://schemas.microsoft.com/office/drawing/2014/main" id="{23DD6173-E698-614B-8F17-6AAD18AE435A}"/>
              </a:ext>
            </a:extLst>
          </p:cNvPr>
          <p:cNvGrpSpPr/>
          <p:nvPr userDrawn="1"/>
        </p:nvGrpSpPr>
        <p:grpSpPr>
          <a:xfrm>
            <a:off x="8761444" y="5451834"/>
            <a:ext cx="3023197" cy="824055"/>
            <a:chOff x="1233488" y="677863"/>
            <a:chExt cx="2882900" cy="785813"/>
          </a:xfrm>
          <a:solidFill>
            <a:schemeClr val="bg1"/>
          </a:solidFill>
        </p:grpSpPr>
        <p:sp>
          <p:nvSpPr>
            <p:cNvPr id="14" name="Freeform 35">
              <a:extLst>
                <a:ext uri="{FF2B5EF4-FFF2-40B4-BE49-F238E27FC236}">
                  <a16:creationId xmlns:a16="http://schemas.microsoft.com/office/drawing/2014/main" id="{349EA483-AACD-6D46-AF8B-2891771DF0B1}"/>
                </a:ext>
              </a:extLst>
            </p:cNvPr>
            <p:cNvSpPr>
              <a:spLocks/>
            </p:cNvSpPr>
            <p:nvPr/>
          </p:nvSpPr>
          <p:spPr bwMode="auto">
            <a:xfrm>
              <a:off x="2346326" y="944563"/>
              <a:ext cx="417513" cy="354013"/>
            </a:xfrm>
            <a:custGeom>
              <a:avLst/>
              <a:gdLst>
                <a:gd name="T0" fmla="*/ 310 w 525"/>
                <a:gd name="T1" fmla="*/ 445 h 445"/>
                <a:gd name="T2" fmla="*/ 250 w 525"/>
                <a:gd name="T3" fmla="*/ 440 h 445"/>
                <a:gd name="T4" fmla="*/ 193 w 525"/>
                <a:gd name="T5" fmla="*/ 428 h 445"/>
                <a:gd name="T6" fmla="*/ 140 w 525"/>
                <a:gd name="T7" fmla="*/ 409 h 445"/>
                <a:gd name="T8" fmla="*/ 94 w 525"/>
                <a:gd name="T9" fmla="*/ 383 h 445"/>
                <a:gd name="T10" fmla="*/ 55 w 525"/>
                <a:gd name="T11" fmla="*/ 350 h 445"/>
                <a:gd name="T12" fmla="*/ 25 w 525"/>
                <a:gd name="T13" fmla="*/ 313 h 445"/>
                <a:gd name="T14" fmla="*/ 14 w 525"/>
                <a:gd name="T15" fmla="*/ 291 h 445"/>
                <a:gd name="T16" fmla="*/ 7 w 525"/>
                <a:gd name="T17" fmla="*/ 269 h 445"/>
                <a:gd name="T18" fmla="*/ 1 w 525"/>
                <a:gd name="T19" fmla="*/ 246 h 445"/>
                <a:gd name="T20" fmla="*/ 0 w 525"/>
                <a:gd name="T21" fmla="*/ 222 h 445"/>
                <a:gd name="T22" fmla="*/ 0 w 525"/>
                <a:gd name="T23" fmla="*/ 210 h 445"/>
                <a:gd name="T24" fmla="*/ 3 w 525"/>
                <a:gd name="T25" fmla="*/ 187 h 445"/>
                <a:gd name="T26" fmla="*/ 11 w 525"/>
                <a:gd name="T27" fmla="*/ 164 h 445"/>
                <a:gd name="T28" fmla="*/ 19 w 525"/>
                <a:gd name="T29" fmla="*/ 143 h 445"/>
                <a:gd name="T30" fmla="*/ 38 w 525"/>
                <a:gd name="T31" fmla="*/ 113 h 445"/>
                <a:gd name="T32" fmla="*/ 73 w 525"/>
                <a:gd name="T33" fmla="*/ 78 h 445"/>
                <a:gd name="T34" fmla="*/ 116 w 525"/>
                <a:gd name="T35" fmla="*/ 48 h 445"/>
                <a:gd name="T36" fmla="*/ 166 w 525"/>
                <a:gd name="T37" fmla="*/ 25 h 445"/>
                <a:gd name="T38" fmla="*/ 221 w 525"/>
                <a:gd name="T39" fmla="*/ 9 h 445"/>
                <a:gd name="T40" fmla="*/ 281 w 525"/>
                <a:gd name="T41" fmla="*/ 1 h 445"/>
                <a:gd name="T42" fmla="*/ 311 w 525"/>
                <a:gd name="T43" fmla="*/ 0 h 445"/>
                <a:gd name="T44" fmla="*/ 364 w 525"/>
                <a:gd name="T45" fmla="*/ 3 h 445"/>
                <a:gd name="T46" fmla="*/ 416 w 525"/>
                <a:gd name="T47" fmla="*/ 14 h 445"/>
                <a:gd name="T48" fmla="*/ 468 w 525"/>
                <a:gd name="T49" fmla="*/ 32 h 445"/>
                <a:gd name="T50" fmla="*/ 523 w 525"/>
                <a:gd name="T51" fmla="*/ 58 h 445"/>
                <a:gd name="T52" fmla="*/ 471 w 525"/>
                <a:gd name="T53" fmla="*/ 124 h 445"/>
                <a:gd name="T54" fmla="*/ 434 w 525"/>
                <a:gd name="T55" fmla="*/ 108 h 445"/>
                <a:gd name="T56" fmla="*/ 396 w 525"/>
                <a:gd name="T57" fmla="*/ 98 h 445"/>
                <a:gd name="T58" fmla="*/ 355 w 525"/>
                <a:gd name="T59" fmla="*/ 90 h 445"/>
                <a:gd name="T60" fmla="*/ 311 w 525"/>
                <a:gd name="T61" fmla="*/ 88 h 445"/>
                <a:gd name="T62" fmla="*/ 298 w 525"/>
                <a:gd name="T63" fmla="*/ 89 h 445"/>
                <a:gd name="T64" fmla="*/ 271 w 525"/>
                <a:gd name="T65" fmla="*/ 93 h 445"/>
                <a:gd name="T66" fmla="*/ 246 w 525"/>
                <a:gd name="T67" fmla="*/ 100 h 445"/>
                <a:gd name="T68" fmla="*/ 222 w 525"/>
                <a:gd name="T69" fmla="*/ 112 h 445"/>
                <a:gd name="T70" fmla="*/ 200 w 525"/>
                <a:gd name="T71" fmla="*/ 128 h 445"/>
                <a:gd name="T72" fmla="*/ 182 w 525"/>
                <a:gd name="T73" fmla="*/ 150 h 445"/>
                <a:gd name="T74" fmla="*/ 170 w 525"/>
                <a:gd name="T75" fmla="*/ 175 h 445"/>
                <a:gd name="T76" fmla="*/ 163 w 525"/>
                <a:gd name="T77" fmla="*/ 205 h 445"/>
                <a:gd name="T78" fmla="*/ 162 w 525"/>
                <a:gd name="T79" fmla="*/ 222 h 445"/>
                <a:gd name="T80" fmla="*/ 165 w 525"/>
                <a:gd name="T81" fmla="*/ 256 h 445"/>
                <a:gd name="T82" fmla="*/ 175 w 525"/>
                <a:gd name="T83" fmla="*/ 284 h 445"/>
                <a:gd name="T84" fmla="*/ 191 w 525"/>
                <a:gd name="T85" fmla="*/ 306 h 445"/>
                <a:gd name="T86" fmla="*/ 210 w 525"/>
                <a:gd name="T87" fmla="*/ 326 h 445"/>
                <a:gd name="T88" fmla="*/ 233 w 525"/>
                <a:gd name="T89" fmla="*/ 339 h 445"/>
                <a:gd name="T90" fmla="*/ 258 w 525"/>
                <a:gd name="T91" fmla="*/ 349 h 445"/>
                <a:gd name="T92" fmla="*/ 285 w 525"/>
                <a:gd name="T93" fmla="*/ 355 h 445"/>
                <a:gd name="T94" fmla="*/ 311 w 525"/>
                <a:gd name="T95" fmla="*/ 357 h 445"/>
                <a:gd name="T96" fmla="*/ 333 w 525"/>
                <a:gd name="T97" fmla="*/ 356 h 445"/>
                <a:gd name="T98" fmla="*/ 375 w 525"/>
                <a:gd name="T99" fmla="*/ 352 h 445"/>
                <a:gd name="T100" fmla="*/ 416 w 525"/>
                <a:gd name="T101" fmla="*/ 344 h 445"/>
                <a:gd name="T102" fmla="*/ 455 w 525"/>
                <a:gd name="T103" fmla="*/ 332 h 445"/>
                <a:gd name="T104" fmla="*/ 525 w 525"/>
                <a:gd name="T105" fmla="*/ 393 h 445"/>
                <a:gd name="T106" fmla="*/ 501 w 525"/>
                <a:gd name="T107" fmla="*/ 405 h 445"/>
                <a:gd name="T108" fmla="*/ 451 w 525"/>
                <a:gd name="T109" fmla="*/ 425 h 445"/>
                <a:gd name="T110" fmla="*/ 397 w 525"/>
                <a:gd name="T111" fmla="*/ 438 h 445"/>
                <a:gd name="T112" fmla="*/ 340 w 525"/>
                <a:gd name="T113" fmla="*/ 444 h 445"/>
                <a:gd name="T114" fmla="*/ 310 w 525"/>
                <a:gd name="T115"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5" h="445">
                  <a:moveTo>
                    <a:pt x="310" y="445"/>
                  </a:moveTo>
                  <a:lnTo>
                    <a:pt x="310" y="445"/>
                  </a:lnTo>
                  <a:lnTo>
                    <a:pt x="280" y="444"/>
                  </a:lnTo>
                  <a:lnTo>
                    <a:pt x="250" y="440"/>
                  </a:lnTo>
                  <a:lnTo>
                    <a:pt x="221" y="436"/>
                  </a:lnTo>
                  <a:lnTo>
                    <a:pt x="193" y="428"/>
                  </a:lnTo>
                  <a:lnTo>
                    <a:pt x="165" y="420"/>
                  </a:lnTo>
                  <a:lnTo>
                    <a:pt x="140" y="409"/>
                  </a:lnTo>
                  <a:lnTo>
                    <a:pt x="116" y="397"/>
                  </a:lnTo>
                  <a:lnTo>
                    <a:pt x="94" y="383"/>
                  </a:lnTo>
                  <a:lnTo>
                    <a:pt x="73" y="367"/>
                  </a:lnTo>
                  <a:lnTo>
                    <a:pt x="55" y="350"/>
                  </a:lnTo>
                  <a:lnTo>
                    <a:pt x="38" y="332"/>
                  </a:lnTo>
                  <a:lnTo>
                    <a:pt x="25" y="313"/>
                  </a:lnTo>
                  <a:lnTo>
                    <a:pt x="19" y="302"/>
                  </a:lnTo>
                  <a:lnTo>
                    <a:pt x="14" y="291"/>
                  </a:lnTo>
                  <a:lnTo>
                    <a:pt x="11" y="280"/>
                  </a:lnTo>
                  <a:lnTo>
                    <a:pt x="7" y="269"/>
                  </a:lnTo>
                  <a:lnTo>
                    <a:pt x="3" y="258"/>
                  </a:lnTo>
                  <a:lnTo>
                    <a:pt x="1" y="246"/>
                  </a:lnTo>
                  <a:lnTo>
                    <a:pt x="0" y="234"/>
                  </a:lnTo>
                  <a:lnTo>
                    <a:pt x="0" y="222"/>
                  </a:lnTo>
                  <a:lnTo>
                    <a:pt x="0" y="222"/>
                  </a:lnTo>
                  <a:lnTo>
                    <a:pt x="0" y="210"/>
                  </a:lnTo>
                  <a:lnTo>
                    <a:pt x="1" y="199"/>
                  </a:lnTo>
                  <a:lnTo>
                    <a:pt x="3" y="187"/>
                  </a:lnTo>
                  <a:lnTo>
                    <a:pt x="7" y="176"/>
                  </a:lnTo>
                  <a:lnTo>
                    <a:pt x="11" y="164"/>
                  </a:lnTo>
                  <a:lnTo>
                    <a:pt x="14" y="153"/>
                  </a:lnTo>
                  <a:lnTo>
                    <a:pt x="19" y="143"/>
                  </a:lnTo>
                  <a:lnTo>
                    <a:pt x="25" y="133"/>
                  </a:lnTo>
                  <a:lnTo>
                    <a:pt x="38" y="113"/>
                  </a:lnTo>
                  <a:lnTo>
                    <a:pt x="55" y="95"/>
                  </a:lnTo>
                  <a:lnTo>
                    <a:pt x="73" y="78"/>
                  </a:lnTo>
                  <a:lnTo>
                    <a:pt x="94" y="63"/>
                  </a:lnTo>
                  <a:lnTo>
                    <a:pt x="116" y="48"/>
                  </a:lnTo>
                  <a:lnTo>
                    <a:pt x="140" y="36"/>
                  </a:lnTo>
                  <a:lnTo>
                    <a:pt x="166" y="25"/>
                  </a:lnTo>
                  <a:lnTo>
                    <a:pt x="193" y="17"/>
                  </a:lnTo>
                  <a:lnTo>
                    <a:pt x="221" y="9"/>
                  </a:lnTo>
                  <a:lnTo>
                    <a:pt x="251" y="3"/>
                  </a:lnTo>
                  <a:lnTo>
                    <a:pt x="281" y="1"/>
                  </a:lnTo>
                  <a:lnTo>
                    <a:pt x="311" y="0"/>
                  </a:lnTo>
                  <a:lnTo>
                    <a:pt x="311" y="0"/>
                  </a:lnTo>
                  <a:lnTo>
                    <a:pt x="338" y="1"/>
                  </a:lnTo>
                  <a:lnTo>
                    <a:pt x="364" y="3"/>
                  </a:lnTo>
                  <a:lnTo>
                    <a:pt x="390" y="7"/>
                  </a:lnTo>
                  <a:lnTo>
                    <a:pt x="416" y="14"/>
                  </a:lnTo>
                  <a:lnTo>
                    <a:pt x="443" y="22"/>
                  </a:lnTo>
                  <a:lnTo>
                    <a:pt x="468" y="32"/>
                  </a:lnTo>
                  <a:lnTo>
                    <a:pt x="495" y="44"/>
                  </a:lnTo>
                  <a:lnTo>
                    <a:pt x="523" y="58"/>
                  </a:lnTo>
                  <a:lnTo>
                    <a:pt x="471" y="124"/>
                  </a:lnTo>
                  <a:lnTo>
                    <a:pt x="471" y="124"/>
                  </a:lnTo>
                  <a:lnTo>
                    <a:pt x="454" y="116"/>
                  </a:lnTo>
                  <a:lnTo>
                    <a:pt x="434" y="108"/>
                  </a:lnTo>
                  <a:lnTo>
                    <a:pt x="415" y="102"/>
                  </a:lnTo>
                  <a:lnTo>
                    <a:pt x="396" y="98"/>
                  </a:lnTo>
                  <a:lnTo>
                    <a:pt x="375" y="94"/>
                  </a:lnTo>
                  <a:lnTo>
                    <a:pt x="355" y="90"/>
                  </a:lnTo>
                  <a:lnTo>
                    <a:pt x="333" y="89"/>
                  </a:lnTo>
                  <a:lnTo>
                    <a:pt x="311" y="88"/>
                  </a:lnTo>
                  <a:lnTo>
                    <a:pt x="311" y="88"/>
                  </a:lnTo>
                  <a:lnTo>
                    <a:pt x="298" y="89"/>
                  </a:lnTo>
                  <a:lnTo>
                    <a:pt x="285" y="90"/>
                  </a:lnTo>
                  <a:lnTo>
                    <a:pt x="271" y="93"/>
                  </a:lnTo>
                  <a:lnTo>
                    <a:pt x="258" y="95"/>
                  </a:lnTo>
                  <a:lnTo>
                    <a:pt x="246" y="100"/>
                  </a:lnTo>
                  <a:lnTo>
                    <a:pt x="234" y="105"/>
                  </a:lnTo>
                  <a:lnTo>
                    <a:pt x="222" y="112"/>
                  </a:lnTo>
                  <a:lnTo>
                    <a:pt x="211" y="119"/>
                  </a:lnTo>
                  <a:lnTo>
                    <a:pt x="200" y="128"/>
                  </a:lnTo>
                  <a:lnTo>
                    <a:pt x="191" y="137"/>
                  </a:lnTo>
                  <a:lnTo>
                    <a:pt x="182" y="150"/>
                  </a:lnTo>
                  <a:lnTo>
                    <a:pt x="176" y="162"/>
                  </a:lnTo>
                  <a:lnTo>
                    <a:pt x="170" y="175"/>
                  </a:lnTo>
                  <a:lnTo>
                    <a:pt x="165" y="189"/>
                  </a:lnTo>
                  <a:lnTo>
                    <a:pt x="163" y="205"/>
                  </a:lnTo>
                  <a:lnTo>
                    <a:pt x="162" y="222"/>
                  </a:lnTo>
                  <a:lnTo>
                    <a:pt x="162" y="222"/>
                  </a:lnTo>
                  <a:lnTo>
                    <a:pt x="163" y="240"/>
                  </a:lnTo>
                  <a:lnTo>
                    <a:pt x="165" y="256"/>
                  </a:lnTo>
                  <a:lnTo>
                    <a:pt x="170" y="270"/>
                  </a:lnTo>
                  <a:lnTo>
                    <a:pt x="175" y="284"/>
                  </a:lnTo>
                  <a:lnTo>
                    <a:pt x="182" y="296"/>
                  </a:lnTo>
                  <a:lnTo>
                    <a:pt x="191" y="306"/>
                  </a:lnTo>
                  <a:lnTo>
                    <a:pt x="200" y="317"/>
                  </a:lnTo>
                  <a:lnTo>
                    <a:pt x="210" y="326"/>
                  </a:lnTo>
                  <a:lnTo>
                    <a:pt x="221" y="333"/>
                  </a:lnTo>
                  <a:lnTo>
                    <a:pt x="233" y="339"/>
                  </a:lnTo>
                  <a:lnTo>
                    <a:pt x="245" y="345"/>
                  </a:lnTo>
                  <a:lnTo>
                    <a:pt x="258" y="349"/>
                  </a:lnTo>
                  <a:lnTo>
                    <a:pt x="271" y="352"/>
                  </a:lnTo>
                  <a:lnTo>
                    <a:pt x="285" y="355"/>
                  </a:lnTo>
                  <a:lnTo>
                    <a:pt x="298" y="356"/>
                  </a:lnTo>
                  <a:lnTo>
                    <a:pt x="311" y="357"/>
                  </a:lnTo>
                  <a:lnTo>
                    <a:pt x="311" y="357"/>
                  </a:lnTo>
                  <a:lnTo>
                    <a:pt x="333" y="356"/>
                  </a:lnTo>
                  <a:lnTo>
                    <a:pt x="355" y="355"/>
                  </a:lnTo>
                  <a:lnTo>
                    <a:pt x="375" y="352"/>
                  </a:lnTo>
                  <a:lnTo>
                    <a:pt x="396" y="349"/>
                  </a:lnTo>
                  <a:lnTo>
                    <a:pt x="416" y="344"/>
                  </a:lnTo>
                  <a:lnTo>
                    <a:pt x="436" y="338"/>
                  </a:lnTo>
                  <a:lnTo>
                    <a:pt x="455" y="332"/>
                  </a:lnTo>
                  <a:lnTo>
                    <a:pt x="473" y="325"/>
                  </a:lnTo>
                  <a:lnTo>
                    <a:pt x="525" y="393"/>
                  </a:lnTo>
                  <a:lnTo>
                    <a:pt x="525" y="393"/>
                  </a:lnTo>
                  <a:lnTo>
                    <a:pt x="501" y="405"/>
                  </a:lnTo>
                  <a:lnTo>
                    <a:pt x="477" y="415"/>
                  </a:lnTo>
                  <a:lnTo>
                    <a:pt x="451" y="425"/>
                  </a:lnTo>
                  <a:lnTo>
                    <a:pt x="425" y="432"/>
                  </a:lnTo>
                  <a:lnTo>
                    <a:pt x="397" y="438"/>
                  </a:lnTo>
                  <a:lnTo>
                    <a:pt x="369" y="442"/>
                  </a:lnTo>
                  <a:lnTo>
                    <a:pt x="340" y="444"/>
                  </a:lnTo>
                  <a:lnTo>
                    <a:pt x="310" y="445"/>
                  </a:lnTo>
                  <a:lnTo>
                    <a:pt x="310" y="4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5" name="Freeform 36">
              <a:extLst>
                <a:ext uri="{FF2B5EF4-FFF2-40B4-BE49-F238E27FC236}">
                  <a16:creationId xmlns:a16="http://schemas.microsoft.com/office/drawing/2014/main" id="{D6A3C58A-EE4E-BF44-B3A8-0C90CD0449D1}"/>
                </a:ext>
              </a:extLst>
            </p:cNvPr>
            <p:cNvSpPr>
              <a:spLocks noEditPoints="1"/>
            </p:cNvSpPr>
            <p:nvPr/>
          </p:nvSpPr>
          <p:spPr bwMode="auto">
            <a:xfrm>
              <a:off x="3087688" y="942976"/>
              <a:ext cx="493713" cy="355600"/>
            </a:xfrm>
            <a:custGeom>
              <a:avLst/>
              <a:gdLst>
                <a:gd name="T0" fmla="*/ 459 w 622"/>
                <a:gd name="T1" fmla="*/ 241 h 447"/>
                <a:gd name="T2" fmla="*/ 447 w 622"/>
                <a:gd name="T3" fmla="*/ 285 h 447"/>
                <a:gd name="T4" fmla="*/ 421 w 622"/>
                <a:gd name="T5" fmla="*/ 318 h 447"/>
                <a:gd name="T6" fmla="*/ 389 w 622"/>
                <a:gd name="T7" fmla="*/ 341 h 447"/>
                <a:gd name="T8" fmla="*/ 350 w 622"/>
                <a:gd name="T9" fmla="*/ 354 h 447"/>
                <a:gd name="T10" fmla="*/ 310 w 622"/>
                <a:gd name="T11" fmla="*/ 358 h 447"/>
                <a:gd name="T12" fmla="*/ 285 w 622"/>
                <a:gd name="T13" fmla="*/ 357 h 447"/>
                <a:gd name="T14" fmla="*/ 245 w 622"/>
                <a:gd name="T15" fmla="*/ 346 h 447"/>
                <a:gd name="T16" fmla="*/ 210 w 622"/>
                <a:gd name="T17" fmla="*/ 326 h 447"/>
                <a:gd name="T18" fmla="*/ 182 w 622"/>
                <a:gd name="T19" fmla="*/ 297 h 447"/>
                <a:gd name="T20" fmla="*/ 165 w 622"/>
                <a:gd name="T21" fmla="*/ 258 h 447"/>
                <a:gd name="T22" fmla="*/ 162 w 622"/>
                <a:gd name="T23" fmla="*/ 224 h 447"/>
                <a:gd name="T24" fmla="*/ 169 w 622"/>
                <a:gd name="T25" fmla="*/ 175 h 447"/>
                <a:gd name="T26" fmla="*/ 191 w 622"/>
                <a:gd name="T27" fmla="*/ 139 h 447"/>
                <a:gd name="T28" fmla="*/ 221 w 622"/>
                <a:gd name="T29" fmla="*/ 113 h 447"/>
                <a:gd name="T30" fmla="*/ 258 w 622"/>
                <a:gd name="T31" fmla="*/ 97 h 447"/>
                <a:gd name="T32" fmla="*/ 298 w 622"/>
                <a:gd name="T33" fmla="*/ 90 h 447"/>
                <a:gd name="T34" fmla="*/ 323 w 622"/>
                <a:gd name="T35" fmla="*/ 90 h 447"/>
                <a:gd name="T36" fmla="*/ 363 w 622"/>
                <a:gd name="T37" fmla="*/ 97 h 447"/>
                <a:gd name="T38" fmla="*/ 400 w 622"/>
                <a:gd name="T39" fmla="*/ 113 h 447"/>
                <a:gd name="T40" fmla="*/ 431 w 622"/>
                <a:gd name="T41" fmla="*/ 139 h 447"/>
                <a:gd name="T42" fmla="*/ 451 w 622"/>
                <a:gd name="T43" fmla="*/ 175 h 447"/>
                <a:gd name="T44" fmla="*/ 460 w 622"/>
                <a:gd name="T45" fmla="*/ 224 h 447"/>
                <a:gd name="T46" fmla="*/ 310 w 622"/>
                <a:gd name="T47" fmla="*/ 447 h 447"/>
                <a:gd name="T48" fmla="*/ 401 w 622"/>
                <a:gd name="T49" fmla="*/ 437 h 447"/>
                <a:gd name="T50" fmla="*/ 482 w 622"/>
                <a:gd name="T51" fmla="*/ 411 h 447"/>
                <a:gd name="T52" fmla="*/ 548 w 622"/>
                <a:gd name="T53" fmla="*/ 369 h 447"/>
                <a:gd name="T54" fmla="*/ 596 w 622"/>
                <a:gd name="T55" fmla="*/ 313 h 447"/>
                <a:gd name="T56" fmla="*/ 612 w 622"/>
                <a:gd name="T57" fmla="*/ 282 h 447"/>
                <a:gd name="T58" fmla="*/ 620 w 622"/>
                <a:gd name="T59" fmla="*/ 248 h 447"/>
                <a:gd name="T60" fmla="*/ 622 w 622"/>
                <a:gd name="T61" fmla="*/ 224 h 447"/>
                <a:gd name="T62" fmla="*/ 618 w 622"/>
                <a:gd name="T63" fmla="*/ 189 h 447"/>
                <a:gd name="T64" fmla="*/ 607 w 622"/>
                <a:gd name="T65" fmla="*/ 155 h 447"/>
                <a:gd name="T66" fmla="*/ 583 w 622"/>
                <a:gd name="T67" fmla="*/ 115 h 447"/>
                <a:gd name="T68" fmla="*/ 529 w 622"/>
                <a:gd name="T69" fmla="*/ 63 h 447"/>
                <a:gd name="T70" fmla="*/ 456 w 622"/>
                <a:gd name="T71" fmla="*/ 27 h 447"/>
                <a:gd name="T72" fmla="*/ 372 w 622"/>
                <a:gd name="T73" fmla="*/ 5 h 447"/>
                <a:gd name="T74" fmla="*/ 310 w 622"/>
                <a:gd name="T75" fmla="*/ 0 h 447"/>
                <a:gd name="T76" fmla="*/ 221 w 622"/>
                <a:gd name="T77" fmla="*/ 10 h 447"/>
                <a:gd name="T78" fmla="*/ 140 w 622"/>
                <a:gd name="T79" fmla="*/ 38 h 447"/>
                <a:gd name="T80" fmla="*/ 72 w 622"/>
                <a:gd name="T81" fmla="*/ 79 h 447"/>
                <a:gd name="T82" fmla="*/ 25 w 622"/>
                <a:gd name="T83" fmla="*/ 134 h 447"/>
                <a:gd name="T84" fmla="*/ 10 w 622"/>
                <a:gd name="T85" fmla="*/ 166 h 447"/>
                <a:gd name="T86" fmla="*/ 1 w 622"/>
                <a:gd name="T87" fmla="*/ 200 h 447"/>
                <a:gd name="T88" fmla="*/ 0 w 622"/>
                <a:gd name="T89" fmla="*/ 224 h 447"/>
                <a:gd name="T90" fmla="*/ 4 w 622"/>
                <a:gd name="T91" fmla="*/ 259 h 447"/>
                <a:gd name="T92" fmla="*/ 14 w 622"/>
                <a:gd name="T93" fmla="*/ 293 h 447"/>
                <a:gd name="T94" fmla="*/ 39 w 622"/>
                <a:gd name="T95" fmla="*/ 332 h 447"/>
                <a:gd name="T96" fmla="*/ 93 w 622"/>
                <a:gd name="T97" fmla="*/ 384 h 447"/>
                <a:gd name="T98" fmla="*/ 165 w 622"/>
                <a:gd name="T99" fmla="*/ 421 h 447"/>
                <a:gd name="T100" fmla="*/ 250 w 622"/>
                <a:gd name="T101" fmla="*/ 442 h 447"/>
                <a:gd name="T102" fmla="*/ 310 w 622"/>
                <a:gd name="T103" fmla="*/ 447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22" h="447">
                  <a:moveTo>
                    <a:pt x="460" y="224"/>
                  </a:moveTo>
                  <a:lnTo>
                    <a:pt x="460" y="224"/>
                  </a:lnTo>
                  <a:lnTo>
                    <a:pt x="459" y="241"/>
                  </a:lnTo>
                  <a:lnTo>
                    <a:pt x="456" y="258"/>
                  </a:lnTo>
                  <a:lnTo>
                    <a:pt x="451" y="272"/>
                  </a:lnTo>
                  <a:lnTo>
                    <a:pt x="447" y="285"/>
                  </a:lnTo>
                  <a:lnTo>
                    <a:pt x="439" y="297"/>
                  </a:lnTo>
                  <a:lnTo>
                    <a:pt x="431" y="308"/>
                  </a:lnTo>
                  <a:lnTo>
                    <a:pt x="421" y="318"/>
                  </a:lnTo>
                  <a:lnTo>
                    <a:pt x="412" y="326"/>
                  </a:lnTo>
                  <a:lnTo>
                    <a:pt x="400" y="335"/>
                  </a:lnTo>
                  <a:lnTo>
                    <a:pt x="389" y="341"/>
                  </a:lnTo>
                  <a:lnTo>
                    <a:pt x="375" y="346"/>
                  </a:lnTo>
                  <a:lnTo>
                    <a:pt x="363" y="351"/>
                  </a:lnTo>
                  <a:lnTo>
                    <a:pt x="350" y="354"/>
                  </a:lnTo>
                  <a:lnTo>
                    <a:pt x="337" y="357"/>
                  </a:lnTo>
                  <a:lnTo>
                    <a:pt x="323" y="358"/>
                  </a:lnTo>
                  <a:lnTo>
                    <a:pt x="310" y="358"/>
                  </a:lnTo>
                  <a:lnTo>
                    <a:pt x="310" y="358"/>
                  </a:lnTo>
                  <a:lnTo>
                    <a:pt x="298" y="358"/>
                  </a:lnTo>
                  <a:lnTo>
                    <a:pt x="285" y="357"/>
                  </a:lnTo>
                  <a:lnTo>
                    <a:pt x="272" y="354"/>
                  </a:lnTo>
                  <a:lnTo>
                    <a:pt x="258" y="351"/>
                  </a:lnTo>
                  <a:lnTo>
                    <a:pt x="245" y="346"/>
                  </a:lnTo>
                  <a:lnTo>
                    <a:pt x="233" y="341"/>
                  </a:lnTo>
                  <a:lnTo>
                    <a:pt x="221" y="335"/>
                  </a:lnTo>
                  <a:lnTo>
                    <a:pt x="210" y="326"/>
                  </a:lnTo>
                  <a:lnTo>
                    <a:pt x="200" y="318"/>
                  </a:lnTo>
                  <a:lnTo>
                    <a:pt x="191" y="308"/>
                  </a:lnTo>
                  <a:lnTo>
                    <a:pt x="182" y="297"/>
                  </a:lnTo>
                  <a:lnTo>
                    <a:pt x="175" y="285"/>
                  </a:lnTo>
                  <a:lnTo>
                    <a:pt x="169" y="272"/>
                  </a:lnTo>
                  <a:lnTo>
                    <a:pt x="165" y="258"/>
                  </a:lnTo>
                  <a:lnTo>
                    <a:pt x="163" y="241"/>
                  </a:lnTo>
                  <a:lnTo>
                    <a:pt x="162" y="224"/>
                  </a:lnTo>
                  <a:lnTo>
                    <a:pt x="162" y="224"/>
                  </a:lnTo>
                  <a:lnTo>
                    <a:pt x="163" y="207"/>
                  </a:lnTo>
                  <a:lnTo>
                    <a:pt x="165" y="191"/>
                  </a:lnTo>
                  <a:lnTo>
                    <a:pt x="169" y="175"/>
                  </a:lnTo>
                  <a:lnTo>
                    <a:pt x="175" y="162"/>
                  </a:lnTo>
                  <a:lnTo>
                    <a:pt x="182" y="150"/>
                  </a:lnTo>
                  <a:lnTo>
                    <a:pt x="191" y="139"/>
                  </a:lnTo>
                  <a:lnTo>
                    <a:pt x="200" y="130"/>
                  </a:lnTo>
                  <a:lnTo>
                    <a:pt x="210" y="121"/>
                  </a:lnTo>
                  <a:lnTo>
                    <a:pt x="221" y="113"/>
                  </a:lnTo>
                  <a:lnTo>
                    <a:pt x="233" y="107"/>
                  </a:lnTo>
                  <a:lnTo>
                    <a:pt x="245" y="102"/>
                  </a:lnTo>
                  <a:lnTo>
                    <a:pt x="258" y="97"/>
                  </a:lnTo>
                  <a:lnTo>
                    <a:pt x="272" y="93"/>
                  </a:lnTo>
                  <a:lnTo>
                    <a:pt x="285" y="91"/>
                  </a:lnTo>
                  <a:lnTo>
                    <a:pt x="298" y="90"/>
                  </a:lnTo>
                  <a:lnTo>
                    <a:pt x="310" y="90"/>
                  </a:lnTo>
                  <a:lnTo>
                    <a:pt x="310" y="90"/>
                  </a:lnTo>
                  <a:lnTo>
                    <a:pt x="323" y="90"/>
                  </a:lnTo>
                  <a:lnTo>
                    <a:pt x="337" y="91"/>
                  </a:lnTo>
                  <a:lnTo>
                    <a:pt x="350" y="93"/>
                  </a:lnTo>
                  <a:lnTo>
                    <a:pt x="363" y="97"/>
                  </a:lnTo>
                  <a:lnTo>
                    <a:pt x="375" y="102"/>
                  </a:lnTo>
                  <a:lnTo>
                    <a:pt x="389" y="107"/>
                  </a:lnTo>
                  <a:lnTo>
                    <a:pt x="400" y="113"/>
                  </a:lnTo>
                  <a:lnTo>
                    <a:pt x="412" y="121"/>
                  </a:lnTo>
                  <a:lnTo>
                    <a:pt x="421" y="130"/>
                  </a:lnTo>
                  <a:lnTo>
                    <a:pt x="431" y="139"/>
                  </a:lnTo>
                  <a:lnTo>
                    <a:pt x="439" y="150"/>
                  </a:lnTo>
                  <a:lnTo>
                    <a:pt x="447" y="162"/>
                  </a:lnTo>
                  <a:lnTo>
                    <a:pt x="451" y="175"/>
                  </a:lnTo>
                  <a:lnTo>
                    <a:pt x="456" y="191"/>
                  </a:lnTo>
                  <a:lnTo>
                    <a:pt x="459" y="207"/>
                  </a:lnTo>
                  <a:lnTo>
                    <a:pt x="460" y="224"/>
                  </a:lnTo>
                  <a:lnTo>
                    <a:pt x="460" y="224"/>
                  </a:lnTo>
                  <a:close/>
                  <a:moveTo>
                    <a:pt x="310" y="447"/>
                  </a:moveTo>
                  <a:lnTo>
                    <a:pt x="310" y="447"/>
                  </a:lnTo>
                  <a:lnTo>
                    <a:pt x="342" y="446"/>
                  </a:lnTo>
                  <a:lnTo>
                    <a:pt x="372" y="442"/>
                  </a:lnTo>
                  <a:lnTo>
                    <a:pt x="401" y="437"/>
                  </a:lnTo>
                  <a:lnTo>
                    <a:pt x="429" y="430"/>
                  </a:lnTo>
                  <a:lnTo>
                    <a:pt x="456" y="421"/>
                  </a:lnTo>
                  <a:lnTo>
                    <a:pt x="482" y="411"/>
                  </a:lnTo>
                  <a:lnTo>
                    <a:pt x="506" y="398"/>
                  </a:lnTo>
                  <a:lnTo>
                    <a:pt x="529" y="384"/>
                  </a:lnTo>
                  <a:lnTo>
                    <a:pt x="548" y="369"/>
                  </a:lnTo>
                  <a:lnTo>
                    <a:pt x="567" y="352"/>
                  </a:lnTo>
                  <a:lnTo>
                    <a:pt x="583" y="332"/>
                  </a:lnTo>
                  <a:lnTo>
                    <a:pt x="596" y="313"/>
                  </a:lnTo>
                  <a:lnTo>
                    <a:pt x="602" y="303"/>
                  </a:lnTo>
                  <a:lnTo>
                    <a:pt x="607" y="293"/>
                  </a:lnTo>
                  <a:lnTo>
                    <a:pt x="612" y="282"/>
                  </a:lnTo>
                  <a:lnTo>
                    <a:pt x="616" y="271"/>
                  </a:lnTo>
                  <a:lnTo>
                    <a:pt x="618" y="259"/>
                  </a:lnTo>
                  <a:lnTo>
                    <a:pt x="620" y="248"/>
                  </a:lnTo>
                  <a:lnTo>
                    <a:pt x="622" y="236"/>
                  </a:lnTo>
                  <a:lnTo>
                    <a:pt x="622" y="224"/>
                  </a:lnTo>
                  <a:lnTo>
                    <a:pt x="622" y="224"/>
                  </a:lnTo>
                  <a:lnTo>
                    <a:pt x="622" y="212"/>
                  </a:lnTo>
                  <a:lnTo>
                    <a:pt x="620" y="200"/>
                  </a:lnTo>
                  <a:lnTo>
                    <a:pt x="618" y="189"/>
                  </a:lnTo>
                  <a:lnTo>
                    <a:pt x="616" y="177"/>
                  </a:lnTo>
                  <a:lnTo>
                    <a:pt x="612" y="166"/>
                  </a:lnTo>
                  <a:lnTo>
                    <a:pt x="607" y="155"/>
                  </a:lnTo>
                  <a:lnTo>
                    <a:pt x="602" y="144"/>
                  </a:lnTo>
                  <a:lnTo>
                    <a:pt x="596" y="134"/>
                  </a:lnTo>
                  <a:lnTo>
                    <a:pt x="583" y="115"/>
                  </a:lnTo>
                  <a:lnTo>
                    <a:pt x="567" y="96"/>
                  </a:lnTo>
                  <a:lnTo>
                    <a:pt x="548" y="79"/>
                  </a:lnTo>
                  <a:lnTo>
                    <a:pt x="529" y="63"/>
                  </a:lnTo>
                  <a:lnTo>
                    <a:pt x="506" y="50"/>
                  </a:lnTo>
                  <a:lnTo>
                    <a:pt x="482" y="38"/>
                  </a:lnTo>
                  <a:lnTo>
                    <a:pt x="456" y="27"/>
                  </a:lnTo>
                  <a:lnTo>
                    <a:pt x="429" y="17"/>
                  </a:lnTo>
                  <a:lnTo>
                    <a:pt x="401" y="10"/>
                  </a:lnTo>
                  <a:lnTo>
                    <a:pt x="372" y="5"/>
                  </a:lnTo>
                  <a:lnTo>
                    <a:pt x="342" y="2"/>
                  </a:lnTo>
                  <a:lnTo>
                    <a:pt x="310" y="0"/>
                  </a:lnTo>
                  <a:lnTo>
                    <a:pt x="310" y="0"/>
                  </a:lnTo>
                  <a:lnTo>
                    <a:pt x="280" y="2"/>
                  </a:lnTo>
                  <a:lnTo>
                    <a:pt x="250" y="5"/>
                  </a:lnTo>
                  <a:lnTo>
                    <a:pt x="221" y="10"/>
                  </a:lnTo>
                  <a:lnTo>
                    <a:pt x="193" y="17"/>
                  </a:lnTo>
                  <a:lnTo>
                    <a:pt x="165" y="27"/>
                  </a:lnTo>
                  <a:lnTo>
                    <a:pt x="140" y="38"/>
                  </a:lnTo>
                  <a:lnTo>
                    <a:pt x="116" y="50"/>
                  </a:lnTo>
                  <a:lnTo>
                    <a:pt x="93" y="63"/>
                  </a:lnTo>
                  <a:lnTo>
                    <a:pt x="72" y="79"/>
                  </a:lnTo>
                  <a:lnTo>
                    <a:pt x="54" y="96"/>
                  </a:lnTo>
                  <a:lnTo>
                    <a:pt x="39" y="115"/>
                  </a:lnTo>
                  <a:lnTo>
                    <a:pt x="25" y="134"/>
                  </a:lnTo>
                  <a:lnTo>
                    <a:pt x="19" y="144"/>
                  </a:lnTo>
                  <a:lnTo>
                    <a:pt x="14" y="155"/>
                  </a:lnTo>
                  <a:lnTo>
                    <a:pt x="10" y="166"/>
                  </a:lnTo>
                  <a:lnTo>
                    <a:pt x="6" y="177"/>
                  </a:lnTo>
                  <a:lnTo>
                    <a:pt x="4" y="189"/>
                  </a:lnTo>
                  <a:lnTo>
                    <a:pt x="1" y="200"/>
                  </a:lnTo>
                  <a:lnTo>
                    <a:pt x="0" y="212"/>
                  </a:lnTo>
                  <a:lnTo>
                    <a:pt x="0" y="224"/>
                  </a:lnTo>
                  <a:lnTo>
                    <a:pt x="0" y="224"/>
                  </a:lnTo>
                  <a:lnTo>
                    <a:pt x="0" y="236"/>
                  </a:lnTo>
                  <a:lnTo>
                    <a:pt x="1" y="248"/>
                  </a:lnTo>
                  <a:lnTo>
                    <a:pt x="4" y="259"/>
                  </a:lnTo>
                  <a:lnTo>
                    <a:pt x="6" y="271"/>
                  </a:lnTo>
                  <a:lnTo>
                    <a:pt x="10" y="282"/>
                  </a:lnTo>
                  <a:lnTo>
                    <a:pt x="14" y="293"/>
                  </a:lnTo>
                  <a:lnTo>
                    <a:pt x="19" y="303"/>
                  </a:lnTo>
                  <a:lnTo>
                    <a:pt x="25" y="313"/>
                  </a:lnTo>
                  <a:lnTo>
                    <a:pt x="39" y="332"/>
                  </a:lnTo>
                  <a:lnTo>
                    <a:pt x="54" y="352"/>
                  </a:lnTo>
                  <a:lnTo>
                    <a:pt x="72" y="369"/>
                  </a:lnTo>
                  <a:lnTo>
                    <a:pt x="93" y="384"/>
                  </a:lnTo>
                  <a:lnTo>
                    <a:pt x="116" y="398"/>
                  </a:lnTo>
                  <a:lnTo>
                    <a:pt x="140" y="411"/>
                  </a:lnTo>
                  <a:lnTo>
                    <a:pt x="165" y="421"/>
                  </a:lnTo>
                  <a:lnTo>
                    <a:pt x="193" y="430"/>
                  </a:lnTo>
                  <a:lnTo>
                    <a:pt x="221" y="437"/>
                  </a:lnTo>
                  <a:lnTo>
                    <a:pt x="250" y="442"/>
                  </a:lnTo>
                  <a:lnTo>
                    <a:pt x="280" y="446"/>
                  </a:lnTo>
                  <a:lnTo>
                    <a:pt x="310" y="447"/>
                  </a:lnTo>
                  <a:lnTo>
                    <a:pt x="310" y="4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6" name="Freeform 37">
              <a:extLst>
                <a:ext uri="{FF2B5EF4-FFF2-40B4-BE49-F238E27FC236}">
                  <a16:creationId xmlns:a16="http://schemas.microsoft.com/office/drawing/2014/main" id="{F9AFDAAF-C0EF-BD4B-9012-3147FF9B1D95}"/>
                </a:ext>
              </a:extLst>
            </p:cNvPr>
            <p:cNvSpPr>
              <a:spLocks/>
            </p:cNvSpPr>
            <p:nvPr/>
          </p:nvSpPr>
          <p:spPr bwMode="auto">
            <a:xfrm>
              <a:off x="3633788" y="938213"/>
              <a:ext cx="360363" cy="350838"/>
            </a:xfrm>
            <a:custGeom>
              <a:avLst/>
              <a:gdLst>
                <a:gd name="T0" fmla="*/ 155 w 454"/>
                <a:gd name="T1" fmla="*/ 442 h 442"/>
                <a:gd name="T2" fmla="*/ 155 w 454"/>
                <a:gd name="T3" fmla="*/ 177 h 442"/>
                <a:gd name="T4" fmla="*/ 159 w 454"/>
                <a:gd name="T5" fmla="*/ 149 h 442"/>
                <a:gd name="T6" fmla="*/ 174 w 454"/>
                <a:gd name="T7" fmla="*/ 125 h 442"/>
                <a:gd name="T8" fmla="*/ 185 w 454"/>
                <a:gd name="T9" fmla="*/ 114 h 442"/>
                <a:gd name="T10" fmla="*/ 198 w 454"/>
                <a:gd name="T11" fmla="*/ 105 h 442"/>
                <a:gd name="T12" fmla="*/ 214 w 454"/>
                <a:gd name="T13" fmla="*/ 101 h 442"/>
                <a:gd name="T14" fmla="*/ 232 w 454"/>
                <a:gd name="T15" fmla="*/ 98 h 442"/>
                <a:gd name="T16" fmla="*/ 245 w 454"/>
                <a:gd name="T17" fmla="*/ 99 h 442"/>
                <a:gd name="T18" fmla="*/ 268 w 454"/>
                <a:gd name="T19" fmla="*/ 108 h 442"/>
                <a:gd name="T20" fmla="*/ 287 w 454"/>
                <a:gd name="T21" fmla="*/ 122 h 442"/>
                <a:gd name="T22" fmla="*/ 298 w 454"/>
                <a:gd name="T23" fmla="*/ 142 h 442"/>
                <a:gd name="T24" fmla="*/ 299 w 454"/>
                <a:gd name="T25" fmla="*/ 152 h 442"/>
                <a:gd name="T26" fmla="*/ 454 w 454"/>
                <a:gd name="T27" fmla="*/ 442 h 442"/>
                <a:gd name="T28" fmla="*/ 454 w 454"/>
                <a:gd name="T29" fmla="*/ 144 h 442"/>
                <a:gd name="T30" fmla="*/ 450 w 454"/>
                <a:gd name="T31" fmla="*/ 116 h 442"/>
                <a:gd name="T32" fmla="*/ 439 w 454"/>
                <a:gd name="T33" fmla="*/ 89 h 442"/>
                <a:gd name="T34" fmla="*/ 421 w 454"/>
                <a:gd name="T35" fmla="*/ 64 h 442"/>
                <a:gd name="T36" fmla="*/ 400 w 454"/>
                <a:gd name="T37" fmla="*/ 43 h 442"/>
                <a:gd name="T38" fmla="*/ 372 w 454"/>
                <a:gd name="T39" fmla="*/ 26 h 442"/>
                <a:gd name="T40" fmla="*/ 341 w 454"/>
                <a:gd name="T41" fmla="*/ 12 h 442"/>
                <a:gd name="T42" fmla="*/ 307 w 454"/>
                <a:gd name="T43" fmla="*/ 4 h 442"/>
                <a:gd name="T44" fmla="*/ 269 w 454"/>
                <a:gd name="T45" fmla="*/ 0 h 442"/>
                <a:gd name="T46" fmla="*/ 267 w 454"/>
                <a:gd name="T47" fmla="*/ 0 h 442"/>
                <a:gd name="T48" fmla="*/ 263 w 454"/>
                <a:gd name="T49" fmla="*/ 0 h 442"/>
                <a:gd name="T50" fmla="*/ 249 w 454"/>
                <a:gd name="T51" fmla="*/ 2 h 442"/>
                <a:gd name="T52" fmla="*/ 219 w 454"/>
                <a:gd name="T53" fmla="*/ 5 h 442"/>
                <a:gd name="T54" fmla="*/ 190 w 454"/>
                <a:gd name="T55" fmla="*/ 14 h 442"/>
                <a:gd name="T56" fmla="*/ 163 w 454"/>
                <a:gd name="T57" fmla="*/ 26 h 442"/>
                <a:gd name="T58" fmla="*/ 151 w 454"/>
                <a:gd name="T59" fmla="*/ 33 h 442"/>
                <a:gd name="T60" fmla="*/ 147 w 454"/>
                <a:gd name="T61" fmla="*/ 28 h 442"/>
                <a:gd name="T62" fmla="*/ 129 w 454"/>
                <a:gd name="T63" fmla="*/ 17 h 442"/>
                <a:gd name="T64" fmla="*/ 83 w 454"/>
                <a:gd name="T65" fmla="*/ 8 h 442"/>
                <a:gd name="T66" fmla="*/ 0 w 454"/>
                <a:gd name="T67" fmla="*/ 4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4" h="442">
                  <a:moveTo>
                    <a:pt x="0" y="442"/>
                  </a:moveTo>
                  <a:lnTo>
                    <a:pt x="155" y="442"/>
                  </a:lnTo>
                  <a:lnTo>
                    <a:pt x="155" y="177"/>
                  </a:lnTo>
                  <a:lnTo>
                    <a:pt x="155" y="177"/>
                  </a:lnTo>
                  <a:lnTo>
                    <a:pt x="156" y="163"/>
                  </a:lnTo>
                  <a:lnTo>
                    <a:pt x="159" y="149"/>
                  </a:lnTo>
                  <a:lnTo>
                    <a:pt x="165" y="136"/>
                  </a:lnTo>
                  <a:lnTo>
                    <a:pt x="174" y="125"/>
                  </a:lnTo>
                  <a:lnTo>
                    <a:pt x="180" y="119"/>
                  </a:lnTo>
                  <a:lnTo>
                    <a:pt x="185" y="114"/>
                  </a:lnTo>
                  <a:lnTo>
                    <a:pt x="192" y="109"/>
                  </a:lnTo>
                  <a:lnTo>
                    <a:pt x="198" y="105"/>
                  </a:lnTo>
                  <a:lnTo>
                    <a:pt x="207" y="103"/>
                  </a:lnTo>
                  <a:lnTo>
                    <a:pt x="214" y="101"/>
                  </a:lnTo>
                  <a:lnTo>
                    <a:pt x="222" y="99"/>
                  </a:lnTo>
                  <a:lnTo>
                    <a:pt x="232" y="98"/>
                  </a:lnTo>
                  <a:lnTo>
                    <a:pt x="232" y="98"/>
                  </a:lnTo>
                  <a:lnTo>
                    <a:pt x="245" y="99"/>
                  </a:lnTo>
                  <a:lnTo>
                    <a:pt x="257" y="103"/>
                  </a:lnTo>
                  <a:lnTo>
                    <a:pt x="268" y="108"/>
                  </a:lnTo>
                  <a:lnTo>
                    <a:pt x="279" y="114"/>
                  </a:lnTo>
                  <a:lnTo>
                    <a:pt x="287" y="122"/>
                  </a:lnTo>
                  <a:lnTo>
                    <a:pt x="295" y="132"/>
                  </a:lnTo>
                  <a:lnTo>
                    <a:pt x="298" y="142"/>
                  </a:lnTo>
                  <a:lnTo>
                    <a:pt x="299" y="146"/>
                  </a:lnTo>
                  <a:lnTo>
                    <a:pt x="299" y="152"/>
                  </a:lnTo>
                  <a:lnTo>
                    <a:pt x="299" y="442"/>
                  </a:lnTo>
                  <a:lnTo>
                    <a:pt x="454" y="442"/>
                  </a:lnTo>
                  <a:lnTo>
                    <a:pt x="454" y="144"/>
                  </a:lnTo>
                  <a:lnTo>
                    <a:pt x="454" y="144"/>
                  </a:lnTo>
                  <a:lnTo>
                    <a:pt x="453" y="130"/>
                  </a:lnTo>
                  <a:lnTo>
                    <a:pt x="450" y="116"/>
                  </a:lnTo>
                  <a:lnTo>
                    <a:pt x="446" y="102"/>
                  </a:lnTo>
                  <a:lnTo>
                    <a:pt x="439" y="89"/>
                  </a:lnTo>
                  <a:lnTo>
                    <a:pt x="431" y="76"/>
                  </a:lnTo>
                  <a:lnTo>
                    <a:pt x="421" y="64"/>
                  </a:lnTo>
                  <a:lnTo>
                    <a:pt x="411" y="53"/>
                  </a:lnTo>
                  <a:lnTo>
                    <a:pt x="400" y="43"/>
                  </a:lnTo>
                  <a:lnTo>
                    <a:pt x="386" y="34"/>
                  </a:lnTo>
                  <a:lnTo>
                    <a:pt x="372" y="26"/>
                  </a:lnTo>
                  <a:lnTo>
                    <a:pt x="356" y="18"/>
                  </a:lnTo>
                  <a:lnTo>
                    <a:pt x="341" y="12"/>
                  </a:lnTo>
                  <a:lnTo>
                    <a:pt x="324" y="8"/>
                  </a:lnTo>
                  <a:lnTo>
                    <a:pt x="307" y="4"/>
                  </a:lnTo>
                  <a:lnTo>
                    <a:pt x="289" y="2"/>
                  </a:lnTo>
                  <a:lnTo>
                    <a:pt x="269" y="0"/>
                  </a:lnTo>
                  <a:lnTo>
                    <a:pt x="269" y="0"/>
                  </a:lnTo>
                  <a:lnTo>
                    <a:pt x="267" y="0"/>
                  </a:lnTo>
                  <a:lnTo>
                    <a:pt x="267" y="0"/>
                  </a:lnTo>
                  <a:lnTo>
                    <a:pt x="263" y="0"/>
                  </a:lnTo>
                  <a:lnTo>
                    <a:pt x="263" y="0"/>
                  </a:lnTo>
                  <a:lnTo>
                    <a:pt x="249" y="2"/>
                  </a:lnTo>
                  <a:lnTo>
                    <a:pt x="233" y="3"/>
                  </a:lnTo>
                  <a:lnTo>
                    <a:pt x="219" y="5"/>
                  </a:lnTo>
                  <a:lnTo>
                    <a:pt x="204" y="9"/>
                  </a:lnTo>
                  <a:lnTo>
                    <a:pt x="190" y="14"/>
                  </a:lnTo>
                  <a:lnTo>
                    <a:pt x="176" y="20"/>
                  </a:lnTo>
                  <a:lnTo>
                    <a:pt x="163" y="26"/>
                  </a:lnTo>
                  <a:lnTo>
                    <a:pt x="151" y="33"/>
                  </a:lnTo>
                  <a:lnTo>
                    <a:pt x="151" y="33"/>
                  </a:lnTo>
                  <a:lnTo>
                    <a:pt x="150" y="32"/>
                  </a:lnTo>
                  <a:lnTo>
                    <a:pt x="147" y="28"/>
                  </a:lnTo>
                  <a:lnTo>
                    <a:pt x="140" y="23"/>
                  </a:lnTo>
                  <a:lnTo>
                    <a:pt x="129" y="17"/>
                  </a:lnTo>
                  <a:lnTo>
                    <a:pt x="110" y="12"/>
                  </a:lnTo>
                  <a:lnTo>
                    <a:pt x="83" y="8"/>
                  </a:lnTo>
                  <a:lnTo>
                    <a:pt x="47" y="5"/>
                  </a:lnTo>
                  <a:lnTo>
                    <a:pt x="0" y="4"/>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7" name="Rectangle 38">
              <a:extLst>
                <a:ext uri="{FF2B5EF4-FFF2-40B4-BE49-F238E27FC236}">
                  <a16:creationId xmlns:a16="http://schemas.microsoft.com/office/drawing/2014/main" id="{D3D395A6-C017-884D-B723-60609E9606B7}"/>
                </a:ext>
              </a:extLst>
            </p:cNvPr>
            <p:cNvSpPr>
              <a:spLocks noChangeArrowheads="1"/>
            </p:cNvSpPr>
            <p:nvPr/>
          </p:nvSpPr>
          <p:spPr bwMode="auto">
            <a:xfrm>
              <a:off x="2168526" y="952501"/>
              <a:ext cx="120650" cy="336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8" name="Freeform 39">
              <a:extLst>
                <a:ext uri="{FF2B5EF4-FFF2-40B4-BE49-F238E27FC236}">
                  <a16:creationId xmlns:a16="http://schemas.microsoft.com/office/drawing/2014/main" id="{3A7309D9-5BC7-8B48-9CCF-75217E13BE61}"/>
                </a:ext>
              </a:extLst>
            </p:cNvPr>
            <p:cNvSpPr>
              <a:spLocks/>
            </p:cNvSpPr>
            <p:nvPr/>
          </p:nvSpPr>
          <p:spPr bwMode="auto">
            <a:xfrm>
              <a:off x="2820988" y="946151"/>
              <a:ext cx="252413" cy="342900"/>
            </a:xfrm>
            <a:custGeom>
              <a:avLst/>
              <a:gdLst>
                <a:gd name="T0" fmla="*/ 0 w 319"/>
                <a:gd name="T1" fmla="*/ 432 h 432"/>
                <a:gd name="T2" fmla="*/ 151 w 319"/>
                <a:gd name="T3" fmla="*/ 432 h 432"/>
                <a:gd name="T4" fmla="*/ 151 w 319"/>
                <a:gd name="T5" fmla="*/ 175 h 432"/>
                <a:gd name="T6" fmla="*/ 151 w 319"/>
                <a:gd name="T7" fmla="*/ 175 h 432"/>
                <a:gd name="T8" fmla="*/ 152 w 319"/>
                <a:gd name="T9" fmla="*/ 167 h 432"/>
                <a:gd name="T10" fmla="*/ 153 w 319"/>
                <a:gd name="T11" fmla="*/ 159 h 432"/>
                <a:gd name="T12" fmla="*/ 156 w 319"/>
                <a:gd name="T13" fmla="*/ 153 h 432"/>
                <a:gd name="T14" fmla="*/ 159 w 319"/>
                <a:gd name="T15" fmla="*/ 146 h 432"/>
                <a:gd name="T16" fmla="*/ 164 w 319"/>
                <a:gd name="T17" fmla="*/ 140 h 432"/>
                <a:gd name="T18" fmla="*/ 169 w 319"/>
                <a:gd name="T19" fmla="*/ 134 h 432"/>
                <a:gd name="T20" fmla="*/ 175 w 319"/>
                <a:gd name="T21" fmla="*/ 128 h 432"/>
                <a:gd name="T22" fmla="*/ 181 w 319"/>
                <a:gd name="T23" fmla="*/ 123 h 432"/>
                <a:gd name="T24" fmla="*/ 196 w 319"/>
                <a:gd name="T25" fmla="*/ 114 h 432"/>
                <a:gd name="T26" fmla="*/ 213 w 319"/>
                <a:gd name="T27" fmla="*/ 107 h 432"/>
                <a:gd name="T28" fmla="*/ 231 w 319"/>
                <a:gd name="T29" fmla="*/ 103 h 432"/>
                <a:gd name="T30" fmla="*/ 240 w 319"/>
                <a:gd name="T31" fmla="*/ 101 h 432"/>
                <a:gd name="T32" fmla="*/ 250 w 319"/>
                <a:gd name="T33" fmla="*/ 101 h 432"/>
                <a:gd name="T34" fmla="*/ 250 w 319"/>
                <a:gd name="T35" fmla="*/ 101 h 432"/>
                <a:gd name="T36" fmla="*/ 268 w 319"/>
                <a:gd name="T37" fmla="*/ 103 h 432"/>
                <a:gd name="T38" fmla="*/ 286 w 319"/>
                <a:gd name="T39" fmla="*/ 105 h 432"/>
                <a:gd name="T40" fmla="*/ 303 w 319"/>
                <a:gd name="T41" fmla="*/ 110 h 432"/>
                <a:gd name="T42" fmla="*/ 319 w 319"/>
                <a:gd name="T43" fmla="*/ 116 h 432"/>
                <a:gd name="T44" fmla="*/ 319 w 319"/>
                <a:gd name="T45" fmla="*/ 116 h 432"/>
                <a:gd name="T46" fmla="*/ 319 w 319"/>
                <a:gd name="T47" fmla="*/ 4 h 432"/>
                <a:gd name="T48" fmla="*/ 319 w 319"/>
                <a:gd name="T49" fmla="*/ 4 h 432"/>
                <a:gd name="T50" fmla="*/ 291 w 319"/>
                <a:gd name="T51" fmla="*/ 1 h 432"/>
                <a:gd name="T52" fmla="*/ 265 w 319"/>
                <a:gd name="T53" fmla="*/ 0 h 432"/>
                <a:gd name="T54" fmla="*/ 265 w 319"/>
                <a:gd name="T55" fmla="*/ 0 h 432"/>
                <a:gd name="T56" fmla="*/ 250 w 319"/>
                <a:gd name="T57" fmla="*/ 0 h 432"/>
                <a:gd name="T58" fmla="*/ 234 w 319"/>
                <a:gd name="T59" fmla="*/ 2 h 432"/>
                <a:gd name="T60" fmla="*/ 220 w 319"/>
                <a:gd name="T61" fmla="*/ 5 h 432"/>
                <a:gd name="T62" fmla="*/ 205 w 319"/>
                <a:gd name="T63" fmla="*/ 8 h 432"/>
                <a:gd name="T64" fmla="*/ 191 w 319"/>
                <a:gd name="T65" fmla="*/ 12 h 432"/>
                <a:gd name="T66" fmla="*/ 176 w 319"/>
                <a:gd name="T67" fmla="*/ 18 h 432"/>
                <a:gd name="T68" fmla="*/ 163 w 319"/>
                <a:gd name="T69" fmla="*/ 24 h 432"/>
                <a:gd name="T70" fmla="*/ 151 w 319"/>
                <a:gd name="T71" fmla="*/ 31 h 432"/>
                <a:gd name="T72" fmla="*/ 151 w 319"/>
                <a:gd name="T73" fmla="*/ 31 h 432"/>
                <a:gd name="T74" fmla="*/ 149 w 319"/>
                <a:gd name="T75" fmla="*/ 29 h 432"/>
                <a:gd name="T76" fmla="*/ 144 w 319"/>
                <a:gd name="T77" fmla="*/ 24 h 432"/>
                <a:gd name="T78" fmla="*/ 137 w 319"/>
                <a:gd name="T79" fmla="*/ 19 h 432"/>
                <a:gd name="T80" fmla="*/ 123 w 319"/>
                <a:gd name="T81" fmla="*/ 15 h 432"/>
                <a:gd name="T82" fmla="*/ 104 w 319"/>
                <a:gd name="T83" fmla="*/ 10 h 432"/>
                <a:gd name="T84" fmla="*/ 79 w 319"/>
                <a:gd name="T85" fmla="*/ 6 h 432"/>
                <a:gd name="T86" fmla="*/ 44 w 319"/>
                <a:gd name="T87" fmla="*/ 4 h 432"/>
                <a:gd name="T88" fmla="*/ 0 w 319"/>
                <a:gd name="T89" fmla="*/ 2 h 432"/>
                <a:gd name="T90" fmla="*/ 0 w 319"/>
                <a:gd name="T91" fmla="*/ 43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9" h="432">
                  <a:moveTo>
                    <a:pt x="0" y="432"/>
                  </a:moveTo>
                  <a:lnTo>
                    <a:pt x="151" y="432"/>
                  </a:lnTo>
                  <a:lnTo>
                    <a:pt x="151" y="175"/>
                  </a:lnTo>
                  <a:lnTo>
                    <a:pt x="151" y="175"/>
                  </a:lnTo>
                  <a:lnTo>
                    <a:pt x="152" y="167"/>
                  </a:lnTo>
                  <a:lnTo>
                    <a:pt x="153" y="159"/>
                  </a:lnTo>
                  <a:lnTo>
                    <a:pt x="156" y="153"/>
                  </a:lnTo>
                  <a:lnTo>
                    <a:pt x="159" y="146"/>
                  </a:lnTo>
                  <a:lnTo>
                    <a:pt x="164" y="140"/>
                  </a:lnTo>
                  <a:lnTo>
                    <a:pt x="169" y="134"/>
                  </a:lnTo>
                  <a:lnTo>
                    <a:pt x="175" y="128"/>
                  </a:lnTo>
                  <a:lnTo>
                    <a:pt x="181" y="123"/>
                  </a:lnTo>
                  <a:lnTo>
                    <a:pt x="196" y="114"/>
                  </a:lnTo>
                  <a:lnTo>
                    <a:pt x="213" y="107"/>
                  </a:lnTo>
                  <a:lnTo>
                    <a:pt x="231" y="103"/>
                  </a:lnTo>
                  <a:lnTo>
                    <a:pt x="240" y="101"/>
                  </a:lnTo>
                  <a:lnTo>
                    <a:pt x="250" y="101"/>
                  </a:lnTo>
                  <a:lnTo>
                    <a:pt x="250" y="101"/>
                  </a:lnTo>
                  <a:lnTo>
                    <a:pt x="268" y="103"/>
                  </a:lnTo>
                  <a:lnTo>
                    <a:pt x="286" y="105"/>
                  </a:lnTo>
                  <a:lnTo>
                    <a:pt x="303" y="110"/>
                  </a:lnTo>
                  <a:lnTo>
                    <a:pt x="319" y="116"/>
                  </a:lnTo>
                  <a:lnTo>
                    <a:pt x="319" y="116"/>
                  </a:lnTo>
                  <a:lnTo>
                    <a:pt x="319" y="4"/>
                  </a:lnTo>
                  <a:lnTo>
                    <a:pt x="319" y="4"/>
                  </a:lnTo>
                  <a:lnTo>
                    <a:pt x="291" y="1"/>
                  </a:lnTo>
                  <a:lnTo>
                    <a:pt x="265" y="0"/>
                  </a:lnTo>
                  <a:lnTo>
                    <a:pt x="265" y="0"/>
                  </a:lnTo>
                  <a:lnTo>
                    <a:pt x="250" y="0"/>
                  </a:lnTo>
                  <a:lnTo>
                    <a:pt x="234" y="2"/>
                  </a:lnTo>
                  <a:lnTo>
                    <a:pt x="220" y="5"/>
                  </a:lnTo>
                  <a:lnTo>
                    <a:pt x="205" y="8"/>
                  </a:lnTo>
                  <a:lnTo>
                    <a:pt x="191" y="12"/>
                  </a:lnTo>
                  <a:lnTo>
                    <a:pt x="176" y="18"/>
                  </a:lnTo>
                  <a:lnTo>
                    <a:pt x="163" y="24"/>
                  </a:lnTo>
                  <a:lnTo>
                    <a:pt x="151" y="31"/>
                  </a:lnTo>
                  <a:lnTo>
                    <a:pt x="151" y="31"/>
                  </a:lnTo>
                  <a:lnTo>
                    <a:pt x="149" y="29"/>
                  </a:lnTo>
                  <a:lnTo>
                    <a:pt x="144" y="24"/>
                  </a:lnTo>
                  <a:lnTo>
                    <a:pt x="137" y="19"/>
                  </a:lnTo>
                  <a:lnTo>
                    <a:pt x="123" y="15"/>
                  </a:lnTo>
                  <a:lnTo>
                    <a:pt x="104" y="10"/>
                  </a:lnTo>
                  <a:lnTo>
                    <a:pt x="79" y="6"/>
                  </a:lnTo>
                  <a:lnTo>
                    <a:pt x="44" y="4"/>
                  </a:lnTo>
                  <a:lnTo>
                    <a:pt x="0" y="2"/>
                  </a:lnTo>
                  <a:lnTo>
                    <a:pt x="0" y="4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9" name="Freeform 40">
              <a:extLst>
                <a:ext uri="{FF2B5EF4-FFF2-40B4-BE49-F238E27FC236}">
                  <a16:creationId xmlns:a16="http://schemas.microsoft.com/office/drawing/2014/main" id="{EADCE241-9E88-1346-BED1-494C61C04F78}"/>
                </a:ext>
              </a:extLst>
            </p:cNvPr>
            <p:cNvSpPr>
              <a:spLocks/>
            </p:cNvSpPr>
            <p:nvPr/>
          </p:nvSpPr>
          <p:spPr bwMode="auto">
            <a:xfrm>
              <a:off x="1701801" y="677863"/>
              <a:ext cx="522288" cy="635000"/>
            </a:xfrm>
            <a:custGeom>
              <a:avLst/>
              <a:gdLst>
                <a:gd name="T0" fmla="*/ 635 w 658"/>
                <a:gd name="T1" fmla="*/ 37 h 800"/>
                <a:gd name="T2" fmla="*/ 614 w 658"/>
                <a:gd name="T3" fmla="*/ 19 h 800"/>
                <a:gd name="T4" fmla="*/ 587 w 658"/>
                <a:gd name="T5" fmla="*/ 7 h 800"/>
                <a:gd name="T6" fmla="*/ 529 w 658"/>
                <a:gd name="T7" fmla="*/ 0 h 800"/>
                <a:gd name="T8" fmla="*/ 442 w 658"/>
                <a:gd name="T9" fmla="*/ 11 h 800"/>
                <a:gd name="T10" fmla="*/ 337 w 658"/>
                <a:gd name="T11" fmla="*/ 43 h 800"/>
                <a:gd name="T12" fmla="*/ 218 w 658"/>
                <a:gd name="T13" fmla="*/ 95 h 800"/>
                <a:gd name="T14" fmla="*/ 161 w 658"/>
                <a:gd name="T15" fmla="*/ 126 h 800"/>
                <a:gd name="T16" fmla="*/ 146 w 658"/>
                <a:gd name="T17" fmla="*/ 135 h 800"/>
                <a:gd name="T18" fmla="*/ 144 w 658"/>
                <a:gd name="T19" fmla="*/ 142 h 800"/>
                <a:gd name="T20" fmla="*/ 152 w 658"/>
                <a:gd name="T21" fmla="*/ 142 h 800"/>
                <a:gd name="T22" fmla="*/ 181 w 658"/>
                <a:gd name="T23" fmla="*/ 132 h 800"/>
                <a:gd name="T24" fmla="*/ 244 w 658"/>
                <a:gd name="T25" fmla="*/ 104 h 800"/>
                <a:gd name="T26" fmla="*/ 331 w 658"/>
                <a:gd name="T27" fmla="*/ 74 h 800"/>
                <a:gd name="T28" fmla="*/ 407 w 658"/>
                <a:gd name="T29" fmla="*/ 59 h 800"/>
                <a:gd name="T30" fmla="*/ 470 w 658"/>
                <a:gd name="T31" fmla="*/ 59 h 800"/>
                <a:gd name="T32" fmla="*/ 518 w 658"/>
                <a:gd name="T33" fmla="*/ 74 h 800"/>
                <a:gd name="T34" fmla="*/ 541 w 658"/>
                <a:gd name="T35" fmla="*/ 92 h 800"/>
                <a:gd name="T36" fmla="*/ 558 w 658"/>
                <a:gd name="T37" fmla="*/ 121 h 800"/>
                <a:gd name="T38" fmla="*/ 562 w 658"/>
                <a:gd name="T39" fmla="*/ 159 h 800"/>
                <a:gd name="T40" fmla="*/ 554 w 658"/>
                <a:gd name="T41" fmla="*/ 206 h 800"/>
                <a:gd name="T42" fmla="*/ 535 w 658"/>
                <a:gd name="T43" fmla="*/ 258 h 800"/>
                <a:gd name="T44" fmla="*/ 506 w 658"/>
                <a:gd name="T45" fmla="*/ 316 h 800"/>
                <a:gd name="T46" fmla="*/ 436 w 658"/>
                <a:gd name="T47" fmla="*/ 420 h 800"/>
                <a:gd name="T48" fmla="*/ 320 w 658"/>
                <a:gd name="T49" fmla="*/ 551 h 800"/>
                <a:gd name="T50" fmla="*/ 225 w 658"/>
                <a:gd name="T51" fmla="*/ 634 h 800"/>
                <a:gd name="T52" fmla="*/ 173 w 658"/>
                <a:gd name="T53" fmla="*/ 675 h 800"/>
                <a:gd name="T54" fmla="*/ 39 w 658"/>
                <a:gd name="T55" fmla="*/ 767 h 800"/>
                <a:gd name="T56" fmla="*/ 31 w 658"/>
                <a:gd name="T57" fmla="*/ 771 h 800"/>
                <a:gd name="T58" fmla="*/ 2 w 658"/>
                <a:gd name="T59" fmla="*/ 794 h 800"/>
                <a:gd name="T60" fmla="*/ 3 w 658"/>
                <a:gd name="T61" fmla="*/ 799 h 800"/>
                <a:gd name="T62" fmla="*/ 11 w 658"/>
                <a:gd name="T63" fmla="*/ 798 h 800"/>
                <a:gd name="T64" fmla="*/ 38 w 658"/>
                <a:gd name="T65" fmla="*/ 785 h 800"/>
                <a:gd name="T66" fmla="*/ 45 w 658"/>
                <a:gd name="T67" fmla="*/ 780 h 800"/>
                <a:gd name="T68" fmla="*/ 195 w 658"/>
                <a:gd name="T69" fmla="*/ 680 h 800"/>
                <a:gd name="T70" fmla="*/ 301 w 658"/>
                <a:gd name="T71" fmla="*/ 601 h 800"/>
                <a:gd name="T72" fmla="*/ 455 w 658"/>
                <a:gd name="T73" fmla="*/ 461 h 800"/>
                <a:gd name="T74" fmla="*/ 515 w 658"/>
                <a:gd name="T75" fmla="*/ 396 h 800"/>
                <a:gd name="T76" fmla="*/ 585 w 658"/>
                <a:gd name="T77" fmla="*/ 303 h 800"/>
                <a:gd name="T78" fmla="*/ 632 w 658"/>
                <a:gd name="T79" fmla="*/ 216 h 800"/>
                <a:gd name="T80" fmla="*/ 656 w 658"/>
                <a:gd name="T81" fmla="*/ 141 h 800"/>
                <a:gd name="T82" fmla="*/ 657 w 658"/>
                <a:gd name="T83" fmla="*/ 87 h 800"/>
                <a:gd name="T84" fmla="*/ 650 w 658"/>
                <a:gd name="T85" fmla="*/ 60 h 800"/>
                <a:gd name="T86" fmla="*/ 640 w 658"/>
                <a:gd name="T87" fmla="*/ 45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8" h="800">
                  <a:moveTo>
                    <a:pt x="640" y="45"/>
                  </a:moveTo>
                  <a:lnTo>
                    <a:pt x="640" y="45"/>
                  </a:lnTo>
                  <a:lnTo>
                    <a:pt x="635" y="37"/>
                  </a:lnTo>
                  <a:lnTo>
                    <a:pt x="628" y="30"/>
                  </a:lnTo>
                  <a:lnTo>
                    <a:pt x="621" y="24"/>
                  </a:lnTo>
                  <a:lnTo>
                    <a:pt x="614" y="19"/>
                  </a:lnTo>
                  <a:lnTo>
                    <a:pt x="605" y="14"/>
                  </a:lnTo>
                  <a:lnTo>
                    <a:pt x="597" y="11"/>
                  </a:lnTo>
                  <a:lnTo>
                    <a:pt x="587" y="7"/>
                  </a:lnTo>
                  <a:lnTo>
                    <a:pt x="576" y="5"/>
                  </a:lnTo>
                  <a:lnTo>
                    <a:pt x="553" y="1"/>
                  </a:lnTo>
                  <a:lnTo>
                    <a:pt x="529" y="0"/>
                  </a:lnTo>
                  <a:lnTo>
                    <a:pt x="503" y="1"/>
                  </a:lnTo>
                  <a:lnTo>
                    <a:pt x="474" y="5"/>
                  </a:lnTo>
                  <a:lnTo>
                    <a:pt x="442" y="11"/>
                  </a:lnTo>
                  <a:lnTo>
                    <a:pt x="408" y="19"/>
                  </a:lnTo>
                  <a:lnTo>
                    <a:pt x="373" y="30"/>
                  </a:lnTo>
                  <a:lnTo>
                    <a:pt x="337" y="43"/>
                  </a:lnTo>
                  <a:lnTo>
                    <a:pt x="299" y="59"/>
                  </a:lnTo>
                  <a:lnTo>
                    <a:pt x="260" y="76"/>
                  </a:lnTo>
                  <a:lnTo>
                    <a:pt x="218" y="95"/>
                  </a:lnTo>
                  <a:lnTo>
                    <a:pt x="175" y="117"/>
                  </a:lnTo>
                  <a:lnTo>
                    <a:pt x="175" y="117"/>
                  </a:lnTo>
                  <a:lnTo>
                    <a:pt x="161" y="126"/>
                  </a:lnTo>
                  <a:lnTo>
                    <a:pt x="150" y="133"/>
                  </a:lnTo>
                  <a:lnTo>
                    <a:pt x="150" y="133"/>
                  </a:lnTo>
                  <a:lnTo>
                    <a:pt x="146" y="135"/>
                  </a:lnTo>
                  <a:lnTo>
                    <a:pt x="144" y="138"/>
                  </a:lnTo>
                  <a:lnTo>
                    <a:pt x="144" y="140"/>
                  </a:lnTo>
                  <a:lnTo>
                    <a:pt x="144" y="142"/>
                  </a:lnTo>
                  <a:lnTo>
                    <a:pt x="145" y="144"/>
                  </a:lnTo>
                  <a:lnTo>
                    <a:pt x="148" y="144"/>
                  </a:lnTo>
                  <a:lnTo>
                    <a:pt x="152" y="142"/>
                  </a:lnTo>
                  <a:lnTo>
                    <a:pt x="152" y="142"/>
                  </a:lnTo>
                  <a:lnTo>
                    <a:pt x="167" y="138"/>
                  </a:lnTo>
                  <a:lnTo>
                    <a:pt x="181" y="132"/>
                  </a:lnTo>
                  <a:lnTo>
                    <a:pt x="181" y="132"/>
                  </a:lnTo>
                  <a:lnTo>
                    <a:pt x="214" y="116"/>
                  </a:lnTo>
                  <a:lnTo>
                    <a:pt x="244" y="104"/>
                  </a:lnTo>
                  <a:lnTo>
                    <a:pt x="274" y="92"/>
                  </a:lnTo>
                  <a:lnTo>
                    <a:pt x="303" y="82"/>
                  </a:lnTo>
                  <a:lnTo>
                    <a:pt x="331" y="74"/>
                  </a:lnTo>
                  <a:lnTo>
                    <a:pt x="358" y="68"/>
                  </a:lnTo>
                  <a:lnTo>
                    <a:pt x="383" y="63"/>
                  </a:lnTo>
                  <a:lnTo>
                    <a:pt x="407" y="59"/>
                  </a:lnTo>
                  <a:lnTo>
                    <a:pt x="429" y="58"/>
                  </a:lnTo>
                  <a:lnTo>
                    <a:pt x="451" y="58"/>
                  </a:lnTo>
                  <a:lnTo>
                    <a:pt x="470" y="59"/>
                  </a:lnTo>
                  <a:lnTo>
                    <a:pt x="488" y="62"/>
                  </a:lnTo>
                  <a:lnTo>
                    <a:pt x="504" y="66"/>
                  </a:lnTo>
                  <a:lnTo>
                    <a:pt x="518" y="74"/>
                  </a:lnTo>
                  <a:lnTo>
                    <a:pt x="530" y="82"/>
                  </a:lnTo>
                  <a:lnTo>
                    <a:pt x="541" y="92"/>
                  </a:lnTo>
                  <a:lnTo>
                    <a:pt x="541" y="92"/>
                  </a:lnTo>
                  <a:lnTo>
                    <a:pt x="548" y="100"/>
                  </a:lnTo>
                  <a:lnTo>
                    <a:pt x="554" y="110"/>
                  </a:lnTo>
                  <a:lnTo>
                    <a:pt x="558" y="121"/>
                  </a:lnTo>
                  <a:lnTo>
                    <a:pt x="560" y="133"/>
                  </a:lnTo>
                  <a:lnTo>
                    <a:pt x="562" y="146"/>
                  </a:lnTo>
                  <a:lnTo>
                    <a:pt x="562" y="159"/>
                  </a:lnTo>
                  <a:lnTo>
                    <a:pt x="560" y="174"/>
                  </a:lnTo>
                  <a:lnTo>
                    <a:pt x="558" y="190"/>
                  </a:lnTo>
                  <a:lnTo>
                    <a:pt x="554" y="206"/>
                  </a:lnTo>
                  <a:lnTo>
                    <a:pt x="548" y="223"/>
                  </a:lnTo>
                  <a:lnTo>
                    <a:pt x="542" y="240"/>
                  </a:lnTo>
                  <a:lnTo>
                    <a:pt x="535" y="258"/>
                  </a:lnTo>
                  <a:lnTo>
                    <a:pt x="527" y="278"/>
                  </a:lnTo>
                  <a:lnTo>
                    <a:pt x="517" y="297"/>
                  </a:lnTo>
                  <a:lnTo>
                    <a:pt x="506" y="316"/>
                  </a:lnTo>
                  <a:lnTo>
                    <a:pt x="494" y="337"/>
                  </a:lnTo>
                  <a:lnTo>
                    <a:pt x="468" y="378"/>
                  </a:lnTo>
                  <a:lnTo>
                    <a:pt x="436" y="420"/>
                  </a:lnTo>
                  <a:lnTo>
                    <a:pt x="401" y="464"/>
                  </a:lnTo>
                  <a:lnTo>
                    <a:pt x="362" y="507"/>
                  </a:lnTo>
                  <a:lnTo>
                    <a:pt x="320" y="551"/>
                  </a:lnTo>
                  <a:lnTo>
                    <a:pt x="274" y="593"/>
                  </a:lnTo>
                  <a:lnTo>
                    <a:pt x="250" y="613"/>
                  </a:lnTo>
                  <a:lnTo>
                    <a:pt x="225" y="634"/>
                  </a:lnTo>
                  <a:lnTo>
                    <a:pt x="200" y="654"/>
                  </a:lnTo>
                  <a:lnTo>
                    <a:pt x="173" y="675"/>
                  </a:lnTo>
                  <a:lnTo>
                    <a:pt x="173" y="675"/>
                  </a:lnTo>
                  <a:lnTo>
                    <a:pt x="107" y="723"/>
                  </a:lnTo>
                  <a:lnTo>
                    <a:pt x="70" y="747"/>
                  </a:lnTo>
                  <a:lnTo>
                    <a:pt x="39" y="767"/>
                  </a:lnTo>
                  <a:lnTo>
                    <a:pt x="39" y="767"/>
                  </a:lnTo>
                  <a:lnTo>
                    <a:pt x="31" y="771"/>
                  </a:lnTo>
                  <a:lnTo>
                    <a:pt x="31" y="771"/>
                  </a:lnTo>
                  <a:lnTo>
                    <a:pt x="5" y="790"/>
                  </a:lnTo>
                  <a:lnTo>
                    <a:pt x="5" y="790"/>
                  </a:lnTo>
                  <a:lnTo>
                    <a:pt x="2" y="794"/>
                  </a:lnTo>
                  <a:lnTo>
                    <a:pt x="0" y="797"/>
                  </a:lnTo>
                  <a:lnTo>
                    <a:pt x="2" y="798"/>
                  </a:lnTo>
                  <a:lnTo>
                    <a:pt x="3" y="799"/>
                  </a:lnTo>
                  <a:lnTo>
                    <a:pt x="4" y="800"/>
                  </a:lnTo>
                  <a:lnTo>
                    <a:pt x="8" y="800"/>
                  </a:lnTo>
                  <a:lnTo>
                    <a:pt x="11" y="798"/>
                  </a:lnTo>
                  <a:lnTo>
                    <a:pt x="11" y="798"/>
                  </a:lnTo>
                  <a:lnTo>
                    <a:pt x="24" y="792"/>
                  </a:lnTo>
                  <a:lnTo>
                    <a:pt x="38" y="785"/>
                  </a:lnTo>
                  <a:lnTo>
                    <a:pt x="38" y="785"/>
                  </a:lnTo>
                  <a:lnTo>
                    <a:pt x="45" y="780"/>
                  </a:lnTo>
                  <a:lnTo>
                    <a:pt x="45" y="780"/>
                  </a:lnTo>
                  <a:lnTo>
                    <a:pt x="80" y="758"/>
                  </a:lnTo>
                  <a:lnTo>
                    <a:pt x="120" y="732"/>
                  </a:lnTo>
                  <a:lnTo>
                    <a:pt x="195" y="680"/>
                  </a:lnTo>
                  <a:lnTo>
                    <a:pt x="195" y="680"/>
                  </a:lnTo>
                  <a:lnTo>
                    <a:pt x="249" y="641"/>
                  </a:lnTo>
                  <a:lnTo>
                    <a:pt x="301" y="601"/>
                  </a:lnTo>
                  <a:lnTo>
                    <a:pt x="301" y="770"/>
                  </a:lnTo>
                  <a:lnTo>
                    <a:pt x="455" y="770"/>
                  </a:lnTo>
                  <a:lnTo>
                    <a:pt x="455" y="461"/>
                  </a:lnTo>
                  <a:lnTo>
                    <a:pt x="455" y="461"/>
                  </a:lnTo>
                  <a:lnTo>
                    <a:pt x="486" y="429"/>
                  </a:lnTo>
                  <a:lnTo>
                    <a:pt x="515" y="396"/>
                  </a:lnTo>
                  <a:lnTo>
                    <a:pt x="540" y="365"/>
                  </a:lnTo>
                  <a:lnTo>
                    <a:pt x="563" y="333"/>
                  </a:lnTo>
                  <a:lnTo>
                    <a:pt x="585" y="303"/>
                  </a:lnTo>
                  <a:lnTo>
                    <a:pt x="603" y="273"/>
                  </a:lnTo>
                  <a:lnTo>
                    <a:pt x="618" y="244"/>
                  </a:lnTo>
                  <a:lnTo>
                    <a:pt x="632" y="216"/>
                  </a:lnTo>
                  <a:lnTo>
                    <a:pt x="643" y="190"/>
                  </a:lnTo>
                  <a:lnTo>
                    <a:pt x="651" y="164"/>
                  </a:lnTo>
                  <a:lnTo>
                    <a:pt x="656" y="141"/>
                  </a:lnTo>
                  <a:lnTo>
                    <a:pt x="658" y="118"/>
                  </a:lnTo>
                  <a:lnTo>
                    <a:pt x="658" y="98"/>
                  </a:lnTo>
                  <a:lnTo>
                    <a:pt x="657" y="87"/>
                  </a:lnTo>
                  <a:lnTo>
                    <a:pt x="656" y="78"/>
                  </a:lnTo>
                  <a:lnTo>
                    <a:pt x="652" y="69"/>
                  </a:lnTo>
                  <a:lnTo>
                    <a:pt x="650" y="60"/>
                  </a:lnTo>
                  <a:lnTo>
                    <a:pt x="645" y="52"/>
                  </a:lnTo>
                  <a:lnTo>
                    <a:pt x="640" y="45"/>
                  </a:lnTo>
                  <a:lnTo>
                    <a:pt x="64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0" name="Freeform 41">
              <a:extLst>
                <a:ext uri="{FF2B5EF4-FFF2-40B4-BE49-F238E27FC236}">
                  <a16:creationId xmlns:a16="http://schemas.microsoft.com/office/drawing/2014/main" id="{CDE9E1A3-5866-AE48-831C-CAF7C5DA6382}"/>
                </a:ext>
              </a:extLst>
            </p:cNvPr>
            <p:cNvSpPr>
              <a:spLocks/>
            </p:cNvSpPr>
            <p:nvPr/>
          </p:nvSpPr>
          <p:spPr bwMode="auto">
            <a:xfrm>
              <a:off x="1233488" y="814388"/>
              <a:ext cx="819150" cy="649288"/>
            </a:xfrm>
            <a:custGeom>
              <a:avLst/>
              <a:gdLst>
                <a:gd name="T0" fmla="*/ 442 w 1032"/>
                <a:gd name="T1" fmla="*/ 660 h 819"/>
                <a:gd name="T2" fmla="*/ 582 w 1032"/>
                <a:gd name="T3" fmla="*/ 569 h 819"/>
                <a:gd name="T4" fmla="*/ 598 w 1032"/>
                <a:gd name="T5" fmla="*/ 553 h 819"/>
                <a:gd name="T6" fmla="*/ 594 w 1032"/>
                <a:gd name="T7" fmla="*/ 549 h 819"/>
                <a:gd name="T8" fmla="*/ 560 w 1032"/>
                <a:gd name="T9" fmla="*/ 567 h 819"/>
                <a:gd name="T10" fmla="*/ 397 w 1032"/>
                <a:gd name="T11" fmla="*/ 661 h 819"/>
                <a:gd name="T12" fmla="*/ 264 w 1032"/>
                <a:gd name="T13" fmla="*/ 713 h 819"/>
                <a:gd name="T14" fmla="*/ 175 w 1032"/>
                <a:gd name="T15" fmla="*/ 722 h 819"/>
                <a:gd name="T16" fmla="*/ 138 w 1032"/>
                <a:gd name="T17" fmla="*/ 713 h 819"/>
                <a:gd name="T18" fmla="*/ 107 w 1032"/>
                <a:gd name="T19" fmla="*/ 692 h 819"/>
                <a:gd name="T20" fmla="*/ 94 w 1032"/>
                <a:gd name="T21" fmla="*/ 670 h 819"/>
                <a:gd name="T22" fmla="*/ 87 w 1032"/>
                <a:gd name="T23" fmla="*/ 639 h 819"/>
                <a:gd name="T24" fmla="*/ 106 w 1032"/>
                <a:gd name="T25" fmla="*/ 559 h 819"/>
                <a:gd name="T26" fmla="*/ 167 w 1032"/>
                <a:gd name="T27" fmla="*/ 463 h 819"/>
                <a:gd name="T28" fmla="*/ 260 w 1032"/>
                <a:gd name="T29" fmla="*/ 354 h 819"/>
                <a:gd name="T30" fmla="*/ 322 w 1032"/>
                <a:gd name="T31" fmla="*/ 668 h 819"/>
                <a:gd name="T32" fmla="*/ 442 w 1032"/>
                <a:gd name="T33" fmla="*/ 281 h 819"/>
                <a:gd name="T34" fmla="*/ 491 w 1032"/>
                <a:gd name="T35" fmla="*/ 381 h 819"/>
                <a:gd name="T36" fmla="*/ 530 w 1032"/>
                <a:gd name="T37" fmla="*/ 428 h 819"/>
                <a:gd name="T38" fmla="*/ 578 w 1032"/>
                <a:gd name="T39" fmla="*/ 460 h 819"/>
                <a:gd name="T40" fmla="*/ 635 w 1032"/>
                <a:gd name="T41" fmla="*/ 479 h 819"/>
                <a:gd name="T42" fmla="*/ 682 w 1032"/>
                <a:gd name="T43" fmla="*/ 480 h 819"/>
                <a:gd name="T44" fmla="*/ 741 w 1032"/>
                <a:gd name="T45" fmla="*/ 466 h 819"/>
                <a:gd name="T46" fmla="*/ 792 w 1032"/>
                <a:gd name="T47" fmla="*/ 437 h 819"/>
                <a:gd name="T48" fmla="*/ 833 w 1032"/>
                <a:gd name="T49" fmla="*/ 394 h 819"/>
                <a:gd name="T50" fmla="*/ 891 w 1032"/>
                <a:gd name="T51" fmla="*/ 281 h 819"/>
                <a:gd name="T52" fmla="*/ 967 w 1032"/>
                <a:gd name="T53" fmla="*/ 284 h 819"/>
                <a:gd name="T54" fmla="*/ 1029 w 1032"/>
                <a:gd name="T55" fmla="*/ 206 h 819"/>
                <a:gd name="T56" fmla="*/ 1031 w 1032"/>
                <a:gd name="T57" fmla="*/ 188 h 819"/>
                <a:gd name="T58" fmla="*/ 994 w 1032"/>
                <a:gd name="T59" fmla="*/ 139 h 819"/>
                <a:gd name="T60" fmla="*/ 939 w 1032"/>
                <a:gd name="T61" fmla="*/ 110 h 819"/>
                <a:gd name="T62" fmla="*/ 897 w 1032"/>
                <a:gd name="T63" fmla="*/ 104 h 819"/>
                <a:gd name="T64" fmla="*/ 866 w 1032"/>
                <a:gd name="T65" fmla="*/ 108 h 819"/>
                <a:gd name="T66" fmla="*/ 818 w 1032"/>
                <a:gd name="T67" fmla="*/ 127 h 819"/>
                <a:gd name="T68" fmla="*/ 764 w 1032"/>
                <a:gd name="T69" fmla="*/ 186 h 819"/>
                <a:gd name="T70" fmla="*/ 694 w 1032"/>
                <a:gd name="T71" fmla="*/ 332 h 819"/>
                <a:gd name="T72" fmla="*/ 666 w 1032"/>
                <a:gd name="T73" fmla="*/ 344 h 819"/>
                <a:gd name="T74" fmla="*/ 643 w 1032"/>
                <a:gd name="T75" fmla="*/ 336 h 819"/>
                <a:gd name="T76" fmla="*/ 569 w 1032"/>
                <a:gd name="T77" fmla="*/ 186 h 819"/>
                <a:gd name="T78" fmla="*/ 546 w 1032"/>
                <a:gd name="T79" fmla="*/ 153 h 819"/>
                <a:gd name="T80" fmla="*/ 549 w 1032"/>
                <a:gd name="T81" fmla="*/ 99 h 819"/>
                <a:gd name="T82" fmla="*/ 652 w 1032"/>
                <a:gd name="T83" fmla="*/ 28 h 819"/>
                <a:gd name="T84" fmla="*/ 682 w 1032"/>
                <a:gd name="T85" fmla="*/ 6 h 819"/>
                <a:gd name="T86" fmla="*/ 678 w 1032"/>
                <a:gd name="T87" fmla="*/ 0 h 819"/>
                <a:gd name="T88" fmla="*/ 658 w 1032"/>
                <a:gd name="T89" fmla="*/ 8 h 819"/>
                <a:gd name="T90" fmla="*/ 540 w 1032"/>
                <a:gd name="T91" fmla="*/ 80 h 819"/>
                <a:gd name="T92" fmla="*/ 489 w 1032"/>
                <a:gd name="T93" fmla="*/ 114 h 819"/>
                <a:gd name="T94" fmla="*/ 436 w 1032"/>
                <a:gd name="T95" fmla="*/ 104 h 819"/>
                <a:gd name="T96" fmla="*/ 391 w 1032"/>
                <a:gd name="T97" fmla="*/ 111 h 819"/>
                <a:gd name="T98" fmla="*/ 342 w 1032"/>
                <a:gd name="T99" fmla="*/ 138 h 819"/>
                <a:gd name="T100" fmla="*/ 305 w 1032"/>
                <a:gd name="T101" fmla="*/ 182 h 819"/>
                <a:gd name="T102" fmla="*/ 289 w 1032"/>
                <a:gd name="T103" fmla="*/ 237 h 819"/>
                <a:gd name="T104" fmla="*/ 249 w 1032"/>
                <a:gd name="T105" fmla="*/ 308 h 819"/>
                <a:gd name="T106" fmla="*/ 116 w 1032"/>
                <a:gd name="T107" fmla="*/ 451 h 819"/>
                <a:gd name="T108" fmla="*/ 31 w 1032"/>
                <a:gd name="T109" fmla="*/ 580 h 819"/>
                <a:gd name="T110" fmla="*/ 2 w 1032"/>
                <a:gd name="T111" fmla="*/ 662 h 819"/>
                <a:gd name="T112" fmla="*/ 1 w 1032"/>
                <a:gd name="T113" fmla="*/ 708 h 819"/>
                <a:gd name="T114" fmla="*/ 16 w 1032"/>
                <a:gd name="T115" fmla="*/ 745 h 819"/>
                <a:gd name="T116" fmla="*/ 46 w 1032"/>
                <a:gd name="T117" fmla="*/ 772 h 819"/>
                <a:gd name="T118" fmla="*/ 104 w 1032"/>
                <a:gd name="T119" fmla="*/ 786 h 819"/>
                <a:gd name="T120" fmla="*/ 179 w 1032"/>
                <a:gd name="T121" fmla="*/ 777 h 819"/>
                <a:gd name="T122" fmla="*/ 289 w 1032"/>
                <a:gd name="T123" fmla="*/ 739 h 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2" h="819">
                  <a:moveTo>
                    <a:pt x="289" y="819"/>
                  </a:moveTo>
                  <a:lnTo>
                    <a:pt x="442" y="819"/>
                  </a:lnTo>
                  <a:lnTo>
                    <a:pt x="442" y="660"/>
                  </a:lnTo>
                  <a:lnTo>
                    <a:pt x="442" y="660"/>
                  </a:lnTo>
                  <a:lnTo>
                    <a:pt x="506" y="620"/>
                  </a:lnTo>
                  <a:lnTo>
                    <a:pt x="569" y="579"/>
                  </a:lnTo>
                  <a:lnTo>
                    <a:pt x="569" y="579"/>
                  </a:lnTo>
                  <a:lnTo>
                    <a:pt x="582" y="569"/>
                  </a:lnTo>
                  <a:lnTo>
                    <a:pt x="593" y="559"/>
                  </a:lnTo>
                  <a:lnTo>
                    <a:pt x="593" y="559"/>
                  </a:lnTo>
                  <a:lnTo>
                    <a:pt x="596" y="557"/>
                  </a:lnTo>
                  <a:lnTo>
                    <a:pt x="598" y="553"/>
                  </a:lnTo>
                  <a:lnTo>
                    <a:pt x="598" y="551"/>
                  </a:lnTo>
                  <a:lnTo>
                    <a:pt x="598" y="550"/>
                  </a:lnTo>
                  <a:lnTo>
                    <a:pt x="595" y="549"/>
                  </a:lnTo>
                  <a:lnTo>
                    <a:pt x="594" y="549"/>
                  </a:lnTo>
                  <a:lnTo>
                    <a:pt x="588" y="550"/>
                  </a:lnTo>
                  <a:lnTo>
                    <a:pt x="588" y="550"/>
                  </a:lnTo>
                  <a:lnTo>
                    <a:pt x="560" y="567"/>
                  </a:lnTo>
                  <a:lnTo>
                    <a:pt x="560" y="567"/>
                  </a:lnTo>
                  <a:lnTo>
                    <a:pt x="517" y="593"/>
                  </a:lnTo>
                  <a:lnTo>
                    <a:pt x="474" y="619"/>
                  </a:lnTo>
                  <a:lnTo>
                    <a:pt x="435" y="640"/>
                  </a:lnTo>
                  <a:lnTo>
                    <a:pt x="397" y="661"/>
                  </a:lnTo>
                  <a:lnTo>
                    <a:pt x="361" y="678"/>
                  </a:lnTo>
                  <a:lnTo>
                    <a:pt x="326" y="692"/>
                  </a:lnTo>
                  <a:lnTo>
                    <a:pt x="295" y="703"/>
                  </a:lnTo>
                  <a:lnTo>
                    <a:pt x="264" y="713"/>
                  </a:lnTo>
                  <a:lnTo>
                    <a:pt x="237" y="719"/>
                  </a:lnTo>
                  <a:lnTo>
                    <a:pt x="210" y="722"/>
                  </a:lnTo>
                  <a:lnTo>
                    <a:pt x="187" y="724"/>
                  </a:lnTo>
                  <a:lnTo>
                    <a:pt x="175" y="722"/>
                  </a:lnTo>
                  <a:lnTo>
                    <a:pt x="165" y="721"/>
                  </a:lnTo>
                  <a:lnTo>
                    <a:pt x="156" y="720"/>
                  </a:lnTo>
                  <a:lnTo>
                    <a:pt x="146" y="716"/>
                  </a:lnTo>
                  <a:lnTo>
                    <a:pt x="138" y="713"/>
                  </a:lnTo>
                  <a:lnTo>
                    <a:pt x="129" y="709"/>
                  </a:lnTo>
                  <a:lnTo>
                    <a:pt x="121" y="704"/>
                  </a:lnTo>
                  <a:lnTo>
                    <a:pt x="115" y="698"/>
                  </a:lnTo>
                  <a:lnTo>
                    <a:pt x="107" y="692"/>
                  </a:lnTo>
                  <a:lnTo>
                    <a:pt x="101" y="685"/>
                  </a:lnTo>
                  <a:lnTo>
                    <a:pt x="101" y="685"/>
                  </a:lnTo>
                  <a:lnTo>
                    <a:pt x="98" y="678"/>
                  </a:lnTo>
                  <a:lnTo>
                    <a:pt x="94" y="670"/>
                  </a:lnTo>
                  <a:lnTo>
                    <a:pt x="91" y="663"/>
                  </a:lnTo>
                  <a:lnTo>
                    <a:pt x="89" y="655"/>
                  </a:lnTo>
                  <a:lnTo>
                    <a:pt x="87" y="648"/>
                  </a:lnTo>
                  <a:lnTo>
                    <a:pt x="87" y="639"/>
                  </a:lnTo>
                  <a:lnTo>
                    <a:pt x="88" y="621"/>
                  </a:lnTo>
                  <a:lnTo>
                    <a:pt x="92" y="602"/>
                  </a:lnTo>
                  <a:lnTo>
                    <a:pt x="98" y="581"/>
                  </a:lnTo>
                  <a:lnTo>
                    <a:pt x="106" y="559"/>
                  </a:lnTo>
                  <a:lnTo>
                    <a:pt x="118" y="536"/>
                  </a:lnTo>
                  <a:lnTo>
                    <a:pt x="132" y="512"/>
                  </a:lnTo>
                  <a:lnTo>
                    <a:pt x="148" y="488"/>
                  </a:lnTo>
                  <a:lnTo>
                    <a:pt x="167" y="463"/>
                  </a:lnTo>
                  <a:lnTo>
                    <a:pt x="187" y="436"/>
                  </a:lnTo>
                  <a:lnTo>
                    <a:pt x="210" y="410"/>
                  </a:lnTo>
                  <a:lnTo>
                    <a:pt x="234" y="383"/>
                  </a:lnTo>
                  <a:lnTo>
                    <a:pt x="260" y="354"/>
                  </a:lnTo>
                  <a:lnTo>
                    <a:pt x="289" y="326"/>
                  </a:lnTo>
                  <a:lnTo>
                    <a:pt x="289" y="681"/>
                  </a:lnTo>
                  <a:lnTo>
                    <a:pt x="289" y="681"/>
                  </a:lnTo>
                  <a:lnTo>
                    <a:pt x="322" y="668"/>
                  </a:lnTo>
                  <a:lnTo>
                    <a:pt x="359" y="652"/>
                  </a:lnTo>
                  <a:lnTo>
                    <a:pt x="400" y="633"/>
                  </a:lnTo>
                  <a:lnTo>
                    <a:pt x="442" y="610"/>
                  </a:lnTo>
                  <a:lnTo>
                    <a:pt x="442" y="281"/>
                  </a:lnTo>
                  <a:lnTo>
                    <a:pt x="476" y="353"/>
                  </a:lnTo>
                  <a:lnTo>
                    <a:pt x="476" y="353"/>
                  </a:lnTo>
                  <a:lnTo>
                    <a:pt x="483" y="367"/>
                  </a:lnTo>
                  <a:lnTo>
                    <a:pt x="491" y="381"/>
                  </a:lnTo>
                  <a:lnTo>
                    <a:pt x="500" y="394"/>
                  </a:lnTo>
                  <a:lnTo>
                    <a:pt x="509" y="406"/>
                  </a:lnTo>
                  <a:lnTo>
                    <a:pt x="519" y="418"/>
                  </a:lnTo>
                  <a:lnTo>
                    <a:pt x="530" y="428"/>
                  </a:lnTo>
                  <a:lnTo>
                    <a:pt x="541" y="437"/>
                  </a:lnTo>
                  <a:lnTo>
                    <a:pt x="553" y="446"/>
                  </a:lnTo>
                  <a:lnTo>
                    <a:pt x="565" y="454"/>
                  </a:lnTo>
                  <a:lnTo>
                    <a:pt x="578" y="460"/>
                  </a:lnTo>
                  <a:lnTo>
                    <a:pt x="592" y="466"/>
                  </a:lnTo>
                  <a:lnTo>
                    <a:pt x="606" y="471"/>
                  </a:lnTo>
                  <a:lnTo>
                    <a:pt x="621" y="475"/>
                  </a:lnTo>
                  <a:lnTo>
                    <a:pt x="635" y="479"/>
                  </a:lnTo>
                  <a:lnTo>
                    <a:pt x="651" y="480"/>
                  </a:lnTo>
                  <a:lnTo>
                    <a:pt x="666" y="480"/>
                  </a:lnTo>
                  <a:lnTo>
                    <a:pt x="666" y="480"/>
                  </a:lnTo>
                  <a:lnTo>
                    <a:pt x="682" y="480"/>
                  </a:lnTo>
                  <a:lnTo>
                    <a:pt x="698" y="479"/>
                  </a:lnTo>
                  <a:lnTo>
                    <a:pt x="712" y="475"/>
                  </a:lnTo>
                  <a:lnTo>
                    <a:pt x="727" y="471"/>
                  </a:lnTo>
                  <a:lnTo>
                    <a:pt x="741" y="466"/>
                  </a:lnTo>
                  <a:lnTo>
                    <a:pt x="755" y="460"/>
                  </a:lnTo>
                  <a:lnTo>
                    <a:pt x="768" y="454"/>
                  </a:lnTo>
                  <a:lnTo>
                    <a:pt x="780" y="446"/>
                  </a:lnTo>
                  <a:lnTo>
                    <a:pt x="792" y="437"/>
                  </a:lnTo>
                  <a:lnTo>
                    <a:pt x="803" y="428"/>
                  </a:lnTo>
                  <a:lnTo>
                    <a:pt x="814" y="418"/>
                  </a:lnTo>
                  <a:lnTo>
                    <a:pt x="823" y="406"/>
                  </a:lnTo>
                  <a:lnTo>
                    <a:pt x="833" y="394"/>
                  </a:lnTo>
                  <a:lnTo>
                    <a:pt x="841" y="381"/>
                  </a:lnTo>
                  <a:lnTo>
                    <a:pt x="850" y="367"/>
                  </a:lnTo>
                  <a:lnTo>
                    <a:pt x="857" y="353"/>
                  </a:lnTo>
                  <a:lnTo>
                    <a:pt x="891" y="281"/>
                  </a:lnTo>
                  <a:lnTo>
                    <a:pt x="891" y="365"/>
                  </a:lnTo>
                  <a:lnTo>
                    <a:pt x="891" y="365"/>
                  </a:lnTo>
                  <a:lnTo>
                    <a:pt x="931" y="324"/>
                  </a:lnTo>
                  <a:lnTo>
                    <a:pt x="967" y="284"/>
                  </a:lnTo>
                  <a:lnTo>
                    <a:pt x="1000" y="246"/>
                  </a:lnTo>
                  <a:lnTo>
                    <a:pt x="1015" y="225"/>
                  </a:lnTo>
                  <a:lnTo>
                    <a:pt x="1029" y="206"/>
                  </a:lnTo>
                  <a:lnTo>
                    <a:pt x="1029" y="206"/>
                  </a:lnTo>
                  <a:lnTo>
                    <a:pt x="1031" y="201"/>
                  </a:lnTo>
                  <a:lnTo>
                    <a:pt x="1032" y="197"/>
                  </a:lnTo>
                  <a:lnTo>
                    <a:pt x="1032" y="192"/>
                  </a:lnTo>
                  <a:lnTo>
                    <a:pt x="1031" y="188"/>
                  </a:lnTo>
                  <a:lnTo>
                    <a:pt x="1031" y="188"/>
                  </a:lnTo>
                  <a:lnTo>
                    <a:pt x="1020" y="171"/>
                  </a:lnTo>
                  <a:lnTo>
                    <a:pt x="1008" y="154"/>
                  </a:lnTo>
                  <a:lnTo>
                    <a:pt x="994" y="139"/>
                  </a:lnTo>
                  <a:lnTo>
                    <a:pt x="977" y="127"/>
                  </a:lnTo>
                  <a:lnTo>
                    <a:pt x="959" y="118"/>
                  </a:lnTo>
                  <a:lnTo>
                    <a:pt x="950" y="114"/>
                  </a:lnTo>
                  <a:lnTo>
                    <a:pt x="939" y="110"/>
                  </a:lnTo>
                  <a:lnTo>
                    <a:pt x="930" y="108"/>
                  </a:lnTo>
                  <a:lnTo>
                    <a:pt x="919" y="105"/>
                  </a:lnTo>
                  <a:lnTo>
                    <a:pt x="908" y="104"/>
                  </a:lnTo>
                  <a:lnTo>
                    <a:pt x="897" y="104"/>
                  </a:lnTo>
                  <a:lnTo>
                    <a:pt x="897" y="104"/>
                  </a:lnTo>
                  <a:lnTo>
                    <a:pt x="886" y="104"/>
                  </a:lnTo>
                  <a:lnTo>
                    <a:pt x="876" y="105"/>
                  </a:lnTo>
                  <a:lnTo>
                    <a:pt x="866" y="108"/>
                  </a:lnTo>
                  <a:lnTo>
                    <a:pt x="856" y="110"/>
                  </a:lnTo>
                  <a:lnTo>
                    <a:pt x="845" y="114"/>
                  </a:lnTo>
                  <a:lnTo>
                    <a:pt x="837" y="118"/>
                  </a:lnTo>
                  <a:lnTo>
                    <a:pt x="818" y="127"/>
                  </a:lnTo>
                  <a:lnTo>
                    <a:pt x="802" y="139"/>
                  </a:lnTo>
                  <a:lnTo>
                    <a:pt x="787" y="154"/>
                  </a:lnTo>
                  <a:lnTo>
                    <a:pt x="775" y="169"/>
                  </a:lnTo>
                  <a:lnTo>
                    <a:pt x="764" y="186"/>
                  </a:lnTo>
                  <a:lnTo>
                    <a:pt x="700" y="324"/>
                  </a:lnTo>
                  <a:lnTo>
                    <a:pt x="700" y="324"/>
                  </a:lnTo>
                  <a:lnTo>
                    <a:pt x="697" y="329"/>
                  </a:lnTo>
                  <a:lnTo>
                    <a:pt x="694" y="332"/>
                  </a:lnTo>
                  <a:lnTo>
                    <a:pt x="691" y="336"/>
                  </a:lnTo>
                  <a:lnTo>
                    <a:pt x="686" y="340"/>
                  </a:lnTo>
                  <a:lnTo>
                    <a:pt x="677" y="343"/>
                  </a:lnTo>
                  <a:lnTo>
                    <a:pt x="666" y="344"/>
                  </a:lnTo>
                  <a:lnTo>
                    <a:pt x="666" y="344"/>
                  </a:lnTo>
                  <a:lnTo>
                    <a:pt x="657" y="343"/>
                  </a:lnTo>
                  <a:lnTo>
                    <a:pt x="647" y="340"/>
                  </a:lnTo>
                  <a:lnTo>
                    <a:pt x="643" y="336"/>
                  </a:lnTo>
                  <a:lnTo>
                    <a:pt x="639" y="332"/>
                  </a:lnTo>
                  <a:lnTo>
                    <a:pt x="636" y="329"/>
                  </a:lnTo>
                  <a:lnTo>
                    <a:pt x="634" y="324"/>
                  </a:lnTo>
                  <a:lnTo>
                    <a:pt x="569" y="186"/>
                  </a:lnTo>
                  <a:lnTo>
                    <a:pt x="569" y="186"/>
                  </a:lnTo>
                  <a:lnTo>
                    <a:pt x="564" y="178"/>
                  </a:lnTo>
                  <a:lnTo>
                    <a:pt x="558" y="169"/>
                  </a:lnTo>
                  <a:lnTo>
                    <a:pt x="546" y="153"/>
                  </a:lnTo>
                  <a:lnTo>
                    <a:pt x="530" y="139"/>
                  </a:lnTo>
                  <a:lnTo>
                    <a:pt x="514" y="127"/>
                  </a:lnTo>
                  <a:lnTo>
                    <a:pt x="514" y="127"/>
                  </a:lnTo>
                  <a:lnTo>
                    <a:pt x="549" y="99"/>
                  </a:lnTo>
                  <a:lnTo>
                    <a:pt x="583" y="74"/>
                  </a:lnTo>
                  <a:lnTo>
                    <a:pt x="618" y="50"/>
                  </a:lnTo>
                  <a:lnTo>
                    <a:pt x="652" y="28"/>
                  </a:lnTo>
                  <a:lnTo>
                    <a:pt x="652" y="28"/>
                  </a:lnTo>
                  <a:lnTo>
                    <a:pt x="666" y="19"/>
                  </a:lnTo>
                  <a:lnTo>
                    <a:pt x="678" y="10"/>
                  </a:lnTo>
                  <a:lnTo>
                    <a:pt x="678" y="10"/>
                  </a:lnTo>
                  <a:lnTo>
                    <a:pt x="682" y="6"/>
                  </a:lnTo>
                  <a:lnTo>
                    <a:pt x="682" y="4"/>
                  </a:lnTo>
                  <a:lnTo>
                    <a:pt x="682" y="2"/>
                  </a:lnTo>
                  <a:lnTo>
                    <a:pt x="681" y="0"/>
                  </a:lnTo>
                  <a:lnTo>
                    <a:pt x="678" y="0"/>
                  </a:lnTo>
                  <a:lnTo>
                    <a:pt x="675" y="0"/>
                  </a:lnTo>
                  <a:lnTo>
                    <a:pt x="671" y="2"/>
                  </a:lnTo>
                  <a:lnTo>
                    <a:pt x="671" y="2"/>
                  </a:lnTo>
                  <a:lnTo>
                    <a:pt x="658" y="8"/>
                  </a:lnTo>
                  <a:lnTo>
                    <a:pt x="643" y="16"/>
                  </a:lnTo>
                  <a:lnTo>
                    <a:pt x="643" y="16"/>
                  </a:lnTo>
                  <a:lnTo>
                    <a:pt x="575" y="58"/>
                  </a:lnTo>
                  <a:lnTo>
                    <a:pt x="540" y="80"/>
                  </a:lnTo>
                  <a:lnTo>
                    <a:pt x="506" y="103"/>
                  </a:lnTo>
                  <a:lnTo>
                    <a:pt x="506" y="103"/>
                  </a:lnTo>
                  <a:lnTo>
                    <a:pt x="489" y="114"/>
                  </a:lnTo>
                  <a:lnTo>
                    <a:pt x="489" y="114"/>
                  </a:lnTo>
                  <a:lnTo>
                    <a:pt x="477" y="110"/>
                  </a:lnTo>
                  <a:lnTo>
                    <a:pt x="464" y="107"/>
                  </a:lnTo>
                  <a:lnTo>
                    <a:pt x="450" y="105"/>
                  </a:lnTo>
                  <a:lnTo>
                    <a:pt x="436" y="104"/>
                  </a:lnTo>
                  <a:lnTo>
                    <a:pt x="436" y="104"/>
                  </a:lnTo>
                  <a:lnTo>
                    <a:pt x="420" y="105"/>
                  </a:lnTo>
                  <a:lnTo>
                    <a:pt x="406" y="108"/>
                  </a:lnTo>
                  <a:lnTo>
                    <a:pt x="391" y="111"/>
                  </a:lnTo>
                  <a:lnTo>
                    <a:pt x="378" y="116"/>
                  </a:lnTo>
                  <a:lnTo>
                    <a:pt x="366" y="122"/>
                  </a:lnTo>
                  <a:lnTo>
                    <a:pt x="353" y="130"/>
                  </a:lnTo>
                  <a:lnTo>
                    <a:pt x="342" y="138"/>
                  </a:lnTo>
                  <a:lnTo>
                    <a:pt x="331" y="148"/>
                  </a:lnTo>
                  <a:lnTo>
                    <a:pt x="321" y="159"/>
                  </a:lnTo>
                  <a:lnTo>
                    <a:pt x="313" y="169"/>
                  </a:lnTo>
                  <a:lnTo>
                    <a:pt x="305" y="182"/>
                  </a:lnTo>
                  <a:lnTo>
                    <a:pt x="299" y="195"/>
                  </a:lnTo>
                  <a:lnTo>
                    <a:pt x="295" y="208"/>
                  </a:lnTo>
                  <a:lnTo>
                    <a:pt x="291" y="223"/>
                  </a:lnTo>
                  <a:lnTo>
                    <a:pt x="289" y="237"/>
                  </a:lnTo>
                  <a:lnTo>
                    <a:pt x="289" y="252"/>
                  </a:lnTo>
                  <a:lnTo>
                    <a:pt x="289" y="272"/>
                  </a:lnTo>
                  <a:lnTo>
                    <a:pt x="289" y="272"/>
                  </a:lnTo>
                  <a:lnTo>
                    <a:pt x="249" y="308"/>
                  </a:lnTo>
                  <a:lnTo>
                    <a:pt x="211" y="344"/>
                  </a:lnTo>
                  <a:lnTo>
                    <a:pt x="176" y="381"/>
                  </a:lnTo>
                  <a:lnTo>
                    <a:pt x="145" y="416"/>
                  </a:lnTo>
                  <a:lnTo>
                    <a:pt x="116" y="451"/>
                  </a:lnTo>
                  <a:lnTo>
                    <a:pt x="91" y="485"/>
                  </a:lnTo>
                  <a:lnTo>
                    <a:pt x="68" y="517"/>
                  </a:lnTo>
                  <a:lnTo>
                    <a:pt x="47" y="550"/>
                  </a:lnTo>
                  <a:lnTo>
                    <a:pt x="31" y="580"/>
                  </a:lnTo>
                  <a:lnTo>
                    <a:pt x="18" y="609"/>
                  </a:lnTo>
                  <a:lnTo>
                    <a:pt x="8" y="637"/>
                  </a:lnTo>
                  <a:lnTo>
                    <a:pt x="5" y="650"/>
                  </a:lnTo>
                  <a:lnTo>
                    <a:pt x="2" y="662"/>
                  </a:lnTo>
                  <a:lnTo>
                    <a:pt x="0" y="674"/>
                  </a:lnTo>
                  <a:lnTo>
                    <a:pt x="0" y="686"/>
                  </a:lnTo>
                  <a:lnTo>
                    <a:pt x="0" y="697"/>
                  </a:lnTo>
                  <a:lnTo>
                    <a:pt x="1" y="708"/>
                  </a:lnTo>
                  <a:lnTo>
                    <a:pt x="4" y="718"/>
                  </a:lnTo>
                  <a:lnTo>
                    <a:pt x="6" y="727"/>
                  </a:lnTo>
                  <a:lnTo>
                    <a:pt x="11" y="737"/>
                  </a:lnTo>
                  <a:lnTo>
                    <a:pt x="16" y="745"/>
                  </a:lnTo>
                  <a:lnTo>
                    <a:pt x="16" y="745"/>
                  </a:lnTo>
                  <a:lnTo>
                    <a:pt x="24" y="756"/>
                  </a:lnTo>
                  <a:lnTo>
                    <a:pt x="35" y="765"/>
                  </a:lnTo>
                  <a:lnTo>
                    <a:pt x="46" y="772"/>
                  </a:lnTo>
                  <a:lnTo>
                    <a:pt x="59" y="778"/>
                  </a:lnTo>
                  <a:lnTo>
                    <a:pt x="72" y="783"/>
                  </a:lnTo>
                  <a:lnTo>
                    <a:pt x="88" y="785"/>
                  </a:lnTo>
                  <a:lnTo>
                    <a:pt x="104" y="786"/>
                  </a:lnTo>
                  <a:lnTo>
                    <a:pt x="122" y="786"/>
                  </a:lnTo>
                  <a:lnTo>
                    <a:pt x="140" y="784"/>
                  </a:lnTo>
                  <a:lnTo>
                    <a:pt x="158" y="782"/>
                  </a:lnTo>
                  <a:lnTo>
                    <a:pt x="179" y="777"/>
                  </a:lnTo>
                  <a:lnTo>
                    <a:pt x="199" y="772"/>
                  </a:lnTo>
                  <a:lnTo>
                    <a:pt x="220" y="765"/>
                  </a:lnTo>
                  <a:lnTo>
                    <a:pt x="243" y="757"/>
                  </a:lnTo>
                  <a:lnTo>
                    <a:pt x="289" y="739"/>
                  </a:lnTo>
                  <a:lnTo>
                    <a:pt x="289" y="8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1" name="Freeform 42">
              <a:extLst>
                <a:ext uri="{FF2B5EF4-FFF2-40B4-BE49-F238E27FC236}">
                  <a16:creationId xmlns:a16="http://schemas.microsoft.com/office/drawing/2014/main" id="{671B3B3E-DF7B-9F4D-89BB-6A75B82C225D}"/>
                </a:ext>
              </a:extLst>
            </p:cNvPr>
            <p:cNvSpPr>
              <a:spLocks noEditPoints="1"/>
            </p:cNvSpPr>
            <p:nvPr/>
          </p:nvSpPr>
          <p:spPr bwMode="auto">
            <a:xfrm>
              <a:off x="4046538" y="938213"/>
              <a:ext cx="69850" cy="68263"/>
            </a:xfrm>
            <a:custGeom>
              <a:avLst/>
              <a:gdLst>
                <a:gd name="T0" fmla="*/ 0 w 87"/>
                <a:gd name="T1" fmla="*/ 44 h 87"/>
                <a:gd name="T2" fmla="*/ 4 w 87"/>
                <a:gd name="T3" fmla="*/ 27 h 87"/>
                <a:gd name="T4" fmla="*/ 14 w 87"/>
                <a:gd name="T5" fmla="*/ 12 h 87"/>
                <a:gd name="T6" fmla="*/ 27 w 87"/>
                <a:gd name="T7" fmla="*/ 4 h 87"/>
                <a:gd name="T8" fmla="*/ 44 w 87"/>
                <a:gd name="T9" fmla="*/ 0 h 87"/>
                <a:gd name="T10" fmla="*/ 52 w 87"/>
                <a:gd name="T11" fmla="*/ 0 h 87"/>
                <a:gd name="T12" fmla="*/ 68 w 87"/>
                <a:gd name="T13" fmla="*/ 7 h 87"/>
                <a:gd name="T14" fmla="*/ 80 w 87"/>
                <a:gd name="T15" fmla="*/ 19 h 87"/>
                <a:gd name="T16" fmla="*/ 86 w 87"/>
                <a:gd name="T17" fmla="*/ 35 h 87"/>
                <a:gd name="T18" fmla="*/ 87 w 87"/>
                <a:gd name="T19" fmla="*/ 44 h 87"/>
                <a:gd name="T20" fmla="*/ 84 w 87"/>
                <a:gd name="T21" fmla="*/ 61 h 87"/>
                <a:gd name="T22" fmla="*/ 75 w 87"/>
                <a:gd name="T23" fmla="*/ 74 h 87"/>
                <a:gd name="T24" fmla="*/ 61 w 87"/>
                <a:gd name="T25" fmla="*/ 83 h 87"/>
                <a:gd name="T26" fmla="*/ 44 w 87"/>
                <a:gd name="T27" fmla="*/ 87 h 87"/>
                <a:gd name="T28" fmla="*/ 35 w 87"/>
                <a:gd name="T29" fmla="*/ 86 h 87"/>
                <a:gd name="T30" fmla="*/ 20 w 87"/>
                <a:gd name="T31" fmla="*/ 80 h 87"/>
                <a:gd name="T32" fmla="*/ 8 w 87"/>
                <a:gd name="T33" fmla="*/ 68 h 87"/>
                <a:gd name="T34" fmla="*/ 2 w 87"/>
                <a:gd name="T35" fmla="*/ 52 h 87"/>
                <a:gd name="T36" fmla="*/ 0 w 87"/>
                <a:gd name="T37" fmla="*/ 44 h 87"/>
                <a:gd name="T38" fmla="*/ 76 w 87"/>
                <a:gd name="T39" fmla="*/ 44 h 87"/>
                <a:gd name="T40" fmla="*/ 74 w 87"/>
                <a:gd name="T41" fmla="*/ 29 h 87"/>
                <a:gd name="T42" fmla="*/ 67 w 87"/>
                <a:gd name="T43" fmla="*/ 18 h 87"/>
                <a:gd name="T44" fmla="*/ 57 w 87"/>
                <a:gd name="T45" fmla="*/ 11 h 87"/>
                <a:gd name="T46" fmla="*/ 44 w 87"/>
                <a:gd name="T47" fmla="*/ 9 h 87"/>
                <a:gd name="T48" fmla="*/ 38 w 87"/>
                <a:gd name="T49" fmla="*/ 9 h 87"/>
                <a:gd name="T50" fmla="*/ 26 w 87"/>
                <a:gd name="T51" fmla="*/ 13 h 87"/>
                <a:gd name="T52" fmla="*/ 16 w 87"/>
                <a:gd name="T53" fmla="*/ 23 h 87"/>
                <a:gd name="T54" fmla="*/ 11 w 87"/>
                <a:gd name="T55" fmla="*/ 36 h 87"/>
                <a:gd name="T56" fmla="*/ 11 w 87"/>
                <a:gd name="T57" fmla="*/ 44 h 87"/>
                <a:gd name="T58" fmla="*/ 14 w 87"/>
                <a:gd name="T59" fmla="*/ 57 h 87"/>
                <a:gd name="T60" fmla="*/ 21 w 87"/>
                <a:gd name="T61" fmla="*/ 69 h 87"/>
                <a:gd name="T62" fmla="*/ 31 w 87"/>
                <a:gd name="T63" fmla="*/ 76 h 87"/>
                <a:gd name="T64" fmla="*/ 44 w 87"/>
                <a:gd name="T65" fmla="*/ 79 h 87"/>
                <a:gd name="T66" fmla="*/ 51 w 87"/>
                <a:gd name="T67" fmla="*/ 77 h 87"/>
                <a:gd name="T68" fmla="*/ 62 w 87"/>
                <a:gd name="T69" fmla="*/ 73 h 87"/>
                <a:gd name="T70" fmla="*/ 72 w 87"/>
                <a:gd name="T71" fmla="*/ 63 h 87"/>
                <a:gd name="T72" fmla="*/ 76 w 87"/>
                <a:gd name="T73" fmla="*/ 51 h 87"/>
                <a:gd name="T74" fmla="*/ 76 w 87"/>
                <a:gd name="T75" fmla="*/ 44 h 87"/>
                <a:gd name="T76" fmla="*/ 45 w 87"/>
                <a:gd name="T77" fmla="*/ 18 h 87"/>
                <a:gd name="T78" fmla="*/ 53 w 87"/>
                <a:gd name="T79" fmla="*/ 19 h 87"/>
                <a:gd name="T80" fmla="*/ 61 w 87"/>
                <a:gd name="T81" fmla="*/ 24 h 87"/>
                <a:gd name="T82" fmla="*/ 63 w 87"/>
                <a:gd name="T83" fmla="*/ 33 h 87"/>
                <a:gd name="T84" fmla="*/ 63 w 87"/>
                <a:gd name="T85" fmla="*/ 39 h 87"/>
                <a:gd name="T86" fmla="*/ 56 w 87"/>
                <a:gd name="T87" fmla="*/ 45 h 87"/>
                <a:gd name="T88" fmla="*/ 64 w 87"/>
                <a:gd name="T89" fmla="*/ 68 h 87"/>
                <a:gd name="T90" fmla="*/ 41 w 87"/>
                <a:gd name="T91" fmla="*/ 47 h 87"/>
                <a:gd name="T92" fmla="*/ 37 w 87"/>
                <a:gd name="T93" fmla="*/ 68 h 87"/>
                <a:gd name="T94" fmla="*/ 27 w 87"/>
                <a:gd name="T95" fmla="*/ 18 h 87"/>
                <a:gd name="T96" fmla="*/ 44 w 87"/>
                <a:gd name="T97" fmla="*/ 40 h 87"/>
                <a:gd name="T98" fmla="*/ 49 w 87"/>
                <a:gd name="T99" fmla="*/ 40 h 87"/>
                <a:gd name="T100" fmla="*/ 53 w 87"/>
                <a:gd name="T101" fmla="*/ 36 h 87"/>
                <a:gd name="T102" fmla="*/ 55 w 87"/>
                <a:gd name="T103" fmla="*/ 33 h 87"/>
                <a:gd name="T104" fmla="*/ 51 w 87"/>
                <a:gd name="T105" fmla="*/ 27 h 87"/>
                <a:gd name="T106" fmla="*/ 45 w 87"/>
                <a:gd name="T107" fmla="*/ 26 h 87"/>
                <a:gd name="T108" fmla="*/ 37 w 87"/>
                <a:gd name="T109"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7" h="87">
                  <a:moveTo>
                    <a:pt x="0" y="44"/>
                  </a:moveTo>
                  <a:lnTo>
                    <a:pt x="0" y="44"/>
                  </a:lnTo>
                  <a:lnTo>
                    <a:pt x="2" y="35"/>
                  </a:lnTo>
                  <a:lnTo>
                    <a:pt x="4" y="27"/>
                  </a:lnTo>
                  <a:lnTo>
                    <a:pt x="8" y="19"/>
                  </a:lnTo>
                  <a:lnTo>
                    <a:pt x="14" y="12"/>
                  </a:lnTo>
                  <a:lnTo>
                    <a:pt x="20" y="7"/>
                  </a:lnTo>
                  <a:lnTo>
                    <a:pt x="27" y="4"/>
                  </a:lnTo>
                  <a:lnTo>
                    <a:pt x="35" y="0"/>
                  </a:lnTo>
                  <a:lnTo>
                    <a:pt x="44" y="0"/>
                  </a:lnTo>
                  <a:lnTo>
                    <a:pt x="44" y="0"/>
                  </a:lnTo>
                  <a:lnTo>
                    <a:pt x="52" y="0"/>
                  </a:lnTo>
                  <a:lnTo>
                    <a:pt x="61" y="4"/>
                  </a:lnTo>
                  <a:lnTo>
                    <a:pt x="68" y="7"/>
                  </a:lnTo>
                  <a:lnTo>
                    <a:pt x="75" y="12"/>
                  </a:lnTo>
                  <a:lnTo>
                    <a:pt x="80" y="19"/>
                  </a:lnTo>
                  <a:lnTo>
                    <a:pt x="84" y="27"/>
                  </a:lnTo>
                  <a:lnTo>
                    <a:pt x="86" y="35"/>
                  </a:lnTo>
                  <a:lnTo>
                    <a:pt x="87" y="44"/>
                  </a:lnTo>
                  <a:lnTo>
                    <a:pt x="87" y="44"/>
                  </a:lnTo>
                  <a:lnTo>
                    <a:pt x="86" y="52"/>
                  </a:lnTo>
                  <a:lnTo>
                    <a:pt x="84" y="61"/>
                  </a:lnTo>
                  <a:lnTo>
                    <a:pt x="80" y="68"/>
                  </a:lnTo>
                  <a:lnTo>
                    <a:pt x="75" y="74"/>
                  </a:lnTo>
                  <a:lnTo>
                    <a:pt x="68" y="80"/>
                  </a:lnTo>
                  <a:lnTo>
                    <a:pt x="61" y="83"/>
                  </a:lnTo>
                  <a:lnTo>
                    <a:pt x="52" y="86"/>
                  </a:lnTo>
                  <a:lnTo>
                    <a:pt x="44" y="87"/>
                  </a:lnTo>
                  <a:lnTo>
                    <a:pt x="44" y="87"/>
                  </a:lnTo>
                  <a:lnTo>
                    <a:pt x="35" y="86"/>
                  </a:lnTo>
                  <a:lnTo>
                    <a:pt x="27" y="83"/>
                  </a:lnTo>
                  <a:lnTo>
                    <a:pt x="20" y="80"/>
                  </a:lnTo>
                  <a:lnTo>
                    <a:pt x="14" y="74"/>
                  </a:lnTo>
                  <a:lnTo>
                    <a:pt x="8" y="68"/>
                  </a:lnTo>
                  <a:lnTo>
                    <a:pt x="4" y="61"/>
                  </a:lnTo>
                  <a:lnTo>
                    <a:pt x="2" y="52"/>
                  </a:lnTo>
                  <a:lnTo>
                    <a:pt x="0" y="44"/>
                  </a:lnTo>
                  <a:lnTo>
                    <a:pt x="0" y="44"/>
                  </a:lnTo>
                  <a:close/>
                  <a:moveTo>
                    <a:pt x="76" y="44"/>
                  </a:moveTo>
                  <a:lnTo>
                    <a:pt x="76" y="44"/>
                  </a:lnTo>
                  <a:lnTo>
                    <a:pt x="76" y="36"/>
                  </a:lnTo>
                  <a:lnTo>
                    <a:pt x="74" y="29"/>
                  </a:lnTo>
                  <a:lnTo>
                    <a:pt x="72" y="23"/>
                  </a:lnTo>
                  <a:lnTo>
                    <a:pt x="67" y="18"/>
                  </a:lnTo>
                  <a:lnTo>
                    <a:pt x="62" y="13"/>
                  </a:lnTo>
                  <a:lnTo>
                    <a:pt x="57" y="11"/>
                  </a:lnTo>
                  <a:lnTo>
                    <a:pt x="51" y="9"/>
                  </a:lnTo>
                  <a:lnTo>
                    <a:pt x="44" y="9"/>
                  </a:lnTo>
                  <a:lnTo>
                    <a:pt x="44" y="9"/>
                  </a:lnTo>
                  <a:lnTo>
                    <a:pt x="38" y="9"/>
                  </a:lnTo>
                  <a:lnTo>
                    <a:pt x="31" y="11"/>
                  </a:lnTo>
                  <a:lnTo>
                    <a:pt x="26" y="13"/>
                  </a:lnTo>
                  <a:lnTo>
                    <a:pt x="21" y="18"/>
                  </a:lnTo>
                  <a:lnTo>
                    <a:pt x="16" y="23"/>
                  </a:lnTo>
                  <a:lnTo>
                    <a:pt x="14" y="29"/>
                  </a:lnTo>
                  <a:lnTo>
                    <a:pt x="11" y="36"/>
                  </a:lnTo>
                  <a:lnTo>
                    <a:pt x="11" y="44"/>
                  </a:lnTo>
                  <a:lnTo>
                    <a:pt x="11" y="44"/>
                  </a:lnTo>
                  <a:lnTo>
                    <a:pt x="11" y="51"/>
                  </a:lnTo>
                  <a:lnTo>
                    <a:pt x="14" y="57"/>
                  </a:lnTo>
                  <a:lnTo>
                    <a:pt x="16" y="63"/>
                  </a:lnTo>
                  <a:lnTo>
                    <a:pt x="21" y="69"/>
                  </a:lnTo>
                  <a:lnTo>
                    <a:pt x="26" y="73"/>
                  </a:lnTo>
                  <a:lnTo>
                    <a:pt x="31" y="76"/>
                  </a:lnTo>
                  <a:lnTo>
                    <a:pt x="38" y="77"/>
                  </a:lnTo>
                  <a:lnTo>
                    <a:pt x="44" y="79"/>
                  </a:lnTo>
                  <a:lnTo>
                    <a:pt x="44" y="79"/>
                  </a:lnTo>
                  <a:lnTo>
                    <a:pt x="51" y="77"/>
                  </a:lnTo>
                  <a:lnTo>
                    <a:pt x="57" y="76"/>
                  </a:lnTo>
                  <a:lnTo>
                    <a:pt x="62" y="73"/>
                  </a:lnTo>
                  <a:lnTo>
                    <a:pt x="67" y="69"/>
                  </a:lnTo>
                  <a:lnTo>
                    <a:pt x="72" y="63"/>
                  </a:lnTo>
                  <a:lnTo>
                    <a:pt x="74" y="57"/>
                  </a:lnTo>
                  <a:lnTo>
                    <a:pt x="76" y="51"/>
                  </a:lnTo>
                  <a:lnTo>
                    <a:pt x="76" y="44"/>
                  </a:lnTo>
                  <a:lnTo>
                    <a:pt x="76" y="44"/>
                  </a:lnTo>
                  <a:close/>
                  <a:moveTo>
                    <a:pt x="27" y="18"/>
                  </a:moveTo>
                  <a:lnTo>
                    <a:pt x="45" y="18"/>
                  </a:lnTo>
                  <a:lnTo>
                    <a:pt x="45" y="18"/>
                  </a:lnTo>
                  <a:lnTo>
                    <a:pt x="53" y="19"/>
                  </a:lnTo>
                  <a:lnTo>
                    <a:pt x="60" y="22"/>
                  </a:lnTo>
                  <a:lnTo>
                    <a:pt x="61" y="24"/>
                  </a:lnTo>
                  <a:lnTo>
                    <a:pt x="62" y="27"/>
                  </a:lnTo>
                  <a:lnTo>
                    <a:pt x="63" y="33"/>
                  </a:lnTo>
                  <a:lnTo>
                    <a:pt x="63" y="33"/>
                  </a:lnTo>
                  <a:lnTo>
                    <a:pt x="63" y="39"/>
                  </a:lnTo>
                  <a:lnTo>
                    <a:pt x="61" y="42"/>
                  </a:lnTo>
                  <a:lnTo>
                    <a:pt x="56" y="45"/>
                  </a:lnTo>
                  <a:lnTo>
                    <a:pt x="51" y="46"/>
                  </a:lnTo>
                  <a:lnTo>
                    <a:pt x="64" y="68"/>
                  </a:lnTo>
                  <a:lnTo>
                    <a:pt x="55" y="68"/>
                  </a:lnTo>
                  <a:lnTo>
                    <a:pt x="41" y="47"/>
                  </a:lnTo>
                  <a:lnTo>
                    <a:pt x="37" y="47"/>
                  </a:lnTo>
                  <a:lnTo>
                    <a:pt x="37" y="68"/>
                  </a:lnTo>
                  <a:lnTo>
                    <a:pt x="27" y="68"/>
                  </a:lnTo>
                  <a:lnTo>
                    <a:pt x="27" y="18"/>
                  </a:lnTo>
                  <a:close/>
                  <a:moveTo>
                    <a:pt x="37" y="40"/>
                  </a:moveTo>
                  <a:lnTo>
                    <a:pt x="44" y="40"/>
                  </a:lnTo>
                  <a:lnTo>
                    <a:pt x="44" y="40"/>
                  </a:lnTo>
                  <a:lnTo>
                    <a:pt x="49" y="40"/>
                  </a:lnTo>
                  <a:lnTo>
                    <a:pt x="51" y="39"/>
                  </a:lnTo>
                  <a:lnTo>
                    <a:pt x="53" y="36"/>
                  </a:lnTo>
                  <a:lnTo>
                    <a:pt x="55" y="33"/>
                  </a:lnTo>
                  <a:lnTo>
                    <a:pt x="55" y="33"/>
                  </a:lnTo>
                  <a:lnTo>
                    <a:pt x="53" y="29"/>
                  </a:lnTo>
                  <a:lnTo>
                    <a:pt x="51" y="27"/>
                  </a:lnTo>
                  <a:lnTo>
                    <a:pt x="49" y="26"/>
                  </a:lnTo>
                  <a:lnTo>
                    <a:pt x="45" y="26"/>
                  </a:lnTo>
                  <a:lnTo>
                    <a:pt x="37" y="26"/>
                  </a:lnTo>
                  <a:lnTo>
                    <a:pt x="3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grpSp>
      <p:sp>
        <p:nvSpPr>
          <p:cNvPr id="22" name="TextBox 5">
            <a:extLst>
              <a:ext uri="{FF2B5EF4-FFF2-40B4-BE49-F238E27FC236}">
                <a16:creationId xmlns:a16="http://schemas.microsoft.com/office/drawing/2014/main" id="{DE29A681-5029-A346-A0D0-5156336A9D11}"/>
              </a:ext>
            </a:extLst>
          </p:cNvPr>
          <p:cNvSpPr txBox="1"/>
          <p:nvPr userDrawn="1"/>
        </p:nvSpPr>
        <p:spPr>
          <a:xfrm>
            <a:off x="342900" y="5662385"/>
            <a:ext cx="5538650" cy="5078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0" i="1" kern="1200" dirty="0">
                <a:solidFill>
                  <a:schemeClr val="bg2"/>
                </a:solidFill>
                <a:effectLst/>
                <a:latin typeface="+mn-lt"/>
                <a:ea typeface="+mn-ea"/>
                <a:cs typeface="+mn-cs"/>
              </a:rPr>
              <a:t>© 2022 Micron Technology, Inc. All rights reserved. Information, products, and/or specifications are subject to change without notice. Micron, the Micron logo, and all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596715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white">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91DB10C-0BFA-EA44-870C-0E8416B3613E}"/>
              </a:ext>
            </a:extLst>
          </p:cNvPr>
          <p:cNvSpPr>
            <a:spLocks noGrp="1"/>
          </p:cNvSpPr>
          <p:nvPr>
            <p:ph type="dt" sz="half" idx="10"/>
          </p:nvPr>
        </p:nvSpPr>
        <p:spPr/>
        <p:txBody>
          <a:bodyPr/>
          <a:lstStyle>
            <a:lvl1pPr>
              <a:defRPr>
                <a:solidFill>
                  <a:schemeClr val="tx1"/>
                </a:solidFill>
              </a:defRPr>
            </a:lvl1pPr>
          </a:lstStyle>
          <a:p>
            <a:fld id="{B8FDEC20-994C-6747-9500-226CB0C467E7}" type="datetime4">
              <a:rPr lang="en-US" smtClean="0"/>
              <a:pPr/>
              <a:t>June 9, 2023</a:t>
            </a:fld>
            <a:endParaRPr lang="en-US" dirty="0"/>
          </a:p>
        </p:txBody>
      </p:sp>
      <p:sp>
        <p:nvSpPr>
          <p:cNvPr id="4" name="Footer Placeholder 3">
            <a:extLst>
              <a:ext uri="{FF2B5EF4-FFF2-40B4-BE49-F238E27FC236}">
                <a16:creationId xmlns:a16="http://schemas.microsoft.com/office/drawing/2014/main" id="{6234B5B2-FA61-CA4F-ACE9-4BA473C55137}"/>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A76EBA66-063E-2E41-B529-E6DC2A2818AD}"/>
              </a:ext>
            </a:extLst>
          </p:cNvPr>
          <p:cNvSpPr>
            <a:spLocks noGrp="1"/>
          </p:cNvSpPr>
          <p:nvPr>
            <p:ph type="sldNum" sz="quarter" idx="12"/>
          </p:nvPr>
        </p:nvSpPr>
        <p:spPr/>
        <p:txBody>
          <a:bodyPr/>
          <a:lstStyle>
            <a:lvl1pPr>
              <a:defRPr>
                <a:solidFill>
                  <a:schemeClr val="tx1"/>
                </a:solidFill>
              </a:defRPr>
            </a:lvl1pPr>
          </a:lstStyle>
          <a:p>
            <a:fld id="{B7E7695C-FCF1-4AA0-9B93-7941FED13DC4}" type="slidenum">
              <a:rPr lang="en-US" smtClean="0"/>
              <a:pPr/>
              <a:t>‹#›</a:t>
            </a:fld>
            <a:endParaRPr lang="en-US" dirty="0"/>
          </a:p>
        </p:txBody>
      </p:sp>
      <p:sp>
        <p:nvSpPr>
          <p:cNvPr id="7" name="Text Placeholder 6">
            <a:extLst>
              <a:ext uri="{FF2B5EF4-FFF2-40B4-BE49-F238E27FC236}">
                <a16:creationId xmlns:a16="http://schemas.microsoft.com/office/drawing/2014/main" id="{A223CD91-7639-5D42-A1A5-A065F2BC5901}"/>
              </a:ext>
            </a:extLst>
          </p:cNvPr>
          <p:cNvSpPr>
            <a:spLocks noGrp="1"/>
          </p:cNvSpPr>
          <p:nvPr>
            <p:ph type="body" sz="quarter" idx="24" hasCustomPrompt="1"/>
          </p:nvPr>
        </p:nvSpPr>
        <p:spPr>
          <a:xfrm>
            <a:off x="342900" y="3622381"/>
            <a:ext cx="11506200" cy="423863"/>
          </a:xfrm>
          <a:prstGeom prst="rect">
            <a:avLst/>
          </a:prstGeom>
        </p:spPr>
        <p:txBody>
          <a:bodyPr tIns="0" anchor="t">
            <a:noAutofit/>
          </a:bodyPr>
          <a:lstStyle>
            <a:lvl1pPr>
              <a:lnSpc>
                <a:spcPct val="80000"/>
              </a:lnSpc>
              <a:spcBef>
                <a:spcPts val="0"/>
              </a:spcBef>
              <a:buFontTx/>
              <a:buNone/>
              <a:defRPr sz="2800" b="1" spc="0">
                <a:solidFill>
                  <a:schemeClr val="tx1"/>
                </a:solidFill>
                <a:effectLst>
                  <a:outerShdw blurRad="38100" dist="12700" dir="5400000" algn="ctr" rotWithShape="0">
                    <a:srgbClr val="000000">
                      <a:alpha val="10000"/>
                    </a:srgbClr>
                  </a:outerShdw>
                </a:effectLst>
              </a:defRPr>
            </a:lvl1pPr>
            <a:lvl2pPr>
              <a:spcAft>
                <a:spcPts val="0"/>
              </a:spcAft>
              <a:buFontTx/>
              <a:buNone/>
              <a:defRPr sz="2800" b="1" spc="0">
                <a:solidFill>
                  <a:schemeClr val="bg1"/>
                </a:solidFill>
                <a:effectLst>
                  <a:outerShdw blurRad="38100" dist="12700" dir="5400000" algn="ctr" rotWithShape="0">
                    <a:srgbClr val="000000">
                      <a:alpha val="10000"/>
                    </a:srgbClr>
                  </a:outerShdw>
                </a:effectLst>
              </a:defRPr>
            </a:lvl2pPr>
            <a:lvl3pPr>
              <a:lnSpc>
                <a:spcPct val="100000"/>
              </a:lnSpc>
              <a:spcBef>
                <a:spcPts val="0"/>
              </a:spcBef>
              <a:buFontTx/>
              <a:buNone/>
              <a:defRPr sz="2800" b="1" spc="0">
                <a:solidFill>
                  <a:schemeClr val="bg1"/>
                </a:solidFill>
                <a:effectLst>
                  <a:outerShdw blurRad="38100" dist="12700" dir="5400000" algn="ctr" rotWithShape="0">
                    <a:srgbClr val="000000">
                      <a:alpha val="10000"/>
                    </a:srgbClr>
                  </a:outerShdw>
                </a:effectLst>
              </a:defRPr>
            </a:lvl3pPr>
            <a:lvl4pPr>
              <a:spcAft>
                <a:spcPts val="0"/>
              </a:spcAft>
              <a:buFontTx/>
              <a:buNone/>
              <a:defRPr sz="2800" b="1" spc="0">
                <a:solidFill>
                  <a:schemeClr val="bg1"/>
                </a:solidFill>
                <a:effectLst>
                  <a:outerShdw blurRad="38100" dist="12700" dir="5400000" algn="ctr" rotWithShape="0">
                    <a:srgbClr val="000000">
                      <a:alpha val="10000"/>
                    </a:srgbClr>
                  </a:outerShdw>
                </a:effectLst>
              </a:defRPr>
            </a:lvl4pPr>
            <a:lvl5pPr marL="0" indent="0">
              <a:spcAft>
                <a:spcPts val="0"/>
              </a:spcAft>
              <a:buFontTx/>
              <a:buNone/>
              <a:defRPr sz="2800" b="1" spc="0">
                <a:solidFill>
                  <a:schemeClr val="bg1"/>
                </a:solidFill>
                <a:effectLst>
                  <a:outerShdw blurRad="38100" dist="12700" dir="5400000" algn="ctr" rotWithShape="0">
                    <a:srgbClr val="000000">
                      <a:alpha val="10000"/>
                    </a:srgbClr>
                  </a:outerShdw>
                </a:effectLst>
              </a:defRPr>
            </a:lvl5pPr>
          </a:lstStyle>
          <a:p>
            <a:pPr lvl="0"/>
            <a:r>
              <a:rPr lang="en-US" dirty="0"/>
              <a:t>Subtitle</a:t>
            </a:r>
          </a:p>
        </p:txBody>
      </p:sp>
      <p:sp>
        <p:nvSpPr>
          <p:cNvPr id="8" name="Text Placeholder 9">
            <a:extLst>
              <a:ext uri="{FF2B5EF4-FFF2-40B4-BE49-F238E27FC236}">
                <a16:creationId xmlns:a16="http://schemas.microsoft.com/office/drawing/2014/main" id="{82FB3200-FC05-314C-817D-26A42C784B08}"/>
              </a:ext>
            </a:extLst>
          </p:cNvPr>
          <p:cNvSpPr>
            <a:spLocks noGrp="1"/>
          </p:cNvSpPr>
          <p:nvPr>
            <p:ph type="body" sz="quarter" idx="25" hasCustomPrompt="1"/>
          </p:nvPr>
        </p:nvSpPr>
        <p:spPr>
          <a:xfrm>
            <a:off x="342900" y="4070647"/>
            <a:ext cx="11506200" cy="898525"/>
          </a:xfrm>
          <a:prstGeom prst="rect">
            <a:avLst/>
          </a:prstGeom>
        </p:spPr>
        <p:txBody>
          <a:bodyPr>
            <a:noAutofit/>
          </a:bodyPr>
          <a:lstStyle>
            <a:lvl1pPr>
              <a:lnSpc>
                <a:spcPct val="100000"/>
              </a:lnSpc>
              <a:spcBef>
                <a:spcPts val="0"/>
              </a:spcBef>
              <a:buFontTx/>
              <a:buNone/>
              <a:defRPr sz="2400" b="0" spc="0">
                <a:solidFill>
                  <a:schemeClr val="tx1"/>
                </a:solidFill>
                <a:effectLst>
                  <a:outerShdw blurRad="38100" dist="12700" dir="5400000" algn="ctr" rotWithShape="0">
                    <a:srgbClr val="000000">
                      <a:alpha val="10000"/>
                    </a:srgbClr>
                  </a:outerShdw>
                </a:effectLst>
              </a:defRPr>
            </a:lvl1pPr>
            <a:lvl2pPr>
              <a:spcAft>
                <a:spcPts val="0"/>
              </a:spcAft>
              <a:buFontTx/>
              <a:buNone/>
              <a:defRPr sz="2400" b="0" spc="0">
                <a:solidFill>
                  <a:schemeClr val="bg1"/>
                </a:solidFill>
                <a:effectLst>
                  <a:outerShdw blurRad="38100" dist="12700" dir="5400000" algn="ctr" rotWithShape="0">
                    <a:srgbClr val="000000">
                      <a:alpha val="10000"/>
                    </a:srgbClr>
                  </a:outerShdw>
                </a:effectLst>
              </a:defRPr>
            </a:lvl2pPr>
            <a:lvl3pPr>
              <a:lnSpc>
                <a:spcPct val="100000"/>
              </a:lnSpc>
              <a:spcBef>
                <a:spcPts val="0"/>
              </a:spcBef>
              <a:buFontTx/>
              <a:buNone/>
              <a:defRPr sz="2400" b="0" spc="0">
                <a:solidFill>
                  <a:schemeClr val="bg1"/>
                </a:solidFill>
                <a:effectLst>
                  <a:outerShdw blurRad="38100" dist="12700" dir="5400000" algn="ctr" rotWithShape="0">
                    <a:srgbClr val="000000">
                      <a:alpha val="10000"/>
                    </a:srgbClr>
                  </a:outerShdw>
                </a:effectLst>
              </a:defRPr>
            </a:lvl3pPr>
            <a:lvl4pPr>
              <a:spcAft>
                <a:spcPts val="0"/>
              </a:spcAft>
              <a:buFontTx/>
              <a:buNone/>
              <a:defRPr sz="2400" b="0" spc="0">
                <a:solidFill>
                  <a:schemeClr val="bg1"/>
                </a:solidFill>
                <a:effectLst>
                  <a:outerShdw blurRad="38100" dist="12700" dir="5400000" algn="ctr" rotWithShape="0">
                    <a:srgbClr val="000000">
                      <a:alpha val="10000"/>
                    </a:srgbClr>
                  </a:outerShdw>
                </a:effectLst>
              </a:defRPr>
            </a:lvl4pPr>
            <a:lvl5pPr marL="0" indent="0">
              <a:spcAft>
                <a:spcPts val="0"/>
              </a:spcAft>
              <a:buFontTx/>
              <a:buNone/>
              <a:defRPr sz="2400" b="0" spc="0">
                <a:solidFill>
                  <a:schemeClr val="bg1"/>
                </a:solidFill>
                <a:effectLst>
                  <a:outerShdw blurRad="38100" dist="12700" dir="5400000" algn="ctr" rotWithShape="0">
                    <a:srgbClr val="000000">
                      <a:alpha val="10000"/>
                    </a:srgbClr>
                  </a:outerShdw>
                </a:effectLst>
              </a:defRPr>
            </a:lvl5pPr>
          </a:lstStyle>
          <a:p>
            <a:pPr lvl="0"/>
            <a:r>
              <a:rPr lang="en-US" dirty="0"/>
              <a:t>Speaker or date</a:t>
            </a:r>
          </a:p>
        </p:txBody>
      </p:sp>
      <p:sp>
        <p:nvSpPr>
          <p:cNvPr id="11" name="Title 5">
            <a:extLst>
              <a:ext uri="{FF2B5EF4-FFF2-40B4-BE49-F238E27FC236}">
                <a16:creationId xmlns:a16="http://schemas.microsoft.com/office/drawing/2014/main" id="{69ED4049-B7CA-DA44-9DB9-BBA76C135AE8}"/>
              </a:ext>
            </a:extLst>
          </p:cNvPr>
          <p:cNvSpPr>
            <a:spLocks noGrp="1"/>
          </p:cNvSpPr>
          <p:nvPr>
            <p:ph type="title" hasCustomPrompt="1"/>
          </p:nvPr>
        </p:nvSpPr>
        <p:spPr>
          <a:xfrm>
            <a:off x="342900" y="854777"/>
            <a:ext cx="11506200" cy="2743200"/>
          </a:xfrm>
        </p:spPr>
        <p:txBody>
          <a:bodyPr bIns="0" anchor="b">
            <a:noAutofit/>
          </a:bodyPr>
          <a:lstStyle>
            <a:lvl1pPr>
              <a:defRPr sz="5400" spc="-200" baseline="0">
                <a:solidFill>
                  <a:schemeClr val="tx1"/>
                </a:solidFill>
                <a:effectLst>
                  <a:outerShdw blurRad="38100" dist="12700" dir="5400000" algn="ctr" rotWithShape="0">
                    <a:srgbClr val="000000">
                      <a:alpha val="10000"/>
                    </a:srgbClr>
                  </a:outerShdw>
                </a:effectLst>
              </a:defRPr>
            </a:lvl1pPr>
          </a:lstStyle>
          <a:p>
            <a:r>
              <a:rPr lang="en-US" dirty="0"/>
              <a:t>Title</a:t>
            </a:r>
          </a:p>
        </p:txBody>
      </p:sp>
      <p:grpSp>
        <p:nvGrpSpPr>
          <p:cNvPr id="22" name="Group 21">
            <a:extLst>
              <a:ext uri="{FF2B5EF4-FFF2-40B4-BE49-F238E27FC236}">
                <a16:creationId xmlns:a16="http://schemas.microsoft.com/office/drawing/2014/main" id="{4BC5EB18-CFAA-564E-B0A0-4CB41693C4E3}"/>
              </a:ext>
            </a:extLst>
          </p:cNvPr>
          <p:cNvGrpSpPr/>
          <p:nvPr userDrawn="1"/>
        </p:nvGrpSpPr>
        <p:grpSpPr>
          <a:xfrm>
            <a:off x="8761444" y="5451834"/>
            <a:ext cx="3023197" cy="824055"/>
            <a:chOff x="1233488" y="677863"/>
            <a:chExt cx="2882900" cy="785813"/>
          </a:xfrm>
          <a:solidFill>
            <a:schemeClr val="tx2"/>
          </a:solidFill>
        </p:grpSpPr>
        <p:sp>
          <p:nvSpPr>
            <p:cNvPr id="23" name="Freeform 35">
              <a:extLst>
                <a:ext uri="{FF2B5EF4-FFF2-40B4-BE49-F238E27FC236}">
                  <a16:creationId xmlns:a16="http://schemas.microsoft.com/office/drawing/2014/main" id="{62A513C5-C1D3-324A-B650-240D33E37E88}"/>
                </a:ext>
              </a:extLst>
            </p:cNvPr>
            <p:cNvSpPr>
              <a:spLocks/>
            </p:cNvSpPr>
            <p:nvPr/>
          </p:nvSpPr>
          <p:spPr bwMode="auto">
            <a:xfrm>
              <a:off x="2346326" y="944563"/>
              <a:ext cx="417513" cy="354013"/>
            </a:xfrm>
            <a:custGeom>
              <a:avLst/>
              <a:gdLst>
                <a:gd name="T0" fmla="*/ 310 w 525"/>
                <a:gd name="T1" fmla="*/ 445 h 445"/>
                <a:gd name="T2" fmla="*/ 250 w 525"/>
                <a:gd name="T3" fmla="*/ 440 h 445"/>
                <a:gd name="T4" fmla="*/ 193 w 525"/>
                <a:gd name="T5" fmla="*/ 428 h 445"/>
                <a:gd name="T6" fmla="*/ 140 w 525"/>
                <a:gd name="T7" fmla="*/ 409 h 445"/>
                <a:gd name="T8" fmla="*/ 94 w 525"/>
                <a:gd name="T9" fmla="*/ 383 h 445"/>
                <a:gd name="T10" fmla="*/ 55 w 525"/>
                <a:gd name="T11" fmla="*/ 350 h 445"/>
                <a:gd name="T12" fmla="*/ 25 w 525"/>
                <a:gd name="T13" fmla="*/ 313 h 445"/>
                <a:gd name="T14" fmla="*/ 14 w 525"/>
                <a:gd name="T15" fmla="*/ 291 h 445"/>
                <a:gd name="T16" fmla="*/ 7 w 525"/>
                <a:gd name="T17" fmla="*/ 269 h 445"/>
                <a:gd name="T18" fmla="*/ 1 w 525"/>
                <a:gd name="T19" fmla="*/ 246 h 445"/>
                <a:gd name="T20" fmla="*/ 0 w 525"/>
                <a:gd name="T21" fmla="*/ 222 h 445"/>
                <a:gd name="T22" fmla="*/ 0 w 525"/>
                <a:gd name="T23" fmla="*/ 210 h 445"/>
                <a:gd name="T24" fmla="*/ 3 w 525"/>
                <a:gd name="T25" fmla="*/ 187 h 445"/>
                <a:gd name="T26" fmla="*/ 11 w 525"/>
                <a:gd name="T27" fmla="*/ 164 h 445"/>
                <a:gd name="T28" fmla="*/ 19 w 525"/>
                <a:gd name="T29" fmla="*/ 143 h 445"/>
                <a:gd name="T30" fmla="*/ 38 w 525"/>
                <a:gd name="T31" fmla="*/ 113 h 445"/>
                <a:gd name="T32" fmla="*/ 73 w 525"/>
                <a:gd name="T33" fmla="*/ 78 h 445"/>
                <a:gd name="T34" fmla="*/ 116 w 525"/>
                <a:gd name="T35" fmla="*/ 48 h 445"/>
                <a:gd name="T36" fmla="*/ 166 w 525"/>
                <a:gd name="T37" fmla="*/ 25 h 445"/>
                <a:gd name="T38" fmla="*/ 221 w 525"/>
                <a:gd name="T39" fmla="*/ 9 h 445"/>
                <a:gd name="T40" fmla="*/ 281 w 525"/>
                <a:gd name="T41" fmla="*/ 1 h 445"/>
                <a:gd name="T42" fmla="*/ 311 w 525"/>
                <a:gd name="T43" fmla="*/ 0 h 445"/>
                <a:gd name="T44" fmla="*/ 364 w 525"/>
                <a:gd name="T45" fmla="*/ 3 h 445"/>
                <a:gd name="T46" fmla="*/ 416 w 525"/>
                <a:gd name="T47" fmla="*/ 14 h 445"/>
                <a:gd name="T48" fmla="*/ 468 w 525"/>
                <a:gd name="T49" fmla="*/ 32 h 445"/>
                <a:gd name="T50" fmla="*/ 523 w 525"/>
                <a:gd name="T51" fmla="*/ 58 h 445"/>
                <a:gd name="T52" fmla="*/ 471 w 525"/>
                <a:gd name="T53" fmla="*/ 124 h 445"/>
                <a:gd name="T54" fmla="*/ 434 w 525"/>
                <a:gd name="T55" fmla="*/ 108 h 445"/>
                <a:gd name="T56" fmla="*/ 396 w 525"/>
                <a:gd name="T57" fmla="*/ 98 h 445"/>
                <a:gd name="T58" fmla="*/ 355 w 525"/>
                <a:gd name="T59" fmla="*/ 90 h 445"/>
                <a:gd name="T60" fmla="*/ 311 w 525"/>
                <a:gd name="T61" fmla="*/ 88 h 445"/>
                <a:gd name="T62" fmla="*/ 298 w 525"/>
                <a:gd name="T63" fmla="*/ 89 h 445"/>
                <a:gd name="T64" fmla="*/ 271 w 525"/>
                <a:gd name="T65" fmla="*/ 93 h 445"/>
                <a:gd name="T66" fmla="*/ 246 w 525"/>
                <a:gd name="T67" fmla="*/ 100 h 445"/>
                <a:gd name="T68" fmla="*/ 222 w 525"/>
                <a:gd name="T69" fmla="*/ 112 h 445"/>
                <a:gd name="T70" fmla="*/ 200 w 525"/>
                <a:gd name="T71" fmla="*/ 128 h 445"/>
                <a:gd name="T72" fmla="*/ 182 w 525"/>
                <a:gd name="T73" fmla="*/ 150 h 445"/>
                <a:gd name="T74" fmla="*/ 170 w 525"/>
                <a:gd name="T75" fmla="*/ 175 h 445"/>
                <a:gd name="T76" fmla="*/ 163 w 525"/>
                <a:gd name="T77" fmla="*/ 205 h 445"/>
                <a:gd name="T78" fmla="*/ 162 w 525"/>
                <a:gd name="T79" fmla="*/ 222 h 445"/>
                <a:gd name="T80" fmla="*/ 165 w 525"/>
                <a:gd name="T81" fmla="*/ 256 h 445"/>
                <a:gd name="T82" fmla="*/ 175 w 525"/>
                <a:gd name="T83" fmla="*/ 284 h 445"/>
                <a:gd name="T84" fmla="*/ 191 w 525"/>
                <a:gd name="T85" fmla="*/ 306 h 445"/>
                <a:gd name="T86" fmla="*/ 210 w 525"/>
                <a:gd name="T87" fmla="*/ 326 h 445"/>
                <a:gd name="T88" fmla="*/ 233 w 525"/>
                <a:gd name="T89" fmla="*/ 339 h 445"/>
                <a:gd name="T90" fmla="*/ 258 w 525"/>
                <a:gd name="T91" fmla="*/ 349 h 445"/>
                <a:gd name="T92" fmla="*/ 285 w 525"/>
                <a:gd name="T93" fmla="*/ 355 h 445"/>
                <a:gd name="T94" fmla="*/ 311 w 525"/>
                <a:gd name="T95" fmla="*/ 357 h 445"/>
                <a:gd name="T96" fmla="*/ 333 w 525"/>
                <a:gd name="T97" fmla="*/ 356 h 445"/>
                <a:gd name="T98" fmla="*/ 375 w 525"/>
                <a:gd name="T99" fmla="*/ 352 h 445"/>
                <a:gd name="T100" fmla="*/ 416 w 525"/>
                <a:gd name="T101" fmla="*/ 344 h 445"/>
                <a:gd name="T102" fmla="*/ 455 w 525"/>
                <a:gd name="T103" fmla="*/ 332 h 445"/>
                <a:gd name="T104" fmla="*/ 525 w 525"/>
                <a:gd name="T105" fmla="*/ 393 h 445"/>
                <a:gd name="T106" fmla="*/ 501 w 525"/>
                <a:gd name="T107" fmla="*/ 405 h 445"/>
                <a:gd name="T108" fmla="*/ 451 w 525"/>
                <a:gd name="T109" fmla="*/ 425 h 445"/>
                <a:gd name="T110" fmla="*/ 397 w 525"/>
                <a:gd name="T111" fmla="*/ 438 h 445"/>
                <a:gd name="T112" fmla="*/ 340 w 525"/>
                <a:gd name="T113" fmla="*/ 444 h 445"/>
                <a:gd name="T114" fmla="*/ 310 w 525"/>
                <a:gd name="T115"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5" h="445">
                  <a:moveTo>
                    <a:pt x="310" y="445"/>
                  </a:moveTo>
                  <a:lnTo>
                    <a:pt x="310" y="445"/>
                  </a:lnTo>
                  <a:lnTo>
                    <a:pt x="280" y="444"/>
                  </a:lnTo>
                  <a:lnTo>
                    <a:pt x="250" y="440"/>
                  </a:lnTo>
                  <a:lnTo>
                    <a:pt x="221" y="436"/>
                  </a:lnTo>
                  <a:lnTo>
                    <a:pt x="193" y="428"/>
                  </a:lnTo>
                  <a:lnTo>
                    <a:pt x="165" y="420"/>
                  </a:lnTo>
                  <a:lnTo>
                    <a:pt x="140" y="409"/>
                  </a:lnTo>
                  <a:lnTo>
                    <a:pt x="116" y="397"/>
                  </a:lnTo>
                  <a:lnTo>
                    <a:pt x="94" y="383"/>
                  </a:lnTo>
                  <a:lnTo>
                    <a:pt x="73" y="367"/>
                  </a:lnTo>
                  <a:lnTo>
                    <a:pt x="55" y="350"/>
                  </a:lnTo>
                  <a:lnTo>
                    <a:pt x="38" y="332"/>
                  </a:lnTo>
                  <a:lnTo>
                    <a:pt x="25" y="313"/>
                  </a:lnTo>
                  <a:lnTo>
                    <a:pt x="19" y="302"/>
                  </a:lnTo>
                  <a:lnTo>
                    <a:pt x="14" y="291"/>
                  </a:lnTo>
                  <a:lnTo>
                    <a:pt x="11" y="280"/>
                  </a:lnTo>
                  <a:lnTo>
                    <a:pt x="7" y="269"/>
                  </a:lnTo>
                  <a:lnTo>
                    <a:pt x="3" y="258"/>
                  </a:lnTo>
                  <a:lnTo>
                    <a:pt x="1" y="246"/>
                  </a:lnTo>
                  <a:lnTo>
                    <a:pt x="0" y="234"/>
                  </a:lnTo>
                  <a:lnTo>
                    <a:pt x="0" y="222"/>
                  </a:lnTo>
                  <a:lnTo>
                    <a:pt x="0" y="222"/>
                  </a:lnTo>
                  <a:lnTo>
                    <a:pt x="0" y="210"/>
                  </a:lnTo>
                  <a:lnTo>
                    <a:pt x="1" y="199"/>
                  </a:lnTo>
                  <a:lnTo>
                    <a:pt x="3" y="187"/>
                  </a:lnTo>
                  <a:lnTo>
                    <a:pt x="7" y="176"/>
                  </a:lnTo>
                  <a:lnTo>
                    <a:pt x="11" y="164"/>
                  </a:lnTo>
                  <a:lnTo>
                    <a:pt x="14" y="153"/>
                  </a:lnTo>
                  <a:lnTo>
                    <a:pt x="19" y="143"/>
                  </a:lnTo>
                  <a:lnTo>
                    <a:pt x="25" y="133"/>
                  </a:lnTo>
                  <a:lnTo>
                    <a:pt x="38" y="113"/>
                  </a:lnTo>
                  <a:lnTo>
                    <a:pt x="55" y="95"/>
                  </a:lnTo>
                  <a:lnTo>
                    <a:pt x="73" y="78"/>
                  </a:lnTo>
                  <a:lnTo>
                    <a:pt x="94" y="63"/>
                  </a:lnTo>
                  <a:lnTo>
                    <a:pt x="116" y="48"/>
                  </a:lnTo>
                  <a:lnTo>
                    <a:pt x="140" y="36"/>
                  </a:lnTo>
                  <a:lnTo>
                    <a:pt x="166" y="25"/>
                  </a:lnTo>
                  <a:lnTo>
                    <a:pt x="193" y="17"/>
                  </a:lnTo>
                  <a:lnTo>
                    <a:pt x="221" y="9"/>
                  </a:lnTo>
                  <a:lnTo>
                    <a:pt x="251" y="3"/>
                  </a:lnTo>
                  <a:lnTo>
                    <a:pt x="281" y="1"/>
                  </a:lnTo>
                  <a:lnTo>
                    <a:pt x="311" y="0"/>
                  </a:lnTo>
                  <a:lnTo>
                    <a:pt x="311" y="0"/>
                  </a:lnTo>
                  <a:lnTo>
                    <a:pt x="338" y="1"/>
                  </a:lnTo>
                  <a:lnTo>
                    <a:pt x="364" y="3"/>
                  </a:lnTo>
                  <a:lnTo>
                    <a:pt x="390" y="7"/>
                  </a:lnTo>
                  <a:lnTo>
                    <a:pt x="416" y="14"/>
                  </a:lnTo>
                  <a:lnTo>
                    <a:pt x="443" y="22"/>
                  </a:lnTo>
                  <a:lnTo>
                    <a:pt x="468" y="32"/>
                  </a:lnTo>
                  <a:lnTo>
                    <a:pt x="495" y="44"/>
                  </a:lnTo>
                  <a:lnTo>
                    <a:pt x="523" y="58"/>
                  </a:lnTo>
                  <a:lnTo>
                    <a:pt x="471" y="124"/>
                  </a:lnTo>
                  <a:lnTo>
                    <a:pt x="471" y="124"/>
                  </a:lnTo>
                  <a:lnTo>
                    <a:pt x="454" y="116"/>
                  </a:lnTo>
                  <a:lnTo>
                    <a:pt x="434" y="108"/>
                  </a:lnTo>
                  <a:lnTo>
                    <a:pt x="415" y="102"/>
                  </a:lnTo>
                  <a:lnTo>
                    <a:pt x="396" y="98"/>
                  </a:lnTo>
                  <a:lnTo>
                    <a:pt x="375" y="94"/>
                  </a:lnTo>
                  <a:lnTo>
                    <a:pt x="355" y="90"/>
                  </a:lnTo>
                  <a:lnTo>
                    <a:pt x="333" y="89"/>
                  </a:lnTo>
                  <a:lnTo>
                    <a:pt x="311" y="88"/>
                  </a:lnTo>
                  <a:lnTo>
                    <a:pt x="311" y="88"/>
                  </a:lnTo>
                  <a:lnTo>
                    <a:pt x="298" y="89"/>
                  </a:lnTo>
                  <a:lnTo>
                    <a:pt x="285" y="90"/>
                  </a:lnTo>
                  <a:lnTo>
                    <a:pt x="271" y="93"/>
                  </a:lnTo>
                  <a:lnTo>
                    <a:pt x="258" y="95"/>
                  </a:lnTo>
                  <a:lnTo>
                    <a:pt x="246" y="100"/>
                  </a:lnTo>
                  <a:lnTo>
                    <a:pt x="234" y="105"/>
                  </a:lnTo>
                  <a:lnTo>
                    <a:pt x="222" y="112"/>
                  </a:lnTo>
                  <a:lnTo>
                    <a:pt x="211" y="119"/>
                  </a:lnTo>
                  <a:lnTo>
                    <a:pt x="200" y="128"/>
                  </a:lnTo>
                  <a:lnTo>
                    <a:pt x="191" y="137"/>
                  </a:lnTo>
                  <a:lnTo>
                    <a:pt x="182" y="150"/>
                  </a:lnTo>
                  <a:lnTo>
                    <a:pt x="176" y="162"/>
                  </a:lnTo>
                  <a:lnTo>
                    <a:pt x="170" y="175"/>
                  </a:lnTo>
                  <a:lnTo>
                    <a:pt x="165" y="189"/>
                  </a:lnTo>
                  <a:lnTo>
                    <a:pt x="163" y="205"/>
                  </a:lnTo>
                  <a:lnTo>
                    <a:pt x="162" y="222"/>
                  </a:lnTo>
                  <a:lnTo>
                    <a:pt x="162" y="222"/>
                  </a:lnTo>
                  <a:lnTo>
                    <a:pt x="163" y="240"/>
                  </a:lnTo>
                  <a:lnTo>
                    <a:pt x="165" y="256"/>
                  </a:lnTo>
                  <a:lnTo>
                    <a:pt x="170" y="270"/>
                  </a:lnTo>
                  <a:lnTo>
                    <a:pt x="175" y="284"/>
                  </a:lnTo>
                  <a:lnTo>
                    <a:pt x="182" y="296"/>
                  </a:lnTo>
                  <a:lnTo>
                    <a:pt x="191" y="306"/>
                  </a:lnTo>
                  <a:lnTo>
                    <a:pt x="200" y="317"/>
                  </a:lnTo>
                  <a:lnTo>
                    <a:pt x="210" y="326"/>
                  </a:lnTo>
                  <a:lnTo>
                    <a:pt x="221" y="333"/>
                  </a:lnTo>
                  <a:lnTo>
                    <a:pt x="233" y="339"/>
                  </a:lnTo>
                  <a:lnTo>
                    <a:pt x="245" y="345"/>
                  </a:lnTo>
                  <a:lnTo>
                    <a:pt x="258" y="349"/>
                  </a:lnTo>
                  <a:lnTo>
                    <a:pt x="271" y="352"/>
                  </a:lnTo>
                  <a:lnTo>
                    <a:pt x="285" y="355"/>
                  </a:lnTo>
                  <a:lnTo>
                    <a:pt x="298" y="356"/>
                  </a:lnTo>
                  <a:lnTo>
                    <a:pt x="311" y="357"/>
                  </a:lnTo>
                  <a:lnTo>
                    <a:pt x="311" y="357"/>
                  </a:lnTo>
                  <a:lnTo>
                    <a:pt x="333" y="356"/>
                  </a:lnTo>
                  <a:lnTo>
                    <a:pt x="355" y="355"/>
                  </a:lnTo>
                  <a:lnTo>
                    <a:pt x="375" y="352"/>
                  </a:lnTo>
                  <a:lnTo>
                    <a:pt x="396" y="349"/>
                  </a:lnTo>
                  <a:lnTo>
                    <a:pt x="416" y="344"/>
                  </a:lnTo>
                  <a:lnTo>
                    <a:pt x="436" y="338"/>
                  </a:lnTo>
                  <a:lnTo>
                    <a:pt x="455" y="332"/>
                  </a:lnTo>
                  <a:lnTo>
                    <a:pt x="473" y="325"/>
                  </a:lnTo>
                  <a:lnTo>
                    <a:pt x="525" y="393"/>
                  </a:lnTo>
                  <a:lnTo>
                    <a:pt x="525" y="393"/>
                  </a:lnTo>
                  <a:lnTo>
                    <a:pt x="501" y="405"/>
                  </a:lnTo>
                  <a:lnTo>
                    <a:pt x="477" y="415"/>
                  </a:lnTo>
                  <a:lnTo>
                    <a:pt x="451" y="425"/>
                  </a:lnTo>
                  <a:lnTo>
                    <a:pt x="425" y="432"/>
                  </a:lnTo>
                  <a:lnTo>
                    <a:pt x="397" y="438"/>
                  </a:lnTo>
                  <a:lnTo>
                    <a:pt x="369" y="442"/>
                  </a:lnTo>
                  <a:lnTo>
                    <a:pt x="340" y="444"/>
                  </a:lnTo>
                  <a:lnTo>
                    <a:pt x="310" y="445"/>
                  </a:lnTo>
                  <a:lnTo>
                    <a:pt x="310" y="4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4" name="Freeform 36">
              <a:extLst>
                <a:ext uri="{FF2B5EF4-FFF2-40B4-BE49-F238E27FC236}">
                  <a16:creationId xmlns:a16="http://schemas.microsoft.com/office/drawing/2014/main" id="{676D7A07-A67B-1E41-8D47-FC892E9482DB}"/>
                </a:ext>
              </a:extLst>
            </p:cNvPr>
            <p:cNvSpPr>
              <a:spLocks noEditPoints="1"/>
            </p:cNvSpPr>
            <p:nvPr/>
          </p:nvSpPr>
          <p:spPr bwMode="auto">
            <a:xfrm>
              <a:off x="3087688" y="942976"/>
              <a:ext cx="493713" cy="355600"/>
            </a:xfrm>
            <a:custGeom>
              <a:avLst/>
              <a:gdLst>
                <a:gd name="T0" fmla="*/ 459 w 622"/>
                <a:gd name="T1" fmla="*/ 241 h 447"/>
                <a:gd name="T2" fmla="*/ 447 w 622"/>
                <a:gd name="T3" fmla="*/ 285 h 447"/>
                <a:gd name="T4" fmla="*/ 421 w 622"/>
                <a:gd name="T5" fmla="*/ 318 h 447"/>
                <a:gd name="T6" fmla="*/ 389 w 622"/>
                <a:gd name="T7" fmla="*/ 341 h 447"/>
                <a:gd name="T8" fmla="*/ 350 w 622"/>
                <a:gd name="T9" fmla="*/ 354 h 447"/>
                <a:gd name="T10" fmla="*/ 310 w 622"/>
                <a:gd name="T11" fmla="*/ 358 h 447"/>
                <a:gd name="T12" fmla="*/ 285 w 622"/>
                <a:gd name="T13" fmla="*/ 357 h 447"/>
                <a:gd name="T14" fmla="*/ 245 w 622"/>
                <a:gd name="T15" fmla="*/ 346 h 447"/>
                <a:gd name="T16" fmla="*/ 210 w 622"/>
                <a:gd name="T17" fmla="*/ 326 h 447"/>
                <a:gd name="T18" fmla="*/ 182 w 622"/>
                <a:gd name="T19" fmla="*/ 297 h 447"/>
                <a:gd name="T20" fmla="*/ 165 w 622"/>
                <a:gd name="T21" fmla="*/ 258 h 447"/>
                <a:gd name="T22" fmla="*/ 162 w 622"/>
                <a:gd name="T23" fmla="*/ 224 h 447"/>
                <a:gd name="T24" fmla="*/ 169 w 622"/>
                <a:gd name="T25" fmla="*/ 175 h 447"/>
                <a:gd name="T26" fmla="*/ 191 w 622"/>
                <a:gd name="T27" fmla="*/ 139 h 447"/>
                <a:gd name="T28" fmla="*/ 221 w 622"/>
                <a:gd name="T29" fmla="*/ 113 h 447"/>
                <a:gd name="T30" fmla="*/ 258 w 622"/>
                <a:gd name="T31" fmla="*/ 97 h 447"/>
                <a:gd name="T32" fmla="*/ 298 w 622"/>
                <a:gd name="T33" fmla="*/ 90 h 447"/>
                <a:gd name="T34" fmla="*/ 323 w 622"/>
                <a:gd name="T35" fmla="*/ 90 h 447"/>
                <a:gd name="T36" fmla="*/ 363 w 622"/>
                <a:gd name="T37" fmla="*/ 97 h 447"/>
                <a:gd name="T38" fmla="*/ 400 w 622"/>
                <a:gd name="T39" fmla="*/ 113 h 447"/>
                <a:gd name="T40" fmla="*/ 431 w 622"/>
                <a:gd name="T41" fmla="*/ 139 h 447"/>
                <a:gd name="T42" fmla="*/ 451 w 622"/>
                <a:gd name="T43" fmla="*/ 175 h 447"/>
                <a:gd name="T44" fmla="*/ 460 w 622"/>
                <a:gd name="T45" fmla="*/ 224 h 447"/>
                <a:gd name="T46" fmla="*/ 310 w 622"/>
                <a:gd name="T47" fmla="*/ 447 h 447"/>
                <a:gd name="T48" fmla="*/ 401 w 622"/>
                <a:gd name="T49" fmla="*/ 437 h 447"/>
                <a:gd name="T50" fmla="*/ 482 w 622"/>
                <a:gd name="T51" fmla="*/ 411 h 447"/>
                <a:gd name="T52" fmla="*/ 548 w 622"/>
                <a:gd name="T53" fmla="*/ 369 h 447"/>
                <a:gd name="T54" fmla="*/ 596 w 622"/>
                <a:gd name="T55" fmla="*/ 313 h 447"/>
                <a:gd name="T56" fmla="*/ 612 w 622"/>
                <a:gd name="T57" fmla="*/ 282 h 447"/>
                <a:gd name="T58" fmla="*/ 620 w 622"/>
                <a:gd name="T59" fmla="*/ 248 h 447"/>
                <a:gd name="T60" fmla="*/ 622 w 622"/>
                <a:gd name="T61" fmla="*/ 224 h 447"/>
                <a:gd name="T62" fmla="*/ 618 w 622"/>
                <a:gd name="T63" fmla="*/ 189 h 447"/>
                <a:gd name="T64" fmla="*/ 607 w 622"/>
                <a:gd name="T65" fmla="*/ 155 h 447"/>
                <a:gd name="T66" fmla="*/ 583 w 622"/>
                <a:gd name="T67" fmla="*/ 115 h 447"/>
                <a:gd name="T68" fmla="*/ 529 w 622"/>
                <a:gd name="T69" fmla="*/ 63 h 447"/>
                <a:gd name="T70" fmla="*/ 456 w 622"/>
                <a:gd name="T71" fmla="*/ 27 h 447"/>
                <a:gd name="T72" fmla="*/ 372 w 622"/>
                <a:gd name="T73" fmla="*/ 5 h 447"/>
                <a:gd name="T74" fmla="*/ 310 w 622"/>
                <a:gd name="T75" fmla="*/ 0 h 447"/>
                <a:gd name="T76" fmla="*/ 221 w 622"/>
                <a:gd name="T77" fmla="*/ 10 h 447"/>
                <a:gd name="T78" fmla="*/ 140 w 622"/>
                <a:gd name="T79" fmla="*/ 38 h 447"/>
                <a:gd name="T80" fmla="*/ 72 w 622"/>
                <a:gd name="T81" fmla="*/ 79 h 447"/>
                <a:gd name="T82" fmla="*/ 25 w 622"/>
                <a:gd name="T83" fmla="*/ 134 h 447"/>
                <a:gd name="T84" fmla="*/ 10 w 622"/>
                <a:gd name="T85" fmla="*/ 166 h 447"/>
                <a:gd name="T86" fmla="*/ 1 w 622"/>
                <a:gd name="T87" fmla="*/ 200 h 447"/>
                <a:gd name="T88" fmla="*/ 0 w 622"/>
                <a:gd name="T89" fmla="*/ 224 h 447"/>
                <a:gd name="T90" fmla="*/ 4 w 622"/>
                <a:gd name="T91" fmla="*/ 259 h 447"/>
                <a:gd name="T92" fmla="*/ 14 w 622"/>
                <a:gd name="T93" fmla="*/ 293 h 447"/>
                <a:gd name="T94" fmla="*/ 39 w 622"/>
                <a:gd name="T95" fmla="*/ 332 h 447"/>
                <a:gd name="T96" fmla="*/ 93 w 622"/>
                <a:gd name="T97" fmla="*/ 384 h 447"/>
                <a:gd name="T98" fmla="*/ 165 w 622"/>
                <a:gd name="T99" fmla="*/ 421 h 447"/>
                <a:gd name="T100" fmla="*/ 250 w 622"/>
                <a:gd name="T101" fmla="*/ 442 h 447"/>
                <a:gd name="T102" fmla="*/ 310 w 622"/>
                <a:gd name="T103" fmla="*/ 447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22" h="447">
                  <a:moveTo>
                    <a:pt x="460" y="224"/>
                  </a:moveTo>
                  <a:lnTo>
                    <a:pt x="460" y="224"/>
                  </a:lnTo>
                  <a:lnTo>
                    <a:pt x="459" y="241"/>
                  </a:lnTo>
                  <a:lnTo>
                    <a:pt x="456" y="258"/>
                  </a:lnTo>
                  <a:lnTo>
                    <a:pt x="451" y="272"/>
                  </a:lnTo>
                  <a:lnTo>
                    <a:pt x="447" y="285"/>
                  </a:lnTo>
                  <a:lnTo>
                    <a:pt x="439" y="297"/>
                  </a:lnTo>
                  <a:lnTo>
                    <a:pt x="431" y="308"/>
                  </a:lnTo>
                  <a:lnTo>
                    <a:pt x="421" y="318"/>
                  </a:lnTo>
                  <a:lnTo>
                    <a:pt x="412" y="326"/>
                  </a:lnTo>
                  <a:lnTo>
                    <a:pt x="400" y="335"/>
                  </a:lnTo>
                  <a:lnTo>
                    <a:pt x="389" y="341"/>
                  </a:lnTo>
                  <a:lnTo>
                    <a:pt x="375" y="346"/>
                  </a:lnTo>
                  <a:lnTo>
                    <a:pt x="363" y="351"/>
                  </a:lnTo>
                  <a:lnTo>
                    <a:pt x="350" y="354"/>
                  </a:lnTo>
                  <a:lnTo>
                    <a:pt x="337" y="357"/>
                  </a:lnTo>
                  <a:lnTo>
                    <a:pt x="323" y="358"/>
                  </a:lnTo>
                  <a:lnTo>
                    <a:pt x="310" y="358"/>
                  </a:lnTo>
                  <a:lnTo>
                    <a:pt x="310" y="358"/>
                  </a:lnTo>
                  <a:lnTo>
                    <a:pt x="298" y="358"/>
                  </a:lnTo>
                  <a:lnTo>
                    <a:pt x="285" y="357"/>
                  </a:lnTo>
                  <a:lnTo>
                    <a:pt x="272" y="354"/>
                  </a:lnTo>
                  <a:lnTo>
                    <a:pt x="258" y="351"/>
                  </a:lnTo>
                  <a:lnTo>
                    <a:pt x="245" y="346"/>
                  </a:lnTo>
                  <a:lnTo>
                    <a:pt x="233" y="341"/>
                  </a:lnTo>
                  <a:lnTo>
                    <a:pt x="221" y="335"/>
                  </a:lnTo>
                  <a:lnTo>
                    <a:pt x="210" y="326"/>
                  </a:lnTo>
                  <a:lnTo>
                    <a:pt x="200" y="318"/>
                  </a:lnTo>
                  <a:lnTo>
                    <a:pt x="191" y="308"/>
                  </a:lnTo>
                  <a:lnTo>
                    <a:pt x="182" y="297"/>
                  </a:lnTo>
                  <a:lnTo>
                    <a:pt x="175" y="285"/>
                  </a:lnTo>
                  <a:lnTo>
                    <a:pt x="169" y="272"/>
                  </a:lnTo>
                  <a:lnTo>
                    <a:pt x="165" y="258"/>
                  </a:lnTo>
                  <a:lnTo>
                    <a:pt x="163" y="241"/>
                  </a:lnTo>
                  <a:lnTo>
                    <a:pt x="162" y="224"/>
                  </a:lnTo>
                  <a:lnTo>
                    <a:pt x="162" y="224"/>
                  </a:lnTo>
                  <a:lnTo>
                    <a:pt x="163" y="207"/>
                  </a:lnTo>
                  <a:lnTo>
                    <a:pt x="165" y="191"/>
                  </a:lnTo>
                  <a:lnTo>
                    <a:pt x="169" y="175"/>
                  </a:lnTo>
                  <a:lnTo>
                    <a:pt x="175" y="162"/>
                  </a:lnTo>
                  <a:lnTo>
                    <a:pt x="182" y="150"/>
                  </a:lnTo>
                  <a:lnTo>
                    <a:pt x="191" y="139"/>
                  </a:lnTo>
                  <a:lnTo>
                    <a:pt x="200" y="130"/>
                  </a:lnTo>
                  <a:lnTo>
                    <a:pt x="210" y="121"/>
                  </a:lnTo>
                  <a:lnTo>
                    <a:pt x="221" y="113"/>
                  </a:lnTo>
                  <a:lnTo>
                    <a:pt x="233" y="107"/>
                  </a:lnTo>
                  <a:lnTo>
                    <a:pt x="245" y="102"/>
                  </a:lnTo>
                  <a:lnTo>
                    <a:pt x="258" y="97"/>
                  </a:lnTo>
                  <a:lnTo>
                    <a:pt x="272" y="93"/>
                  </a:lnTo>
                  <a:lnTo>
                    <a:pt x="285" y="91"/>
                  </a:lnTo>
                  <a:lnTo>
                    <a:pt x="298" y="90"/>
                  </a:lnTo>
                  <a:lnTo>
                    <a:pt x="310" y="90"/>
                  </a:lnTo>
                  <a:lnTo>
                    <a:pt x="310" y="90"/>
                  </a:lnTo>
                  <a:lnTo>
                    <a:pt x="323" y="90"/>
                  </a:lnTo>
                  <a:lnTo>
                    <a:pt x="337" y="91"/>
                  </a:lnTo>
                  <a:lnTo>
                    <a:pt x="350" y="93"/>
                  </a:lnTo>
                  <a:lnTo>
                    <a:pt x="363" y="97"/>
                  </a:lnTo>
                  <a:lnTo>
                    <a:pt x="375" y="102"/>
                  </a:lnTo>
                  <a:lnTo>
                    <a:pt x="389" y="107"/>
                  </a:lnTo>
                  <a:lnTo>
                    <a:pt x="400" y="113"/>
                  </a:lnTo>
                  <a:lnTo>
                    <a:pt x="412" y="121"/>
                  </a:lnTo>
                  <a:lnTo>
                    <a:pt x="421" y="130"/>
                  </a:lnTo>
                  <a:lnTo>
                    <a:pt x="431" y="139"/>
                  </a:lnTo>
                  <a:lnTo>
                    <a:pt x="439" y="150"/>
                  </a:lnTo>
                  <a:lnTo>
                    <a:pt x="447" y="162"/>
                  </a:lnTo>
                  <a:lnTo>
                    <a:pt x="451" y="175"/>
                  </a:lnTo>
                  <a:lnTo>
                    <a:pt x="456" y="191"/>
                  </a:lnTo>
                  <a:lnTo>
                    <a:pt x="459" y="207"/>
                  </a:lnTo>
                  <a:lnTo>
                    <a:pt x="460" y="224"/>
                  </a:lnTo>
                  <a:lnTo>
                    <a:pt x="460" y="224"/>
                  </a:lnTo>
                  <a:close/>
                  <a:moveTo>
                    <a:pt x="310" y="447"/>
                  </a:moveTo>
                  <a:lnTo>
                    <a:pt x="310" y="447"/>
                  </a:lnTo>
                  <a:lnTo>
                    <a:pt x="342" y="446"/>
                  </a:lnTo>
                  <a:lnTo>
                    <a:pt x="372" y="442"/>
                  </a:lnTo>
                  <a:lnTo>
                    <a:pt x="401" y="437"/>
                  </a:lnTo>
                  <a:lnTo>
                    <a:pt x="429" y="430"/>
                  </a:lnTo>
                  <a:lnTo>
                    <a:pt x="456" y="421"/>
                  </a:lnTo>
                  <a:lnTo>
                    <a:pt x="482" y="411"/>
                  </a:lnTo>
                  <a:lnTo>
                    <a:pt x="506" y="398"/>
                  </a:lnTo>
                  <a:lnTo>
                    <a:pt x="529" y="384"/>
                  </a:lnTo>
                  <a:lnTo>
                    <a:pt x="548" y="369"/>
                  </a:lnTo>
                  <a:lnTo>
                    <a:pt x="567" y="352"/>
                  </a:lnTo>
                  <a:lnTo>
                    <a:pt x="583" y="332"/>
                  </a:lnTo>
                  <a:lnTo>
                    <a:pt x="596" y="313"/>
                  </a:lnTo>
                  <a:lnTo>
                    <a:pt x="602" y="303"/>
                  </a:lnTo>
                  <a:lnTo>
                    <a:pt x="607" y="293"/>
                  </a:lnTo>
                  <a:lnTo>
                    <a:pt x="612" y="282"/>
                  </a:lnTo>
                  <a:lnTo>
                    <a:pt x="616" y="271"/>
                  </a:lnTo>
                  <a:lnTo>
                    <a:pt x="618" y="259"/>
                  </a:lnTo>
                  <a:lnTo>
                    <a:pt x="620" y="248"/>
                  </a:lnTo>
                  <a:lnTo>
                    <a:pt x="622" y="236"/>
                  </a:lnTo>
                  <a:lnTo>
                    <a:pt x="622" y="224"/>
                  </a:lnTo>
                  <a:lnTo>
                    <a:pt x="622" y="224"/>
                  </a:lnTo>
                  <a:lnTo>
                    <a:pt x="622" y="212"/>
                  </a:lnTo>
                  <a:lnTo>
                    <a:pt x="620" y="200"/>
                  </a:lnTo>
                  <a:lnTo>
                    <a:pt x="618" y="189"/>
                  </a:lnTo>
                  <a:lnTo>
                    <a:pt x="616" y="177"/>
                  </a:lnTo>
                  <a:lnTo>
                    <a:pt x="612" y="166"/>
                  </a:lnTo>
                  <a:lnTo>
                    <a:pt x="607" y="155"/>
                  </a:lnTo>
                  <a:lnTo>
                    <a:pt x="602" y="144"/>
                  </a:lnTo>
                  <a:lnTo>
                    <a:pt x="596" y="134"/>
                  </a:lnTo>
                  <a:lnTo>
                    <a:pt x="583" y="115"/>
                  </a:lnTo>
                  <a:lnTo>
                    <a:pt x="567" y="96"/>
                  </a:lnTo>
                  <a:lnTo>
                    <a:pt x="548" y="79"/>
                  </a:lnTo>
                  <a:lnTo>
                    <a:pt x="529" y="63"/>
                  </a:lnTo>
                  <a:lnTo>
                    <a:pt x="506" y="50"/>
                  </a:lnTo>
                  <a:lnTo>
                    <a:pt x="482" y="38"/>
                  </a:lnTo>
                  <a:lnTo>
                    <a:pt x="456" y="27"/>
                  </a:lnTo>
                  <a:lnTo>
                    <a:pt x="429" y="17"/>
                  </a:lnTo>
                  <a:lnTo>
                    <a:pt x="401" y="10"/>
                  </a:lnTo>
                  <a:lnTo>
                    <a:pt x="372" y="5"/>
                  </a:lnTo>
                  <a:lnTo>
                    <a:pt x="342" y="2"/>
                  </a:lnTo>
                  <a:lnTo>
                    <a:pt x="310" y="0"/>
                  </a:lnTo>
                  <a:lnTo>
                    <a:pt x="310" y="0"/>
                  </a:lnTo>
                  <a:lnTo>
                    <a:pt x="280" y="2"/>
                  </a:lnTo>
                  <a:lnTo>
                    <a:pt x="250" y="5"/>
                  </a:lnTo>
                  <a:lnTo>
                    <a:pt x="221" y="10"/>
                  </a:lnTo>
                  <a:lnTo>
                    <a:pt x="193" y="17"/>
                  </a:lnTo>
                  <a:lnTo>
                    <a:pt x="165" y="27"/>
                  </a:lnTo>
                  <a:lnTo>
                    <a:pt x="140" y="38"/>
                  </a:lnTo>
                  <a:lnTo>
                    <a:pt x="116" y="50"/>
                  </a:lnTo>
                  <a:lnTo>
                    <a:pt x="93" y="63"/>
                  </a:lnTo>
                  <a:lnTo>
                    <a:pt x="72" y="79"/>
                  </a:lnTo>
                  <a:lnTo>
                    <a:pt x="54" y="96"/>
                  </a:lnTo>
                  <a:lnTo>
                    <a:pt x="39" y="115"/>
                  </a:lnTo>
                  <a:lnTo>
                    <a:pt x="25" y="134"/>
                  </a:lnTo>
                  <a:lnTo>
                    <a:pt x="19" y="144"/>
                  </a:lnTo>
                  <a:lnTo>
                    <a:pt x="14" y="155"/>
                  </a:lnTo>
                  <a:lnTo>
                    <a:pt x="10" y="166"/>
                  </a:lnTo>
                  <a:lnTo>
                    <a:pt x="6" y="177"/>
                  </a:lnTo>
                  <a:lnTo>
                    <a:pt x="4" y="189"/>
                  </a:lnTo>
                  <a:lnTo>
                    <a:pt x="1" y="200"/>
                  </a:lnTo>
                  <a:lnTo>
                    <a:pt x="0" y="212"/>
                  </a:lnTo>
                  <a:lnTo>
                    <a:pt x="0" y="224"/>
                  </a:lnTo>
                  <a:lnTo>
                    <a:pt x="0" y="224"/>
                  </a:lnTo>
                  <a:lnTo>
                    <a:pt x="0" y="236"/>
                  </a:lnTo>
                  <a:lnTo>
                    <a:pt x="1" y="248"/>
                  </a:lnTo>
                  <a:lnTo>
                    <a:pt x="4" y="259"/>
                  </a:lnTo>
                  <a:lnTo>
                    <a:pt x="6" y="271"/>
                  </a:lnTo>
                  <a:lnTo>
                    <a:pt x="10" y="282"/>
                  </a:lnTo>
                  <a:lnTo>
                    <a:pt x="14" y="293"/>
                  </a:lnTo>
                  <a:lnTo>
                    <a:pt x="19" y="303"/>
                  </a:lnTo>
                  <a:lnTo>
                    <a:pt x="25" y="313"/>
                  </a:lnTo>
                  <a:lnTo>
                    <a:pt x="39" y="332"/>
                  </a:lnTo>
                  <a:lnTo>
                    <a:pt x="54" y="352"/>
                  </a:lnTo>
                  <a:lnTo>
                    <a:pt x="72" y="369"/>
                  </a:lnTo>
                  <a:lnTo>
                    <a:pt x="93" y="384"/>
                  </a:lnTo>
                  <a:lnTo>
                    <a:pt x="116" y="398"/>
                  </a:lnTo>
                  <a:lnTo>
                    <a:pt x="140" y="411"/>
                  </a:lnTo>
                  <a:lnTo>
                    <a:pt x="165" y="421"/>
                  </a:lnTo>
                  <a:lnTo>
                    <a:pt x="193" y="430"/>
                  </a:lnTo>
                  <a:lnTo>
                    <a:pt x="221" y="437"/>
                  </a:lnTo>
                  <a:lnTo>
                    <a:pt x="250" y="442"/>
                  </a:lnTo>
                  <a:lnTo>
                    <a:pt x="280" y="446"/>
                  </a:lnTo>
                  <a:lnTo>
                    <a:pt x="310" y="447"/>
                  </a:lnTo>
                  <a:lnTo>
                    <a:pt x="310" y="4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5" name="Freeform 37">
              <a:extLst>
                <a:ext uri="{FF2B5EF4-FFF2-40B4-BE49-F238E27FC236}">
                  <a16:creationId xmlns:a16="http://schemas.microsoft.com/office/drawing/2014/main" id="{D09EE4EF-56AB-434E-8F80-AD57A8173D2C}"/>
                </a:ext>
              </a:extLst>
            </p:cNvPr>
            <p:cNvSpPr>
              <a:spLocks/>
            </p:cNvSpPr>
            <p:nvPr/>
          </p:nvSpPr>
          <p:spPr bwMode="auto">
            <a:xfrm>
              <a:off x="3633788" y="938213"/>
              <a:ext cx="360363" cy="350838"/>
            </a:xfrm>
            <a:custGeom>
              <a:avLst/>
              <a:gdLst>
                <a:gd name="T0" fmla="*/ 155 w 454"/>
                <a:gd name="T1" fmla="*/ 442 h 442"/>
                <a:gd name="T2" fmla="*/ 155 w 454"/>
                <a:gd name="T3" fmla="*/ 177 h 442"/>
                <a:gd name="T4" fmla="*/ 159 w 454"/>
                <a:gd name="T5" fmla="*/ 149 h 442"/>
                <a:gd name="T6" fmla="*/ 174 w 454"/>
                <a:gd name="T7" fmla="*/ 125 h 442"/>
                <a:gd name="T8" fmla="*/ 185 w 454"/>
                <a:gd name="T9" fmla="*/ 114 h 442"/>
                <a:gd name="T10" fmla="*/ 198 w 454"/>
                <a:gd name="T11" fmla="*/ 105 h 442"/>
                <a:gd name="T12" fmla="*/ 214 w 454"/>
                <a:gd name="T13" fmla="*/ 101 h 442"/>
                <a:gd name="T14" fmla="*/ 232 w 454"/>
                <a:gd name="T15" fmla="*/ 98 h 442"/>
                <a:gd name="T16" fmla="*/ 245 w 454"/>
                <a:gd name="T17" fmla="*/ 99 h 442"/>
                <a:gd name="T18" fmla="*/ 268 w 454"/>
                <a:gd name="T19" fmla="*/ 108 h 442"/>
                <a:gd name="T20" fmla="*/ 287 w 454"/>
                <a:gd name="T21" fmla="*/ 122 h 442"/>
                <a:gd name="T22" fmla="*/ 298 w 454"/>
                <a:gd name="T23" fmla="*/ 142 h 442"/>
                <a:gd name="T24" fmla="*/ 299 w 454"/>
                <a:gd name="T25" fmla="*/ 152 h 442"/>
                <a:gd name="T26" fmla="*/ 454 w 454"/>
                <a:gd name="T27" fmla="*/ 442 h 442"/>
                <a:gd name="T28" fmla="*/ 454 w 454"/>
                <a:gd name="T29" fmla="*/ 144 h 442"/>
                <a:gd name="T30" fmla="*/ 450 w 454"/>
                <a:gd name="T31" fmla="*/ 116 h 442"/>
                <a:gd name="T32" fmla="*/ 439 w 454"/>
                <a:gd name="T33" fmla="*/ 89 h 442"/>
                <a:gd name="T34" fmla="*/ 421 w 454"/>
                <a:gd name="T35" fmla="*/ 64 h 442"/>
                <a:gd name="T36" fmla="*/ 400 w 454"/>
                <a:gd name="T37" fmla="*/ 43 h 442"/>
                <a:gd name="T38" fmla="*/ 372 w 454"/>
                <a:gd name="T39" fmla="*/ 26 h 442"/>
                <a:gd name="T40" fmla="*/ 341 w 454"/>
                <a:gd name="T41" fmla="*/ 12 h 442"/>
                <a:gd name="T42" fmla="*/ 307 w 454"/>
                <a:gd name="T43" fmla="*/ 4 h 442"/>
                <a:gd name="T44" fmla="*/ 269 w 454"/>
                <a:gd name="T45" fmla="*/ 0 h 442"/>
                <a:gd name="T46" fmla="*/ 267 w 454"/>
                <a:gd name="T47" fmla="*/ 0 h 442"/>
                <a:gd name="T48" fmla="*/ 263 w 454"/>
                <a:gd name="T49" fmla="*/ 0 h 442"/>
                <a:gd name="T50" fmla="*/ 249 w 454"/>
                <a:gd name="T51" fmla="*/ 2 h 442"/>
                <a:gd name="T52" fmla="*/ 219 w 454"/>
                <a:gd name="T53" fmla="*/ 5 h 442"/>
                <a:gd name="T54" fmla="*/ 190 w 454"/>
                <a:gd name="T55" fmla="*/ 14 h 442"/>
                <a:gd name="T56" fmla="*/ 163 w 454"/>
                <a:gd name="T57" fmla="*/ 26 h 442"/>
                <a:gd name="T58" fmla="*/ 151 w 454"/>
                <a:gd name="T59" fmla="*/ 33 h 442"/>
                <a:gd name="T60" fmla="*/ 147 w 454"/>
                <a:gd name="T61" fmla="*/ 28 h 442"/>
                <a:gd name="T62" fmla="*/ 129 w 454"/>
                <a:gd name="T63" fmla="*/ 17 h 442"/>
                <a:gd name="T64" fmla="*/ 83 w 454"/>
                <a:gd name="T65" fmla="*/ 8 h 442"/>
                <a:gd name="T66" fmla="*/ 0 w 454"/>
                <a:gd name="T67" fmla="*/ 4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4" h="442">
                  <a:moveTo>
                    <a:pt x="0" y="442"/>
                  </a:moveTo>
                  <a:lnTo>
                    <a:pt x="155" y="442"/>
                  </a:lnTo>
                  <a:lnTo>
                    <a:pt x="155" y="177"/>
                  </a:lnTo>
                  <a:lnTo>
                    <a:pt x="155" y="177"/>
                  </a:lnTo>
                  <a:lnTo>
                    <a:pt x="156" y="163"/>
                  </a:lnTo>
                  <a:lnTo>
                    <a:pt x="159" y="149"/>
                  </a:lnTo>
                  <a:lnTo>
                    <a:pt x="165" y="136"/>
                  </a:lnTo>
                  <a:lnTo>
                    <a:pt x="174" y="125"/>
                  </a:lnTo>
                  <a:lnTo>
                    <a:pt x="180" y="119"/>
                  </a:lnTo>
                  <a:lnTo>
                    <a:pt x="185" y="114"/>
                  </a:lnTo>
                  <a:lnTo>
                    <a:pt x="192" y="109"/>
                  </a:lnTo>
                  <a:lnTo>
                    <a:pt x="198" y="105"/>
                  </a:lnTo>
                  <a:lnTo>
                    <a:pt x="207" y="103"/>
                  </a:lnTo>
                  <a:lnTo>
                    <a:pt x="214" y="101"/>
                  </a:lnTo>
                  <a:lnTo>
                    <a:pt x="222" y="99"/>
                  </a:lnTo>
                  <a:lnTo>
                    <a:pt x="232" y="98"/>
                  </a:lnTo>
                  <a:lnTo>
                    <a:pt x="232" y="98"/>
                  </a:lnTo>
                  <a:lnTo>
                    <a:pt x="245" y="99"/>
                  </a:lnTo>
                  <a:lnTo>
                    <a:pt x="257" y="103"/>
                  </a:lnTo>
                  <a:lnTo>
                    <a:pt x="268" y="108"/>
                  </a:lnTo>
                  <a:lnTo>
                    <a:pt x="279" y="114"/>
                  </a:lnTo>
                  <a:lnTo>
                    <a:pt x="287" y="122"/>
                  </a:lnTo>
                  <a:lnTo>
                    <a:pt x="295" y="132"/>
                  </a:lnTo>
                  <a:lnTo>
                    <a:pt x="298" y="142"/>
                  </a:lnTo>
                  <a:lnTo>
                    <a:pt x="299" y="146"/>
                  </a:lnTo>
                  <a:lnTo>
                    <a:pt x="299" y="152"/>
                  </a:lnTo>
                  <a:lnTo>
                    <a:pt x="299" y="442"/>
                  </a:lnTo>
                  <a:lnTo>
                    <a:pt x="454" y="442"/>
                  </a:lnTo>
                  <a:lnTo>
                    <a:pt x="454" y="144"/>
                  </a:lnTo>
                  <a:lnTo>
                    <a:pt x="454" y="144"/>
                  </a:lnTo>
                  <a:lnTo>
                    <a:pt x="453" y="130"/>
                  </a:lnTo>
                  <a:lnTo>
                    <a:pt x="450" y="116"/>
                  </a:lnTo>
                  <a:lnTo>
                    <a:pt x="446" y="102"/>
                  </a:lnTo>
                  <a:lnTo>
                    <a:pt x="439" y="89"/>
                  </a:lnTo>
                  <a:lnTo>
                    <a:pt x="431" y="76"/>
                  </a:lnTo>
                  <a:lnTo>
                    <a:pt x="421" y="64"/>
                  </a:lnTo>
                  <a:lnTo>
                    <a:pt x="411" y="53"/>
                  </a:lnTo>
                  <a:lnTo>
                    <a:pt x="400" y="43"/>
                  </a:lnTo>
                  <a:lnTo>
                    <a:pt x="386" y="34"/>
                  </a:lnTo>
                  <a:lnTo>
                    <a:pt x="372" y="26"/>
                  </a:lnTo>
                  <a:lnTo>
                    <a:pt x="356" y="18"/>
                  </a:lnTo>
                  <a:lnTo>
                    <a:pt x="341" y="12"/>
                  </a:lnTo>
                  <a:lnTo>
                    <a:pt x="324" y="8"/>
                  </a:lnTo>
                  <a:lnTo>
                    <a:pt x="307" y="4"/>
                  </a:lnTo>
                  <a:lnTo>
                    <a:pt x="289" y="2"/>
                  </a:lnTo>
                  <a:lnTo>
                    <a:pt x="269" y="0"/>
                  </a:lnTo>
                  <a:lnTo>
                    <a:pt x="269" y="0"/>
                  </a:lnTo>
                  <a:lnTo>
                    <a:pt x="267" y="0"/>
                  </a:lnTo>
                  <a:lnTo>
                    <a:pt x="267" y="0"/>
                  </a:lnTo>
                  <a:lnTo>
                    <a:pt x="263" y="0"/>
                  </a:lnTo>
                  <a:lnTo>
                    <a:pt x="263" y="0"/>
                  </a:lnTo>
                  <a:lnTo>
                    <a:pt x="249" y="2"/>
                  </a:lnTo>
                  <a:lnTo>
                    <a:pt x="233" y="3"/>
                  </a:lnTo>
                  <a:lnTo>
                    <a:pt x="219" y="5"/>
                  </a:lnTo>
                  <a:lnTo>
                    <a:pt x="204" y="9"/>
                  </a:lnTo>
                  <a:lnTo>
                    <a:pt x="190" y="14"/>
                  </a:lnTo>
                  <a:lnTo>
                    <a:pt x="176" y="20"/>
                  </a:lnTo>
                  <a:lnTo>
                    <a:pt x="163" y="26"/>
                  </a:lnTo>
                  <a:lnTo>
                    <a:pt x="151" y="33"/>
                  </a:lnTo>
                  <a:lnTo>
                    <a:pt x="151" y="33"/>
                  </a:lnTo>
                  <a:lnTo>
                    <a:pt x="150" y="32"/>
                  </a:lnTo>
                  <a:lnTo>
                    <a:pt x="147" y="28"/>
                  </a:lnTo>
                  <a:lnTo>
                    <a:pt x="140" y="23"/>
                  </a:lnTo>
                  <a:lnTo>
                    <a:pt x="129" y="17"/>
                  </a:lnTo>
                  <a:lnTo>
                    <a:pt x="110" y="12"/>
                  </a:lnTo>
                  <a:lnTo>
                    <a:pt x="83" y="8"/>
                  </a:lnTo>
                  <a:lnTo>
                    <a:pt x="47" y="5"/>
                  </a:lnTo>
                  <a:lnTo>
                    <a:pt x="0" y="4"/>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6" name="Rectangle 38">
              <a:extLst>
                <a:ext uri="{FF2B5EF4-FFF2-40B4-BE49-F238E27FC236}">
                  <a16:creationId xmlns:a16="http://schemas.microsoft.com/office/drawing/2014/main" id="{7A1E611A-7396-4348-9833-DF2570E30092}"/>
                </a:ext>
              </a:extLst>
            </p:cNvPr>
            <p:cNvSpPr>
              <a:spLocks noChangeArrowheads="1"/>
            </p:cNvSpPr>
            <p:nvPr/>
          </p:nvSpPr>
          <p:spPr bwMode="auto">
            <a:xfrm>
              <a:off x="2168526" y="952501"/>
              <a:ext cx="120650" cy="336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7" name="Freeform 39">
              <a:extLst>
                <a:ext uri="{FF2B5EF4-FFF2-40B4-BE49-F238E27FC236}">
                  <a16:creationId xmlns:a16="http://schemas.microsoft.com/office/drawing/2014/main" id="{C08C88CC-0CC4-9F48-9CF6-FC77117524A1}"/>
                </a:ext>
              </a:extLst>
            </p:cNvPr>
            <p:cNvSpPr>
              <a:spLocks/>
            </p:cNvSpPr>
            <p:nvPr/>
          </p:nvSpPr>
          <p:spPr bwMode="auto">
            <a:xfrm>
              <a:off x="2820988" y="946151"/>
              <a:ext cx="252413" cy="342900"/>
            </a:xfrm>
            <a:custGeom>
              <a:avLst/>
              <a:gdLst>
                <a:gd name="T0" fmla="*/ 0 w 319"/>
                <a:gd name="T1" fmla="*/ 432 h 432"/>
                <a:gd name="T2" fmla="*/ 151 w 319"/>
                <a:gd name="T3" fmla="*/ 432 h 432"/>
                <a:gd name="T4" fmla="*/ 151 w 319"/>
                <a:gd name="T5" fmla="*/ 175 h 432"/>
                <a:gd name="T6" fmla="*/ 151 w 319"/>
                <a:gd name="T7" fmla="*/ 175 h 432"/>
                <a:gd name="T8" fmla="*/ 152 w 319"/>
                <a:gd name="T9" fmla="*/ 167 h 432"/>
                <a:gd name="T10" fmla="*/ 153 w 319"/>
                <a:gd name="T11" fmla="*/ 159 h 432"/>
                <a:gd name="T12" fmla="*/ 156 w 319"/>
                <a:gd name="T13" fmla="*/ 153 h 432"/>
                <a:gd name="T14" fmla="*/ 159 w 319"/>
                <a:gd name="T15" fmla="*/ 146 h 432"/>
                <a:gd name="T16" fmla="*/ 164 w 319"/>
                <a:gd name="T17" fmla="*/ 140 h 432"/>
                <a:gd name="T18" fmla="*/ 169 w 319"/>
                <a:gd name="T19" fmla="*/ 134 h 432"/>
                <a:gd name="T20" fmla="*/ 175 w 319"/>
                <a:gd name="T21" fmla="*/ 128 h 432"/>
                <a:gd name="T22" fmla="*/ 181 w 319"/>
                <a:gd name="T23" fmla="*/ 123 h 432"/>
                <a:gd name="T24" fmla="*/ 196 w 319"/>
                <a:gd name="T25" fmla="*/ 114 h 432"/>
                <a:gd name="T26" fmla="*/ 213 w 319"/>
                <a:gd name="T27" fmla="*/ 107 h 432"/>
                <a:gd name="T28" fmla="*/ 231 w 319"/>
                <a:gd name="T29" fmla="*/ 103 h 432"/>
                <a:gd name="T30" fmla="*/ 240 w 319"/>
                <a:gd name="T31" fmla="*/ 101 h 432"/>
                <a:gd name="T32" fmla="*/ 250 w 319"/>
                <a:gd name="T33" fmla="*/ 101 h 432"/>
                <a:gd name="T34" fmla="*/ 250 w 319"/>
                <a:gd name="T35" fmla="*/ 101 h 432"/>
                <a:gd name="T36" fmla="*/ 268 w 319"/>
                <a:gd name="T37" fmla="*/ 103 h 432"/>
                <a:gd name="T38" fmla="*/ 286 w 319"/>
                <a:gd name="T39" fmla="*/ 105 h 432"/>
                <a:gd name="T40" fmla="*/ 303 w 319"/>
                <a:gd name="T41" fmla="*/ 110 h 432"/>
                <a:gd name="T42" fmla="*/ 319 w 319"/>
                <a:gd name="T43" fmla="*/ 116 h 432"/>
                <a:gd name="T44" fmla="*/ 319 w 319"/>
                <a:gd name="T45" fmla="*/ 116 h 432"/>
                <a:gd name="T46" fmla="*/ 319 w 319"/>
                <a:gd name="T47" fmla="*/ 4 h 432"/>
                <a:gd name="T48" fmla="*/ 319 w 319"/>
                <a:gd name="T49" fmla="*/ 4 h 432"/>
                <a:gd name="T50" fmla="*/ 291 w 319"/>
                <a:gd name="T51" fmla="*/ 1 h 432"/>
                <a:gd name="T52" fmla="*/ 265 w 319"/>
                <a:gd name="T53" fmla="*/ 0 h 432"/>
                <a:gd name="T54" fmla="*/ 265 w 319"/>
                <a:gd name="T55" fmla="*/ 0 h 432"/>
                <a:gd name="T56" fmla="*/ 250 w 319"/>
                <a:gd name="T57" fmla="*/ 0 h 432"/>
                <a:gd name="T58" fmla="*/ 234 w 319"/>
                <a:gd name="T59" fmla="*/ 2 h 432"/>
                <a:gd name="T60" fmla="*/ 220 w 319"/>
                <a:gd name="T61" fmla="*/ 5 h 432"/>
                <a:gd name="T62" fmla="*/ 205 w 319"/>
                <a:gd name="T63" fmla="*/ 8 h 432"/>
                <a:gd name="T64" fmla="*/ 191 w 319"/>
                <a:gd name="T65" fmla="*/ 12 h 432"/>
                <a:gd name="T66" fmla="*/ 176 w 319"/>
                <a:gd name="T67" fmla="*/ 18 h 432"/>
                <a:gd name="T68" fmla="*/ 163 w 319"/>
                <a:gd name="T69" fmla="*/ 24 h 432"/>
                <a:gd name="T70" fmla="*/ 151 w 319"/>
                <a:gd name="T71" fmla="*/ 31 h 432"/>
                <a:gd name="T72" fmla="*/ 151 w 319"/>
                <a:gd name="T73" fmla="*/ 31 h 432"/>
                <a:gd name="T74" fmla="*/ 149 w 319"/>
                <a:gd name="T75" fmla="*/ 29 h 432"/>
                <a:gd name="T76" fmla="*/ 144 w 319"/>
                <a:gd name="T77" fmla="*/ 24 h 432"/>
                <a:gd name="T78" fmla="*/ 137 w 319"/>
                <a:gd name="T79" fmla="*/ 19 h 432"/>
                <a:gd name="T80" fmla="*/ 123 w 319"/>
                <a:gd name="T81" fmla="*/ 15 h 432"/>
                <a:gd name="T82" fmla="*/ 104 w 319"/>
                <a:gd name="T83" fmla="*/ 10 h 432"/>
                <a:gd name="T84" fmla="*/ 79 w 319"/>
                <a:gd name="T85" fmla="*/ 6 h 432"/>
                <a:gd name="T86" fmla="*/ 44 w 319"/>
                <a:gd name="T87" fmla="*/ 4 h 432"/>
                <a:gd name="T88" fmla="*/ 0 w 319"/>
                <a:gd name="T89" fmla="*/ 2 h 432"/>
                <a:gd name="T90" fmla="*/ 0 w 319"/>
                <a:gd name="T91" fmla="*/ 43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9" h="432">
                  <a:moveTo>
                    <a:pt x="0" y="432"/>
                  </a:moveTo>
                  <a:lnTo>
                    <a:pt x="151" y="432"/>
                  </a:lnTo>
                  <a:lnTo>
                    <a:pt x="151" y="175"/>
                  </a:lnTo>
                  <a:lnTo>
                    <a:pt x="151" y="175"/>
                  </a:lnTo>
                  <a:lnTo>
                    <a:pt x="152" y="167"/>
                  </a:lnTo>
                  <a:lnTo>
                    <a:pt x="153" y="159"/>
                  </a:lnTo>
                  <a:lnTo>
                    <a:pt x="156" y="153"/>
                  </a:lnTo>
                  <a:lnTo>
                    <a:pt x="159" y="146"/>
                  </a:lnTo>
                  <a:lnTo>
                    <a:pt x="164" y="140"/>
                  </a:lnTo>
                  <a:lnTo>
                    <a:pt x="169" y="134"/>
                  </a:lnTo>
                  <a:lnTo>
                    <a:pt x="175" y="128"/>
                  </a:lnTo>
                  <a:lnTo>
                    <a:pt x="181" y="123"/>
                  </a:lnTo>
                  <a:lnTo>
                    <a:pt x="196" y="114"/>
                  </a:lnTo>
                  <a:lnTo>
                    <a:pt x="213" y="107"/>
                  </a:lnTo>
                  <a:lnTo>
                    <a:pt x="231" y="103"/>
                  </a:lnTo>
                  <a:lnTo>
                    <a:pt x="240" y="101"/>
                  </a:lnTo>
                  <a:lnTo>
                    <a:pt x="250" y="101"/>
                  </a:lnTo>
                  <a:lnTo>
                    <a:pt x="250" y="101"/>
                  </a:lnTo>
                  <a:lnTo>
                    <a:pt x="268" y="103"/>
                  </a:lnTo>
                  <a:lnTo>
                    <a:pt x="286" y="105"/>
                  </a:lnTo>
                  <a:lnTo>
                    <a:pt x="303" y="110"/>
                  </a:lnTo>
                  <a:lnTo>
                    <a:pt x="319" y="116"/>
                  </a:lnTo>
                  <a:lnTo>
                    <a:pt x="319" y="116"/>
                  </a:lnTo>
                  <a:lnTo>
                    <a:pt x="319" y="4"/>
                  </a:lnTo>
                  <a:lnTo>
                    <a:pt x="319" y="4"/>
                  </a:lnTo>
                  <a:lnTo>
                    <a:pt x="291" y="1"/>
                  </a:lnTo>
                  <a:lnTo>
                    <a:pt x="265" y="0"/>
                  </a:lnTo>
                  <a:lnTo>
                    <a:pt x="265" y="0"/>
                  </a:lnTo>
                  <a:lnTo>
                    <a:pt x="250" y="0"/>
                  </a:lnTo>
                  <a:lnTo>
                    <a:pt x="234" y="2"/>
                  </a:lnTo>
                  <a:lnTo>
                    <a:pt x="220" y="5"/>
                  </a:lnTo>
                  <a:lnTo>
                    <a:pt x="205" y="8"/>
                  </a:lnTo>
                  <a:lnTo>
                    <a:pt x="191" y="12"/>
                  </a:lnTo>
                  <a:lnTo>
                    <a:pt x="176" y="18"/>
                  </a:lnTo>
                  <a:lnTo>
                    <a:pt x="163" y="24"/>
                  </a:lnTo>
                  <a:lnTo>
                    <a:pt x="151" y="31"/>
                  </a:lnTo>
                  <a:lnTo>
                    <a:pt x="151" y="31"/>
                  </a:lnTo>
                  <a:lnTo>
                    <a:pt x="149" y="29"/>
                  </a:lnTo>
                  <a:lnTo>
                    <a:pt x="144" y="24"/>
                  </a:lnTo>
                  <a:lnTo>
                    <a:pt x="137" y="19"/>
                  </a:lnTo>
                  <a:lnTo>
                    <a:pt x="123" y="15"/>
                  </a:lnTo>
                  <a:lnTo>
                    <a:pt x="104" y="10"/>
                  </a:lnTo>
                  <a:lnTo>
                    <a:pt x="79" y="6"/>
                  </a:lnTo>
                  <a:lnTo>
                    <a:pt x="44" y="4"/>
                  </a:lnTo>
                  <a:lnTo>
                    <a:pt x="0" y="2"/>
                  </a:lnTo>
                  <a:lnTo>
                    <a:pt x="0" y="4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8" name="Freeform 40">
              <a:extLst>
                <a:ext uri="{FF2B5EF4-FFF2-40B4-BE49-F238E27FC236}">
                  <a16:creationId xmlns:a16="http://schemas.microsoft.com/office/drawing/2014/main" id="{7861F4F7-E45B-0B49-9A7A-C7DE7965C4FA}"/>
                </a:ext>
              </a:extLst>
            </p:cNvPr>
            <p:cNvSpPr>
              <a:spLocks/>
            </p:cNvSpPr>
            <p:nvPr/>
          </p:nvSpPr>
          <p:spPr bwMode="auto">
            <a:xfrm>
              <a:off x="1701801" y="677863"/>
              <a:ext cx="522288" cy="635000"/>
            </a:xfrm>
            <a:custGeom>
              <a:avLst/>
              <a:gdLst>
                <a:gd name="T0" fmla="*/ 635 w 658"/>
                <a:gd name="T1" fmla="*/ 37 h 800"/>
                <a:gd name="T2" fmla="*/ 614 w 658"/>
                <a:gd name="T3" fmla="*/ 19 h 800"/>
                <a:gd name="T4" fmla="*/ 587 w 658"/>
                <a:gd name="T5" fmla="*/ 7 h 800"/>
                <a:gd name="T6" fmla="*/ 529 w 658"/>
                <a:gd name="T7" fmla="*/ 0 h 800"/>
                <a:gd name="T8" fmla="*/ 442 w 658"/>
                <a:gd name="T9" fmla="*/ 11 h 800"/>
                <a:gd name="T10" fmla="*/ 337 w 658"/>
                <a:gd name="T11" fmla="*/ 43 h 800"/>
                <a:gd name="T12" fmla="*/ 218 w 658"/>
                <a:gd name="T13" fmla="*/ 95 h 800"/>
                <a:gd name="T14" fmla="*/ 161 w 658"/>
                <a:gd name="T15" fmla="*/ 126 h 800"/>
                <a:gd name="T16" fmla="*/ 146 w 658"/>
                <a:gd name="T17" fmla="*/ 135 h 800"/>
                <a:gd name="T18" fmla="*/ 144 w 658"/>
                <a:gd name="T19" fmla="*/ 142 h 800"/>
                <a:gd name="T20" fmla="*/ 152 w 658"/>
                <a:gd name="T21" fmla="*/ 142 h 800"/>
                <a:gd name="T22" fmla="*/ 181 w 658"/>
                <a:gd name="T23" fmla="*/ 132 h 800"/>
                <a:gd name="T24" fmla="*/ 244 w 658"/>
                <a:gd name="T25" fmla="*/ 104 h 800"/>
                <a:gd name="T26" fmla="*/ 331 w 658"/>
                <a:gd name="T27" fmla="*/ 74 h 800"/>
                <a:gd name="T28" fmla="*/ 407 w 658"/>
                <a:gd name="T29" fmla="*/ 59 h 800"/>
                <a:gd name="T30" fmla="*/ 470 w 658"/>
                <a:gd name="T31" fmla="*/ 59 h 800"/>
                <a:gd name="T32" fmla="*/ 518 w 658"/>
                <a:gd name="T33" fmla="*/ 74 h 800"/>
                <a:gd name="T34" fmla="*/ 541 w 658"/>
                <a:gd name="T35" fmla="*/ 92 h 800"/>
                <a:gd name="T36" fmla="*/ 558 w 658"/>
                <a:gd name="T37" fmla="*/ 121 h 800"/>
                <a:gd name="T38" fmla="*/ 562 w 658"/>
                <a:gd name="T39" fmla="*/ 159 h 800"/>
                <a:gd name="T40" fmla="*/ 554 w 658"/>
                <a:gd name="T41" fmla="*/ 206 h 800"/>
                <a:gd name="T42" fmla="*/ 535 w 658"/>
                <a:gd name="T43" fmla="*/ 258 h 800"/>
                <a:gd name="T44" fmla="*/ 506 w 658"/>
                <a:gd name="T45" fmla="*/ 316 h 800"/>
                <a:gd name="T46" fmla="*/ 436 w 658"/>
                <a:gd name="T47" fmla="*/ 420 h 800"/>
                <a:gd name="T48" fmla="*/ 320 w 658"/>
                <a:gd name="T49" fmla="*/ 551 h 800"/>
                <a:gd name="T50" fmla="*/ 225 w 658"/>
                <a:gd name="T51" fmla="*/ 634 h 800"/>
                <a:gd name="T52" fmla="*/ 173 w 658"/>
                <a:gd name="T53" fmla="*/ 675 h 800"/>
                <a:gd name="T54" fmla="*/ 39 w 658"/>
                <a:gd name="T55" fmla="*/ 767 h 800"/>
                <a:gd name="T56" fmla="*/ 31 w 658"/>
                <a:gd name="T57" fmla="*/ 771 h 800"/>
                <a:gd name="T58" fmla="*/ 2 w 658"/>
                <a:gd name="T59" fmla="*/ 794 h 800"/>
                <a:gd name="T60" fmla="*/ 3 w 658"/>
                <a:gd name="T61" fmla="*/ 799 h 800"/>
                <a:gd name="T62" fmla="*/ 11 w 658"/>
                <a:gd name="T63" fmla="*/ 798 h 800"/>
                <a:gd name="T64" fmla="*/ 38 w 658"/>
                <a:gd name="T65" fmla="*/ 785 h 800"/>
                <a:gd name="T66" fmla="*/ 45 w 658"/>
                <a:gd name="T67" fmla="*/ 780 h 800"/>
                <a:gd name="T68" fmla="*/ 195 w 658"/>
                <a:gd name="T69" fmla="*/ 680 h 800"/>
                <a:gd name="T70" fmla="*/ 301 w 658"/>
                <a:gd name="T71" fmla="*/ 601 h 800"/>
                <a:gd name="T72" fmla="*/ 455 w 658"/>
                <a:gd name="T73" fmla="*/ 461 h 800"/>
                <a:gd name="T74" fmla="*/ 515 w 658"/>
                <a:gd name="T75" fmla="*/ 396 h 800"/>
                <a:gd name="T76" fmla="*/ 585 w 658"/>
                <a:gd name="T77" fmla="*/ 303 h 800"/>
                <a:gd name="T78" fmla="*/ 632 w 658"/>
                <a:gd name="T79" fmla="*/ 216 h 800"/>
                <a:gd name="T80" fmla="*/ 656 w 658"/>
                <a:gd name="T81" fmla="*/ 141 h 800"/>
                <a:gd name="T82" fmla="*/ 657 w 658"/>
                <a:gd name="T83" fmla="*/ 87 h 800"/>
                <a:gd name="T84" fmla="*/ 650 w 658"/>
                <a:gd name="T85" fmla="*/ 60 h 800"/>
                <a:gd name="T86" fmla="*/ 640 w 658"/>
                <a:gd name="T87" fmla="*/ 45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8" h="800">
                  <a:moveTo>
                    <a:pt x="640" y="45"/>
                  </a:moveTo>
                  <a:lnTo>
                    <a:pt x="640" y="45"/>
                  </a:lnTo>
                  <a:lnTo>
                    <a:pt x="635" y="37"/>
                  </a:lnTo>
                  <a:lnTo>
                    <a:pt x="628" y="30"/>
                  </a:lnTo>
                  <a:lnTo>
                    <a:pt x="621" y="24"/>
                  </a:lnTo>
                  <a:lnTo>
                    <a:pt x="614" y="19"/>
                  </a:lnTo>
                  <a:lnTo>
                    <a:pt x="605" y="14"/>
                  </a:lnTo>
                  <a:lnTo>
                    <a:pt x="597" y="11"/>
                  </a:lnTo>
                  <a:lnTo>
                    <a:pt x="587" y="7"/>
                  </a:lnTo>
                  <a:lnTo>
                    <a:pt x="576" y="5"/>
                  </a:lnTo>
                  <a:lnTo>
                    <a:pt x="553" y="1"/>
                  </a:lnTo>
                  <a:lnTo>
                    <a:pt x="529" y="0"/>
                  </a:lnTo>
                  <a:lnTo>
                    <a:pt x="503" y="1"/>
                  </a:lnTo>
                  <a:lnTo>
                    <a:pt x="474" y="5"/>
                  </a:lnTo>
                  <a:lnTo>
                    <a:pt x="442" y="11"/>
                  </a:lnTo>
                  <a:lnTo>
                    <a:pt x="408" y="19"/>
                  </a:lnTo>
                  <a:lnTo>
                    <a:pt x="373" y="30"/>
                  </a:lnTo>
                  <a:lnTo>
                    <a:pt x="337" y="43"/>
                  </a:lnTo>
                  <a:lnTo>
                    <a:pt x="299" y="59"/>
                  </a:lnTo>
                  <a:lnTo>
                    <a:pt x="260" y="76"/>
                  </a:lnTo>
                  <a:lnTo>
                    <a:pt x="218" y="95"/>
                  </a:lnTo>
                  <a:lnTo>
                    <a:pt x="175" y="117"/>
                  </a:lnTo>
                  <a:lnTo>
                    <a:pt x="175" y="117"/>
                  </a:lnTo>
                  <a:lnTo>
                    <a:pt x="161" y="126"/>
                  </a:lnTo>
                  <a:lnTo>
                    <a:pt x="150" y="133"/>
                  </a:lnTo>
                  <a:lnTo>
                    <a:pt x="150" y="133"/>
                  </a:lnTo>
                  <a:lnTo>
                    <a:pt x="146" y="135"/>
                  </a:lnTo>
                  <a:lnTo>
                    <a:pt x="144" y="138"/>
                  </a:lnTo>
                  <a:lnTo>
                    <a:pt x="144" y="140"/>
                  </a:lnTo>
                  <a:lnTo>
                    <a:pt x="144" y="142"/>
                  </a:lnTo>
                  <a:lnTo>
                    <a:pt x="145" y="144"/>
                  </a:lnTo>
                  <a:lnTo>
                    <a:pt x="148" y="144"/>
                  </a:lnTo>
                  <a:lnTo>
                    <a:pt x="152" y="142"/>
                  </a:lnTo>
                  <a:lnTo>
                    <a:pt x="152" y="142"/>
                  </a:lnTo>
                  <a:lnTo>
                    <a:pt x="167" y="138"/>
                  </a:lnTo>
                  <a:lnTo>
                    <a:pt x="181" y="132"/>
                  </a:lnTo>
                  <a:lnTo>
                    <a:pt x="181" y="132"/>
                  </a:lnTo>
                  <a:lnTo>
                    <a:pt x="214" y="116"/>
                  </a:lnTo>
                  <a:lnTo>
                    <a:pt x="244" y="104"/>
                  </a:lnTo>
                  <a:lnTo>
                    <a:pt x="274" y="92"/>
                  </a:lnTo>
                  <a:lnTo>
                    <a:pt x="303" y="82"/>
                  </a:lnTo>
                  <a:lnTo>
                    <a:pt x="331" y="74"/>
                  </a:lnTo>
                  <a:lnTo>
                    <a:pt x="358" y="68"/>
                  </a:lnTo>
                  <a:lnTo>
                    <a:pt x="383" y="63"/>
                  </a:lnTo>
                  <a:lnTo>
                    <a:pt x="407" y="59"/>
                  </a:lnTo>
                  <a:lnTo>
                    <a:pt x="429" y="58"/>
                  </a:lnTo>
                  <a:lnTo>
                    <a:pt x="451" y="58"/>
                  </a:lnTo>
                  <a:lnTo>
                    <a:pt x="470" y="59"/>
                  </a:lnTo>
                  <a:lnTo>
                    <a:pt x="488" y="62"/>
                  </a:lnTo>
                  <a:lnTo>
                    <a:pt x="504" y="66"/>
                  </a:lnTo>
                  <a:lnTo>
                    <a:pt x="518" y="74"/>
                  </a:lnTo>
                  <a:lnTo>
                    <a:pt x="530" y="82"/>
                  </a:lnTo>
                  <a:lnTo>
                    <a:pt x="541" y="92"/>
                  </a:lnTo>
                  <a:lnTo>
                    <a:pt x="541" y="92"/>
                  </a:lnTo>
                  <a:lnTo>
                    <a:pt x="548" y="100"/>
                  </a:lnTo>
                  <a:lnTo>
                    <a:pt x="554" y="110"/>
                  </a:lnTo>
                  <a:lnTo>
                    <a:pt x="558" y="121"/>
                  </a:lnTo>
                  <a:lnTo>
                    <a:pt x="560" y="133"/>
                  </a:lnTo>
                  <a:lnTo>
                    <a:pt x="562" y="146"/>
                  </a:lnTo>
                  <a:lnTo>
                    <a:pt x="562" y="159"/>
                  </a:lnTo>
                  <a:lnTo>
                    <a:pt x="560" y="174"/>
                  </a:lnTo>
                  <a:lnTo>
                    <a:pt x="558" y="190"/>
                  </a:lnTo>
                  <a:lnTo>
                    <a:pt x="554" y="206"/>
                  </a:lnTo>
                  <a:lnTo>
                    <a:pt x="548" y="223"/>
                  </a:lnTo>
                  <a:lnTo>
                    <a:pt x="542" y="240"/>
                  </a:lnTo>
                  <a:lnTo>
                    <a:pt x="535" y="258"/>
                  </a:lnTo>
                  <a:lnTo>
                    <a:pt x="527" y="278"/>
                  </a:lnTo>
                  <a:lnTo>
                    <a:pt x="517" y="297"/>
                  </a:lnTo>
                  <a:lnTo>
                    <a:pt x="506" y="316"/>
                  </a:lnTo>
                  <a:lnTo>
                    <a:pt x="494" y="337"/>
                  </a:lnTo>
                  <a:lnTo>
                    <a:pt x="468" y="378"/>
                  </a:lnTo>
                  <a:lnTo>
                    <a:pt x="436" y="420"/>
                  </a:lnTo>
                  <a:lnTo>
                    <a:pt x="401" y="464"/>
                  </a:lnTo>
                  <a:lnTo>
                    <a:pt x="362" y="507"/>
                  </a:lnTo>
                  <a:lnTo>
                    <a:pt x="320" y="551"/>
                  </a:lnTo>
                  <a:lnTo>
                    <a:pt x="274" y="593"/>
                  </a:lnTo>
                  <a:lnTo>
                    <a:pt x="250" y="613"/>
                  </a:lnTo>
                  <a:lnTo>
                    <a:pt x="225" y="634"/>
                  </a:lnTo>
                  <a:lnTo>
                    <a:pt x="200" y="654"/>
                  </a:lnTo>
                  <a:lnTo>
                    <a:pt x="173" y="675"/>
                  </a:lnTo>
                  <a:lnTo>
                    <a:pt x="173" y="675"/>
                  </a:lnTo>
                  <a:lnTo>
                    <a:pt x="107" y="723"/>
                  </a:lnTo>
                  <a:lnTo>
                    <a:pt x="70" y="747"/>
                  </a:lnTo>
                  <a:lnTo>
                    <a:pt x="39" y="767"/>
                  </a:lnTo>
                  <a:lnTo>
                    <a:pt x="39" y="767"/>
                  </a:lnTo>
                  <a:lnTo>
                    <a:pt x="31" y="771"/>
                  </a:lnTo>
                  <a:lnTo>
                    <a:pt x="31" y="771"/>
                  </a:lnTo>
                  <a:lnTo>
                    <a:pt x="5" y="790"/>
                  </a:lnTo>
                  <a:lnTo>
                    <a:pt x="5" y="790"/>
                  </a:lnTo>
                  <a:lnTo>
                    <a:pt x="2" y="794"/>
                  </a:lnTo>
                  <a:lnTo>
                    <a:pt x="0" y="797"/>
                  </a:lnTo>
                  <a:lnTo>
                    <a:pt x="2" y="798"/>
                  </a:lnTo>
                  <a:lnTo>
                    <a:pt x="3" y="799"/>
                  </a:lnTo>
                  <a:lnTo>
                    <a:pt x="4" y="800"/>
                  </a:lnTo>
                  <a:lnTo>
                    <a:pt x="8" y="800"/>
                  </a:lnTo>
                  <a:lnTo>
                    <a:pt x="11" y="798"/>
                  </a:lnTo>
                  <a:lnTo>
                    <a:pt x="11" y="798"/>
                  </a:lnTo>
                  <a:lnTo>
                    <a:pt x="24" y="792"/>
                  </a:lnTo>
                  <a:lnTo>
                    <a:pt x="38" y="785"/>
                  </a:lnTo>
                  <a:lnTo>
                    <a:pt x="38" y="785"/>
                  </a:lnTo>
                  <a:lnTo>
                    <a:pt x="45" y="780"/>
                  </a:lnTo>
                  <a:lnTo>
                    <a:pt x="45" y="780"/>
                  </a:lnTo>
                  <a:lnTo>
                    <a:pt x="80" y="758"/>
                  </a:lnTo>
                  <a:lnTo>
                    <a:pt x="120" y="732"/>
                  </a:lnTo>
                  <a:lnTo>
                    <a:pt x="195" y="680"/>
                  </a:lnTo>
                  <a:lnTo>
                    <a:pt x="195" y="680"/>
                  </a:lnTo>
                  <a:lnTo>
                    <a:pt x="249" y="641"/>
                  </a:lnTo>
                  <a:lnTo>
                    <a:pt x="301" y="601"/>
                  </a:lnTo>
                  <a:lnTo>
                    <a:pt x="301" y="770"/>
                  </a:lnTo>
                  <a:lnTo>
                    <a:pt x="455" y="770"/>
                  </a:lnTo>
                  <a:lnTo>
                    <a:pt x="455" y="461"/>
                  </a:lnTo>
                  <a:lnTo>
                    <a:pt x="455" y="461"/>
                  </a:lnTo>
                  <a:lnTo>
                    <a:pt x="486" y="429"/>
                  </a:lnTo>
                  <a:lnTo>
                    <a:pt x="515" y="396"/>
                  </a:lnTo>
                  <a:lnTo>
                    <a:pt x="540" y="365"/>
                  </a:lnTo>
                  <a:lnTo>
                    <a:pt x="563" y="333"/>
                  </a:lnTo>
                  <a:lnTo>
                    <a:pt x="585" y="303"/>
                  </a:lnTo>
                  <a:lnTo>
                    <a:pt x="603" y="273"/>
                  </a:lnTo>
                  <a:lnTo>
                    <a:pt x="618" y="244"/>
                  </a:lnTo>
                  <a:lnTo>
                    <a:pt x="632" y="216"/>
                  </a:lnTo>
                  <a:lnTo>
                    <a:pt x="643" y="190"/>
                  </a:lnTo>
                  <a:lnTo>
                    <a:pt x="651" y="164"/>
                  </a:lnTo>
                  <a:lnTo>
                    <a:pt x="656" y="141"/>
                  </a:lnTo>
                  <a:lnTo>
                    <a:pt x="658" y="118"/>
                  </a:lnTo>
                  <a:lnTo>
                    <a:pt x="658" y="98"/>
                  </a:lnTo>
                  <a:lnTo>
                    <a:pt x="657" y="87"/>
                  </a:lnTo>
                  <a:lnTo>
                    <a:pt x="656" y="78"/>
                  </a:lnTo>
                  <a:lnTo>
                    <a:pt x="652" y="69"/>
                  </a:lnTo>
                  <a:lnTo>
                    <a:pt x="650" y="60"/>
                  </a:lnTo>
                  <a:lnTo>
                    <a:pt x="645" y="52"/>
                  </a:lnTo>
                  <a:lnTo>
                    <a:pt x="640" y="45"/>
                  </a:lnTo>
                  <a:lnTo>
                    <a:pt x="64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9" name="Freeform 41">
              <a:extLst>
                <a:ext uri="{FF2B5EF4-FFF2-40B4-BE49-F238E27FC236}">
                  <a16:creationId xmlns:a16="http://schemas.microsoft.com/office/drawing/2014/main" id="{EF813C41-655F-0844-8649-6427ECB59943}"/>
                </a:ext>
              </a:extLst>
            </p:cNvPr>
            <p:cNvSpPr>
              <a:spLocks/>
            </p:cNvSpPr>
            <p:nvPr/>
          </p:nvSpPr>
          <p:spPr bwMode="auto">
            <a:xfrm>
              <a:off x="1233488" y="814388"/>
              <a:ext cx="819150" cy="649288"/>
            </a:xfrm>
            <a:custGeom>
              <a:avLst/>
              <a:gdLst>
                <a:gd name="T0" fmla="*/ 442 w 1032"/>
                <a:gd name="T1" fmla="*/ 660 h 819"/>
                <a:gd name="T2" fmla="*/ 582 w 1032"/>
                <a:gd name="T3" fmla="*/ 569 h 819"/>
                <a:gd name="T4" fmla="*/ 598 w 1032"/>
                <a:gd name="T5" fmla="*/ 553 h 819"/>
                <a:gd name="T6" fmla="*/ 594 w 1032"/>
                <a:gd name="T7" fmla="*/ 549 h 819"/>
                <a:gd name="T8" fmla="*/ 560 w 1032"/>
                <a:gd name="T9" fmla="*/ 567 h 819"/>
                <a:gd name="T10" fmla="*/ 397 w 1032"/>
                <a:gd name="T11" fmla="*/ 661 h 819"/>
                <a:gd name="T12" fmla="*/ 264 w 1032"/>
                <a:gd name="T13" fmla="*/ 713 h 819"/>
                <a:gd name="T14" fmla="*/ 175 w 1032"/>
                <a:gd name="T15" fmla="*/ 722 h 819"/>
                <a:gd name="T16" fmla="*/ 138 w 1032"/>
                <a:gd name="T17" fmla="*/ 713 h 819"/>
                <a:gd name="T18" fmla="*/ 107 w 1032"/>
                <a:gd name="T19" fmla="*/ 692 h 819"/>
                <a:gd name="T20" fmla="*/ 94 w 1032"/>
                <a:gd name="T21" fmla="*/ 670 h 819"/>
                <a:gd name="T22" fmla="*/ 87 w 1032"/>
                <a:gd name="T23" fmla="*/ 639 h 819"/>
                <a:gd name="T24" fmla="*/ 106 w 1032"/>
                <a:gd name="T25" fmla="*/ 559 h 819"/>
                <a:gd name="T26" fmla="*/ 167 w 1032"/>
                <a:gd name="T27" fmla="*/ 463 h 819"/>
                <a:gd name="T28" fmla="*/ 260 w 1032"/>
                <a:gd name="T29" fmla="*/ 354 h 819"/>
                <a:gd name="T30" fmla="*/ 322 w 1032"/>
                <a:gd name="T31" fmla="*/ 668 h 819"/>
                <a:gd name="T32" fmla="*/ 442 w 1032"/>
                <a:gd name="T33" fmla="*/ 281 h 819"/>
                <a:gd name="T34" fmla="*/ 491 w 1032"/>
                <a:gd name="T35" fmla="*/ 381 h 819"/>
                <a:gd name="T36" fmla="*/ 530 w 1032"/>
                <a:gd name="T37" fmla="*/ 428 h 819"/>
                <a:gd name="T38" fmla="*/ 578 w 1032"/>
                <a:gd name="T39" fmla="*/ 460 h 819"/>
                <a:gd name="T40" fmla="*/ 635 w 1032"/>
                <a:gd name="T41" fmla="*/ 479 h 819"/>
                <a:gd name="T42" fmla="*/ 682 w 1032"/>
                <a:gd name="T43" fmla="*/ 480 h 819"/>
                <a:gd name="T44" fmla="*/ 741 w 1032"/>
                <a:gd name="T45" fmla="*/ 466 h 819"/>
                <a:gd name="T46" fmla="*/ 792 w 1032"/>
                <a:gd name="T47" fmla="*/ 437 h 819"/>
                <a:gd name="T48" fmla="*/ 833 w 1032"/>
                <a:gd name="T49" fmla="*/ 394 h 819"/>
                <a:gd name="T50" fmla="*/ 891 w 1032"/>
                <a:gd name="T51" fmla="*/ 281 h 819"/>
                <a:gd name="T52" fmla="*/ 967 w 1032"/>
                <a:gd name="T53" fmla="*/ 284 h 819"/>
                <a:gd name="T54" fmla="*/ 1029 w 1032"/>
                <a:gd name="T55" fmla="*/ 206 h 819"/>
                <a:gd name="T56" fmla="*/ 1031 w 1032"/>
                <a:gd name="T57" fmla="*/ 188 h 819"/>
                <a:gd name="T58" fmla="*/ 994 w 1032"/>
                <a:gd name="T59" fmla="*/ 139 h 819"/>
                <a:gd name="T60" fmla="*/ 939 w 1032"/>
                <a:gd name="T61" fmla="*/ 110 h 819"/>
                <a:gd name="T62" fmla="*/ 897 w 1032"/>
                <a:gd name="T63" fmla="*/ 104 h 819"/>
                <a:gd name="T64" fmla="*/ 866 w 1032"/>
                <a:gd name="T65" fmla="*/ 108 h 819"/>
                <a:gd name="T66" fmla="*/ 818 w 1032"/>
                <a:gd name="T67" fmla="*/ 127 h 819"/>
                <a:gd name="T68" fmla="*/ 764 w 1032"/>
                <a:gd name="T69" fmla="*/ 186 h 819"/>
                <a:gd name="T70" fmla="*/ 694 w 1032"/>
                <a:gd name="T71" fmla="*/ 332 h 819"/>
                <a:gd name="T72" fmla="*/ 666 w 1032"/>
                <a:gd name="T73" fmla="*/ 344 h 819"/>
                <a:gd name="T74" fmla="*/ 643 w 1032"/>
                <a:gd name="T75" fmla="*/ 336 h 819"/>
                <a:gd name="T76" fmla="*/ 569 w 1032"/>
                <a:gd name="T77" fmla="*/ 186 h 819"/>
                <a:gd name="T78" fmla="*/ 546 w 1032"/>
                <a:gd name="T79" fmla="*/ 153 h 819"/>
                <a:gd name="T80" fmla="*/ 549 w 1032"/>
                <a:gd name="T81" fmla="*/ 99 h 819"/>
                <a:gd name="T82" fmla="*/ 652 w 1032"/>
                <a:gd name="T83" fmla="*/ 28 h 819"/>
                <a:gd name="T84" fmla="*/ 682 w 1032"/>
                <a:gd name="T85" fmla="*/ 6 h 819"/>
                <a:gd name="T86" fmla="*/ 678 w 1032"/>
                <a:gd name="T87" fmla="*/ 0 h 819"/>
                <a:gd name="T88" fmla="*/ 658 w 1032"/>
                <a:gd name="T89" fmla="*/ 8 h 819"/>
                <a:gd name="T90" fmla="*/ 540 w 1032"/>
                <a:gd name="T91" fmla="*/ 80 h 819"/>
                <a:gd name="T92" fmla="*/ 489 w 1032"/>
                <a:gd name="T93" fmla="*/ 114 h 819"/>
                <a:gd name="T94" fmla="*/ 436 w 1032"/>
                <a:gd name="T95" fmla="*/ 104 h 819"/>
                <a:gd name="T96" fmla="*/ 391 w 1032"/>
                <a:gd name="T97" fmla="*/ 111 h 819"/>
                <a:gd name="T98" fmla="*/ 342 w 1032"/>
                <a:gd name="T99" fmla="*/ 138 h 819"/>
                <a:gd name="T100" fmla="*/ 305 w 1032"/>
                <a:gd name="T101" fmla="*/ 182 h 819"/>
                <a:gd name="T102" fmla="*/ 289 w 1032"/>
                <a:gd name="T103" fmla="*/ 237 h 819"/>
                <a:gd name="T104" fmla="*/ 249 w 1032"/>
                <a:gd name="T105" fmla="*/ 308 h 819"/>
                <a:gd name="T106" fmla="*/ 116 w 1032"/>
                <a:gd name="T107" fmla="*/ 451 h 819"/>
                <a:gd name="T108" fmla="*/ 31 w 1032"/>
                <a:gd name="T109" fmla="*/ 580 h 819"/>
                <a:gd name="T110" fmla="*/ 2 w 1032"/>
                <a:gd name="T111" fmla="*/ 662 h 819"/>
                <a:gd name="T112" fmla="*/ 1 w 1032"/>
                <a:gd name="T113" fmla="*/ 708 h 819"/>
                <a:gd name="T114" fmla="*/ 16 w 1032"/>
                <a:gd name="T115" fmla="*/ 745 h 819"/>
                <a:gd name="T116" fmla="*/ 46 w 1032"/>
                <a:gd name="T117" fmla="*/ 772 h 819"/>
                <a:gd name="T118" fmla="*/ 104 w 1032"/>
                <a:gd name="T119" fmla="*/ 786 h 819"/>
                <a:gd name="T120" fmla="*/ 179 w 1032"/>
                <a:gd name="T121" fmla="*/ 777 h 819"/>
                <a:gd name="T122" fmla="*/ 289 w 1032"/>
                <a:gd name="T123" fmla="*/ 739 h 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2" h="819">
                  <a:moveTo>
                    <a:pt x="289" y="819"/>
                  </a:moveTo>
                  <a:lnTo>
                    <a:pt x="442" y="819"/>
                  </a:lnTo>
                  <a:lnTo>
                    <a:pt x="442" y="660"/>
                  </a:lnTo>
                  <a:lnTo>
                    <a:pt x="442" y="660"/>
                  </a:lnTo>
                  <a:lnTo>
                    <a:pt x="506" y="620"/>
                  </a:lnTo>
                  <a:lnTo>
                    <a:pt x="569" y="579"/>
                  </a:lnTo>
                  <a:lnTo>
                    <a:pt x="569" y="579"/>
                  </a:lnTo>
                  <a:lnTo>
                    <a:pt x="582" y="569"/>
                  </a:lnTo>
                  <a:lnTo>
                    <a:pt x="593" y="559"/>
                  </a:lnTo>
                  <a:lnTo>
                    <a:pt x="593" y="559"/>
                  </a:lnTo>
                  <a:lnTo>
                    <a:pt x="596" y="557"/>
                  </a:lnTo>
                  <a:lnTo>
                    <a:pt x="598" y="553"/>
                  </a:lnTo>
                  <a:lnTo>
                    <a:pt x="598" y="551"/>
                  </a:lnTo>
                  <a:lnTo>
                    <a:pt x="598" y="550"/>
                  </a:lnTo>
                  <a:lnTo>
                    <a:pt x="595" y="549"/>
                  </a:lnTo>
                  <a:lnTo>
                    <a:pt x="594" y="549"/>
                  </a:lnTo>
                  <a:lnTo>
                    <a:pt x="588" y="550"/>
                  </a:lnTo>
                  <a:lnTo>
                    <a:pt x="588" y="550"/>
                  </a:lnTo>
                  <a:lnTo>
                    <a:pt x="560" y="567"/>
                  </a:lnTo>
                  <a:lnTo>
                    <a:pt x="560" y="567"/>
                  </a:lnTo>
                  <a:lnTo>
                    <a:pt x="517" y="593"/>
                  </a:lnTo>
                  <a:lnTo>
                    <a:pt x="474" y="619"/>
                  </a:lnTo>
                  <a:lnTo>
                    <a:pt x="435" y="640"/>
                  </a:lnTo>
                  <a:lnTo>
                    <a:pt x="397" y="661"/>
                  </a:lnTo>
                  <a:lnTo>
                    <a:pt x="361" y="678"/>
                  </a:lnTo>
                  <a:lnTo>
                    <a:pt x="326" y="692"/>
                  </a:lnTo>
                  <a:lnTo>
                    <a:pt x="295" y="703"/>
                  </a:lnTo>
                  <a:lnTo>
                    <a:pt x="264" y="713"/>
                  </a:lnTo>
                  <a:lnTo>
                    <a:pt x="237" y="719"/>
                  </a:lnTo>
                  <a:lnTo>
                    <a:pt x="210" y="722"/>
                  </a:lnTo>
                  <a:lnTo>
                    <a:pt x="187" y="724"/>
                  </a:lnTo>
                  <a:lnTo>
                    <a:pt x="175" y="722"/>
                  </a:lnTo>
                  <a:lnTo>
                    <a:pt x="165" y="721"/>
                  </a:lnTo>
                  <a:lnTo>
                    <a:pt x="156" y="720"/>
                  </a:lnTo>
                  <a:lnTo>
                    <a:pt x="146" y="716"/>
                  </a:lnTo>
                  <a:lnTo>
                    <a:pt x="138" y="713"/>
                  </a:lnTo>
                  <a:lnTo>
                    <a:pt x="129" y="709"/>
                  </a:lnTo>
                  <a:lnTo>
                    <a:pt x="121" y="704"/>
                  </a:lnTo>
                  <a:lnTo>
                    <a:pt x="115" y="698"/>
                  </a:lnTo>
                  <a:lnTo>
                    <a:pt x="107" y="692"/>
                  </a:lnTo>
                  <a:lnTo>
                    <a:pt x="101" y="685"/>
                  </a:lnTo>
                  <a:lnTo>
                    <a:pt x="101" y="685"/>
                  </a:lnTo>
                  <a:lnTo>
                    <a:pt x="98" y="678"/>
                  </a:lnTo>
                  <a:lnTo>
                    <a:pt x="94" y="670"/>
                  </a:lnTo>
                  <a:lnTo>
                    <a:pt x="91" y="663"/>
                  </a:lnTo>
                  <a:lnTo>
                    <a:pt x="89" y="655"/>
                  </a:lnTo>
                  <a:lnTo>
                    <a:pt x="87" y="648"/>
                  </a:lnTo>
                  <a:lnTo>
                    <a:pt x="87" y="639"/>
                  </a:lnTo>
                  <a:lnTo>
                    <a:pt x="88" y="621"/>
                  </a:lnTo>
                  <a:lnTo>
                    <a:pt x="92" y="602"/>
                  </a:lnTo>
                  <a:lnTo>
                    <a:pt x="98" y="581"/>
                  </a:lnTo>
                  <a:lnTo>
                    <a:pt x="106" y="559"/>
                  </a:lnTo>
                  <a:lnTo>
                    <a:pt x="118" y="536"/>
                  </a:lnTo>
                  <a:lnTo>
                    <a:pt x="132" y="512"/>
                  </a:lnTo>
                  <a:lnTo>
                    <a:pt x="148" y="488"/>
                  </a:lnTo>
                  <a:lnTo>
                    <a:pt x="167" y="463"/>
                  </a:lnTo>
                  <a:lnTo>
                    <a:pt x="187" y="436"/>
                  </a:lnTo>
                  <a:lnTo>
                    <a:pt x="210" y="410"/>
                  </a:lnTo>
                  <a:lnTo>
                    <a:pt x="234" y="383"/>
                  </a:lnTo>
                  <a:lnTo>
                    <a:pt x="260" y="354"/>
                  </a:lnTo>
                  <a:lnTo>
                    <a:pt x="289" y="326"/>
                  </a:lnTo>
                  <a:lnTo>
                    <a:pt x="289" y="681"/>
                  </a:lnTo>
                  <a:lnTo>
                    <a:pt x="289" y="681"/>
                  </a:lnTo>
                  <a:lnTo>
                    <a:pt x="322" y="668"/>
                  </a:lnTo>
                  <a:lnTo>
                    <a:pt x="359" y="652"/>
                  </a:lnTo>
                  <a:lnTo>
                    <a:pt x="400" y="633"/>
                  </a:lnTo>
                  <a:lnTo>
                    <a:pt x="442" y="610"/>
                  </a:lnTo>
                  <a:lnTo>
                    <a:pt x="442" y="281"/>
                  </a:lnTo>
                  <a:lnTo>
                    <a:pt x="476" y="353"/>
                  </a:lnTo>
                  <a:lnTo>
                    <a:pt x="476" y="353"/>
                  </a:lnTo>
                  <a:lnTo>
                    <a:pt x="483" y="367"/>
                  </a:lnTo>
                  <a:lnTo>
                    <a:pt x="491" y="381"/>
                  </a:lnTo>
                  <a:lnTo>
                    <a:pt x="500" y="394"/>
                  </a:lnTo>
                  <a:lnTo>
                    <a:pt x="509" y="406"/>
                  </a:lnTo>
                  <a:lnTo>
                    <a:pt x="519" y="418"/>
                  </a:lnTo>
                  <a:lnTo>
                    <a:pt x="530" y="428"/>
                  </a:lnTo>
                  <a:lnTo>
                    <a:pt x="541" y="437"/>
                  </a:lnTo>
                  <a:lnTo>
                    <a:pt x="553" y="446"/>
                  </a:lnTo>
                  <a:lnTo>
                    <a:pt x="565" y="454"/>
                  </a:lnTo>
                  <a:lnTo>
                    <a:pt x="578" y="460"/>
                  </a:lnTo>
                  <a:lnTo>
                    <a:pt x="592" y="466"/>
                  </a:lnTo>
                  <a:lnTo>
                    <a:pt x="606" y="471"/>
                  </a:lnTo>
                  <a:lnTo>
                    <a:pt x="621" y="475"/>
                  </a:lnTo>
                  <a:lnTo>
                    <a:pt x="635" y="479"/>
                  </a:lnTo>
                  <a:lnTo>
                    <a:pt x="651" y="480"/>
                  </a:lnTo>
                  <a:lnTo>
                    <a:pt x="666" y="480"/>
                  </a:lnTo>
                  <a:lnTo>
                    <a:pt x="666" y="480"/>
                  </a:lnTo>
                  <a:lnTo>
                    <a:pt x="682" y="480"/>
                  </a:lnTo>
                  <a:lnTo>
                    <a:pt x="698" y="479"/>
                  </a:lnTo>
                  <a:lnTo>
                    <a:pt x="712" y="475"/>
                  </a:lnTo>
                  <a:lnTo>
                    <a:pt x="727" y="471"/>
                  </a:lnTo>
                  <a:lnTo>
                    <a:pt x="741" y="466"/>
                  </a:lnTo>
                  <a:lnTo>
                    <a:pt x="755" y="460"/>
                  </a:lnTo>
                  <a:lnTo>
                    <a:pt x="768" y="454"/>
                  </a:lnTo>
                  <a:lnTo>
                    <a:pt x="780" y="446"/>
                  </a:lnTo>
                  <a:lnTo>
                    <a:pt x="792" y="437"/>
                  </a:lnTo>
                  <a:lnTo>
                    <a:pt x="803" y="428"/>
                  </a:lnTo>
                  <a:lnTo>
                    <a:pt x="814" y="418"/>
                  </a:lnTo>
                  <a:lnTo>
                    <a:pt x="823" y="406"/>
                  </a:lnTo>
                  <a:lnTo>
                    <a:pt x="833" y="394"/>
                  </a:lnTo>
                  <a:lnTo>
                    <a:pt x="841" y="381"/>
                  </a:lnTo>
                  <a:lnTo>
                    <a:pt x="850" y="367"/>
                  </a:lnTo>
                  <a:lnTo>
                    <a:pt x="857" y="353"/>
                  </a:lnTo>
                  <a:lnTo>
                    <a:pt x="891" y="281"/>
                  </a:lnTo>
                  <a:lnTo>
                    <a:pt x="891" y="365"/>
                  </a:lnTo>
                  <a:lnTo>
                    <a:pt x="891" y="365"/>
                  </a:lnTo>
                  <a:lnTo>
                    <a:pt x="931" y="324"/>
                  </a:lnTo>
                  <a:lnTo>
                    <a:pt x="967" y="284"/>
                  </a:lnTo>
                  <a:lnTo>
                    <a:pt x="1000" y="246"/>
                  </a:lnTo>
                  <a:lnTo>
                    <a:pt x="1015" y="225"/>
                  </a:lnTo>
                  <a:lnTo>
                    <a:pt x="1029" y="206"/>
                  </a:lnTo>
                  <a:lnTo>
                    <a:pt x="1029" y="206"/>
                  </a:lnTo>
                  <a:lnTo>
                    <a:pt x="1031" y="201"/>
                  </a:lnTo>
                  <a:lnTo>
                    <a:pt x="1032" y="197"/>
                  </a:lnTo>
                  <a:lnTo>
                    <a:pt x="1032" y="192"/>
                  </a:lnTo>
                  <a:lnTo>
                    <a:pt x="1031" y="188"/>
                  </a:lnTo>
                  <a:lnTo>
                    <a:pt x="1031" y="188"/>
                  </a:lnTo>
                  <a:lnTo>
                    <a:pt x="1020" y="171"/>
                  </a:lnTo>
                  <a:lnTo>
                    <a:pt x="1008" y="154"/>
                  </a:lnTo>
                  <a:lnTo>
                    <a:pt x="994" y="139"/>
                  </a:lnTo>
                  <a:lnTo>
                    <a:pt x="977" y="127"/>
                  </a:lnTo>
                  <a:lnTo>
                    <a:pt x="959" y="118"/>
                  </a:lnTo>
                  <a:lnTo>
                    <a:pt x="950" y="114"/>
                  </a:lnTo>
                  <a:lnTo>
                    <a:pt x="939" y="110"/>
                  </a:lnTo>
                  <a:lnTo>
                    <a:pt x="930" y="108"/>
                  </a:lnTo>
                  <a:lnTo>
                    <a:pt x="919" y="105"/>
                  </a:lnTo>
                  <a:lnTo>
                    <a:pt x="908" y="104"/>
                  </a:lnTo>
                  <a:lnTo>
                    <a:pt x="897" y="104"/>
                  </a:lnTo>
                  <a:lnTo>
                    <a:pt x="897" y="104"/>
                  </a:lnTo>
                  <a:lnTo>
                    <a:pt x="886" y="104"/>
                  </a:lnTo>
                  <a:lnTo>
                    <a:pt x="876" y="105"/>
                  </a:lnTo>
                  <a:lnTo>
                    <a:pt x="866" y="108"/>
                  </a:lnTo>
                  <a:lnTo>
                    <a:pt x="856" y="110"/>
                  </a:lnTo>
                  <a:lnTo>
                    <a:pt x="845" y="114"/>
                  </a:lnTo>
                  <a:lnTo>
                    <a:pt x="837" y="118"/>
                  </a:lnTo>
                  <a:lnTo>
                    <a:pt x="818" y="127"/>
                  </a:lnTo>
                  <a:lnTo>
                    <a:pt x="802" y="139"/>
                  </a:lnTo>
                  <a:lnTo>
                    <a:pt x="787" y="154"/>
                  </a:lnTo>
                  <a:lnTo>
                    <a:pt x="775" y="169"/>
                  </a:lnTo>
                  <a:lnTo>
                    <a:pt x="764" y="186"/>
                  </a:lnTo>
                  <a:lnTo>
                    <a:pt x="700" y="324"/>
                  </a:lnTo>
                  <a:lnTo>
                    <a:pt x="700" y="324"/>
                  </a:lnTo>
                  <a:lnTo>
                    <a:pt x="697" y="329"/>
                  </a:lnTo>
                  <a:lnTo>
                    <a:pt x="694" y="332"/>
                  </a:lnTo>
                  <a:lnTo>
                    <a:pt x="691" y="336"/>
                  </a:lnTo>
                  <a:lnTo>
                    <a:pt x="686" y="340"/>
                  </a:lnTo>
                  <a:lnTo>
                    <a:pt x="677" y="343"/>
                  </a:lnTo>
                  <a:lnTo>
                    <a:pt x="666" y="344"/>
                  </a:lnTo>
                  <a:lnTo>
                    <a:pt x="666" y="344"/>
                  </a:lnTo>
                  <a:lnTo>
                    <a:pt x="657" y="343"/>
                  </a:lnTo>
                  <a:lnTo>
                    <a:pt x="647" y="340"/>
                  </a:lnTo>
                  <a:lnTo>
                    <a:pt x="643" y="336"/>
                  </a:lnTo>
                  <a:lnTo>
                    <a:pt x="639" y="332"/>
                  </a:lnTo>
                  <a:lnTo>
                    <a:pt x="636" y="329"/>
                  </a:lnTo>
                  <a:lnTo>
                    <a:pt x="634" y="324"/>
                  </a:lnTo>
                  <a:lnTo>
                    <a:pt x="569" y="186"/>
                  </a:lnTo>
                  <a:lnTo>
                    <a:pt x="569" y="186"/>
                  </a:lnTo>
                  <a:lnTo>
                    <a:pt x="564" y="178"/>
                  </a:lnTo>
                  <a:lnTo>
                    <a:pt x="558" y="169"/>
                  </a:lnTo>
                  <a:lnTo>
                    <a:pt x="546" y="153"/>
                  </a:lnTo>
                  <a:lnTo>
                    <a:pt x="530" y="139"/>
                  </a:lnTo>
                  <a:lnTo>
                    <a:pt x="514" y="127"/>
                  </a:lnTo>
                  <a:lnTo>
                    <a:pt x="514" y="127"/>
                  </a:lnTo>
                  <a:lnTo>
                    <a:pt x="549" y="99"/>
                  </a:lnTo>
                  <a:lnTo>
                    <a:pt x="583" y="74"/>
                  </a:lnTo>
                  <a:lnTo>
                    <a:pt x="618" y="50"/>
                  </a:lnTo>
                  <a:lnTo>
                    <a:pt x="652" y="28"/>
                  </a:lnTo>
                  <a:lnTo>
                    <a:pt x="652" y="28"/>
                  </a:lnTo>
                  <a:lnTo>
                    <a:pt x="666" y="19"/>
                  </a:lnTo>
                  <a:lnTo>
                    <a:pt x="678" y="10"/>
                  </a:lnTo>
                  <a:lnTo>
                    <a:pt x="678" y="10"/>
                  </a:lnTo>
                  <a:lnTo>
                    <a:pt x="682" y="6"/>
                  </a:lnTo>
                  <a:lnTo>
                    <a:pt x="682" y="4"/>
                  </a:lnTo>
                  <a:lnTo>
                    <a:pt x="682" y="2"/>
                  </a:lnTo>
                  <a:lnTo>
                    <a:pt x="681" y="0"/>
                  </a:lnTo>
                  <a:lnTo>
                    <a:pt x="678" y="0"/>
                  </a:lnTo>
                  <a:lnTo>
                    <a:pt x="675" y="0"/>
                  </a:lnTo>
                  <a:lnTo>
                    <a:pt x="671" y="2"/>
                  </a:lnTo>
                  <a:lnTo>
                    <a:pt x="671" y="2"/>
                  </a:lnTo>
                  <a:lnTo>
                    <a:pt x="658" y="8"/>
                  </a:lnTo>
                  <a:lnTo>
                    <a:pt x="643" y="16"/>
                  </a:lnTo>
                  <a:lnTo>
                    <a:pt x="643" y="16"/>
                  </a:lnTo>
                  <a:lnTo>
                    <a:pt x="575" y="58"/>
                  </a:lnTo>
                  <a:lnTo>
                    <a:pt x="540" y="80"/>
                  </a:lnTo>
                  <a:lnTo>
                    <a:pt x="506" y="103"/>
                  </a:lnTo>
                  <a:lnTo>
                    <a:pt x="506" y="103"/>
                  </a:lnTo>
                  <a:lnTo>
                    <a:pt x="489" y="114"/>
                  </a:lnTo>
                  <a:lnTo>
                    <a:pt x="489" y="114"/>
                  </a:lnTo>
                  <a:lnTo>
                    <a:pt x="477" y="110"/>
                  </a:lnTo>
                  <a:lnTo>
                    <a:pt x="464" y="107"/>
                  </a:lnTo>
                  <a:lnTo>
                    <a:pt x="450" y="105"/>
                  </a:lnTo>
                  <a:lnTo>
                    <a:pt x="436" y="104"/>
                  </a:lnTo>
                  <a:lnTo>
                    <a:pt x="436" y="104"/>
                  </a:lnTo>
                  <a:lnTo>
                    <a:pt x="420" y="105"/>
                  </a:lnTo>
                  <a:lnTo>
                    <a:pt x="406" y="108"/>
                  </a:lnTo>
                  <a:lnTo>
                    <a:pt x="391" y="111"/>
                  </a:lnTo>
                  <a:lnTo>
                    <a:pt x="378" y="116"/>
                  </a:lnTo>
                  <a:lnTo>
                    <a:pt x="366" y="122"/>
                  </a:lnTo>
                  <a:lnTo>
                    <a:pt x="353" y="130"/>
                  </a:lnTo>
                  <a:lnTo>
                    <a:pt x="342" y="138"/>
                  </a:lnTo>
                  <a:lnTo>
                    <a:pt x="331" y="148"/>
                  </a:lnTo>
                  <a:lnTo>
                    <a:pt x="321" y="159"/>
                  </a:lnTo>
                  <a:lnTo>
                    <a:pt x="313" y="169"/>
                  </a:lnTo>
                  <a:lnTo>
                    <a:pt x="305" y="182"/>
                  </a:lnTo>
                  <a:lnTo>
                    <a:pt x="299" y="195"/>
                  </a:lnTo>
                  <a:lnTo>
                    <a:pt x="295" y="208"/>
                  </a:lnTo>
                  <a:lnTo>
                    <a:pt x="291" y="223"/>
                  </a:lnTo>
                  <a:lnTo>
                    <a:pt x="289" y="237"/>
                  </a:lnTo>
                  <a:lnTo>
                    <a:pt x="289" y="252"/>
                  </a:lnTo>
                  <a:lnTo>
                    <a:pt x="289" y="272"/>
                  </a:lnTo>
                  <a:lnTo>
                    <a:pt x="289" y="272"/>
                  </a:lnTo>
                  <a:lnTo>
                    <a:pt x="249" y="308"/>
                  </a:lnTo>
                  <a:lnTo>
                    <a:pt x="211" y="344"/>
                  </a:lnTo>
                  <a:lnTo>
                    <a:pt x="176" y="381"/>
                  </a:lnTo>
                  <a:lnTo>
                    <a:pt x="145" y="416"/>
                  </a:lnTo>
                  <a:lnTo>
                    <a:pt x="116" y="451"/>
                  </a:lnTo>
                  <a:lnTo>
                    <a:pt x="91" y="485"/>
                  </a:lnTo>
                  <a:lnTo>
                    <a:pt x="68" y="517"/>
                  </a:lnTo>
                  <a:lnTo>
                    <a:pt x="47" y="550"/>
                  </a:lnTo>
                  <a:lnTo>
                    <a:pt x="31" y="580"/>
                  </a:lnTo>
                  <a:lnTo>
                    <a:pt x="18" y="609"/>
                  </a:lnTo>
                  <a:lnTo>
                    <a:pt x="8" y="637"/>
                  </a:lnTo>
                  <a:lnTo>
                    <a:pt x="5" y="650"/>
                  </a:lnTo>
                  <a:lnTo>
                    <a:pt x="2" y="662"/>
                  </a:lnTo>
                  <a:lnTo>
                    <a:pt x="0" y="674"/>
                  </a:lnTo>
                  <a:lnTo>
                    <a:pt x="0" y="686"/>
                  </a:lnTo>
                  <a:lnTo>
                    <a:pt x="0" y="697"/>
                  </a:lnTo>
                  <a:lnTo>
                    <a:pt x="1" y="708"/>
                  </a:lnTo>
                  <a:lnTo>
                    <a:pt x="4" y="718"/>
                  </a:lnTo>
                  <a:lnTo>
                    <a:pt x="6" y="727"/>
                  </a:lnTo>
                  <a:lnTo>
                    <a:pt x="11" y="737"/>
                  </a:lnTo>
                  <a:lnTo>
                    <a:pt x="16" y="745"/>
                  </a:lnTo>
                  <a:lnTo>
                    <a:pt x="16" y="745"/>
                  </a:lnTo>
                  <a:lnTo>
                    <a:pt x="24" y="756"/>
                  </a:lnTo>
                  <a:lnTo>
                    <a:pt x="35" y="765"/>
                  </a:lnTo>
                  <a:lnTo>
                    <a:pt x="46" y="772"/>
                  </a:lnTo>
                  <a:lnTo>
                    <a:pt x="59" y="778"/>
                  </a:lnTo>
                  <a:lnTo>
                    <a:pt x="72" y="783"/>
                  </a:lnTo>
                  <a:lnTo>
                    <a:pt x="88" y="785"/>
                  </a:lnTo>
                  <a:lnTo>
                    <a:pt x="104" y="786"/>
                  </a:lnTo>
                  <a:lnTo>
                    <a:pt x="122" y="786"/>
                  </a:lnTo>
                  <a:lnTo>
                    <a:pt x="140" y="784"/>
                  </a:lnTo>
                  <a:lnTo>
                    <a:pt x="158" y="782"/>
                  </a:lnTo>
                  <a:lnTo>
                    <a:pt x="179" y="777"/>
                  </a:lnTo>
                  <a:lnTo>
                    <a:pt x="199" y="772"/>
                  </a:lnTo>
                  <a:lnTo>
                    <a:pt x="220" y="765"/>
                  </a:lnTo>
                  <a:lnTo>
                    <a:pt x="243" y="757"/>
                  </a:lnTo>
                  <a:lnTo>
                    <a:pt x="289" y="739"/>
                  </a:lnTo>
                  <a:lnTo>
                    <a:pt x="289" y="8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30" name="Freeform 42">
              <a:extLst>
                <a:ext uri="{FF2B5EF4-FFF2-40B4-BE49-F238E27FC236}">
                  <a16:creationId xmlns:a16="http://schemas.microsoft.com/office/drawing/2014/main" id="{BB12A395-DE4F-4344-8CDB-87D9E8955E23}"/>
                </a:ext>
              </a:extLst>
            </p:cNvPr>
            <p:cNvSpPr>
              <a:spLocks noEditPoints="1"/>
            </p:cNvSpPr>
            <p:nvPr/>
          </p:nvSpPr>
          <p:spPr bwMode="auto">
            <a:xfrm>
              <a:off x="4046538" y="938213"/>
              <a:ext cx="69850" cy="68263"/>
            </a:xfrm>
            <a:custGeom>
              <a:avLst/>
              <a:gdLst>
                <a:gd name="T0" fmla="*/ 0 w 87"/>
                <a:gd name="T1" fmla="*/ 44 h 87"/>
                <a:gd name="T2" fmla="*/ 4 w 87"/>
                <a:gd name="T3" fmla="*/ 27 h 87"/>
                <a:gd name="T4" fmla="*/ 14 w 87"/>
                <a:gd name="T5" fmla="*/ 12 h 87"/>
                <a:gd name="T6" fmla="*/ 27 w 87"/>
                <a:gd name="T7" fmla="*/ 4 h 87"/>
                <a:gd name="T8" fmla="*/ 44 w 87"/>
                <a:gd name="T9" fmla="*/ 0 h 87"/>
                <a:gd name="T10" fmla="*/ 52 w 87"/>
                <a:gd name="T11" fmla="*/ 0 h 87"/>
                <a:gd name="T12" fmla="*/ 68 w 87"/>
                <a:gd name="T13" fmla="*/ 7 h 87"/>
                <a:gd name="T14" fmla="*/ 80 w 87"/>
                <a:gd name="T15" fmla="*/ 19 h 87"/>
                <a:gd name="T16" fmla="*/ 86 w 87"/>
                <a:gd name="T17" fmla="*/ 35 h 87"/>
                <a:gd name="T18" fmla="*/ 87 w 87"/>
                <a:gd name="T19" fmla="*/ 44 h 87"/>
                <a:gd name="T20" fmla="*/ 84 w 87"/>
                <a:gd name="T21" fmla="*/ 61 h 87"/>
                <a:gd name="T22" fmla="*/ 75 w 87"/>
                <a:gd name="T23" fmla="*/ 74 h 87"/>
                <a:gd name="T24" fmla="*/ 61 w 87"/>
                <a:gd name="T25" fmla="*/ 83 h 87"/>
                <a:gd name="T26" fmla="*/ 44 w 87"/>
                <a:gd name="T27" fmla="*/ 87 h 87"/>
                <a:gd name="T28" fmla="*/ 35 w 87"/>
                <a:gd name="T29" fmla="*/ 86 h 87"/>
                <a:gd name="T30" fmla="*/ 20 w 87"/>
                <a:gd name="T31" fmla="*/ 80 h 87"/>
                <a:gd name="T32" fmla="*/ 8 w 87"/>
                <a:gd name="T33" fmla="*/ 68 h 87"/>
                <a:gd name="T34" fmla="*/ 2 w 87"/>
                <a:gd name="T35" fmla="*/ 52 h 87"/>
                <a:gd name="T36" fmla="*/ 0 w 87"/>
                <a:gd name="T37" fmla="*/ 44 h 87"/>
                <a:gd name="T38" fmla="*/ 76 w 87"/>
                <a:gd name="T39" fmla="*/ 44 h 87"/>
                <a:gd name="T40" fmla="*/ 74 w 87"/>
                <a:gd name="T41" fmla="*/ 29 h 87"/>
                <a:gd name="T42" fmla="*/ 67 w 87"/>
                <a:gd name="T43" fmla="*/ 18 h 87"/>
                <a:gd name="T44" fmla="*/ 57 w 87"/>
                <a:gd name="T45" fmla="*/ 11 h 87"/>
                <a:gd name="T46" fmla="*/ 44 w 87"/>
                <a:gd name="T47" fmla="*/ 9 h 87"/>
                <a:gd name="T48" fmla="*/ 38 w 87"/>
                <a:gd name="T49" fmla="*/ 9 h 87"/>
                <a:gd name="T50" fmla="*/ 26 w 87"/>
                <a:gd name="T51" fmla="*/ 13 h 87"/>
                <a:gd name="T52" fmla="*/ 16 w 87"/>
                <a:gd name="T53" fmla="*/ 23 h 87"/>
                <a:gd name="T54" fmla="*/ 11 w 87"/>
                <a:gd name="T55" fmla="*/ 36 h 87"/>
                <a:gd name="T56" fmla="*/ 11 w 87"/>
                <a:gd name="T57" fmla="*/ 44 h 87"/>
                <a:gd name="T58" fmla="*/ 14 w 87"/>
                <a:gd name="T59" fmla="*/ 57 h 87"/>
                <a:gd name="T60" fmla="*/ 21 w 87"/>
                <a:gd name="T61" fmla="*/ 69 h 87"/>
                <a:gd name="T62" fmla="*/ 31 w 87"/>
                <a:gd name="T63" fmla="*/ 76 h 87"/>
                <a:gd name="T64" fmla="*/ 44 w 87"/>
                <a:gd name="T65" fmla="*/ 79 h 87"/>
                <a:gd name="T66" fmla="*/ 51 w 87"/>
                <a:gd name="T67" fmla="*/ 77 h 87"/>
                <a:gd name="T68" fmla="*/ 62 w 87"/>
                <a:gd name="T69" fmla="*/ 73 h 87"/>
                <a:gd name="T70" fmla="*/ 72 w 87"/>
                <a:gd name="T71" fmla="*/ 63 h 87"/>
                <a:gd name="T72" fmla="*/ 76 w 87"/>
                <a:gd name="T73" fmla="*/ 51 h 87"/>
                <a:gd name="T74" fmla="*/ 76 w 87"/>
                <a:gd name="T75" fmla="*/ 44 h 87"/>
                <a:gd name="T76" fmla="*/ 45 w 87"/>
                <a:gd name="T77" fmla="*/ 18 h 87"/>
                <a:gd name="T78" fmla="*/ 53 w 87"/>
                <a:gd name="T79" fmla="*/ 19 h 87"/>
                <a:gd name="T80" fmla="*/ 61 w 87"/>
                <a:gd name="T81" fmla="*/ 24 h 87"/>
                <a:gd name="T82" fmla="*/ 63 w 87"/>
                <a:gd name="T83" fmla="*/ 33 h 87"/>
                <a:gd name="T84" fmla="*/ 63 w 87"/>
                <a:gd name="T85" fmla="*/ 39 h 87"/>
                <a:gd name="T86" fmla="*/ 56 w 87"/>
                <a:gd name="T87" fmla="*/ 45 h 87"/>
                <a:gd name="T88" fmla="*/ 64 w 87"/>
                <a:gd name="T89" fmla="*/ 68 h 87"/>
                <a:gd name="T90" fmla="*/ 41 w 87"/>
                <a:gd name="T91" fmla="*/ 47 h 87"/>
                <a:gd name="T92" fmla="*/ 37 w 87"/>
                <a:gd name="T93" fmla="*/ 68 h 87"/>
                <a:gd name="T94" fmla="*/ 27 w 87"/>
                <a:gd name="T95" fmla="*/ 18 h 87"/>
                <a:gd name="T96" fmla="*/ 44 w 87"/>
                <a:gd name="T97" fmla="*/ 40 h 87"/>
                <a:gd name="T98" fmla="*/ 49 w 87"/>
                <a:gd name="T99" fmla="*/ 40 h 87"/>
                <a:gd name="T100" fmla="*/ 53 w 87"/>
                <a:gd name="T101" fmla="*/ 36 h 87"/>
                <a:gd name="T102" fmla="*/ 55 w 87"/>
                <a:gd name="T103" fmla="*/ 33 h 87"/>
                <a:gd name="T104" fmla="*/ 51 w 87"/>
                <a:gd name="T105" fmla="*/ 27 h 87"/>
                <a:gd name="T106" fmla="*/ 45 w 87"/>
                <a:gd name="T107" fmla="*/ 26 h 87"/>
                <a:gd name="T108" fmla="*/ 37 w 87"/>
                <a:gd name="T109"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7" h="87">
                  <a:moveTo>
                    <a:pt x="0" y="44"/>
                  </a:moveTo>
                  <a:lnTo>
                    <a:pt x="0" y="44"/>
                  </a:lnTo>
                  <a:lnTo>
                    <a:pt x="2" y="35"/>
                  </a:lnTo>
                  <a:lnTo>
                    <a:pt x="4" y="27"/>
                  </a:lnTo>
                  <a:lnTo>
                    <a:pt x="8" y="19"/>
                  </a:lnTo>
                  <a:lnTo>
                    <a:pt x="14" y="12"/>
                  </a:lnTo>
                  <a:lnTo>
                    <a:pt x="20" y="7"/>
                  </a:lnTo>
                  <a:lnTo>
                    <a:pt x="27" y="4"/>
                  </a:lnTo>
                  <a:lnTo>
                    <a:pt x="35" y="0"/>
                  </a:lnTo>
                  <a:lnTo>
                    <a:pt x="44" y="0"/>
                  </a:lnTo>
                  <a:lnTo>
                    <a:pt x="44" y="0"/>
                  </a:lnTo>
                  <a:lnTo>
                    <a:pt x="52" y="0"/>
                  </a:lnTo>
                  <a:lnTo>
                    <a:pt x="61" y="4"/>
                  </a:lnTo>
                  <a:lnTo>
                    <a:pt x="68" y="7"/>
                  </a:lnTo>
                  <a:lnTo>
                    <a:pt x="75" y="12"/>
                  </a:lnTo>
                  <a:lnTo>
                    <a:pt x="80" y="19"/>
                  </a:lnTo>
                  <a:lnTo>
                    <a:pt x="84" y="27"/>
                  </a:lnTo>
                  <a:lnTo>
                    <a:pt x="86" y="35"/>
                  </a:lnTo>
                  <a:lnTo>
                    <a:pt x="87" y="44"/>
                  </a:lnTo>
                  <a:lnTo>
                    <a:pt x="87" y="44"/>
                  </a:lnTo>
                  <a:lnTo>
                    <a:pt x="86" y="52"/>
                  </a:lnTo>
                  <a:lnTo>
                    <a:pt x="84" y="61"/>
                  </a:lnTo>
                  <a:lnTo>
                    <a:pt x="80" y="68"/>
                  </a:lnTo>
                  <a:lnTo>
                    <a:pt x="75" y="74"/>
                  </a:lnTo>
                  <a:lnTo>
                    <a:pt x="68" y="80"/>
                  </a:lnTo>
                  <a:lnTo>
                    <a:pt x="61" y="83"/>
                  </a:lnTo>
                  <a:lnTo>
                    <a:pt x="52" y="86"/>
                  </a:lnTo>
                  <a:lnTo>
                    <a:pt x="44" y="87"/>
                  </a:lnTo>
                  <a:lnTo>
                    <a:pt x="44" y="87"/>
                  </a:lnTo>
                  <a:lnTo>
                    <a:pt x="35" y="86"/>
                  </a:lnTo>
                  <a:lnTo>
                    <a:pt x="27" y="83"/>
                  </a:lnTo>
                  <a:lnTo>
                    <a:pt x="20" y="80"/>
                  </a:lnTo>
                  <a:lnTo>
                    <a:pt x="14" y="74"/>
                  </a:lnTo>
                  <a:lnTo>
                    <a:pt x="8" y="68"/>
                  </a:lnTo>
                  <a:lnTo>
                    <a:pt x="4" y="61"/>
                  </a:lnTo>
                  <a:lnTo>
                    <a:pt x="2" y="52"/>
                  </a:lnTo>
                  <a:lnTo>
                    <a:pt x="0" y="44"/>
                  </a:lnTo>
                  <a:lnTo>
                    <a:pt x="0" y="44"/>
                  </a:lnTo>
                  <a:close/>
                  <a:moveTo>
                    <a:pt x="76" y="44"/>
                  </a:moveTo>
                  <a:lnTo>
                    <a:pt x="76" y="44"/>
                  </a:lnTo>
                  <a:lnTo>
                    <a:pt x="76" y="36"/>
                  </a:lnTo>
                  <a:lnTo>
                    <a:pt x="74" y="29"/>
                  </a:lnTo>
                  <a:lnTo>
                    <a:pt x="72" y="23"/>
                  </a:lnTo>
                  <a:lnTo>
                    <a:pt x="67" y="18"/>
                  </a:lnTo>
                  <a:lnTo>
                    <a:pt x="62" y="13"/>
                  </a:lnTo>
                  <a:lnTo>
                    <a:pt x="57" y="11"/>
                  </a:lnTo>
                  <a:lnTo>
                    <a:pt x="51" y="9"/>
                  </a:lnTo>
                  <a:lnTo>
                    <a:pt x="44" y="9"/>
                  </a:lnTo>
                  <a:lnTo>
                    <a:pt x="44" y="9"/>
                  </a:lnTo>
                  <a:lnTo>
                    <a:pt x="38" y="9"/>
                  </a:lnTo>
                  <a:lnTo>
                    <a:pt x="31" y="11"/>
                  </a:lnTo>
                  <a:lnTo>
                    <a:pt x="26" y="13"/>
                  </a:lnTo>
                  <a:lnTo>
                    <a:pt x="21" y="18"/>
                  </a:lnTo>
                  <a:lnTo>
                    <a:pt x="16" y="23"/>
                  </a:lnTo>
                  <a:lnTo>
                    <a:pt x="14" y="29"/>
                  </a:lnTo>
                  <a:lnTo>
                    <a:pt x="11" y="36"/>
                  </a:lnTo>
                  <a:lnTo>
                    <a:pt x="11" y="44"/>
                  </a:lnTo>
                  <a:lnTo>
                    <a:pt x="11" y="44"/>
                  </a:lnTo>
                  <a:lnTo>
                    <a:pt x="11" y="51"/>
                  </a:lnTo>
                  <a:lnTo>
                    <a:pt x="14" y="57"/>
                  </a:lnTo>
                  <a:lnTo>
                    <a:pt x="16" y="63"/>
                  </a:lnTo>
                  <a:lnTo>
                    <a:pt x="21" y="69"/>
                  </a:lnTo>
                  <a:lnTo>
                    <a:pt x="26" y="73"/>
                  </a:lnTo>
                  <a:lnTo>
                    <a:pt x="31" y="76"/>
                  </a:lnTo>
                  <a:lnTo>
                    <a:pt x="38" y="77"/>
                  </a:lnTo>
                  <a:lnTo>
                    <a:pt x="44" y="79"/>
                  </a:lnTo>
                  <a:lnTo>
                    <a:pt x="44" y="79"/>
                  </a:lnTo>
                  <a:lnTo>
                    <a:pt x="51" y="77"/>
                  </a:lnTo>
                  <a:lnTo>
                    <a:pt x="57" y="76"/>
                  </a:lnTo>
                  <a:lnTo>
                    <a:pt x="62" y="73"/>
                  </a:lnTo>
                  <a:lnTo>
                    <a:pt x="67" y="69"/>
                  </a:lnTo>
                  <a:lnTo>
                    <a:pt x="72" y="63"/>
                  </a:lnTo>
                  <a:lnTo>
                    <a:pt x="74" y="57"/>
                  </a:lnTo>
                  <a:lnTo>
                    <a:pt x="76" y="51"/>
                  </a:lnTo>
                  <a:lnTo>
                    <a:pt x="76" y="44"/>
                  </a:lnTo>
                  <a:lnTo>
                    <a:pt x="76" y="44"/>
                  </a:lnTo>
                  <a:close/>
                  <a:moveTo>
                    <a:pt x="27" y="18"/>
                  </a:moveTo>
                  <a:lnTo>
                    <a:pt x="45" y="18"/>
                  </a:lnTo>
                  <a:lnTo>
                    <a:pt x="45" y="18"/>
                  </a:lnTo>
                  <a:lnTo>
                    <a:pt x="53" y="19"/>
                  </a:lnTo>
                  <a:lnTo>
                    <a:pt x="60" y="22"/>
                  </a:lnTo>
                  <a:lnTo>
                    <a:pt x="61" y="24"/>
                  </a:lnTo>
                  <a:lnTo>
                    <a:pt x="62" y="27"/>
                  </a:lnTo>
                  <a:lnTo>
                    <a:pt x="63" y="33"/>
                  </a:lnTo>
                  <a:lnTo>
                    <a:pt x="63" y="33"/>
                  </a:lnTo>
                  <a:lnTo>
                    <a:pt x="63" y="39"/>
                  </a:lnTo>
                  <a:lnTo>
                    <a:pt x="61" y="42"/>
                  </a:lnTo>
                  <a:lnTo>
                    <a:pt x="56" y="45"/>
                  </a:lnTo>
                  <a:lnTo>
                    <a:pt x="51" y="46"/>
                  </a:lnTo>
                  <a:lnTo>
                    <a:pt x="64" y="68"/>
                  </a:lnTo>
                  <a:lnTo>
                    <a:pt x="55" y="68"/>
                  </a:lnTo>
                  <a:lnTo>
                    <a:pt x="41" y="47"/>
                  </a:lnTo>
                  <a:lnTo>
                    <a:pt x="37" y="47"/>
                  </a:lnTo>
                  <a:lnTo>
                    <a:pt x="37" y="68"/>
                  </a:lnTo>
                  <a:lnTo>
                    <a:pt x="27" y="68"/>
                  </a:lnTo>
                  <a:lnTo>
                    <a:pt x="27" y="18"/>
                  </a:lnTo>
                  <a:close/>
                  <a:moveTo>
                    <a:pt x="37" y="40"/>
                  </a:moveTo>
                  <a:lnTo>
                    <a:pt x="44" y="40"/>
                  </a:lnTo>
                  <a:lnTo>
                    <a:pt x="44" y="40"/>
                  </a:lnTo>
                  <a:lnTo>
                    <a:pt x="49" y="40"/>
                  </a:lnTo>
                  <a:lnTo>
                    <a:pt x="51" y="39"/>
                  </a:lnTo>
                  <a:lnTo>
                    <a:pt x="53" y="36"/>
                  </a:lnTo>
                  <a:lnTo>
                    <a:pt x="55" y="33"/>
                  </a:lnTo>
                  <a:lnTo>
                    <a:pt x="55" y="33"/>
                  </a:lnTo>
                  <a:lnTo>
                    <a:pt x="53" y="29"/>
                  </a:lnTo>
                  <a:lnTo>
                    <a:pt x="51" y="27"/>
                  </a:lnTo>
                  <a:lnTo>
                    <a:pt x="49" y="26"/>
                  </a:lnTo>
                  <a:lnTo>
                    <a:pt x="45" y="26"/>
                  </a:lnTo>
                  <a:lnTo>
                    <a:pt x="37" y="26"/>
                  </a:lnTo>
                  <a:lnTo>
                    <a:pt x="3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grpSp>
      <p:sp>
        <p:nvSpPr>
          <p:cNvPr id="18" name="TextBox 5">
            <a:extLst>
              <a:ext uri="{FF2B5EF4-FFF2-40B4-BE49-F238E27FC236}">
                <a16:creationId xmlns:a16="http://schemas.microsoft.com/office/drawing/2014/main" id="{78A2FF77-470F-8745-90B4-062F94018D16}"/>
              </a:ext>
            </a:extLst>
          </p:cNvPr>
          <p:cNvSpPr txBox="1"/>
          <p:nvPr userDrawn="1"/>
        </p:nvSpPr>
        <p:spPr>
          <a:xfrm>
            <a:off x="342900" y="5662385"/>
            <a:ext cx="5538650" cy="5078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0" i="1" kern="1200" dirty="0">
                <a:solidFill>
                  <a:schemeClr val="tx1"/>
                </a:solidFill>
                <a:effectLst/>
                <a:latin typeface="+mn-lt"/>
                <a:ea typeface="+mn-ea"/>
                <a:cs typeface="+mn-cs"/>
              </a:rPr>
              <a:t>© 2022 Micron Technology, Inc. All rights reserved. Information, products, and/or specifications are subject to change without notice. Micron, the Micron logo, and all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3716643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FD57781F-318C-504B-B4FE-4D4F722BE1F8}"/>
              </a:ext>
            </a:extLst>
          </p:cNvPr>
          <p:cNvSpPr/>
          <p:nvPr userDrawn="1"/>
        </p:nvSpPr>
        <p:spPr>
          <a:xfrm>
            <a:off x="0" y="0"/>
            <a:ext cx="8710613" cy="6858000"/>
          </a:xfrm>
          <a:prstGeom prst="rect">
            <a:avLst/>
          </a:prstGeom>
          <a:gradFill flip="none" rotWithShape="1">
            <a:gsLst>
              <a:gs pos="0">
                <a:schemeClr val="tx1">
                  <a:alpha val="60000"/>
                </a:schemeClr>
              </a:gs>
              <a:gs pos="100000">
                <a:schemeClr val="tx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791DB10C-0BFA-EA44-870C-0E8416B3613E}"/>
              </a:ext>
            </a:extLst>
          </p:cNvPr>
          <p:cNvSpPr>
            <a:spLocks noGrp="1"/>
          </p:cNvSpPr>
          <p:nvPr>
            <p:ph type="dt" sz="half" idx="10"/>
          </p:nvPr>
        </p:nvSpPr>
        <p:spPr/>
        <p:txBody>
          <a:bodyPr/>
          <a:lstStyle>
            <a:lvl1pPr>
              <a:defRPr>
                <a:solidFill>
                  <a:schemeClr val="bg1"/>
                </a:solidFill>
              </a:defRPr>
            </a:lvl1pPr>
          </a:lstStyle>
          <a:p>
            <a:fld id="{B8FDEC20-994C-6747-9500-226CB0C467E7}" type="datetime4">
              <a:rPr lang="en-US" smtClean="0"/>
              <a:pPr/>
              <a:t>June 9, 2023</a:t>
            </a:fld>
            <a:endParaRPr lang="en-US" dirty="0"/>
          </a:p>
        </p:txBody>
      </p:sp>
      <p:sp>
        <p:nvSpPr>
          <p:cNvPr id="4" name="Footer Placeholder 3">
            <a:extLst>
              <a:ext uri="{FF2B5EF4-FFF2-40B4-BE49-F238E27FC236}">
                <a16:creationId xmlns:a16="http://schemas.microsoft.com/office/drawing/2014/main" id="{6234B5B2-FA61-CA4F-ACE9-4BA473C55137}"/>
              </a:ext>
            </a:extLst>
          </p:cNvPr>
          <p:cNvSpPr>
            <a:spLocks noGrp="1"/>
          </p:cNvSpPr>
          <p:nvPr>
            <p:ph type="ftr" sz="quarter" idx="11"/>
          </p:nvPr>
        </p:nvSpPr>
        <p:spPr/>
        <p:txBody>
          <a:bodyPr/>
          <a:lstStyle>
            <a:lvl1pPr>
              <a:defRPr>
                <a:solidFill>
                  <a:schemeClr val="bg1"/>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A76EBA66-063E-2E41-B529-E6DC2A2818AD}"/>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
        <p:nvSpPr>
          <p:cNvPr id="7" name="Text Placeholder 6">
            <a:extLst>
              <a:ext uri="{FF2B5EF4-FFF2-40B4-BE49-F238E27FC236}">
                <a16:creationId xmlns:a16="http://schemas.microsoft.com/office/drawing/2014/main" id="{A223CD91-7639-5D42-A1A5-A065F2BC5901}"/>
              </a:ext>
            </a:extLst>
          </p:cNvPr>
          <p:cNvSpPr>
            <a:spLocks noGrp="1"/>
          </p:cNvSpPr>
          <p:nvPr>
            <p:ph type="body" sz="quarter" idx="24" hasCustomPrompt="1"/>
          </p:nvPr>
        </p:nvSpPr>
        <p:spPr>
          <a:xfrm>
            <a:off x="342900" y="3622381"/>
            <a:ext cx="11506200" cy="423863"/>
          </a:xfrm>
          <a:prstGeom prst="rect">
            <a:avLst/>
          </a:prstGeom>
        </p:spPr>
        <p:txBody>
          <a:bodyPr tIns="0" anchor="t">
            <a:noAutofit/>
          </a:bodyPr>
          <a:lstStyle>
            <a:lvl1pPr>
              <a:lnSpc>
                <a:spcPct val="80000"/>
              </a:lnSpc>
              <a:spcBef>
                <a:spcPts val="0"/>
              </a:spcBef>
              <a:buFontTx/>
              <a:buNone/>
              <a:defRPr sz="2800" b="1" spc="0">
                <a:solidFill>
                  <a:schemeClr val="bg1"/>
                </a:solidFill>
                <a:effectLst>
                  <a:outerShdw blurRad="38100" dist="12700" dir="5400000" algn="ctr" rotWithShape="0">
                    <a:srgbClr val="000000">
                      <a:alpha val="10000"/>
                    </a:srgbClr>
                  </a:outerShdw>
                </a:effectLst>
              </a:defRPr>
            </a:lvl1pPr>
            <a:lvl2pPr>
              <a:spcAft>
                <a:spcPts val="0"/>
              </a:spcAft>
              <a:buFontTx/>
              <a:buNone/>
              <a:defRPr sz="2800" b="1" spc="0">
                <a:solidFill>
                  <a:schemeClr val="bg1"/>
                </a:solidFill>
                <a:effectLst>
                  <a:outerShdw blurRad="38100" dist="12700" dir="5400000" algn="ctr" rotWithShape="0">
                    <a:srgbClr val="000000">
                      <a:alpha val="10000"/>
                    </a:srgbClr>
                  </a:outerShdw>
                </a:effectLst>
              </a:defRPr>
            </a:lvl2pPr>
            <a:lvl3pPr>
              <a:lnSpc>
                <a:spcPct val="100000"/>
              </a:lnSpc>
              <a:spcBef>
                <a:spcPts val="0"/>
              </a:spcBef>
              <a:buFontTx/>
              <a:buNone/>
              <a:defRPr sz="2800" b="1" spc="0">
                <a:solidFill>
                  <a:schemeClr val="bg1"/>
                </a:solidFill>
                <a:effectLst>
                  <a:outerShdw blurRad="38100" dist="12700" dir="5400000" algn="ctr" rotWithShape="0">
                    <a:srgbClr val="000000">
                      <a:alpha val="10000"/>
                    </a:srgbClr>
                  </a:outerShdw>
                </a:effectLst>
              </a:defRPr>
            </a:lvl3pPr>
            <a:lvl4pPr>
              <a:spcAft>
                <a:spcPts val="0"/>
              </a:spcAft>
              <a:buFontTx/>
              <a:buNone/>
              <a:defRPr sz="2800" b="1" spc="0">
                <a:solidFill>
                  <a:schemeClr val="bg1"/>
                </a:solidFill>
                <a:effectLst>
                  <a:outerShdw blurRad="38100" dist="12700" dir="5400000" algn="ctr" rotWithShape="0">
                    <a:srgbClr val="000000">
                      <a:alpha val="10000"/>
                    </a:srgbClr>
                  </a:outerShdw>
                </a:effectLst>
              </a:defRPr>
            </a:lvl4pPr>
            <a:lvl5pPr marL="0" indent="0">
              <a:spcAft>
                <a:spcPts val="0"/>
              </a:spcAft>
              <a:buFontTx/>
              <a:buNone/>
              <a:defRPr sz="2800" b="1" spc="0">
                <a:solidFill>
                  <a:schemeClr val="bg1"/>
                </a:solidFill>
                <a:effectLst>
                  <a:outerShdw blurRad="38100" dist="12700" dir="5400000" algn="ctr" rotWithShape="0">
                    <a:srgbClr val="000000">
                      <a:alpha val="10000"/>
                    </a:srgbClr>
                  </a:outerShdw>
                </a:effectLst>
              </a:defRPr>
            </a:lvl5pPr>
          </a:lstStyle>
          <a:p>
            <a:pPr lvl="0"/>
            <a:r>
              <a:rPr lang="en-US" dirty="0"/>
              <a:t>Subtitle</a:t>
            </a:r>
          </a:p>
        </p:txBody>
      </p:sp>
      <p:sp>
        <p:nvSpPr>
          <p:cNvPr id="8" name="Text Placeholder 9">
            <a:extLst>
              <a:ext uri="{FF2B5EF4-FFF2-40B4-BE49-F238E27FC236}">
                <a16:creationId xmlns:a16="http://schemas.microsoft.com/office/drawing/2014/main" id="{82FB3200-FC05-314C-817D-26A42C784B08}"/>
              </a:ext>
            </a:extLst>
          </p:cNvPr>
          <p:cNvSpPr>
            <a:spLocks noGrp="1"/>
          </p:cNvSpPr>
          <p:nvPr>
            <p:ph type="body" sz="quarter" idx="25" hasCustomPrompt="1"/>
          </p:nvPr>
        </p:nvSpPr>
        <p:spPr>
          <a:xfrm>
            <a:off x="342900" y="4070647"/>
            <a:ext cx="11506200" cy="898525"/>
          </a:xfrm>
          <a:prstGeom prst="rect">
            <a:avLst/>
          </a:prstGeom>
        </p:spPr>
        <p:txBody>
          <a:bodyPr>
            <a:noAutofit/>
          </a:bodyPr>
          <a:lstStyle>
            <a:lvl1pPr>
              <a:lnSpc>
                <a:spcPct val="100000"/>
              </a:lnSpc>
              <a:spcBef>
                <a:spcPts val="0"/>
              </a:spcBef>
              <a:buFontTx/>
              <a:buNone/>
              <a:defRPr sz="2400" b="0" spc="0">
                <a:solidFill>
                  <a:schemeClr val="bg1"/>
                </a:solidFill>
                <a:effectLst>
                  <a:outerShdw blurRad="38100" dist="12700" dir="5400000" algn="ctr" rotWithShape="0">
                    <a:srgbClr val="000000">
                      <a:alpha val="10000"/>
                    </a:srgbClr>
                  </a:outerShdw>
                </a:effectLst>
              </a:defRPr>
            </a:lvl1pPr>
            <a:lvl2pPr>
              <a:spcAft>
                <a:spcPts val="0"/>
              </a:spcAft>
              <a:buFontTx/>
              <a:buNone/>
              <a:defRPr sz="2400" b="0" spc="0">
                <a:solidFill>
                  <a:schemeClr val="bg1"/>
                </a:solidFill>
                <a:effectLst>
                  <a:outerShdw blurRad="38100" dist="12700" dir="5400000" algn="ctr" rotWithShape="0">
                    <a:srgbClr val="000000">
                      <a:alpha val="10000"/>
                    </a:srgbClr>
                  </a:outerShdw>
                </a:effectLst>
              </a:defRPr>
            </a:lvl2pPr>
            <a:lvl3pPr>
              <a:lnSpc>
                <a:spcPct val="100000"/>
              </a:lnSpc>
              <a:spcBef>
                <a:spcPts val="0"/>
              </a:spcBef>
              <a:buFontTx/>
              <a:buNone/>
              <a:defRPr sz="2400" b="0" spc="0">
                <a:solidFill>
                  <a:schemeClr val="bg1"/>
                </a:solidFill>
                <a:effectLst>
                  <a:outerShdw blurRad="38100" dist="12700" dir="5400000" algn="ctr" rotWithShape="0">
                    <a:srgbClr val="000000">
                      <a:alpha val="10000"/>
                    </a:srgbClr>
                  </a:outerShdw>
                </a:effectLst>
              </a:defRPr>
            </a:lvl3pPr>
            <a:lvl4pPr>
              <a:spcAft>
                <a:spcPts val="0"/>
              </a:spcAft>
              <a:buFontTx/>
              <a:buNone/>
              <a:defRPr sz="2400" b="0" spc="0">
                <a:solidFill>
                  <a:schemeClr val="bg1"/>
                </a:solidFill>
                <a:effectLst>
                  <a:outerShdw blurRad="38100" dist="12700" dir="5400000" algn="ctr" rotWithShape="0">
                    <a:srgbClr val="000000">
                      <a:alpha val="10000"/>
                    </a:srgbClr>
                  </a:outerShdw>
                </a:effectLst>
              </a:defRPr>
            </a:lvl4pPr>
            <a:lvl5pPr marL="0" indent="0">
              <a:spcAft>
                <a:spcPts val="0"/>
              </a:spcAft>
              <a:buFontTx/>
              <a:buNone/>
              <a:defRPr sz="2400" b="0" spc="0">
                <a:solidFill>
                  <a:schemeClr val="bg1"/>
                </a:solidFill>
                <a:effectLst>
                  <a:outerShdw blurRad="38100" dist="12700" dir="5400000" algn="ctr" rotWithShape="0">
                    <a:srgbClr val="000000">
                      <a:alpha val="10000"/>
                    </a:srgbClr>
                  </a:outerShdw>
                </a:effectLst>
              </a:defRPr>
            </a:lvl5pPr>
          </a:lstStyle>
          <a:p>
            <a:pPr lvl="0"/>
            <a:r>
              <a:rPr lang="en-US" dirty="0"/>
              <a:t>Speaker or date</a:t>
            </a:r>
          </a:p>
        </p:txBody>
      </p:sp>
      <p:sp>
        <p:nvSpPr>
          <p:cNvPr id="11" name="Title 5">
            <a:extLst>
              <a:ext uri="{FF2B5EF4-FFF2-40B4-BE49-F238E27FC236}">
                <a16:creationId xmlns:a16="http://schemas.microsoft.com/office/drawing/2014/main" id="{69ED4049-B7CA-DA44-9DB9-BBA76C135AE8}"/>
              </a:ext>
            </a:extLst>
          </p:cNvPr>
          <p:cNvSpPr>
            <a:spLocks noGrp="1"/>
          </p:cNvSpPr>
          <p:nvPr>
            <p:ph type="title" hasCustomPrompt="1"/>
          </p:nvPr>
        </p:nvSpPr>
        <p:spPr>
          <a:xfrm>
            <a:off x="342900" y="854777"/>
            <a:ext cx="11506200" cy="2743200"/>
          </a:xfrm>
        </p:spPr>
        <p:txBody>
          <a:bodyPr bIns="0" anchor="b">
            <a:noAutofit/>
          </a:bodyPr>
          <a:lstStyle>
            <a:lvl1pPr>
              <a:defRPr sz="5400" spc="-200" baseline="0">
                <a:solidFill>
                  <a:schemeClr val="bg1"/>
                </a:solidFill>
                <a:effectLst>
                  <a:outerShdw blurRad="38100" dist="12700" dir="5400000" algn="ctr" rotWithShape="0">
                    <a:srgbClr val="000000">
                      <a:alpha val="10000"/>
                    </a:srgbClr>
                  </a:outerShdw>
                </a:effectLst>
              </a:defRPr>
            </a:lvl1pPr>
          </a:lstStyle>
          <a:p>
            <a:r>
              <a:rPr lang="en-US" dirty="0"/>
              <a:t>Title</a:t>
            </a:r>
          </a:p>
        </p:txBody>
      </p:sp>
      <p:grpSp>
        <p:nvGrpSpPr>
          <p:cNvPr id="13" name="Group 12">
            <a:extLst>
              <a:ext uri="{FF2B5EF4-FFF2-40B4-BE49-F238E27FC236}">
                <a16:creationId xmlns:a16="http://schemas.microsoft.com/office/drawing/2014/main" id="{23DD6173-E698-614B-8F17-6AAD18AE435A}"/>
              </a:ext>
            </a:extLst>
          </p:cNvPr>
          <p:cNvGrpSpPr/>
          <p:nvPr userDrawn="1"/>
        </p:nvGrpSpPr>
        <p:grpSpPr>
          <a:xfrm>
            <a:off x="8761444" y="5451834"/>
            <a:ext cx="3023197" cy="824055"/>
            <a:chOff x="1233488" y="677863"/>
            <a:chExt cx="2882900" cy="785813"/>
          </a:xfrm>
          <a:solidFill>
            <a:schemeClr val="bg1"/>
          </a:solidFill>
        </p:grpSpPr>
        <p:sp>
          <p:nvSpPr>
            <p:cNvPr id="14" name="Freeform 35">
              <a:extLst>
                <a:ext uri="{FF2B5EF4-FFF2-40B4-BE49-F238E27FC236}">
                  <a16:creationId xmlns:a16="http://schemas.microsoft.com/office/drawing/2014/main" id="{349EA483-AACD-6D46-AF8B-2891771DF0B1}"/>
                </a:ext>
              </a:extLst>
            </p:cNvPr>
            <p:cNvSpPr>
              <a:spLocks/>
            </p:cNvSpPr>
            <p:nvPr/>
          </p:nvSpPr>
          <p:spPr bwMode="auto">
            <a:xfrm>
              <a:off x="2346326" y="944563"/>
              <a:ext cx="417513" cy="354013"/>
            </a:xfrm>
            <a:custGeom>
              <a:avLst/>
              <a:gdLst>
                <a:gd name="T0" fmla="*/ 310 w 525"/>
                <a:gd name="T1" fmla="*/ 445 h 445"/>
                <a:gd name="T2" fmla="*/ 250 w 525"/>
                <a:gd name="T3" fmla="*/ 440 h 445"/>
                <a:gd name="T4" fmla="*/ 193 w 525"/>
                <a:gd name="T5" fmla="*/ 428 h 445"/>
                <a:gd name="T6" fmla="*/ 140 w 525"/>
                <a:gd name="T7" fmla="*/ 409 h 445"/>
                <a:gd name="T8" fmla="*/ 94 w 525"/>
                <a:gd name="T9" fmla="*/ 383 h 445"/>
                <a:gd name="T10" fmla="*/ 55 w 525"/>
                <a:gd name="T11" fmla="*/ 350 h 445"/>
                <a:gd name="T12" fmla="*/ 25 w 525"/>
                <a:gd name="T13" fmla="*/ 313 h 445"/>
                <a:gd name="T14" fmla="*/ 14 w 525"/>
                <a:gd name="T15" fmla="*/ 291 h 445"/>
                <a:gd name="T16" fmla="*/ 7 w 525"/>
                <a:gd name="T17" fmla="*/ 269 h 445"/>
                <a:gd name="T18" fmla="*/ 1 w 525"/>
                <a:gd name="T19" fmla="*/ 246 h 445"/>
                <a:gd name="T20" fmla="*/ 0 w 525"/>
                <a:gd name="T21" fmla="*/ 222 h 445"/>
                <a:gd name="T22" fmla="*/ 0 w 525"/>
                <a:gd name="T23" fmla="*/ 210 h 445"/>
                <a:gd name="T24" fmla="*/ 3 w 525"/>
                <a:gd name="T25" fmla="*/ 187 h 445"/>
                <a:gd name="T26" fmla="*/ 11 w 525"/>
                <a:gd name="T27" fmla="*/ 164 h 445"/>
                <a:gd name="T28" fmla="*/ 19 w 525"/>
                <a:gd name="T29" fmla="*/ 143 h 445"/>
                <a:gd name="T30" fmla="*/ 38 w 525"/>
                <a:gd name="T31" fmla="*/ 113 h 445"/>
                <a:gd name="T32" fmla="*/ 73 w 525"/>
                <a:gd name="T33" fmla="*/ 78 h 445"/>
                <a:gd name="T34" fmla="*/ 116 w 525"/>
                <a:gd name="T35" fmla="*/ 48 h 445"/>
                <a:gd name="T36" fmla="*/ 166 w 525"/>
                <a:gd name="T37" fmla="*/ 25 h 445"/>
                <a:gd name="T38" fmla="*/ 221 w 525"/>
                <a:gd name="T39" fmla="*/ 9 h 445"/>
                <a:gd name="T40" fmla="*/ 281 w 525"/>
                <a:gd name="T41" fmla="*/ 1 h 445"/>
                <a:gd name="T42" fmla="*/ 311 w 525"/>
                <a:gd name="T43" fmla="*/ 0 h 445"/>
                <a:gd name="T44" fmla="*/ 364 w 525"/>
                <a:gd name="T45" fmla="*/ 3 h 445"/>
                <a:gd name="T46" fmla="*/ 416 w 525"/>
                <a:gd name="T47" fmla="*/ 14 h 445"/>
                <a:gd name="T48" fmla="*/ 468 w 525"/>
                <a:gd name="T49" fmla="*/ 32 h 445"/>
                <a:gd name="T50" fmla="*/ 523 w 525"/>
                <a:gd name="T51" fmla="*/ 58 h 445"/>
                <a:gd name="T52" fmla="*/ 471 w 525"/>
                <a:gd name="T53" fmla="*/ 124 h 445"/>
                <a:gd name="T54" fmla="*/ 434 w 525"/>
                <a:gd name="T55" fmla="*/ 108 h 445"/>
                <a:gd name="T56" fmla="*/ 396 w 525"/>
                <a:gd name="T57" fmla="*/ 98 h 445"/>
                <a:gd name="T58" fmla="*/ 355 w 525"/>
                <a:gd name="T59" fmla="*/ 90 h 445"/>
                <a:gd name="T60" fmla="*/ 311 w 525"/>
                <a:gd name="T61" fmla="*/ 88 h 445"/>
                <a:gd name="T62" fmla="*/ 298 w 525"/>
                <a:gd name="T63" fmla="*/ 89 h 445"/>
                <a:gd name="T64" fmla="*/ 271 w 525"/>
                <a:gd name="T65" fmla="*/ 93 h 445"/>
                <a:gd name="T66" fmla="*/ 246 w 525"/>
                <a:gd name="T67" fmla="*/ 100 h 445"/>
                <a:gd name="T68" fmla="*/ 222 w 525"/>
                <a:gd name="T69" fmla="*/ 112 h 445"/>
                <a:gd name="T70" fmla="*/ 200 w 525"/>
                <a:gd name="T71" fmla="*/ 128 h 445"/>
                <a:gd name="T72" fmla="*/ 182 w 525"/>
                <a:gd name="T73" fmla="*/ 150 h 445"/>
                <a:gd name="T74" fmla="*/ 170 w 525"/>
                <a:gd name="T75" fmla="*/ 175 h 445"/>
                <a:gd name="T76" fmla="*/ 163 w 525"/>
                <a:gd name="T77" fmla="*/ 205 h 445"/>
                <a:gd name="T78" fmla="*/ 162 w 525"/>
                <a:gd name="T79" fmla="*/ 222 h 445"/>
                <a:gd name="T80" fmla="*/ 165 w 525"/>
                <a:gd name="T81" fmla="*/ 256 h 445"/>
                <a:gd name="T82" fmla="*/ 175 w 525"/>
                <a:gd name="T83" fmla="*/ 284 h 445"/>
                <a:gd name="T84" fmla="*/ 191 w 525"/>
                <a:gd name="T85" fmla="*/ 306 h 445"/>
                <a:gd name="T86" fmla="*/ 210 w 525"/>
                <a:gd name="T87" fmla="*/ 326 h 445"/>
                <a:gd name="T88" fmla="*/ 233 w 525"/>
                <a:gd name="T89" fmla="*/ 339 h 445"/>
                <a:gd name="T90" fmla="*/ 258 w 525"/>
                <a:gd name="T91" fmla="*/ 349 h 445"/>
                <a:gd name="T92" fmla="*/ 285 w 525"/>
                <a:gd name="T93" fmla="*/ 355 h 445"/>
                <a:gd name="T94" fmla="*/ 311 w 525"/>
                <a:gd name="T95" fmla="*/ 357 h 445"/>
                <a:gd name="T96" fmla="*/ 333 w 525"/>
                <a:gd name="T97" fmla="*/ 356 h 445"/>
                <a:gd name="T98" fmla="*/ 375 w 525"/>
                <a:gd name="T99" fmla="*/ 352 h 445"/>
                <a:gd name="T100" fmla="*/ 416 w 525"/>
                <a:gd name="T101" fmla="*/ 344 h 445"/>
                <a:gd name="T102" fmla="*/ 455 w 525"/>
                <a:gd name="T103" fmla="*/ 332 h 445"/>
                <a:gd name="T104" fmla="*/ 525 w 525"/>
                <a:gd name="T105" fmla="*/ 393 h 445"/>
                <a:gd name="T106" fmla="*/ 501 w 525"/>
                <a:gd name="T107" fmla="*/ 405 h 445"/>
                <a:gd name="T108" fmla="*/ 451 w 525"/>
                <a:gd name="T109" fmla="*/ 425 h 445"/>
                <a:gd name="T110" fmla="*/ 397 w 525"/>
                <a:gd name="T111" fmla="*/ 438 h 445"/>
                <a:gd name="T112" fmla="*/ 340 w 525"/>
                <a:gd name="T113" fmla="*/ 444 h 445"/>
                <a:gd name="T114" fmla="*/ 310 w 525"/>
                <a:gd name="T115"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5" h="445">
                  <a:moveTo>
                    <a:pt x="310" y="445"/>
                  </a:moveTo>
                  <a:lnTo>
                    <a:pt x="310" y="445"/>
                  </a:lnTo>
                  <a:lnTo>
                    <a:pt x="280" y="444"/>
                  </a:lnTo>
                  <a:lnTo>
                    <a:pt x="250" y="440"/>
                  </a:lnTo>
                  <a:lnTo>
                    <a:pt x="221" y="436"/>
                  </a:lnTo>
                  <a:lnTo>
                    <a:pt x="193" y="428"/>
                  </a:lnTo>
                  <a:lnTo>
                    <a:pt x="165" y="420"/>
                  </a:lnTo>
                  <a:lnTo>
                    <a:pt x="140" y="409"/>
                  </a:lnTo>
                  <a:lnTo>
                    <a:pt x="116" y="397"/>
                  </a:lnTo>
                  <a:lnTo>
                    <a:pt x="94" y="383"/>
                  </a:lnTo>
                  <a:lnTo>
                    <a:pt x="73" y="367"/>
                  </a:lnTo>
                  <a:lnTo>
                    <a:pt x="55" y="350"/>
                  </a:lnTo>
                  <a:lnTo>
                    <a:pt x="38" y="332"/>
                  </a:lnTo>
                  <a:lnTo>
                    <a:pt x="25" y="313"/>
                  </a:lnTo>
                  <a:lnTo>
                    <a:pt x="19" y="302"/>
                  </a:lnTo>
                  <a:lnTo>
                    <a:pt x="14" y="291"/>
                  </a:lnTo>
                  <a:lnTo>
                    <a:pt x="11" y="280"/>
                  </a:lnTo>
                  <a:lnTo>
                    <a:pt x="7" y="269"/>
                  </a:lnTo>
                  <a:lnTo>
                    <a:pt x="3" y="258"/>
                  </a:lnTo>
                  <a:lnTo>
                    <a:pt x="1" y="246"/>
                  </a:lnTo>
                  <a:lnTo>
                    <a:pt x="0" y="234"/>
                  </a:lnTo>
                  <a:lnTo>
                    <a:pt x="0" y="222"/>
                  </a:lnTo>
                  <a:lnTo>
                    <a:pt x="0" y="222"/>
                  </a:lnTo>
                  <a:lnTo>
                    <a:pt x="0" y="210"/>
                  </a:lnTo>
                  <a:lnTo>
                    <a:pt x="1" y="199"/>
                  </a:lnTo>
                  <a:lnTo>
                    <a:pt x="3" y="187"/>
                  </a:lnTo>
                  <a:lnTo>
                    <a:pt x="7" y="176"/>
                  </a:lnTo>
                  <a:lnTo>
                    <a:pt x="11" y="164"/>
                  </a:lnTo>
                  <a:lnTo>
                    <a:pt x="14" y="153"/>
                  </a:lnTo>
                  <a:lnTo>
                    <a:pt x="19" y="143"/>
                  </a:lnTo>
                  <a:lnTo>
                    <a:pt x="25" y="133"/>
                  </a:lnTo>
                  <a:lnTo>
                    <a:pt x="38" y="113"/>
                  </a:lnTo>
                  <a:lnTo>
                    <a:pt x="55" y="95"/>
                  </a:lnTo>
                  <a:lnTo>
                    <a:pt x="73" y="78"/>
                  </a:lnTo>
                  <a:lnTo>
                    <a:pt x="94" y="63"/>
                  </a:lnTo>
                  <a:lnTo>
                    <a:pt x="116" y="48"/>
                  </a:lnTo>
                  <a:lnTo>
                    <a:pt x="140" y="36"/>
                  </a:lnTo>
                  <a:lnTo>
                    <a:pt x="166" y="25"/>
                  </a:lnTo>
                  <a:lnTo>
                    <a:pt x="193" y="17"/>
                  </a:lnTo>
                  <a:lnTo>
                    <a:pt x="221" y="9"/>
                  </a:lnTo>
                  <a:lnTo>
                    <a:pt x="251" y="3"/>
                  </a:lnTo>
                  <a:lnTo>
                    <a:pt x="281" y="1"/>
                  </a:lnTo>
                  <a:lnTo>
                    <a:pt x="311" y="0"/>
                  </a:lnTo>
                  <a:lnTo>
                    <a:pt x="311" y="0"/>
                  </a:lnTo>
                  <a:lnTo>
                    <a:pt x="338" y="1"/>
                  </a:lnTo>
                  <a:lnTo>
                    <a:pt x="364" y="3"/>
                  </a:lnTo>
                  <a:lnTo>
                    <a:pt x="390" y="7"/>
                  </a:lnTo>
                  <a:lnTo>
                    <a:pt x="416" y="14"/>
                  </a:lnTo>
                  <a:lnTo>
                    <a:pt x="443" y="22"/>
                  </a:lnTo>
                  <a:lnTo>
                    <a:pt x="468" y="32"/>
                  </a:lnTo>
                  <a:lnTo>
                    <a:pt x="495" y="44"/>
                  </a:lnTo>
                  <a:lnTo>
                    <a:pt x="523" y="58"/>
                  </a:lnTo>
                  <a:lnTo>
                    <a:pt x="471" y="124"/>
                  </a:lnTo>
                  <a:lnTo>
                    <a:pt x="471" y="124"/>
                  </a:lnTo>
                  <a:lnTo>
                    <a:pt x="454" y="116"/>
                  </a:lnTo>
                  <a:lnTo>
                    <a:pt x="434" y="108"/>
                  </a:lnTo>
                  <a:lnTo>
                    <a:pt x="415" y="102"/>
                  </a:lnTo>
                  <a:lnTo>
                    <a:pt x="396" y="98"/>
                  </a:lnTo>
                  <a:lnTo>
                    <a:pt x="375" y="94"/>
                  </a:lnTo>
                  <a:lnTo>
                    <a:pt x="355" y="90"/>
                  </a:lnTo>
                  <a:lnTo>
                    <a:pt x="333" y="89"/>
                  </a:lnTo>
                  <a:lnTo>
                    <a:pt x="311" y="88"/>
                  </a:lnTo>
                  <a:lnTo>
                    <a:pt x="311" y="88"/>
                  </a:lnTo>
                  <a:lnTo>
                    <a:pt x="298" y="89"/>
                  </a:lnTo>
                  <a:lnTo>
                    <a:pt x="285" y="90"/>
                  </a:lnTo>
                  <a:lnTo>
                    <a:pt x="271" y="93"/>
                  </a:lnTo>
                  <a:lnTo>
                    <a:pt x="258" y="95"/>
                  </a:lnTo>
                  <a:lnTo>
                    <a:pt x="246" y="100"/>
                  </a:lnTo>
                  <a:lnTo>
                    <a:pt x="234" y="105"/>
                  </a:lnTo>
                  <a:lnTo>
                    <a:pt x="222" y="112"/>
                  </a:lnTo>
                  <a:lnTo>
                    <a:pt x="211" y="119"/>
                  </a:lnTo>
                  <a:lnTo>
                    <a:pt x="200" y="128"/>
                  </a:lnTo>
                  <a:lnTo>
                    <a:pt x="191" y="137"/>
                  </a:lnTo>
                  <a:lnTo>
                    <a:pt x="182" y="150"/>
                  </a:lnTo>
                  <a:lnTo>
                    <a:pt x="176" y="162"/>
                  </a:lnTo>
                  <a:lnTo>
                    <a:pt x="170" y="175"/>
                  </a:lnTo>
                  <a:lnTo>
                    <a:pt x="165" y="189"/>
                  </a:lnTo>
                  <a:lnTo>
                    <a:pt x="163" y="205"/>
                  </a:lnTo>
                  <a:lnTo>
                    <a:pt x="162" y="222"/>
                  </a:lnTo>
                  <a:lnTo>
                    <a:pt x="162" y="222"/>
                  </a:lnTo>
                  <a:lnTo>
                    <a:pt x="163" y="240"/>
                  </a:lnTo>
                  <a:lnTo>
                    <a:pt x="165" y="256"/>
                  </a:lnTo>
                  <a:lnTo>
                    <a:pt x="170" y="270"/>
                  </a:lnTo>
                  <a:lnTo>
                    <a:pt x="175" y="284"/>
                  </a:lnTo>
                  <a:lnTo>
                    <a:pt x="182" y="296"/>
                  </a:lnTo>
                  <a:lnTo>
                    <a:pt x="191" y="306"/>
                  </a:lnTo>
                  <a:lnTo>
                    <a:pt x="200" y="317"/>
                  </a:lnTo>
                  <a:lnTo>
                    <a:pt x="210" y="326"/>
                  </a:lnTo>
                  <a:lnTo>
                    <a:pt x="221" y="333"/>
                  </a:lnTo>
                  <a:lnTo>
                    <a:pt x="233" y="339"/>
                  </a:lnTo>
                  <a:lnTo>
                    <a:pt x="245" y="345"/>
                  </a:lnTo>
                  <a:lnTo>
                    <a:pt x="258" y="349"/>
                  </a:lnTo>
                  <a:lnTo>
                    <a:pt x="271" y="352"/>
                  </a:lnTo>
                  <a:lnTo>
                    <a:pt x="285" y="355"/>
                  </a:lnTo>
                  <a:lnTo>
                    <a:pt x="298" y="356"/>
                  </a:lnTo>
                  <a:lnTo>
                    <a:pt x="311" y="357"/>
                  </a:lnTo>
                  <a:lnTo>
                    <a:pt x="311" y="357"/>
                  </a:lnTo>
                  <a:lnTo>
                    <a:pt x="333" y="356"/>
                  </a:lnTo>
                  <a:lnTo>
                    <a:pt x="355" y="355"/>
                  </a:lnTo>
                  <a:lnTo>
                    <a:pt x="375" y="352"/>
                  </a:lnTo>
                  <a:lnTo>
                    <a:pt x="396" y="349"/>
                  </a:lnTo>
                  <a:lnTo>
                    <a:pt x="416" y="344"/>
                  </a:lnTo>
                  <a:lnTo>
                    <a:pt x="436" y="338"/>
                  </a:lnTo>
                  <a:lnTo>
                    <a:pt x="455" y="332"/>
                  </a:lnTo>
                  <a:lnTo>
                    <a:pt x="473" y="325"/>
                  </a:lnTo>
                  <a:lnTo>
                    <a:pt x="525" y="393"/>
                  </a:lnTo>
                  <a:lnTo>
                    <a:pt x="525" y="393"/>
                  </a:lnTo>
                  <a:lnTo>
                    <a:pt x="501" y="405"/>
                  </a:lnTo>
                  <a:lnTo>
                    <a:pt x="477" y="415"/>
                  </a:lnTo>
                  <a:lnTo>
                    <a:pt x="451" y="425"/>
                  </a:lnTo>
                  <a:lnTo>
                    <a:pt x="425" y="432"/>
                  </a:lnTo>
                  <a:lnTo>
                    <a:pt x="397" y="438"/>
                  </a:lnTo>
                  <a:lnTo>
                    <a:pt x="369" y="442"/>
                  </a:lnTo>
                  <a:lnTo>
                    <a:pt x="340" y="444"/>
                  </a:lnTo>
                  <a:lnTo>
                    <a:pt x="310" y="445"/>
                  </a:lnTo>
                  <a:lnTo>
                    <a:pt x="310" y="4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5" name="Freeform 36">
              <a:extLst>
                <a:ext uri="{FF2B5EF4-FFF2-40B4-BE49-F238E27FC236}">
                  <a16:creationId xmlns:a16="http://schemas.microsoft.com/office/drawing/2014/main" id="{D6A3C58A-EE4E-BF44-B3A8-0C90CD0449D1}"/>
                </a:ext>
              </a:extLst>
            </p:cNvPr>
            <p:cNvSpPr>
              <a:spLocks noEditPoints="1"/>
            </p:cNvSpPr>
            <p:nvPr/>
          </p:nvSpPr>
          <p:spPr bwMode="auto">
            <a:xfrm>
              <a:off x="3087688" y="942976"/>
              <a:ext cx="493713" cy="355600"/>
            </a:xfrm>
            <a:custGeom>
              <a:avLst/>
              <a:gdLst>
                <a:gd name="T0" fmla="*/ 459 w 622"/>
                <a:gd name="T1" fmla="*/ 241 h 447"/>
                <a:gd name="T2" fmla="*/ 447 w 622"/>
                <a:gd name="T3" fmla="*/ 285 h 447"/>
                <a:gd name="T4" fmla="*/ 421 w 622"/>
                <a:gd name="T5" fmla="*/ 318 h 447"/>
                <a:gd name="T6" fmla="*/ 389 w 622"/>
                <a:gd name="T7" fmla="*/ 341 h 447"/>
                <a:gd name="T8" fmla="*/ 350 w 622"/>
                <a:gd name="T9" fmla="*/ 354 h 447"/>
                <a:gd name="T10" fmla="*/ 310 w 622"/>
                <a:gd name="T11" fmla="*/ 358 h 447"/>
                <a:gd name="T12" fmla="*/ 285 w 622"/>
                <a:gd name="T13" fmla="*/ 357 h 447"/>
                <a:gd name="T14" fmla="*/ 245 w 622"/>
                <a:gd name="T15" fmla="*/ 346 h 447"/>
                <a:gd name="T16" fmla="*/ 210 w 622"/>
                <a:gd name="T17" fmla="*/ 326 h 447"/>
                <a:gd name="T18" fmla="*/ 182 w 622"/>
                <a:gd name="T19" fmla="*/ 297 h 447"/>
                <a:gd name="T20" fmla="*/ 165 w 622"/>
                <a:gd name="T21" fmla="*/ 258 h 447"/>
                <a:gd name="T22" fmla="*/ 162 w 622"/>
                <a:gd name="T23" fmla="*/ 224 h 447"/>
                <a:gd name="T24" fmla="*/ 169 w 622"/>
                <a:gd name="T25" fmla="*/ 175 h 447"/>
                <a:gd name="T26" fmla="*/ 191 w 622"/>
                <a:gd name="T27" fmla="*/ 139 h 447"/>
                <a:gd name="T28" fmla="*/ 221 w 622"/>
                <a:gd name="T29" fmla="*/ 113 h 447"/>
                <a:gd name="T30" fmla="*/ 258 w 622"/>
                <a:gd name="T31" fmla="*/ 97 h 447"/>
                <a:gd name="T32" fmla="*/ 298 w 622"/>
                <a:gd name="T33" fmla="*/ 90 h 447"/>
                <a:gd name="T34" fmla="*/ 323 w 622"/>
                <a:gd name="T35" fmla="*/ 90 h 447"/>
                <a:gd name="T36" fmla="*/ 363 w 622"/>
                <a:gd name="T37" fmla="*/ 97 h 447"/>
                <a:gd name="T38" fmla="*/ 400 w 622"/>
                <a:gd name="T39" fmla="*/ 113 h 447"/>
                <a:gd name="T40" fmla="*/ 431 w 622"/>
                <a:gd name="T41" fmla="*/ 139 h 447"/>
                <a:gd name="T42" fmla="*/ 451 w 622"/>
                <a:gd name="T43" fmla="*/ 175 h 447"/>
                <a:gd name="T44" fmla="*/ 460 w 622"/>
                <a:gd name="T45" fmla="*/ 224 h 447"/>
                <a:gd name="T46" fmla="*/ 310 w 622"/>
                <a:gd name="T47" fmla="*/ 447 h 447"/>
                <a:gd name="T48" fmla="*/ 401 w 622"/>
                <a:gd name="T49" fmla="*/ 437 h 447"/>
                <a:gd name="T50" fmla="*/ 482 w 622"/>
                <a:gd name="T51" fmla="*/ 411 h 447"/>
                <a:gd name="T52" fmla="*/ 548 w 622"/>
                <a:gd name="T53" fmla="*/ 369 h 447"/>
                <a:gd name="T54" fmla="*/ 596 w 622"/>
                <a:gd name="T55" fmla="*/ 313 h 447"/>
                <a:gd name="T56" fmla="*/ 612 w 622"/>
                <a:gd name="T57" fmla="*/ 282 h 447"/>
                <a:gd name="T58" fmla="*/ 620 w 622"/>
                <a:gd name="T59" fmla="*/ 248 h 447"/>
                <a:gd name="T60" fmla="*/ 622 w 622"/>
                <a:gd name="T61" fmla="*/ 224 h 447"/>
                <a:gd name="T62" fmla="*/ 618 w 622"/>
                <a:gd name="T63" fmla="*/ 189 h 447"/>
                <a:gd name="T64" fmla="*/ 607 w 622"/>
                <a:gd name="T65" fmla="*/ 155 h 447"/>
                <a:gd name="T66" fmla="*/ 583 w 622"/>
                <a:gd name="T67" fmla="*/ 115 h 447"/>
                <a:gd name="T68" fmla="*/ 529 w 622"/>
                <a:gd name="T69" fmla="*/ 63 h 447"/>
                <a:gd name="T70" fmla="*/ 456 w 622"/>
                <a:gd name="T71" fmla="*/ 27 h 447"/>
                <a:gd name="T72" fmla="*/ 372 w 622"/>
                <a:gd name="T73" fmla="*/ 5 h 447"/>
                <a:gd name="T74" fmla="*/ 310 w 622"/>
                <a:gd name="T75" fmla="*/ 0 h 447"/>
                <a:gd name="T76" fmla="*/ 221 w 622"/>
                <a:gd name="T77" fmla="*/ 10 h 447"/>
                <a:gd name="T78" fmla="*/ 140 w 622"/>
                <a:gd name="T79" fmla="*/ 38 h 447"/>
                <a:gd name="T80" fmla="*/ 72 w 622"/>
                <a:gd name="T81" fmla="*/ 79 h 447"/>
                <a:gd name="T82" fmla="*/ 25 w 622"/>
                <a:gd name="T83" fmla="*/ 134 h 447"/>
                <a:gd name="T84" fmla="*/ 10 w 622"/>
                <a:gd name="T85" fmla="*/ 166 h 447"/>
                <a:gd name="T86" fmla="*/ 1 w 622"/>
                <a:gd name="T87" fmla="*/ 200 h 447"/>
                <a:gd name="T88" fmla="*/ 0 w 622"/>
                <a:gd name="T89" fmla="*/ 224 h 447"/>
                <a:gd name="T90" fmla="*/ 4 w 622"/>
                <a:gd name="T91" fmla="*/ 259 h 447"/>
                <a:gd name="T92" fmla="*/ 14 w 622"/>
                <a:gd name="T93" fmla="*/ 293 h 447"/>
                <a:gd name="T94" fmla="*/ 39 w 622"/>
                <a:gd name="T95" fmla="*/ 332 h 447"/>
                <a:gd name="T96" fmla="*/ 93 w 622"/>
                <a:gd name="T97" fmla="*/ 384 h 447"/>
                <a:gd name="T98" fmla="*/ 165 w 622"/>
                <a:gd name="T99" fmla="*/ 421 h 447"/>
                <a:gd name="T100" fmla="*/ 250 w 622"/>
                <a:gd name="T101" fmla="*/ 442 h 447"/>
                <a:gd name="T102" fmla="*/ 310 w 622"/>
                <a:gd name="T103" fmla="*/ 447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22" h="447">
                  <a:moveTo>
                    <a:pt x="460" y="224"/>
                  </a:moveTo>
                  <a:lnTo>
                    <a:pt x="460" y="224"/>
                  </a:lnTo>
                  <a:lnTo>
                    <a:pt x="459" y="241"/>
                  </a:lnTo>
                  <a:lnTo>
                    <a:pt x="456" y="258"/>
                  </a:lnTo>
                  <a:lnTo>
                    <a:pt x="451" y="272"/>
                  </a:lnTo>
                  <a:lnTo>
                    <a:pt x="447" y="285"/>
                  </a:lnTo>
                  <a:lnTo>
                    <a:pt x="439" y="297"/>
                  </a:lnTo>
                  <a:lnTo>
                    <a:pt x="431" y="308"/>
                  </a:lnTo>
                  <a:lnTo>
                    <a:pt x="421" y="318"/>
                  </a:lnTo>
                  <a:lnTo>
                    <a:pt x="412" y="326"/>
                  </a:lnTo>
                  <a:lnTo>
                    <a:pt x="400" y="335"/>
                  </a:lnTo>
                  <a:lnTo>
                    <a:pt x="389" y="341"/>
                  </a:lnTo>
                  <a:lnTo>
                    <a:pt x="375" y="346"/>
                  </a:lnTo>
                  <a:lnTo>
                    <a:pt x="363" y="351"/>
                  </a:lnTo>
                  <a:lnTo>
                    <a:pt x="350" y="354"/>
                  </a:lnTo>
                  <a:lnTo>
                    <a:pt x="337" y="357"/>
                  </a:lnTo>
                  <a:lnTo>
                    <a:pt x="323" y="358"/>
                  </a:lnTo>
                  <a:lnTo>
                    <a:pt x="310" y="358"/>
                  </a:lnTo>
                  <a:lnTo>
                    <a:pt x="310" y="358"/>
                  </a:lnTo>
                  <a:lnTo>
                    <a:pt x="298" y="358"/>
                  </a:lnTo>
                  <a:lnTo>
                    <a:pt x="285" y="357"/>
                  </a:lnTo>
                  <a:lnTo>
                    <a:pt x="272" y="354"/>
                  </a:lnTo>
                  <a:lnTo>
                    <a:pt x="258" y="351"/>
                  </a:lnTo>
                  <a:lnTo>
                    <a:pt x="245" y="346"/>
                  </a:lnTo>
                  <a:lnTo>
                    <a:pt x="233" y="341"/>
                  </a:lnTo>
                  <a:lnTo>
                    <a:pt x="221" y="335"/>
                  </a:lnTo>
                  <a:lnTo>
                    <a:pt x="210" y="326"/>
                  </a:lnTo>
                  <a:lnTo>
                    <a:pt x="200" y="318"/>
                  </a:lnTo>
                  <a:lnTo>
                    <a:pt x="191" y="308"/>
                  </a:lnTo>
                  <a:lnTo>
                    <a:pt x="182" y="297"/>
                  </a:lnTo>
                  <a:lnTo>
                    <a:pt x="175" y="285"/>
                  </a:lnTo>
                  <a:lnTo>
                    <a:pt x="169" y="272"/>
                  </a:lnTo>
                  <a:lnTo>
                    <a:pt x="165" y="258"/>
                  </a:lnTo>
                  <a:lnTo>
                    <a:pt x="163" y="241"/>
                  </a:lnTo>
                  <a:lnTo>
                    <a:pt x="162" y="224"/>
                  </a:lnTo>
                  <a:lnTo>
                    <a:pt x="162" y="224"/>
                  </a:lnTo>
                  <a:lnTo>
                    <a:pt x="163" y="207"/>
                  </a:lnTo>
                  <a:lnTo>
                    <a:pt x="165" y="191"/>
                  </a:lnTo>
                  <a:lnTo>
                    <a:pt x="169" y="175"/>
                  </a:lnTo>
                  <a:lnTo>
                    <a:pt x="175" y="162"/>
                  </a:lnTo>
                  <a:lnTo>
                    <a:pt x="182" y="150"/>
                  </a:lnTo>
                  <a:lnTo>
                    <a:pt x="191" y="139"/>
                  </a:lnTo>
                  <a:lnTo>
                    <a:pt x="200" y="130"/>
                  </a:lnTo>
                  <a:lnTo>
                    <a:pt x="210" y="121"/>
                  </a:lnTo>
                  <a:lnTo>
                    <a:pt x="221" y="113"/>
                  </a:lnTo>
                  <a:lnTo>
                    <a:pt x="233" y="107"/>
                  </a:lnTo>
                  <a:lnTo>
                    <a:pt x="245" y="102"/>
                  </a:lnTo>
                  <a:lnTo>
                    <a:pt x="258" y="97"/>
                  </a:lnTo>
                  <a:lnTo>
                    <a:pt x="272" y="93"/>
                  </a:lnTo>
                  <a:lnTo>
                    <a:pt x="285" y="91"/>
                  </a:lnTo>
                  <a:lnTo>
                    <a:pt x="298" y="90"/>
                  </a:lnTo>
                  <a:lnTo>
                    <a:pt x="310" y="90"/>
                  </a:lnTo>
                  <a:lnTo>
                    <a:pt x="310" y="90"/>
                  </a:lnTo>
                  <a:lnTo>
                    <a:pt x="323" y="90"/>
                  </a:lnTo>
                  <a:lnTo>
                    <a:pt x="337" y="91"/>
                  </a:lnTo>
                  <a:lnTo>
                    <a:pt x="350" y="93"/>
                  </a:lnTo>
                  <a:lnTo>
                    <a:pt x="363" y="97"/>
                  </a:lnTo>
                  <a:lnTo>
                    <a:pt x="375" y="102"/>
                  </a:lnTo>
                  <a:lnTo>
                    <a:pt x="389" y="107"/>
                  </a:lnTo>
                  <a:lnTo>
                    <a:pt x="400" y="113"/>
                  </a:lnTo>
                  <a:lnTo>
                    <a:pt x="412" y="121"/>
                  </a:lnTo>
                  <a:lnTo>
                    <a:pt x="421" y="130"/>
                  </a:lnTo>
                  <a:lnTo>
                    <a:pt x="431" y="139"/>
                  </a:lnTo>
                  <a:lnTo>
                    <a:pt x="439" y="150"/>
                  </a:lnTo>
                  <a:lnTo>
                    <a:pt x="447" y="162"/>
                  </a:lnTo>
                  <a:lnTo>
                    <a:pt x="451" y="175"/>
                  </a:lnTo>
                  <a:lnTo>
                    <a:pt x="456" y="191"/>
                  </a:lnTo>
                  <a:lnTo>
                    <a:pt x="459" y="207"/>
                  </a:lnTo>
                  <a:lnTo>
                    <a:pt x="460" y="224"/>
                  </a:lnTo>
                  <a:lnTo>
                    <a:pt x="460" y="224"/>
                  </a:lnTo>
                  <a:close/>
                  <a:moveTo>
                    <a:pt x="310" y="447"/>
                  </a:moveTo>
                  <a:lnTo>
                    <a:pt x="310" y="447"/>
                  </a:lnTo>
                  <a:lnTo>
                    <a:pt x="342" y="446"/>
                  </a:lnTo>
                  <a:lnTo>
                    <a:pt x="372" y="442"/>
                  </a:lnTo>
                  <a:lnTo>
                    <a:pt x="401" y="437"/>
                  </a:lnTo>
                  <a:lnTo>
                    <a:pt x="429" y="430"/>
                  </a:lnTo>
                  <a:lnTo>
                    <a:pt x="456" y="421"/>
                  </a:lnTo>
                  <a:lnTo>
                    <a:pt x="482" y="411"/>
                  </a:lnTo>
                  <a:lnTo>
                    <a:pt x="506" y="398"/>
                  </a:lnTo>
                  <a:lnTo>
                    <a:pt x="529" y="384"/>
                  </a:lnTo>
                  <a:lnTo>
                    <a:pt x="548" y="369"/>
                  </a:lnTo>
                  <a:lnTo>
                    <a:pt x="567" y="352"/>
                  </a:lnTo>
                  <a:lnTo>
                    <a:pt x="583" y="332"/>
                  </a:lnTo>
                  <a:lnTo>
                    <a:pt x="596" y="313"/>
                  </a:lnTo>
                  <a:lnTo>
                    <a:pt x="602" y="303"/>
                  </a:lnTo>
                  <a:lnTo>
                    <a:pt x="607" y="293"/>
                  </a:lnTo>
                  <a:lnTo>
                    <a:pt x="612" y="282"/>
                  </a:lnTo>
                  <a:lnTo>
                    <a:pt x="616" y="271"/>
                  </a:lnTo>
                  <a:lnTo>
                    <a:pt x="618" y="259"/>
                  </a:lnTo>
                  <a:lnTo>
                    <a:pt x="620" y="248"/>
                  </a:lnTo>
                  <a:lnTo>
                    <a:pt x="622" y="236"/>
                  </a:lnTo>
                  <a:lnTo>
                    <a:pt x="622" y="224"/>
                  </a:lnTo>
                  <a:lnTo>
                    <a:pt x="622" y="224"/>
                  </a:lnTo>
                  <a:lnTo>
                    <a:pt x="622" y="212"/>
                  </a:lnTo>
                  <a:lnTo>
                    <a:pt x="620" y="200"/>
                  </a:lnTo>
                  <a:lnTo>
                    <a:pt x="618" y="189"/>
                  </a:lnTo>
                  <a:lnTo>
                    <a:pt x="616" y="177"/>
                  </a:lnTo>
                  <a:lnTo>
                    <a:pt x="612" y="166"/>
                  </a:lnTo>
                  <a:lnTo>
                    <a:pt x="607" y="155"/>
                  </a:lnTo>
                  <a:lnTo>
                    <a:pt x="602" y="144"/>
                  </a:lnTo>
                  <a:lnTo>
                    <a:pt x="596" y="134"/>
                  </a:lnTo>
                  <a:lnTo>
                    <a:pt x="583" y="115"/>
                  </a:lnTo>
                  <a:lnTo>
                    <a:pt x="567" y="96"/>
                  </a:lnTo>
                  <a:lnTo>
                    <a:pt x="548" y="79"/>
                  </a:lnTo>
                  <a:lnTo>
                    <a:pt x="529" y="63"/>
                  </a:lnTo>
                  <a:lnTo>
                    <a:pt x="506" y="50"/>
                  </a:lnTo>
                  <a:lnTo>
                    <a:pt x="482" y="38"/>
                  </a:lnTo>
                  <a:lnTo>
                    <a:pt x="456" y="27"/>
                  </a:lnTo>
                  <a:lnTo>
                    <a:pt x="429" y="17"/>
                  </a:lnTo>
                  <a:lnTo>
                    <a:pt x="401" y="10"/>
                  </a:lnTo>
                  <a:lnTo>
                    <a:pt x="372" y="5"/>
                  </a:lnTo>
                  <a:lnTo>
                    <a:pt x="342" y="2"/>
                  </a:lnTo>
                  <a:lnTo>
                    <a:pt x="310" y="0"/>
                  </a:lnTo>
                  <a:lnTo>
                    <a:pt x="310" y="0"/>
                  </a:lnTo>
                  <a:lnTo>
                    <a:pt x="280" y="2"/>
                  </a:lnTo>
                  <a:lnTo>
                    <a:pt x="250" y="5"/>
                  </a:lnTo>
                  <a:lnTo>
                    <a:pt x="221" y="10"/>
                  </a:lnTo>
                  <a:lnTo>
                    <a:pt x="193" y="17"/>
                  </a:lnTo>
                  <a:lnTo>
                    <a:pt x="165" y="27"/>
                  </a:lnTo>
                  <a:lnTo>
                    <a:pt x="140" y="38"/>
                  </a:lnTo>
                  <a:lnTo>
                    <a:pt x="116" y="50"/>
                  </a:lnTo>
                  <a:lnTo>
                    <a:pt x="93" y="63"/>
                  </a:lnTo>
                  <a:lnTo>
                    <a:pt x="72" y="79"/>
                  </a:lnTo>
                  <a:lnTo>
                    <a:pt x="54" y="96"/>
                  </a:lnTo>
                  <a:lnTo>
                    <a:pt x="39" y="115"/>
                  </a:lnTo>
                  <a:lnTo>
                    <a:pt x="25" y="134"/>
                  </a:lnTo>
                  <a:lnTo>
                    <a:pt x="19" y="144"/>
                  </a:lnTo>
                  <a:lnTo>
                    <a:pt x="14" y="155"/>
                  </a:lnTo>
                  <a:lnTo>
                    <a:pt x="10" y="166"/>
                  </a:lnTo>
                  <a:lnTo>
                    <a:pt x="6" y="177"/>
                  </a:lnTo>
                  <a:lnTo>
                    <a:pt x="4" y="189"/>
                  </a:lnTo>
                  <a:lnTo>
                    <a:pt x="1" y="200"/>
                  </a:lnTo>
                  <a:lnTo>
                    <a:pt x="0" y="212"/>
                  </a:lnTo>
                  <a:lnTo>
                    <a:pt x="0" y="224"/>
                  </a:lnTo>
                  <a:lnTo>
                    <a:pt x="0" y="224"/>
                  </a:lnTo>
                  <a:lnTo>
                    <a:pt x="0" y="236"/>
                  </a:lnTo>
                  <a:lnTo>
                    <a:pt x="1" y="248"/>
                  </a:lnTo>
                  <a:lnTo>
                    <a:pt x="4" y="259"/>
                  </a:lnTo>
                  <a:lnTo>
                    <a:pt x="6" y="271"/>
                  </a:lnTo>
                  <a:lnTo>
                    <a:pt x="10" y="282"/>
                  </a:lnTo>
                  <a:lnTo>
                    <a:pt x="14" y="293"/>
                  </a:lnTo>
                  <a:lnTo>
                    <a:pt x="19" y="303"/>
                  </a:lnTo>
                  <a:lnTo>
                    <a:pt x="25" y="313"/>
                  </a:lnTo>
                  <a:lnTo>
                    <a:pt x="39" y="332"/>
                  </a:lnTo>
                  <a:lnTo>
                    <a:pt x="54" y="352"/>
                  </a:lnTo>
                  <a:lnTo>
                    <a:pt x="72" y="369"/>
                  </a:lnTo>
                  <a:lnTo>
                    <a:pt x="93" y="384"/>
                  </a:lnTo>
                  <a:lnTo>
                    <a:pt x="116" y="398"/>
                  </a:lnTo>
                  <a:lnTo>
                    <a:pt x="140" y="411"/>
                  </a:lnTo>
                  <a:lnTo>
                    <a:pt x="165" y="421"/>
                  </a:lnTo>
                  <a:lnTo>
                    <a:pt x="193" y="430"/>
                  </a:lnTo>
                  <a:lnTo>
                    <a:pt x="221" y="437"/>
                  </a:lnTo>
                  <a:lnTo>
                    <a:pt x="250" y="442"/>
                  </a:lnTo>
                  <a:lnTo>
                    <a:pt x="280" y="446"/>
                  </a:lnTo>
                  <a:lnTo>
                    <a:pt x="310" y="447"/>
                  </a:lnTo>
                  <a:lnTo>
                    <a:pt x="310" y="4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6" name="Freeform 37">
              <a:extLst>
                <a:ext uri="{FF2B5EF4-FFF2-40B4-BE49-F238E27FC236}">
                  <a16:creationId xmlns:a16="http://schemas.microsoft.com/office/drawing/2014/main" id="{F9AFDAAF-C0EF-BD4B-9012-3147FF9B1D95}"/>
                </a:ext>
              </a:extLst>
            </p:cNvPr>
            <p:cNvSpPr>
              <a:spLocks/>
            </p:cNvSpPr>
            <p:nvPr/>
          </p:nvSpPr>
          <p:spPr bwMode="auto">
            <a:xfrm>
              <a:off x="3633788" y="938213"/>
              <a:ext cx="360363" cy="350838"/>
            </a:xfrm>
            <a:custGeom>
              <a:avLst/>
              <a:gdLst>
                <a:gd name="T0" fmla="*/ 155 w 454"/>
                <a:gd name="T1" fmla="*/ 442 h 442"/>
                <a:gd name="T2" fmla="*/ 155 w 454"/>
                <a:gd name="T3" fmla="*/ 177 h 442"/>
                <a:gd name="T4" fmla="*/ 159 w 454"/>
                <a:gd name="T5" fmla="*/ 149 h 442"/>
                <a:gd name="T6" fmla="*/ 174 w 454"/>
                <a:gd name="T7" fmla="*/ 125 h 442"/>
                <a:gd name="T8" fmla="*/ 185 w 454"/>
                <a:gd name="T9" fmla="*/ 114 h 442"/>
                <a:gd name="T10" fmla="*/ 198 w 454"/>
                <a:gd name="T11" fmla="*/ 105 h 442"/>
                <a:gd name="T12" fmla="*/ 214 w 454"/>
                <a:gd name="T13" fmla="*/ 101 h 442"/>
                <a:gd name="T14" fmla="*/ 232 w 454"/>
                <a:gd name="T15" fmla="*/ 98 h 442"/>
                <a:gd name="T16" fmla="*/ 245 w 454"/>
                <a:gd name="T17" fmla="*/ 99 h 442"/>
                <a:gd name="T18" fmla="*/ 268 w 454"/>
                <a:gd name="T19" fmla="*/ 108 h 442"/>
                <a:gd name="T20" fmla="*/ 287 w 454"/>
                <a:gd name="T21" fmla="*/ 122 h 442"/>
                <a:gd name="T22" fmla="*/ 298 w 454"/>
                <a:gd name="T23" fmla="*/ 142 h 442"/>
                <a:gd name="T24" fmla="*/ 299 w 454"/>
                <a:gd name="T25" fmla="*/ 152 h 442"/>
                <a:gd name="T26" fmla="*/ 454 w 454"/>
                <a:gd name="T27" fmla="*/ 442 h 442"/>
                <a:gd name="T28" fmla="*/ 454 w 454"/>
                <a:gd name="T29" fmla="*/ 144 h 442"/>
                <a:gd name="T30" fmla="*/ 450 w 454"/>
                <a:gd name="T31" fmla="*/ 116 h 442"/>
                <a:gd name="T32" fmla="*/ 439 w 454"/>
                <a:gd name="T33" fmla="*/ 89 h 442"/>
                <a:gd name="T34" fmla="*/ 421 w 454"/>
                <a:gd name="T35" fmla="*/ 64 h 442"/>
                <a:gd name="T36" fmla="*/ 400 w 454"/>
                <a:gd name="T37" fmla="*/ 43 h 442"/>
                <a:gd name="T38" fmla="*/ 372 w 454"/>
                <a:gd name="T39" fmla="*/ 26 h 442"/>
                <a:gd name="T40" fmla="*/ 341 w 454"/>
                <a:gd name="T41" fmla="*/ 12 h 442"/>
                <a:gd name="T42" fmla="*/ 307 w 454"/>
                <a:gd name="T43" fmla="*/ 4 h 442"/>
                <a:gd name="T44" fmla="*/ 269 w 454"/>
                <a:gd name="T45" fmla="*/ 0 h 442"/>
                <a:gd name="T46" fmla="*/ 267 w 454"/>
                <a:gd name="T47" fmla="*/ 0 h 442"/>
                <a:gd name="T48" fmla="*/ 263 w 454"/>
                <a:gd name="T49" fmla="*/ 0 h 442"/>
                <a:gd name="T50" fmla="*/ 249 w 454"/>
                <a:gd name="T51" fmla="*/ 2 h 442"/>
                <a:gd name="T52" fmla="*/ 219 w 454"/>
                <a:gd name="T53" fmla="*/ 5 h 442"/>
                <a:gd name="T54" fmla="*/ 190 w 454"/>
                <a:gd name="T55" fmla="*/ 14 h 442"/>
                <a:gd name="T56" fmla="*/ 163 w 454"/>
                <a:gd name="T57" fmla="*/ 26 h 442"/>
                <a:gd name="T58" fmla="*/ 151 w 454"/>
                <a:gd name="T59" fmla="*/ 33 h 442"/>
                <a:gd name="T60" fmla="*/ 147 w 454"/>
                <a:gd name="T61" fmla="*/ 28 h 442"/>
                <a:gd name="T62" fmla="*/ 129 w 454"/>
                <a:gd name="T63" fmla="*/ 17 h 442"/>
                <a:gd name="T64" fmla="*/ 83 w 454"/>
                <a:gd name="T65" fmla="*/ 8 h 442"/>
                <a:gd name="T66" fmla="*/ 0 w 454"/>
                <a:gd name="T67" fmla="*/ 4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4" h="442">
                  <a:moveTo>
                    <a:pt x="0" y="442"/>
                  </a:moveTo>
                  <a:lnTo>
                    <a:pt x="155" y="442"/>
                  </a:lnTo>
                  <a:lnTo>
                    <a:pt x="155" y="177"/>
                  </a:lnTo>
                  <a:lnTo>
                    <a:pt x="155" y="177"/>
                  </a:lnTo>
                  <a:lnTo>
                    <a:pt x="156" y="163"/>
                  </a:lnTo>
                  <a:lnTo>
                    <a:pt x="159" y="149"/>
                  </a:lnTo>
                  <a:lnTo>
                    <a:pt x="165" y="136"/>
                  </a:lnTo>
                  <a:lnTo>
                    <a:pt x="174" y="125"/>
                  </a:lnTo>
                  <a:lnTo>
                    <a:pt x="180" y="119"/>
                  </a:lnTo>
                  <a:lnTo>
                    <a:pt x="185" y="114"/>
                  </a:lnTo>
                  <a:lnTo>
                    <a:pt x="192" y="109"/>
                  </a:lnTo>
                  <a:lnTo>
                    <a:pt x="198" y="105"/>
                  </a:lnTo>
                  <a:lnTo>
                    <a:pt x="207" y="103"/>
                  </a:lnTo>
                  <a:lnTo>
                    <a:pt x="214" y="101"/>
                  </a:lnTo>
                  <a:lnTo>
                    <a:pt x="222" y="99"/>
                  </a:lnTo>
                  <a:lnTo>
                    <a:pt x="232" y="98"/>
                  </a:lnTo>
                  <a:lnTo>
                    <a:pt x="232" y="98"/>
                  </a:lnTo>
                  <a:lnTo>
                    <a:pt x="245" y="99"/>
                  </a:lnTo>
                  <a:lnTo>
                    <a:pt x="257" y="103"/>
                  </a:lnTo>
                  <a:lnTo>
                    <a:pt x="268" y="108"/>
                  </a:lnTo>
                  <a:lnTo>
                    <a:pt x="279" y="114"/>
                  </a:lnTo>
                  <a:lnTo>
                    <a:pt x="287" y="122"/>
                  </a:lnTo>
                  <a:lnTo>
                    <a:pt x="295" y="132"/>
                  </a:lnTo>
                  <a:lnTo>
                    <a:pt x="298" y="142"/>
                  </a:lnTo>
                  <a:lnTo>
                    <a:pt x="299" y="146"/>
                  </a:lnTo>
                  <a:lnTo>
                    <a:pt x="299" y="152"/>
                  </a:lnTo>
                  <a:lnTo>
                    <a:pt x="299" y="442"/>
                  </a:lnTo>
                  <a:lnTo>
                    <a:pt x="454" y="442"/>
                  </a:lnTo>
                  <a:lnTo>
                    <a:pt x="454" y="144"/>
                  </a:lnTo>
                  <a:lnTo>
                    <a:pt x="454" y="144"/>
                  </a:lnTo>
                  <a:lnTo>
                    <a:pt x="453" y="130"/>
                  </a:lnTo>
                  <a:lnTo>
                    <a:pt x="450" y="116"/>
                  </a:lnTo>
                  <a:lnTo>
                    <a:pt x="446" y="102"/>
                  </a:lnTo>
                  <a:lnTo>
                    <a:pt x="439" y="89"/>
                  </a:lnTo>
                  <a:lnTo>
                    <a:pt x="431" y="76"/>
                  </a:lnTo>
                  <a:lnTo>
                    <a:pt x="421" y="64"/>
                  </a:lnTo>
                  <a:lnTo>
                    <a:pt x="411" y="53"/>
                  </a:lnTo>
                  <a:lnTo>
                    <a:pt x="400" y="43"/>
                  </a:lnTo>
                  <a:lnTo>
                    <a:pt x="386" y="34"/>
                  </a:lnTo>
                  <a:lnTo>
                    <a:pt x="372" y="26"/>
                  </a:lnTo>
                  <a:lnTo>
                    <a:pt x="356" y="18"/>
                  </a:lnTo>
                  <a:lnTo>
                    <a:pt x="341" y="12"/>
                  </a:lnTo>
                  <a:lnTo>
                    <a:pt x="324" y="8"/>
                  </a:lnTo>
                  <a:lnTo>
                    <a:pt x="307" y="4"/>
                  </a:lnTo>
                  <a:lnTo>
                    <a:pt x="289" y="2"/>
                  </a:lnTo>
                  <a:lnTo>
                    <a:pt x="269" y="0"/>
                  </a:lnTo>
                  <a:lnTo>
                    <a:pt x="269" y="0"/>
                  </a:lnTo>
                  <a:lnTo>
                    <a:pt x="267" y="0"/>
                  </a:lnTo>
                  <a:lnTo>
                    <a:pt x="267" y="0"/>
                  </a:lnTo>
                  <a:lnTo>
                    <a:pt x="263" y="0"/>
                  </a:lnTo>
                  <a:lnTo>
                    <a:pt x="263" y="0"/>
                  </a:lnTo>
                  <a:lnTo>
                    <a:pt x="249" y="2"/>
                  </a:lnTo>
                  <a:lnTo>
                    <a:pt x="233" y="3"/>
                  </a:lnTo>
                  <a:lnTo>
                    <a:pt x="219" y="5"/>
                  </a:lnTo>
                  <a:lnTo>
                    <a:pt x="204" y="9"/>
                  </a:lnTo>
                  <a:lnTo>
                    <a:pt x="190" y="14"/>
                  </a:lnTo>
                  <a:lnTo>
                    <a:pt x="176" y="20"/>
                  </a:lnTo>
                  <a:lnTo>
                    <a:pt x="163" y="26"/>
                  </a:lnTo>
                  <a:lnTo>
                    <a:pt x="151" y="33"/>
                  </a:lnTo>
                  <a:lnTo>
                    <a:pt x="151" y="33"/>
                  </a:lnTo>
                  <a:lnTo>
                    <a:pt x="150" y="32"/>
                  </a:lnTo>
                  <a:lnTo>
                    <a:pt x="147" y="28"/>
                  </a:lnTo>
                  <a:lnTo>
                    <a:pt x="140" y="23"/>
                  </a:lnTo>
                  <a:lnTo>
                    <a:pt x="129" y="17"/>
                  </a:lnTo>
                  <a:lnTo>
                    <a:pt x="110" y="12"/>
                  </a:lnTo>
                  <a:lnTo>
                    <a:pt x="83" y="8"/>
                  </a:lnTo>
                  <a:lnTo>
                    <a:pt x="47" y="5"/>
                  </a:lnTo>
                  <a:lnTo>
                    <a:pt x="0" y="4"/>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7" name="Rectangle 38">
              <a:extLst>
                <a:ext uri="{FF2B5EF4-FFF2-40B4-BE49-F238E27FC236}">
                  <a16:creationId xmlns:a16="http://schemas.microsoft.com/office/drawing/2014/main" id="{D3D395A6-C017-884D-B723-60609E9606B7}"/>
                </a:ext>
              </a:extLst>
            </p:cNvPr>
            <p:cNvSpPr>
              <a:spLocks noChangeArrowheads="1"/>
            </p:cNvSpPr>
            <p:nvPr/>
          </p:nvSpPr>
          <p:spPr bwMode="auto">
            <a:xfrm>
              <a:off x="2168526" y="952501"/>
              <a:ext cx="120650" cy="336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8" name="Freeform 39">
              <a:extLst>
                <a:ext uri="{FF2B5EF4-FFF2-40B4-BE49-F238E27FC236}">
                  <a16:creationId xmlns:a16="http://schemas.microsoft.com/office/drawing/2014/main" id="{3A7309D9-5BC7-8B48-9CCF-75217E13BE61}"/>
                </a:ext>
              </a:extLst>
            </p:cNvPr>
            <p:cNvSpPr>
              <a:spLocks/>
            </p:cNvSpPr>
            <p:nvPr/>
          </p:nvSpPr>
          <p:spPr bwMode="auto">
            <a:xfrm>
              <a:off x="2820988" y="946151"/>
              <a:ext cx="252413" cy="342900"/>
            </a:xfrm>
            <a:custGeom>
              <a:avLst/>
              <a:gdLst>
                <a:gd name="T0" fmla="*/ 0 w 319"/>
                <a:gd name="T1" fmla="*/ 432 h 432"/>
                <a:gd name="T2" fmla="*/ 151 w 319"/>
                <a:gd name="T3" fmla="*/ 432 h 432"/>
                <a:gd name="T4" fmla="*/ 151 w 319"/>
                <a:gd name="T5" fmla="*/ 175 h 432"/>
                <a:gd name="T6" fmla="*/ 151 w 319"/>
                <a:gd name="T7" fmla="*/ 175 h 432"/>
                <a:gd name="T8" fmla="*/ 152 w 319"/>
                <a:gd name="T9" fmla="*/ 167 h 432"/>
                <a:gd name="T10" fmla="*/ 153 w 319"/>
                <a:gd name="T11" fmla="*/ 159 h 432"/>
                <a:gd name="T12" fmla="*/ 156 w 319"/>
                <a:gd name="T13" fmla="*/ 153 h 432"/>
                <a:gd name="T14" fmla="*/ 159 w 319"/>
                <a:gd name="T15" fmla="*/ 146 h 432"/>
                <a:gd name="T16" fmla="*/ 164 w 319"/>
                <a:gd name="T17" fmla="*/ 140 h 432"/>
                <a:gd name="T18" fmla="*/ 169 w 319"/>
                <a:gd name="T19" fmla="*/ 134 h 432"/>
                <a:gd name="T20" fmla="*/ 175 w 319"/>
                <a:gd name="T21" fmla="*/ 128 h 432"/>
                <a:gd name="T22" fmla="*/ 181 w 319"/>
                <a:gd name="T23" fmla="*/ 123 h 432"/>
                <a:gd name="T24" fmla="*/ 196 w 319"/>
                <a:gd name="T25" fmla="*/ 114 h 432"/>
                <a:gd name="T26" fmla="*/ 213 w 319"/>
                <a:gd name="T27" fmla="*/ 107 h 432"/>
                <a:gd name="T28" fmla="*/ 231 w 319"/>
                <a:gd name="T29" fmla="*/ 103 h 432"/>
                <a:gd name="T30" fmla="*/ 240 w 319"/>
                <a:gd name="T31" fmla="*/ 101 h 432"/>
                <a:gd name="T32" fmla="*/ 250 w 319"/>
                <a:gd name="T33" fmla="*/ 101 h 432"/>
                <a:gd name="T34" fmla="*/ 250 w 319"/>
                <a:gd name="T35" fmla="*/ 101 h 432"/>
                <a:gd name="T36" fmla="*/ 268 w 319"/>
                <a:gd name="T37" fmla="*/ 103 h 432"/>
                <a:gd name="T38" fmla="*/ 286 w 319"/>
                <a:gd name="T39" fmla="*/ 105 h 432"/>
                <a:gd name="T40" fmla="*/ 303 w 319"/>
                <a:gd name="T41" fmla="*/ 110 h 432"/>
                <a:gd name="T42" fmla="*/ 319 w 319"/>
                <a:gd name="T43" fmla="*/ 116 h 432"/>
                <a:gd name="T44" fmla="*/ 319 w 319"/>
                <a:gd name="T45" fmla="*/ 116 h 432"/>
                <a:gd name="T46" fmla="*/ 319 w 319"/>
                <a:gd name="T47" fmla="*/ 4 h 432"/>
                <a:gd name="T48" fmla="*/ 319 w 319"/>
                <a:gd name="T49" fmla="*/ 4 h 432"/>
                <a:gd name="T50" fmla="*/ 291 w 319"/>
                <a:gd name="T51" fmla="*/ 1 h 432"/>
                <a:gd name="T52" fmla="*/ 265 w 319"/>
                <a:gd name="T53" fmla="*/ 0 h 432"/>
                <a:gd name="T54" fmla="*/ 265 w 319"/>
                <a:gd name="T55" fmla="*/ 0 h 432"/>
                <a:gd name="T56" fmla="*/ 250 w 319"/>
                <a:gd name="T57" fmla="*/ 0 h 432"/>
                <a:gd name="T58" fmla="*/ 234 w 319"/>
                <a:gd name="T59" fmla="*/ 2 h 432"/>
                <a:gd name="T60" fmla="*/ 220 w 319"/>
                <a:gd name="T61" fmla="*/ 5 h 432"/>
                <a:gd name="T62" fmla="*/ 205 w 319"/>
                <a:gd name="T63" fmla="*/ 8 h 432"/>
                <a:gd name="T64" fmla="*/ 191 w 319"/>
                <a:gd name="T65" fmla="*/ 12 h 432"/>
                <a:gd name="T66" fmla="*/ 176 w 319"/>
                <a:gd name="T67" fmla="*/ 18 h 432"/>
                <a:gd name="T68" fmla="*/ 163 w 319"/>
                <a:gd name="T69" fmla="*/ 24 h 432"/>
                <a:gd name="T70" fmla="*/ 151 w 319"/>
                <a:gd name="T71" fmla="*/ 31 h 432"/>
                <a:gd name="T72" fmla="*/ 151 w 319"/>
                <a:gd name="T73" fmla="*/ 31 h 432"/>
                <a:gd name="T74" fmla="*/ 149 w 319"/>
                <a:gd name="T75" fmla="*/ 29 h 432"/>
                <a:gd name="T76" fmla="*/ 144 w 319"/>
                <a:gd name="T77" fmla="*/ 24 h 432"/>
                <a:gd name="T78" fmla="*/ 137 w 319"/>
                <a:gd name="T79" fmla="*/ 19 h 432"/>
                <a:gd name="T80" fmla="*/ 123 w 319"/>
                <a:gd name="T81" fmla="*/ 15 h 432"/>
                <a:gd name="T82" fmla="*/ 104 w 319"/>
                <a:gd name="T83" fmla="*/ 10 h 432"/>
                <a:gd name="T84" fmla="*/ 79 w 319"/>
                <a:gd name="T85" fmla="*/ 6 h 432"/>
                <a:gd name="T86" fmla="*/ 44 w 319"/>
                <a:gd name="T87" fmla="*/ 4 h 432"/>
                <a:gd name="T88" fmla="*/ 0 w 319"/>
                <a:gd name="T89" fmla="*/ 2 h 432"/>
                <a:gd name="T90" fmla="*/ 0 w 319"/>
                <a:gd name="T91" fmla="*/ 43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9" h="432">
                  <a:moveTo>
                    <a:pt x="0" y="432"/>
                  </a:moveTo>
                  <a:lnTo>
                    <a:pt x="151" y="432"/>
                  </a:lnTo>
                  <a:lnTo>
                    <a:pt x="151" y="175"/>
                  </a:lnTo>
                  <a:lnTo>
                    <a:pt x="151" y="175"/>
                  </a:lnTo>
                  <a:lnTo>
                    <a:pt x="152" y="167"/>
                  </a:lnTo>
                  <a:lnTo>
                    <a:pt x="153" y="159"/>
                  </a:lnTo>
                  <a:lnTo>
                    <a:pt x="156" y="153"/>
                  </a:lnTo>
                  <a:lnTo>
                    <a:pt x="159" y="146"/>
                  </a:lnTo>
                  <a:lnTo>
                    <a:pt x="164" y="140"/>
                  </a:lnTo>
                  <a:lnTo>
                    <a:pt x="169" y="134"/>
                  </a:lnTo>
                  <a:lnTo>
                    <a:pt x="175" y="128"/>
                  </a:lnTo>
                  <a:lnTo>
                    <a:pt x="181" y="123"/>
                  </a:lnTo>
                  <a:lnTo>
                    <a:pt x="196" y="114"/>
                  </a:lnTo>
                  <a:lnTo>
                    <a:pt x="213" y="107"/>
                  </a:lnTo>
                  <a:lnTo>
                    <a:pt x="231" y="103"/>
                  </a:lnTo>
                  <a:lnTo>
                    <a:pt x="240" y="101"/>
                  </a:lnTo>
                  <a:lnTo>
                    <a:pt x="250" y="101"/>
                  </a:lnTo>
                  <a:lnTo>
                    <a:pt x="250" y="101"/>
                  </a:lnTo>
                  <a:lnTo>
                    <a:pt x="268" y="103"/>
                  </a:lnTo>
                  <a:lnTo>
                    <a:pt x="286" y="105"/>
                  </a:lnTo>
                  <a:lnTo>
                    <a:pt x="303" y="110"/>
                  </a:lnTo>
                  <a:lnTo>
                    <a:pt x="319" y="116"/>
                  </a:lnTo>
                  <a:lnTo>
                    <a:pt x="319" y="116"/>
                  </a:lnTo>
                  <a:lnTo>
                    <a:pt x="319" y="4"/>
                  </a:lnTo>
                  <a:lnTo>
                    <a:pt x="319" y="4"/>
                  </a:lnTo>
                  <a:lnTo>
                    <a:pt x="291" y="1"/>
                  </a:lnTo>
                  <a:lnTo>
                    <a:pt x="265" y="0"/>
                  </a:lnTo>
                  <a:lnTo>
                    <a:pt x="265" y="0"/>
                  </a:lnTo>
                  <a:lnTo>
                    <a:pt x="250" y="0"/>
                  </a:lnTo>
                  <a:lnTo>
                    <a:pt x="234" y="2"/>
                  </a:lnTo>
                  <a:lnTo>
                    <a:pt x="220" y="5"/>
                  </a:lnTo>
                  <a:lnTo>
                    <a:pt x="205" y="8"/>
                  </a:lnTo>
                  <a:lnTo>
                    <a:pt x="191" y="12"/>
                  </a:lnTo>
                  <a:lnTo>
                    <a:pt x="176" y="18"/>
                  </a:lnTo>
                  <a:lnTo>
                    <a:pt x="163" y="24"/>
                  </a:lnTo>
                  <a:lnTo>
                    <a:pt x="151" y="31"/>
                  </a:lnTo>
                  <a:lnTo>
                    <a:pt x="151" y="31"/>
                  </a:lnTo>
                  <a:lnTo>
                    <a:pt x="149" y="29"/>
                  </a:lnTo>
                  <a:lnTo>
                    <a:pt x="144" y="24"/>
                  </a:lnTo>
                  <a:lnTo>
                    <a:pt x="137" y="19"/>
                  </a:lnTo>
                  <a:lnTo>
                    <a:pt x="123" y="15"/>
                  </a:lnTo>
                  <a:lnTo>
                    <a:pt x="104" y="10"/>
                  </a:lnTo>
                  <a:lnTo>
                    <a:pt x="79" y="6"/>
                  </a:lnTo>
                  <a:lnTo>
                    <a:pt x="44" y="4"/>
                  </a:lnTo>
                  <a:lnTo>
                    <a:pt x="0" y="2"/>
                  </a:lnTo>
                  <a:lnTo>
                    <a:pt x="0" y="4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9" name="Freeform 40">
              <a:extLst>
                <a:ext uri="{FF2B5EF4-FFF2-40B4-BE49-F238E27FC236}">
                  <a16:creationId xmlns:a16="http://schemas.microsoft.com/office/drawing/2014/main" id="{EADCE241-9E88-1346-BED1-494C61C04F78}"/>
                </a:ext>
              </a:extLst>
            </p:cNvPr>
            <p:cNvSpPr>
              <a:spLocks/>
            </p:cNvSpPr>
            <p:nvPr/>
          </p:nvSpPr>
          <p:spPr bwMode="auto">
            <a:xfrm>
              <a:off x="1701801" y="677863"/>
              <a:ext cx="522288" cy="635000"/>
            </a:xfrm>
            <a:custGeom>
              <a:avLst/>
              <a:gdLst>
                <a:gd name="T0" fmla="*/ 635 w 658"/>
                <a:gd name="T1" fmla="*/ 37 h 800"/>
                <a:gd name="T2" fmla="*/ 614 w 658"/>
                <a:gd name="T3" fmla="*/ 19 h 800"/>
                <a:gd name="T4" fmla="*/ 587 w 658"/>
                <a:gd name="T5" fmla="*/ 7 h 800"/>
                <a:gd name="T6" fmla="*/ 529 w 658"/>
                <a:gd name="T7" fmla="*/ 0 h 800"/>
                <a:gd name="T8" fmla="*/ 442 w 658"/>
                <a:gd name="T9" fmla="*/ 11 h 800"/>
                <a:gd name="T10" fmla="*/ 337 w 658"/>
                <a:gd name="T11" fmla="*/ 43 h 800"/>
                <a:gd name="T12" fmla="*/ 218 w 658"/>
                <a:gd name="T13" fmla="*/ 95 h 800"/>
                <a:gd name="T14" fmla="*/ 161 w 658"/>
                <a:gd name="T15" fmla="*/ 126 h 800"/>
                <a:gd name="T16" fmla="*/ 146 w 658"/>
                <a:gd name="T17" fmla="*/ 135 h 800"/>
                <a:gd name="T18" fmla="*/ 144 w 658"/>
                <a:gd name="T19" fmla="*/ 142 h 800"/>
                <a:gd name="T20" fmla="*/ 152 w 658"/>
                <a:gd name="T21" fmla="*/ 142 h 800"/>
                <a:gd name="T22" fmla="*/ 181 w 658"/>
                <a:gd name="T23" fmla="*/ 132 h 800"/>
                <a:gd name="T24" fmla="*/ 244 w 658"/>
                <a:gd name="T25" fmla="*/ 104 h 800"/>
                <a:gd name="T26" fmla="*/ 331 w 658"/>
                <a:gd name="T27" fmla="*/ 74 h 800"/>
                <a:gd name="T28" fmla="*/ 407 w 658"/>
                <a:gd name="T29" fmla="*/ 59 h 800"/>
                <a:gd name="T30" fmla="*/ 470 w 658"/>
                <a:gd name="T31" fmla="*/ 59 h 800"/>
                <a:gd name="T32" fmla="*/ 518 w 658"/>
                <a:gd name="T33" fmla="*/ 74 h 800"/>
                <a:gd name="T34" fmla="*/ 541 w 658"/>
                <a:gd name="T35" fmla="*/ 92 h 800"/>
                <a:gd name="T36" fmla="*/ 558 w 658"/>
                <a:gd name="T37" fmla="*/ 121 h 800"/>
                <a:gd name="T38" fmla="*/ 562 w 658"/>
                <a:gd name="T39" fmla="*/ 159 h 800"/>
                <a:gd name="T40" fmla="*/ 554 w 658"/>
                <a:gd name="T41" fmla="*/ 206 h 800"/>
                <a:gd name="T42" fmla="*/ 535 w 658"/>
                <a:gd name="T43" fmla="*/ 258 h 800"/>
                <a:gd name="T44" fmla="*/ 506 w 658"/>
                <a:gd name="T45" fmla="*/ 316 h 800"/>
                <a:gd name="T46" fmla="*/ 436 w 658"/>
                <a:gd name="T47" fmla="*/ 420 h 800"/>
                <a:gd name="T48" fmla="*/ 320 w 658"/>
                <a:gd name="T49" fmla="*/ 551 h 800"/>
                <a:gd name="T50" fmla="*/ 225 w 658"/>
                <a:gd name="T51" fmla="*/ 634 h 800"/>
                <a:gd name="T52" fmla="*/ 173 w 658"/>
                <a:gd name="T53" fmla="*/ 675 h 800"/>
                <a:gd name="T54" fmla="*/ 39 w 658"/>
                <a:gd name="T55" fmla="*/ 767 h 800"/>
                <a:gd name="T56" fmla="*/ 31 w 658"/>
                <a:gd name="T57" fmla="*/ 771 h 800"/>
                <a:gd name="T58" fmla="*/ 2 w 658"/>
                <a:gd name="T59" fmla="*/ 794 h 800"/>
                <a:gd name="T60" fmla="*/ 3 w 658"/>
                <a:gd name="T61" fmla="*/ 799 h 800"/>
                <a:gd name="T62" fmla="*/ 11 w 658"/>
                <a:gd name="T63" fmla="*/ 798 h 800"/>
                <a:gd name="T64" fmla="*/ 38 w 658"/>
                <a:gd name="T65" fmla="*/ 785 h 800"/>
                <a:gd name="T66" fmla="*/ 45 w 658"/>
                <a:gd name="T67" fmla="*/ 780 h 800"/>
                <a:gd name="T68" fmla="*/ 195 w 658"/>
                <a:gd name="T69" fmla="*/ 680 h 800"/>
                <a:gd name="T70" fmla="*/ 301 w 658"/>
                <a:gd name="T71" fmla="*/ 601 h 800"/>
                <a:gd name="T72" fmla="*/ 455 w 658"/>
                <a:gd name="T73" fmla="*/ 461 h 800"/>
                <a:gd name="T74" fmla="*/ 515 w 658"/>
                <a:gd name="T75" fmla="*/ 396 h 800"/>
                <a:gd name="T76" fmla="*/ 585 w 658"/>
                <a:gd name="T77" fmla="*/ 303 h 800"/>
                <a:gd name="T78" fmla="*/ 632 w 658"/>
                <a:gd name="T79" fmla="*/ 216 h 800"/>
                <a:gd name="T80" fmla="*/ 656 w 658"/>
                <a:gd name="T81" fmla="*/ 141 h 800"/>
                <a:gd name="T82" fmla="*/ 657 w 658"/>
                <a:gd name="T83" fmla="*/ 87 h 800"/>
                <a:gd name="T84" fmla="*/ 650 w 658"/>
                <a:gd name="T85" fmla="*/ 60 h 800"/>
                <a:gd name="T86" fmla="*/ 640 w 658"/>
                <a:gd name="T87" fmla="*/ 45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8" h="800">
                  <a:moveTo>
                    <a:pt x="640" y="45"/>
                  </a:moveTo>
                  <a:lnTo>
                    <a:pt x="640" y="45"/>
                  </a:lnTo>
                  <a:lnTo>
                    <a:pt x="635" y="37"/>
                  </a:lnTo>
                  <a:lnTo>
                    <a:pt x="628" y="30"/>
                  </a:lnTo>
                  <a:lnTo>
                    <a:pt x="621" y="24"/>
                  </a:lnTo>
                  <a:lnTo>
                    <a:pt x="614" y="19"/>
                  </a:lnTo>
                  <a:lnTo>
                    <a:pt x="605" y="14"/>
                  </a:lnTo>
                  <a:lnTo>
                    <a:pt x="597" y="11"/>
                  </a:lnTo>
                  <a:lnTo>
                    <a:pt x="587" y="7"/>
                  </a:lnTo>
                  <a:lnTo>
                    <a:pt x="576" y="5"/>
                  </a:lnTo>
                  <a:lnTo>
                    <a:pt x="553" y="1"/>
                  </a:lnTo>
                  <a:lnTo>
                    <a:pt x="529" y="0"/>
                  </a:lnTo>
                  <a:lnTo>
                    <a:pt x="503" y="1"/>
                  </a:lnTo>
                  <a:lnTo>
                    <a:pt x="474" y="5"/>
                  </a:lnTo>
                  <a:lnTo>
                    <a:pt x="442" y="11"/>
                  </a:lnTo>
                  <a:lnTo>
                    <a:pt x="408" y="19"/>
                  </a:lnTo>
                  <a:lnTo>
                    <a:pt x="373" y="30"/>
                  </a:lnTo>
                  <a:lnTo>
                    <a:pt x="337" y="43"/>
                  </a:lnTo>
                  <a:lnTo>
                    <a:pt x="299" y="59"/>
                  </a:lnTo>
                  <a:lnTo>
                    <a:pt x="260" y="76"/>
                  </a:lnTo>
                  <a:lnTo>
                    <a:pt x="218" y="95"/>
                  </a:lnTo>
                  <a:lnTo>
                    <a:pt x="175" y="117"/>
                  </a:lnTo>
                  <a:lnTo>
                    <a:pt x="175" y="117"/>
                  </a:lnTo>
                  <a:lnTo>
                    <a:pt x="161" y="126"/>
                  </a:lnTo>
                  <a:lnTo>
                    <a:pt x="150" y="133"/>
                  </a:lnTo>
                  <a:lnTo>
                    <a:pt x="150" y="133"/>
                  </a:lnTo>
                  <a:lnTo>
                    <a:pt x="146" y="135"/>
                  </a:lnTo>
                  <a:lnTo>
                    <a:pt x="144" y="138"/>
                  </a:lnTo>
                  <a:lnTo>
                    <a:pt x="144" y="140"/>
                  </a:lnTo>
                  <a:lnTo>
                    <a:pt x="144" y="142"/>
                  </a:lnTo>
                  <a:lnTo>
                    <a:pt x="145" y="144"/>
                  </a:lnTo>
                  <a:lnTo>
                    <a:pt x="148" y="144"/>
                  </a:lnTo>
                  <a:lnTo>
                    <a:pt x="152" y="142"/>
                  </a:lnTo>
                  <a:lnTo>
                    <a:pt x="152" y="142"/>
                  </a:lnTo>
                  <a:lnTo>
                    <a:pt x="167" y="138"/>
                  </a:lnTo>
                  <a:lnTo>
                    <a:pt x="181" y="132"/>
                  </a:lnTo>
                  <a:lnTo>
                    <a:pt x="181" y="132"/>
                  </a:lnTo>
                  <a:lnTo>
                    <a:pt x="214" y="116"/>
                  </a:lnTo>
                  <a:lnTo>
                    <a:pt x="244" y="104"/>
                  </a:lnTo>
                  <a:lnTo>
                    <a:pt x="274" y="92"/>
                  </a:lnTo>
                  <a:lnTo>
                    <a:pt x="303" y="82"/>
                  </a:lnTo>
                  <a:lnTo>
                    <a:pt x="331" y="74"/>
                  </a:lnTo>
                  <a:lnTo>
                    <a:pt x="358" y="68"/>
                  </a:lnTo>
                  <a:lnTo>
                    <a:pt x="383" y="63"/>
                  </a:lnTo>
                  <a:lnTo>
                    <a:pt x="407" y="59"/>
                  </a:lnTo>
                  <a:lnTo>
                    <a:pt x="429" y="58"/>
                  </a:lnTo>
                  <a:lnTo>
                    <a:pt x="451" y="58"/>
                  </a:lnTo>
                  <a:lnTo>
                    <a:pt x="470" y="59"/>
                  </a:lnTo>
                  <a:lnTo>
                    <a:pt x="488" y="62"/>
                  </a:lnTo>
                  <a:lnTo>
                    <a:pt x="504" y="66"/>
                  </a:lnTo>
                  <a:lnTo>
                    <a:pt x="518" y="74"/>
                  </a:lnTo>
                  <a:lnTo>
                    <a:pt x="530" y="82"/>
                  </a:lnTo>
                  <a:lnTo>
                    <a:pt x="541" y="92"/>
                  </a:lnTo>
                  <a:lnTo>
                    <a:pt x="541" y="92"/>
                  </a:lnTo>
                  <a:lnTo>
                    <a:pt x="548" y="100"/>
                  </a:lnTo>
                  <a:lnTo>
                    <a:pt x="554" y="110"/>
                  </a:lnTo>
                  <a:lnTo>
                    <a:pt x="558" y="121"/>
                  </a:lnTo>
                  <a:lnTo>
                    <a:pt x="560" y="133"/>
                  </a:lnTo>
                  <a:lnTo>
                    <a:pt x="562" y="146"/>
                  </a:lnTo>
                  <a:lnTo>
                    <a:pt x="562" y="159"/>
                  </a:lnTo>
                  <a:lnTo>
                    <a:pt x="560" y="174"/>
                  </a:lnTo>
                  <a:lnTo>
                    <a:pt x="558" y="190"/>
                  </a:lnTo>
                  <a:lnTo>
                    <a:pt x="554" y="206"/>
                  </a:lnTo>
                  <a:lnTo>
                    <a:pt x="548" y="223"/>
                  </a:lnTo>
                  <a:lnTo>
                    <a:pt x="542" y="240"/>
                  </a:lnTo>
                  <a:lnTo>
                    <a:pt x="535" y="258"/>
                  </a:lnTo>
                  <a:lnTo>
                    <a:pt x="527" y="278"/>
                  </a:lnTo>
                  <a:lnTo>
                    <a:pt x="517" y="297"/>
                  </a:lnTo>
                  <a:lnTo>
                    <a:pt x="506" y="316"/>
                  </a:lnTo>
                  <a:lnTo>
                    <a:pt x="494" y="337"/>
                  </a:lnTo>
                  <a:lnTo>
                    <a:pt x="468" y="378"/>
                  </a:lnTo>
                  <a:lnTo>
                    <a:pt x="436" y="420"/>
                  </a:lnTo>
                  <a:lnTo>
                    <a:pt x="401" y="464"/>
                  </a:lnTo>
                  <a:lnTo>
                    <a:pt x="362" y="507"/>
                  </a:lnTo>
                  <a:lnTo>
                    <a:pt x="320" y="551"/>
                  </a:lnTo>
                  <a:lnTo>
                    <a:pt x="274" y="593"/>
                  </a:lnTo>
                  <a:lnTo>
                    <a:pt x="250" y="613"/>
                  </a:lnTo>
                  <a:lnTo>
                    <a:pt x="225" y="634"/>
                  </a:lnTo>
                  <a:lnTo>
                    <a:pt x="200" y="654"/>
                  </a:lnTo>
                  <a:lnTo>
                    <a:pt x="173" y="675"/>
                  </a:lnTo>
                  <a:lnTo>
                    <a:pt x="173" y="675"/>
                  </a:lnTo>
                  <a:lnTo>
                    <a:pt x="107" y="723"/>
                  </a:lnTo>
                  <a:lnTo>
                    <a:pt x="70" y="747"/>
                  </a:lnTo>
                  <a:lnTo>
                    <a:pt x="39" y="767"/>
                  </a:lnTo>
                  <a:lnTo>
                    <a:pt x="39" y="767"/>
                  </a:lnTo>
                  <a:lnTo>
                    <a:pt x="31" y="771"/>
                  </a:lnTo>
                  <a:lnTo>
                    <a:pt x="31" y="771"/>
                  </a:lnTo>
                  <a:lnTo>
                    <a:pt x="5" y="790"/>
                  </a:lnTo>
                  <a:lnTo>
                    <a:pt x="5" y="790"/>
                  </a:lnTo>
                  <a:lnTo>
                    <a:pt x="2" y="794"/>
                  </a:lnTo>
                  <a:lnTo>
                    <a:pt x="0" y="797"/>
                  </a:lnTo>
                  <a:lnTo>
                    <a:pt x="2" y="798"/>
                  </a:lnTo>
                  <a:lnTo>
                    <a:pt x="3" y="799"/>
                  </a:lnTo>
                  <a:lnTo>
                    <a:pt x="4" y="800"/>
                  </a:lnTo>
                  <a:lnTo>
                    <a:pt x="8" y="800"/>
                  </a:lnTo>
                  <a:lnTo>
                    <a:pt x="11" y="798"/>
                  </a:lnTo>
                  <a:lnTo>
                    <a:pt x="11" y="798"/>
                  </a:lnTo>
                  <a:lnTo>
                    <a:pt x="24" y="792"/>
                  </a:lnTo>
                  <a:lnTo>
                    <a:pt x="38" y="785"/>
                  </a:lnTo>
                  <a:lnTo>
                    <a:pt x="38" y="785"/>
                  </a:lnTo>
                  <a:lnTo>
                    <a:pt x="45" y="780"/>
                  </a:lnTo>
                  <a:lnTo>
                    <a:pt x="45" y="780"/>
                  </a:lnTo>
                  <a:lnTo>
                    <a:pt x="80" y="758"/>
                  </a:lnTo>
                  <a:lnTo>
                    <a:pt x="120" y="732"/>
                  </a:lnTo>
                  <a:lnTo>
                    <a:pt x="195" y="680"/>
                  </a:lnTo>
                  <a:lnTo>
                    <a:pt x="195" y="680"/>
                  </a:lnTo>
                  <a:lnTo>
                    <a:pt x="249" y="641"/>
                  </a:lnTo>
                  <a:lnTo>
                    <a:pt x="301" y="601"/>
                  </a:lnTo>
                  <a:lnTo>
                    <a:pt x="301" y="770"/>
                  </a:lnTo>
                  <a:lnTo>
                    <a:pt x="455" y="770"/>
                  </a:lnTo>
                  <a:lnTo>
                    <a:pt x="455" y="461"/>
                  </a:lnTo>
                  <a:lnTo>
                    <a:pt x="455" y="461"/>
                  </a:lnTo>
                  <a:lnTo>
                    <a:pt x="486" y="429"/>
                  </a:lnTo>
                  <a:lnTo>
                    <a:pt x="515" y="396"/>
                  </a:lnTo>
                  <a:lnTo>
                    <a:pt x="540" y="365"/>
                  </a:lnTo>
                  <a:lnTo>
                    <a:pt x="563" y="333"/>
                  </a:lnTo>
                  <a:lnTo>
                    <a:pt x="585" y="303"/>
                  </a:lnTo>
                  <a:lnTo>
                    <a:pt x="603" y="273"/>
                  </a:lnTo>
                  <a:lnTo>
                    <a:pt x="618" y="244"/>
                  </a:lnTo>
                  <a:lnTo>
                    <a:pt x="632" y="216"/>
                  </a:lnTo>
                  <a:lnTo>
                    <a:pt x="643" y="190"/>
                  </a:lnTo>
                  <a:lnTo>
                    <a:pt x="651" y="164"/>
                  </a:lnTo>
                  <a:lnTo>
                    <a:pt x="656" y="141"/>
                  </a:lnTo>
                  <a:lnTo>
                    <a:pt x="658" y="118"/>
                  </a:lnTo>
                  <a:lnTo>
                    <a:pt x="658" y="98"/>
                  </a:lnTo>
                  <a:lnTo>
                    <a:pt x="657" y="87"/>
                  </a:lnTo>
                  <a:lnTo>
                    <a:pt x="656" y="78"/>
                  </a:lnTo>
                  <a:lnTo>
                    <a:pt x="652" y="69"/>
                  </a:lnTo>
                  <a:lnTo>
                    <a:pt x="650" y="60"/>
                  </a:lnTo>
                  <a:lnTo>
                    <a:pt x="645" y="52"/>
                  </a:lnTo>
                  <a:lnTo>
                    <a:pt x="640" y="45"/>
                  </a:lnTo>
                  <a:lnTo>
                    <a:pt x="64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0" name="Freeform 41">
              <a:extLst>
                <a:ext uri="{FF2B5EF4-FFF2-40B4-BE49-F238E27FC236}">
                  <a16:creationId xmlns:a16="http://schemas.microsoft.com/office/drawing/2014/main" id="{CDE9E1A3-5866-AE48-831C-CAF7C5DA6382}"/>
                </a:ext>
              </a:extLst>
            </p:cNvPr>
            <p:cNvSpPr>
              <a:spLocks/>
            </p:cNvSpPr>
            <p:nvPr/>
          </p:nvSpPr>
          <p:spPr bwMode="auto">
            <a:xfrm>
              <a:off x="1233488" y="814388"/>
              <a:ext cx="819150" cy="649288"/>
            </a:xfrm>
            <a:custGeom>
              <a:avLst/>
              <a:gdLst>
                <a:gd name="T0" fmla="*/ 442 w 1032"/>
                <a:gd name="T1" fmla="*/ 660 h 819"/>
                <a:gd name="T2" fmla="*/ 582 w 1032"/>
                <a:gd name="T3" fmla="*/ 569 h 819"/>
                <a:gd name="T4" fmla="*/ 598 w 1032"/>
                <a:gd name="T5" fmla="*/ 553 h 819"/>
                <a:gd name="T6" fmla="*/ 594 w 1032"/>
                <a:gd name="T7" fmla="*/ 549 h 819"/>
                <a:gd name="T8" fmla="*/ 560 w 1032"/>
                <a:gd name="T9" fmla="*/ 567 h 819"/>
                <a:gd name="T10" fmla="*/ 397 w 1032"/>
                <a:gd name="T11" fmla="*/ 661 h 819"/>
                <a:gd name="T12" fmla="*/ 264 w 1032"/>
                <a:gd name="T13" fmla="*/ 713 h 819"/>
                <a:gd name="T14" fmla="*/ 175 w 1032"/>
                <a:gd name="T15" fmla="*/ 722 h 819"/>
                <a:gd name="T16" fmla="*/ 138 w 1032"/>
                <a:gd name="T17" fmla="*/ 713 h 819"/>
                <a:gd name="T18" fmla="*/ 107 w 1032"/>
                <a:gd name="T19" fmla="*/ 692 h 819"/>
                <a:gd name="T20" fmla="*/ 94 w 1032"/>
                <a:gd name="T21" fmla="*/ 670 h 819"/>
                <a:gd name="T22" fmla="*/ 87 w 1032"/>
                <a:gd name="T23" fmla="*/ 639 h 819"/>
                <a:gd name="T24" fmla="*/ 106 w 1032"/>
                <a:gd name="T25" fmla="*/ 559 h 819"/>
                <a:gd name="T26" fmla="*/ 167 w 1032"/>
                <a:gd name="T27" fmla="*/ 463 h 819"/>
                <a:gd name="T28" fmla="*/ 260 w 1032"/>
                <a:gd name="T29" fmla="*/ 354 h 819"/>
                <a:gd name="T30" fmla="*/ 322 w 1032"/>
                <a:gd name="T31" fmla="*/ 668 h 819"/>
                <a:gd name="T32" fmla="*/ 442 w 1032"/>
                <a:gd name="T33" fmla="*/ 281 h 819"/>
                <a:gd name="T34" fmla="*/ 491 w 1032"/>
                <a:gd name="T35" fmla="*/ 381 h 819"/>
                <a:gd name="T36" fmla="*/ 530 w 1032"/>
                <a:gd name="T37" fmla="*/ 428 h 819"/>
                <a:gd name="T38" fmla="*/ 578 w 1032"/>
                <a:gd name="T39" fmla="*/ 460 h 819"/>
                <a:gd name="T40" fmla="*/ 635 w 1032"/>
                <a:gd name="T41" fmla="*/ 479 h 819"/>
                <a:gd name="T42" fmla="*/ 682 w 1032"/>
                <a:gd name="T43" fmla="*/ 480 h 819"/>
                <a:gd name="T44" fmla="*/ 741 w 1032"/>
                <a:gd name="T45" fmla="*/ 466 h 819"/>
                <a:gd name="T46" fmla="*/ 792 w 1032"/>
                <a:gd name="T47" fmla="*/ 437 h 819"/>
                <a:gd name="T48" fmla="*/ 833 w 1032"/>
                <a:gd name="T49" fmla="*/ 394 h 819"/>
                <a:gd name="T50" fmla="*/ 891 w 1032"/>
                <a:gd name="T51" fmla="*/ 281 h 819"/>
                <a:gd name="T52" fmla="*/ 967 w 1032"/>
                <a:gd name="T53" fmla="*/ 284 h 819"/>
                <a:gd name="T54" fmla="*/ 1029 w 1032"/>
                <a:gd name="T55" fmla="*/ 206 h 819"/>
                <a:gd name="T56" fmla="*/ 1031 w 1032"/>
                <a:gd name="T57" fmla="*/ 188 h 819"/>
                <a:gd name="T58" fmla="*/ 994 w 1032"/>
                <a:gd name="T59" fmla="*/ 139 h 819"/>
                <a:gd name="T60" fmla="*/ 939 w 1032"/>
                <a:gd name="T61" fmla="*/ 110 h 819"/>
                <a:gd name="T62" fmla="*/ 897 w 1032"/>
                <a:gd name="T63" fmla="*/ 104 h 819"/>
                <a:gd name="T64" fmla="*/ 866 w 1032"/>
                <a:gd name="T65" fmla="*/ 108 h 819"/>
                <a:gd name="T66" fmla="*/ 818 w 1032"/>
                <a:gd name="T67" fmla="*/ 127 h 819"/>
                <a:gd name="T68" fmla="*/ 764 w 1032"/>
                <a:gd name="T69" fmla="*/ 186 h 819"/>
                <a:gd name="T70" fmla="*/ 694 w 1032"/>
                <a:gd name="T71" fmla="*/ 332 h 819"/>
                <a:gd name="T72" fmla="*/ 666 w 1032"/>
                <a:gd name="T73" fmla="*/ 344 h 819"/>
                <a:gd name="T74" fmla="*/ 643 w 1032"/>
                <a:gd name="T75" fmla="*/ 336 h 819"/>
                <a:gd name="T76" fmla="*/ 569 w 1032"/>
                <a:gd name="T77" fmla="*/ 186 h 819"/>
                <a:gd name="T78" fmla="*/ 546 w 1032"/>
                <a:gd name="T79" fmla="*/ 153 h 819"/>
                <a:gd name="T80" fmla="*/ 549 w 1032"/>
                <a:gd name="T81" fmla="*/ 99 h 819"/>
                <a:gd name="T82" fmla="*/ 652 w 1032"/>
                <a:gd name="T83" fmla="*/ 28 h 819"/>
                <a:gd name="T84" fmla="*/ 682 w 1032"/>
                <a:gd name="T85" fmla="*/ 6 h 819"/>
                <a:gd name="T86" fmla="*/ 678 w 1032"/>
                <a:gd name="T87" fmla="*/ 0 h 819"/>
                <a:gd name="T88" fmla="*/ 658 w 1032"/>
                <a:gd name="T89" fmla="*/ 8 h 819"/>
                <a:gd name="T90" fmla="*/ 540 w 1032"/>
                <a:gd name="T91" fmla="*/ 80 h 819"/>
                <a:gd name="T92" fmla="*/ 489 w 1032"/>
                <a:gd name="T93" fmla="*/ 114 h 819"/>
                <a:gd name="T94" fmla="*/ 436 w 1032"/>
                <a:gd name="T95" fmla="*/ 104 h 819"/>
                <a:gd name="T96" fmla="*/ 391 w 1032"/>
                <a:gd name="T97" fmla="*/ 111 h 819"/>
                <a:gd name="T98" fmla="*/ 342 w 1032"/>
                <a:gd name="T99" fmla="*/ 138 h 819"/>
                <a:gd name="T100" fmla="*/ 305 w 1032"/>
                <a:gd name="T101" fmla="*/ 182 h 819"/>
                <a:gd name="T102" fmla="*/ 289 w 1032"/>
                <a:gd name="T103" fmla="*/ 237 h 819"/>
                <a:gd name="T104" fmla="*/ 249 w 1032"/>
                <a:gd name="T105" fmla="*/ 308 h 819"/>
                <a:gd name="T106" fmla="*/ 116 w 1032"/>
                <a:gd name="T107" fmla="*/ 451 h 819"/>
                <a:gd name="T108" fmla="*/ 31 w 1032"/>
                <a:gd name="T109" fmla="*/ 580 h 819"/>
                <a:gd name="T110" fmla="*/ 2 w 1032"/>
                <a:gd name="T111" fmla="*/ 662 h 819"/>
                <a:gd name="T112" fmla="*/ 1 w 1032"/>
                <a:gd name="T113" fmla="*/ 708 h 819"/>
                <a:gd name="T114" fmla="*/ 16 w 1032"/>
                <a:gd name="T115" fmla="*/ 745 h 819"/>
                <a:gd name="T116" fmla="*/ 46 w 1032"/>
                <a:gd name="T117" fmla="*/ 772 h 819"/>
                <a:gd name="T118" fmla="*/ 104 w 1032"/>
                <a:gd name="T119" fmla="*/ 786 h 819"/>
                <a:gd name="T120" fmla="*/ 179 w 1032"/>
                <a:gd name="T121" fmla="*/ 777 h 819"/>
                <a:gd name="T122" fmla="*/ 289 w 1032"/>
                <a:gd name="T123" fmla="*/ 739 h 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2" h="819">
                  <a:moveTo>
                    <a:pt x="289" y="819"/>
                  </a:moveTo>
                  <a:lnTo>
                    <a:pt x="442" y="819"/>
                  </a:lnTo>
                  <a:lnTo>
                    <a:pt x="442" y="660"/>
                  </a:lnTo>
                  <a:lnTo>
                    <a:pt x="442" y="660"/>
                  </a:lnTo>
                  <a:lnTo>
                    <a:pt x="506" y="620"/>
                  </a:lnTo>
                  <a:lnTo>
                    <a:pt x="569" y="579"/>
                  </a:lnTo>
                  <a:lnTo>
                    <a:pt x="569" y="579"/>
                  </a:lnTo>
                  <a:lnTo>
                    <a:pt x="582" y="569"/>
                  </a:lnTo>
                  <a:lnTo>
                    <a:pt x="593" y="559"/>
                  </a:lnTo>
                  <a:lnTo>
                    <a:pt x="593" y="559"/>
                  </a:lnTo>
                  <a:lnTo>
                    <a:pt x="596" y="557"/>
                  </a:lnTo>
                  <a:lnTo>
                    <a:pt x="598" y="553"/>
                  </a:lnTo>
                  <a:lnTo>
                    <a:pt x="598" y="551"/>
                  </a:lnTo>
                  <a:lnTo>
                    <a:pt x="598" y="550"/>
                  </a:lnTo>
                  <a:lnTo>
                    <a:pt x="595" y="549"/>
                  </a:lnTo>
                  <a:lnTo>
                    <a:pt x="594" y="549"/>
                  </a:lnTo>
                  <a:lnTo>
                    <a:pt x="588" y="550"/>
                  </a:lnTo>
                  <a:lnTo>
                    <a:pt x="588" y="550"/>
                  </a:lnTo>
                  <a:lnTo>
                    <a:pt x="560" y="567"/>
                  </a:lnTo>
                  <a:lnTo>
                    <a:pt x="560" y="567"/>
                  </a:lnTo>
                  <a:lnTo>
                    <a:pt x="517" y="593"/>
                  </a:lnTo>
                  <a:lnTo>
                    <a:pt x="474" y="619"/>
                  </a:lnTo>
                  <a:lnTo>
                    <a:pt x="435" y="640"/>
                  </a:lnTo>
                  <a:lnTo>
                    <a:pt x="397" y="661"/>
                  </a:lnTo>
                  <a:lnTo>
                    <a:pt x="361" y="678"/>
                  </a:lnTo>
                  <a:lnTo>
                    <a:pt x="326" y="692"/>
                  </a:lnTo>
                  <a:lnTo>
                    <a:pt x="295" y="703"/>
                  </a:lnTo>
                  <a:lnTo>
                    <a:pt x="264" y="713"/>
                  </a:lnTo>
                  <a:lnTo>
                    <a:pt x="237" y="719"/>
                  </a:lnTo>
                  <a:lnTo>
                    <a:pt x="210" y="722"/>
                  </a:lnTo>
                  <a:lnTo>
                    <a:pt x="187" y="724"/>
                  </a:lnTo>
                  <a:lnTo>
                    <a:pt x="175" y="722"/>
                  </a:lnTo>
                  <a:lnTo>
                    <a:pt x="165" y="721"/>
                  </a:lnTo>
                  <a:lnTo>
                    <a:pt x="156" y="720"/>
                  </a:lnTo>
                  <a:lnTo>
                    <a:pt x="146" y="716"/>
                  </a:lnTo>
                  <a:lnTo>
                    <a:pt x="138" y="713"/>
                  </a:lnTo>
                  <a:lnTo>
                    <a:pt x="129" y="709"/>
                  </a:lnTo>
                  <a:lnTo>
                    <a:pt x="121" y="704"/>
                  </a:lnTo>
                  <a:lnTo>
                    <a:pt x="115" y="698"/>
                  </a:lnTo>
                  <a:lnTo>
                    <a:pt x="107" y="692"/>
                  </a:lnTo>
                  <a:lnTo>
                    <a:pt x="101" y="685"/>
                  </a:lnTo>
                  <a:lnTo>
                    <a:pt x="101" y="685"/>
                  </a:lnTo>
                  <a:lnTo>
                    <a:pt x="98" y="678"/>
                  </a:lnTo>
                  <a:lnTo>
                    <a:pt x="94" y="670"/>
                  </a:lnTo>
                  <a:lnTo>
                    <a:pt x="91" y="663"/>
                  </a:lnTo>
                  <a:lnTo>
                    <a:pt x="89" y="655"/>
                  </a:lnTo>
                  <a:lnTo>
                    <a:pt x="87" y="648"/>
                  </a:lnTo>
                  <a:lnTo>
                    <a:pt x="87" y="639"/>
                  </a:lnTo>
                  <a:lnTo>
                    <a:pt x="88" y="621"/>
                  </a:lnTo>
                  <a:lnTo>
                    <a:pt x="92" y="602"/>
                  </a:lnTo>
                  <a:lnTo>
                    <a:pt x="98" y="581"/>
                  </a:lnTo>
                  <a:lnTo>
                    <a:pt x="106" y="559"/>
                  </a:lnTo>
                  <a:lnTo>
                    <a:pt x="118" y="536"/>
                  </a:lnTo>
                  <a:lnTo>
                    <a:pt x="132" y="512"/>
                  </a:lnTo>
                  <a:lnTo>
                    <a:pt x="148" y="488"/>
                  </a:lnTo>
                  <a:lnTo>
                    <a:pt x="167" y="463"/>
                  </a:lnTo>
                  <a:lnTo>
                    <a:pt x="187" y="436"/>
                  </a:lnTo>
                  <a:lnTo>
                    <a:pt x="210" y="410"/>
                  </a:lnTo>
                  <a:lnTo>
                    <a:pt x="234" y="383"/>
                  </a:lnTo>
                  <a:lnTo>
                    <a:pt x="260" y="354"/>
                  </a:lnTo>
                  <a:lnTo>
                    <a:pt x="289" y="326"/>
                  </a:lnTo>
                  <a:lnTo>
                    <a:pt x="289" y="681"/>
                  </a:lnTo>
                  <a:lnTo>
                    <a:pt x="289" y="681"/>
                  </a:lnTo>
                  <a:lnTo>
                    <a:pt x="322" y="668"/>
                  </a:lnTo>
                  <a:lnTo>
                    <a:pt x="359" y="652"/>
                  </a:lnTo>
                  <a:lnTo>
                    <a:pt x="400" y="633"/>
                  </a:lnTo>
                  <a:lnTo>
                    <a:pt x="442" y="610"/>
                  </a:lnTo>
                  <a:lnTo>
                    <a:pt x="442" y="281"/>
                  </a:lnTo>
                  <a:lnTo>
                    <a:pt x="476" y="353"/>
                  </a:lnTo>
                  <a:lnTo>
                    <a:pt x="476" y="353"/>
                  </a:lnTo>
                  <a:lnTo>
                    <a:pt x="483" y="367"/>
                  </a:lnTo>
                  <a:lnTo>
                    <a:pt x="491" y="381"/>
                  </a:lnTo>
                  <a:lnTo>
                    <a:pt x="500" y="394"/>
                  </a:lnTo>
                  <a:lnTo>
                    <a:pt x="509" y="406"/>
                  </a:lnTo>
                  <a:lnTo>
                    <a:pt x="519" y="418"/>
                  </a:lnTo>
                  <a:lnTo>
                    <a:pt x="530" y="428"/>
                  </a:lnTo>
                  <a:lnTo>
                    <a:pt x="541" y="437"/>
                  </a:lnTo>
                  <a:lnTo>
                    <a:pt x="553" y="446"/>
                  </a:lnTo>
                  <a:lnTo>
                    <a:pt x="565" y="454"/>
                  </a:lnTo>
                  <a:lnTo>
                    <a:pt x="578" y="460"/>
                  </a:lnTo>
                  <a:lnTo>
                    <a:pt x="592" y="466"/>
                  </a:lnTo>
                  <a:lnTo>
                    <a:pt x="606" y="471"/>
                  </a:lnTo>
                  <a:lnTo>
                    <a:pt x="621" y="475"/>
                  </a:lnTo>
                  <a:lnTo>
                    <a:pt x="635" y="479"/>
                  </a:lnTo>
                  <a:lnTo>
                    <a:pt x="651" y="480"/>
                  </a:lnTo>
                  <a:lnTo>
                    <a:pt x="666" y="480"/>
                  </a:lnTo>
                  <a:lnTo>
                    <a:pt x="666" y="480"/>
                  </a:lnTo>
                  <a:lnTo>
                    <a:pt x="682" y="480"/>
                  </a:lnTo>
                  <a:lnTo>
                    <a:pt x="698" y="479"/>
                  </a:lnTo>
                  <a:lnTo>
                    <a:pt x="712" y="475"/>
                  </a:lnTo>
                  <a:lnTo>
                    <a:pt x="727" y="471"/>
                  </a:lnTo>
                  <a:lnTo>
                    <a:pt x="741" y="466"/>
                  </a:lnTo>
                  <a:lnTo>
                    <a:pt x="755" y="460"/>
                  </a:lnTo>
                  <a:lnTo>
                    <a:pt x="768" y="454"/>
                  </a:lnTo>
                  <a:lnTo>
                    <a:pt x="780" y="446"/>
                  </a:lnTo>
                  <a:lnTo>
                    <a:pt x="792" y="437"/>
                  </a:lnTo>
                  <a:lnTo>
                    <a:pt x="803" y="428"/>
                  </a:lnTo>
                  <a:lnTo>
                    <a:pt x="814" y="418"/>
                  </a:lnTo>
                  <a:lnTo>
                    <a:pt x="823" y="406"/>
                  </a:lnTo>
                  <a:lnTo>
                    <a:pt x="833" y="394"/>
                  </a:lnTo>
                  <a:lnTo>
                    <a:pt x="841" y="381"/>
                  </a:lnTo>
                  <a:lnTo>
                    <a:pt x="850" y="367"/>
                  </a:lnTo>
                  <a:lnTo>
                    <a:pt x="857" y="353"/>
                  </a:lnTo>
                  <a:lnTo>
                    <a:pt x="891" y="281"/>
                  </a:lnTo>
                  <a:lnTo>
                    <a:pt x="891" y="365"/>
                  </a:lnTo>
                  <a:lnTo>
                    <a:pt x="891" y="365"/>
                  </a:lnTo>
                  <a:lnTo>
                    <a:pt x="931" y="324"/>
                  </a:lnTo>
                  <a:lnTo>
                    <a:pt x="967" y="284"/>
                  </a:lnTo>
                  <a:lnTo>
                    <a:pt x="1000" y="246"/>
                  </a:lnTo>
                  <a:lnTo>
                    <a:pt x="1015" y="225"/>
                  </a:lnTo>
                  <a:lnTo>
                    <a:pt x="1029" y="206"/>
                  </a:lnTo>
                  <a:lnTo>
                    <a:pt x="1029" y="206"/>
                  </a:lnTo>
                  <a:lnTo>
                    <a:pt x="1031" y="201"/>
                  </a:lnTo>
                  <a:lnTo>
                    <a:pt x="1032" y="197"/>
                  </a:lnTo>
                  <a:lnTo>
                    <a:pt x="1032" y="192"/>
                  </a:lnTo>
                  <a:lnTo>
                    <a:pt x="1031" y="188"/>
                  </a:lnTo>
                  <a:lnTo>
                    <a:pt x="1031" y="188"/>
                  </a:lnTo>
                  <a:lnTo>
                    <a:pt x="1020" y="171"/>
                  </a:lnTo>
                  <a:lnTo>
                    <a:pt x="1008" y="154"/>
                  </a:lnTo>
                  <a:lnTo>
                    <a:pt x="994" y="139"/>
                  </a:lnTo>
                  <a:lnTo>
                    <a:pt x="977" y="127"/>
                  </a:lnTo>
                  <a:lnTo>
                    <a:pt x="959" y="118"/>
                  </a:lnTo>
                  <a:lnTo>
                    <a:pt x="950" y="114"/>
                  </a:lnTo>
                  <a:lnTo>
                    <a:pt x="939" y="110"/>
                  </a:lnTo>
                  <a:lnTo>
                    <a:pt x="930" y="108"/>
                  </a:lnTo>
                  <a:lnTo>
                    <a:pt x="919" y="105"/>
                  </a:lnTo>
                  <a:lnTo>
                    <a:pt x="908" y="104"/>
                  </a:lnTo>
                  <a:lnTo>
                    <a:pt x="897" y="104"/>
                  </a:lnTo>
                  <a:lnTo>
                    <a:pt x="897" y="104"/>
                  </a:lnTo>
                  <a:lnTo>
                    <a:pt x="886" y="104"/>
                  </a:lnTo>
                  <a:lnTo>
                    <a:pt x="876" y="105"/>
                  </a:lnTo>
                  <a:lnTo>
                    <a:pt x="866" y="108"/>
                  </a:lnTo>
                  <a:lnTo>
                    <a:pt x="856" y="110"/>
                  </a:lnTo>
                  <a:lnTo>
                    <a:pt x="845" y="114"/>
                  </a:lnTo>
                  <a:lnTo>
                    <a:pt x="837" y="118"/>
                  </a:lnTo>
                  <a:lnTo>
                    <a:pt x="818" y="127"/>
                  </a:lnTo>
                  <a:lnTo>
                    <a:pt x="802" y="139"/>
                  </a:lnTo>
                  <a:lnTo>
                    <a:pt x="787" y="154"/>
                  </a:lnTo>
                  <a:lnTo>
                    <a:pt x="775" y="169"/>
                  </a:lnTo>
                  <a:lnTo>
                    <a:pt x="764" y="186"/>
                  </a:lnTo>
                  <a:lnTo>
                    <a:pt x="700" y="324"/>
                  </a:lnTo>
                  <a:lnTo>
                    <a:pt x="700" y="324"/>
                  </a:lnTo>
                  <a:lnTo>
                    <a:pt x="697" y="329"/>
                  </a:lnTo>
                  <a:lnTo>
                    <a:pt x="694" y="332"/>
                  </a:lnTo>
                  <a:lnTo>
                    <a:pt x="691" y="336"/>
                  </a:lnTo>
                  <a:lnTo>
                    <a:pt x="686" y="340"/>
                  </a:lnTo>
                  <a:lnTo>
                    <a:pt x="677" y="343"/>
                  </a:lnTo>
                  <a:lnTo>
                    <a:pt x="666" y="344"/>
                  </a:lnTo>
                  <a:lnTo>
                    <a:pt x="666" y="344"/>
                  </a:lnTo>
                  <a:lnTo>
                    <a:pt x="657" y="343"/>
                  </a:lnTo>
                  <a:lnTo>
                    <a:pt x="647" y="340"/>
                  </a:lnTo>
                  <a:lnTo>
                    <a:pt x="643" y="336"/>
                  </a:lnTo>
                  <a:lnTo>
                    <a:pt x="639" y="332"/>
                  </a:lnTo>
                  <a:lnTo>
                    <a:pt x="636" y="329"/>
                  </a:lnTo>
                  <a:lnTo>
                    <a:pt x="634" y="324"/>
                  </a:lnTo>
                  <a:lnTo>
                    <a:pt x="569" y="186"/>
                  </a:lnTo>
                  <a:lnTo>
                    <a:pt x="569" y="186"/>
                  </a:lnTo>
                  <a:lnTo>
                    <a:pt x="564" y="178"/>
                  </a:lnTo>
                  <a:lnTo>
                    <a:pt x="558" y="169"/>
                  </a:lnTo>
                  <a:lnTo>
                    <a:pt x="546" y="153"/>
                  </a:lnTo>
                  <a:lnTo>
                    <a:pt x="530" y="139"/>
                  </a:lnTo>
                  <a:lnTo>
                    <a:pt x="514" y="127"/>
                  </a:lnTo>
                  <a:lnTo>
                    <a:pt x="514" y="127"/>
                  </a:lnTo>
                  <a:lnTo>
                    <a:pt x="549" y="99"/>
                  </a:lnTo>
                  <a:lnTo>
                    <a:pt x="583" y="74"/>
                  </a:lnTo>
                  <a:lnTo>
                    <a:pt x="618" y="50"/>
                  </a:lnTo>
                  <a:lnTo>
                    <a:pt x="652" y="28"/>
                  </a:lnTo>
                  <a:lnTo>
                    <a:pt x="652" y="28"/>
                  </a:lnTo>
                  <a:lnTo>
                    <a:pt x="666" y="19"/>
                  </a:lnTo>
                  <a:lnTo>
                    <a:pt x="678" y="10"/>
                  </a:lnTo>
                  <a:lnTo>
                    <a:pt x="678" y="10"/>
                  </a:lnTo>
                  <a:lnTo>
                    <a:pt x="682" y="6"/>
                  </a:lnTo>
                  <a:lnTo>
                    <a:pt x="682" y="4"/>
                  </a:lnTo>
                  <a:lnTo>
                    <a:pt x="682" y="2"/>
                  </a:lnTo>
                  <a:lnTo>
                    <a:pt x="681" y="0"/>
                  </a:lnTo>
                  <a:lnTo>
                    <a:pt x="678" y="0"/>
                  </a:lnTo>
                  <a:lnTo>
                    <a:pt x="675" y="0"/>
                  </a:lnTo>
                  <a:lnTo>
                    <a:pt x="671" y="2"/>
                  </a:lnTo>
                  <a:lnTo>
                    <a:pt x="671" y="2"/>
                  </a:lnTo>
                  <a:lnTo>
                    <a:pt x="658" y="8"/>
                  </a:lnTo>
                  <a:lnTo>
                    <a:pt x="643" y="16"/>
                  </a:lnTo>
                  <a:lnTo>
                    <a:pt x="643" y="16"/>
                  </a:lnTo>
                  <a:lnTo>
                    <a:pt x="575" y="58"/>
                  </a:lnTo>
                  <a:lnTo>
                    <a:pt x="540" y="80"/>
                  </a:lnTo>
                  <a:lnTo>
                    <a:pt x="506" y="103"/>
                  </a:lnTo>
                  <a:lnTo>
                    <a:pt x="506" y="103"/>
                  </a:lnTo>
                  <a:lnTo>
                    <a:pt x="489" y="114"/>
                  </a:lnTo>
                  <a:lnTo>
                    <a:pt x="489" y="114"/>
                  </a:lnTo>
                  <a:lnTo>
                    <a:pt x="477" y="110"/>
                  </a:lnTo>
                  <a:lnTo>
                    <a:pt x="464" y="107"/>
                  </a:lnTo>
                  <a:lnTo>
                    <a:pt x="450" y="105"/>
                  </a:lnTo>
                  <a:lnTo>
                    <a:pt x="436" y="104"/>
                  </a:lnTo>
                  <a:lnTo>
                    <a:pt x="436" y="104"/>
                  </a:lnTo>
                  <a:lnTo>
                    <a:pt x="420" y="105"/>
                  </a:lnTo>
                  <a:lnTo>
                    <a:pt x="406" y="108"/>
                  </a:lnTo>
                  <a:lnTo>
                    <a:pt x="391" y="111"/>
                  </a:lnTo>
                  <a:lnTo>
                    <a:pt x="378" y="116"/>
                  </a:lnTo>
                  <a:lnTo>
                    <a:pt x="366" y="122"/>
                  </a:lnTo>
                  <a:lnTo>
                    <a:pt x="353" y="130"/>
                  </a:lnTo>
                  <a:lnTo>
                    <a:pt x="342" y="138"/>
                  </a:lnTo>
                  <a:lnTo>
                    <a:pt x="331" y="148"/>
                  </a:lnTo>
                  <a:lnTo>
                    <a:pt x="321" y="159"/>
                  </a:lnTo>
                  <a:lnTo>
                    <a:pt x="313" y="169"/>
                  </a:lnTo>
                  <a:lnTo>
                    <a:pt x="305" y="182"/>
                  </a:lnTo>
                  <a:lnTo>
                    <a:pt x="299" y="195"/>
                  </a:lnTo>
                  <a:lnTo>
                    <a:pt x="295" y="208"/>
                  </a:lnTo>
                  <a:lnTo>
                    <a:pt x="291" y="223"/>
                  </a:lnTo>
                  <a:lnTo>
                    <a:pt x="289" y="237"/>
                  </a:lnTo>
                  <a:lnTo>
                    <a:pt x="289" y="252"/>
                  </a:lnTo>
                  <a:lnTo>
                    <a:pt x="289" y="272"/>
                  </a:lnTo>
                  <a:lnTo>
                    <a:pt x="289" y="272"/>
                  </a:lnTo>
                  <a:lnTo>
                    <a:pt x="249" y="308"/>
                  </a:lnTo>
                  <a:lnTo>
                    <a:pt x="211" y="344"/>
                  </a:lnTo>
                  <a:lnTo>
                    <a:pt x="176" y="381"/>
                  </a:lnTo>
                  <a:lnTo>
                    <a:pt x="145" y="416"/>
                  </a:lnTo>
                  <a:lnTo>
                    <a:pt x="116" y="451"/>
                  </a:lnTo>
                  <a:lnTo>
                    <a:pt x="91" y="485"/>
                  </a:lnTo>
                  <a:lnTo>
                    <a:pt x="68" y="517"/>
                  </a:lnTo>
                  <a:lnTo>
                    <a:pt x="47" y="550"/>
                  </a:lnTo>
                  <a:lnTo>
                    <a:pt x="31" y="580"/>
                  </a:lnTo>
                  <a:lnTo>
                    <a:pt x="18" y="609"/>
                  </a:lnTo>
                  <a:lnTo>
                    <a:pt x="8" y="637"/>
                  </a:lnTo>
                  <a:lnTo>
                    <a:pt x="5" y="650"/>
                  </a:lnTo>
                  <a:lnTo>
                    <a:pt x="2" y="662"/>
                  </a:lnTo>
                  <a:lnTo>
                    <a:pt x="0" y="674"/>
                  </a:lnTo>
                  <a:lnTo>
                    <a:pt x="0" y="686"/>
                  </a:lnTo>
                  <a:lnTo>
                    <a:pt x="0" y="697"/>
                  </a:lnTo>
                  <a:lnTo>
                    <a:pt x="1" y="708"/>
                  </a:lnTo>
                  <a:lnTo>
                    <a:pt x="4" y="718"/>
                  </a:lnTo>
                  <a:lnTo>
                    <a:pt x="6" y="727"/>
                  </a:lnTo>
                  <a:lnTo>
                    <a:pt x="11" y="737"/>
                  </a:lnTo>
                  <a:lnTo>
                    <a:pt x="16" y="745"/>
                  </a:lnTo>
                  <a:lnTo>
                    <a:pt x="16" y="745"/>
                  </a:lnTo>
                  <a:lnTo>
                    <a:pt x="24" y="756"/>
                  </a:lnTo>
                  <a:lnTo>
                    <a:pt x="35" y="765"/>
                  </a:lnTo>
                  <a:lnTo>
                    <a:pt x="46" y="772"/>
                  </a:lnTo>
                  <a:lnTo>
                    <a:pt x="59" y="778"/>
                  </a:lnTo>
                  <a:lnTo>
                    <a:pt x="72" y="783"/>
                  </a:lnTo>
                  <a:lnTo>
                    <a:pt x="88" y="785"/>
                  </a:lnTo>
                  <a:lnTo>
                    <a:pt x="104" y="786"/>
                  </a:lnTo>
                  <a:lnTo>
                    <a:pt x="122" y="786"/>
                  </a:lnTo>
                  <a:lnTo>
                    <a:pt x="140" y="784"/>
                  </a:lnTo>
                  <a:lnTo>
                    <a:pt x="158" y="782"/>
                  </a:lnTo>
                  <a:lnTo>
                    <a:pt x="179" y="777"/>
                  </a:lnTo>
                  <a:lnTo>
                    <a:pt x="199" y="772"/>
                  </a:lnTo>
                  <a:lnTo>
                    <a:pt x="220" y="765"/>
                  </a:lnTo>
                  <a:lnTo>
                    <a:pt x="243" y="757"/>
                  </a:lnTo>
                  <a:lnTo>
                    <a:pt x="289" y="739"/>
                  </a:lnTo>
                  <a:lnTo>
                    <a:pt x="289" y="8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1" name="Freeform 42">
              <a:extLst>
                <a:ext uri="{FF2B5EF4-FFF2-40B4-BE49-F238E27FC236}">
                  <a16:creationId xmlns:a16="http://schemas.microsoft.com/office/drawing/2014/main" id="{671B3B3E-DF7B-9F4D-89BB-6A75B82C225D}"/>
                </a:ext>
              </a:extLst>
            </p:cNvPr>
            <p:cNvSpPr>
              <a:spLocks noEditPoints="1"/>
            </p:cNvSpPr>
            <p:nvPr/>
          </p:nvSpPr>
          <p:spPr bwMode="auto">
            <a:xfrm>
              <a:off x="4046538" y="938213"/>
              <a:ext cx="69850" cy="68263"/>
            </a:xfrm>
            <a:custGeom>
              <a:avLst/>
              <a:gdLst>
                <a:gd name="T0" fmla="*/ 0 w 87"/>
                <a:gd name="T1" fmla="*/ 44 h 87"/>
                <a:gd name="T2" fmla="*/ 4 w 87"/>
                <a:gd name="T3" fmla="*/ 27 h 87"/>
                <a:gd name="T4" fmla="*/ 14 w 87"/>
                <a:gd name="T5" fmla="*/ 12 h 87"/>
                <a:gd name="T6" fmla="*/ 27 w 87"/>
                <a:gd name="T7" fmla="*/ 4 h 87"/>
                <a:gd name="T8" fmla="*/ 44 w 87"/>
                <a:gd name="T9" fmla="*/ 0 h 87"/>
                <a:gd name="T10" fmla="*/ 52 w 87"/>
                <a:gd name="T11" fmla="*/ 0 h 87"/>
                <a:gd name="T12" fmla="*/ 68 w 87"/>
                <a:gd name="T13" fmla="*/ 7 h 87"/>
                <a:gd name="T14" fmla="*/ 80 w 87"/>
                <a:gd name="T15" fmla="*/ 19 h 87"/>
                <a:gd name="T16" fmla="*/ 86 w 87"/>
                <a:gd name="T17" fmla="*/ 35 h 87"/>
                <a:gd name="T18" fmla="*/ 87 w 87"/>
                <a:gd name="T19" fmla="*/ 44 h 87"/>
                <a:gd name="T20" fmla="*/ 84 w 87"/>
                <a:gd name="T21" fmla="*/ 61 h 87"/>
                <a:gd name="T22" fmla="*/ 75 w 87"/>
                <a:gd name="T23" fmla="*/ 74 h 87"/>
                <a:gd name="T24" fmla="*/ 61 w 87"/>
                <a:gd name="T25" fmla="*/ 83 h 87"/>
                <a:gd name="T26" fmla="*/ 44 w 87"/>
                <a:gd name="T27" fmla="*/ 87 h 87"/>
                <a:gd name="T28" fmla="*/ 35 w 87"/>
                <a:gd name="T29" fmla="*/ 86 h 87"/>
                <a:gd name="T30" fmla="*/ 20 w 87"/>
                <a:gd name="T31" fmla="*/ 80 h 87"/>
                <a:gd name="T32" fmla="*/ 8 w 87"/>
                <a:gd name="T33" fmla="*/ 68 h 87"/>
                <a:gd name="T34" fmla="*/ 2 w 87"/>
                <a:gd name="T35" fmla="*/ 52 h 87"/>
                <a:gd name="T36" fmla="*/ 0 w 87"/>
                <a:gd name="T37" fmla="*/ 44 h 87"/>
                <a:gd name="T38" fmla="*/ 76 w 87"/>
                <a:gd name="T39" fmla="*/ 44 h 87"/>
                <a:gd name="T40" fmla="*/ 74 w 87"/>
                <a:gd name="T41" fmla="*/ 29 h 87"/>
                <a:gd name="T42" fmla="*/ 67 w 87"/>
                <a:gd name="T43" fmla="*/ 18 h 87"/>
                <a:gd name="T44" fmla="*/ 57 w 87"/>
                <a:gd name="T45" fmla="*/ 11 h 87"/>
                <a:gd name="T46" fmla="*/ 44 w 87"/>
                <a:gd name="T47" fmla="*/ 9 h 87"/>
                <a:gd name="T48" fmla="*/ 38 w 87"/>
                <a:gd name="T49" fmla="*/ 9 h 87"/>
                <a:gd name="T50" fmla="*/ 26 w 87"/>
                <a:gd name="T51" fmla="*/ 13 h 87"/>
                <a:gd name="T52" fmla="*/ 16 w 87"/>
                <a:gd name="T53" fmla="*/ 23 h 87"/>
                <a:gd name="T54" fmla="*/ 11 w 87"/>
                <a:gd name="T55" fmla="*/ 36 h 87"/>
                <a:gd name="T56" fmla="*/ 11 w 87"/>
                <a:gd name="T57" fmla="*/ 44 h 87"/>
                <a:gd name="T58" fmla="*/ 14 w 87"/>
                <a:gd name="T59" fmla="*/ 57 h 87"/>
                <a:gd name="T60" fmla="*/ 21 w 87"/>
                <a:gd name="T61" fmla="*/ 69 h 87"/>
                <a:gd name="T62" fmla="*/ 31 w 87"/>
                <a:gd name="T63" fmla="*/ 76 h 87"/>
                <a:gd name="T64" fmla="*/ 44 w 87"/>
                <a:gd name="T65" fmla="*/ 79 h 87"/>
                <a:gd name="T66" fmla="*/ 51 w 87"/>
                <a:gd name="T67" fmla="*/ 77 h 87"/>
                <a:gd name="T68" fmla="*/ 62 w 87"/>
                <a:gd name="T69" fmla="*/ 73 h 87"/>
                <a:gd name="T70" fmla="*/ 72 w 87"/>
                <a:gd name="T71" fmla="*/ 63 h 87"/>
                <a:gd name="T72" fmla="*/ 76 w 87"/>
                <a:gd name="T73" fmla="*/ 51 h 87"/>
                <a:gd name="T74" fmla="*/ 76 w 87"/>
                <a:gd name="T75" fmla="*/ 44 h 87"/>
                <a:gd name="T76" fmla="*/ 45 w 87"/>
                <a:gd name="T77" fmla="*/ 18 h 87"/>
                <a:gd name="T78" fmla="*/ 53 w 87"/>
                <a:gd name="T79" fmla="*/ 19 h 87"/>
                <a:gd name="T80" fmla="*/ 61 w 87"/>
                <a:gd name="T81" fmla="*/ 24 h 87"/>
                <a:gd name="T82" fmla="*/ 63 w 87"/>
                <a:gd name="T83" fmla="*/ 33 h 87"/>
                <a:gd name="T84" fmla="*/ 63 w 87"/>
                <a:gd name="T85" fmla="*/ 39 h 87"/>
                <a:gd name="T86" fmla="*/ 56 w 87"/>
                <a:gd name="T87" fmla="*/ 45 h 87"/>
                <a:gd name="T88" fmla="*/ 64 w 87"/>
                <a:gd name="T89" fmla="*/ 68 h 87"/>
                <a:gd name="T90" fmla="*/ 41 w 87"/>
                <a:gd name="T91" fmla="*/ 47 h 87"/>
                <a:gd name="T92" fmla="*/ 37 w 87"/>
                <a:gd name="T93" fmla="*/ 68 h 87"/>
                <a:gd name="T94" fmla="*/ 27 w 87"/>
                <a:gd name="T95" fmla="*/ 18 h 87"/>
                <a:gd name="T96" fmla="*/ 44 w 87"/>
                <a:gd name="T97" fmla="*/ 40 h 87"/>
                <a:gd name="T98" fmla="*/ 49 w 87"/>
                <a:gd name="T99" fmla="*/ 40 h 87"/>
                <a:gd name="T100" fmla="*/ 53 w 87"/>
                <a:gd name="T101" fmla="*/ 36 h 87"/>
                <a:gd name="T102" fmla="*/ 55 w 87"/>
                <a:gd name="T103" fmla="*/ 33 h 87"/>
                <a:gd name="T104" fmla="*/ 51 w 87"/>
                <a:gd name="T105" fmla="*/ 27 h 87"/>
                <a:gd name="T106" fmla="*/ 45 w 87"/>
                <a:gd name="T107" fmla="*/ 26 h 87"/>
                <a:gd name="T108" fmla="*/ 37 w 87"/>
                <a:gd name="T109"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7" h="87">
                  <a:moveTo>
                    <a:pt x="0" y="44"/>
                  </a:moveTo>
                  <a:lnTo>
                    <a:pt x="0" y="44"/>
                  </a:lnTo>
                  <a:lnTo>
                    <a:pt x="2" y="35"/>
                  </a:lnTo>
                  <a:lnTo>
                    <a:pt x="4" y="27"/>
                  </a:lnTo>
                  <a:lnTo>
                    <a:pt x="8" y="19"/>
                  </a:lnTo>
                  <a:lnTo>
                    <a:pt x="14" y="12"/>
                  </a:lnTo>
                  <a:lnTo>
                    <a:pt x="20" y="7"/>
                  </a:lnTo>
                  <a:lnTo>
                    <a:pt x="27" y="4"/>
                  </a:lnTo>
                  <a:lnTo>
                    <a:pt x="35" y="0"/>
                  </a:lnTo>
                  <a:lnTo>
                    <a:pt x="44" y="0"/>
                  </a:lnTo>
                  <a:lnTo>
                    <a:pt x="44" y="0"/>
                  </a:lnTo>
                  <a:lnTo>
                    <a:pt x="52" y="0"/>
                  </a:lnTo>
                  <a:lnTo>
                    <a:pt x="61" y="4"/>
                  </a:lnTo>
                  <a:lnTo>
                    <a:pt x="68" y="7"/>
                  </a:lnTo>
                  <a:lnTo>
                    <a:pt x="75" y="12"/>
                  </a:lnTo>
                  <a:lnTo>
                    <a:pt x="80" y="19"/>
                  </a:lnTo>
                  <a:lnTo>
                    <a:pt x="84" y="27"/>
                  </a:lnTo>
                  <a:lnTo>
                    <a:pt x="86" y="35"/>
                  </a:lnTo>
                  <a:lnTo>
                    <a:pt x="87" y="44"/>
                  </a:lnTo>
                  <a:lnTo>
                    <a:pt x="87" y="44"/>
                  </a:lnTo>
                  <a:lnTo>
                    <a:pt x="86" y="52"/>
                  </a:lnTo>
                  <a:lnTo>
                    <a:pt x="84" y="61"/>
                  </a:lnTo>
                  <a:lnTo>
                    <a:pt x="80" y="68"/>
                  </a:lnTo>
                  <a:lnTo>
                    <a:pt x="75" y="74"/>
                  </a:lnTo>
                  <a:lnTo>
                    <a:pt x="68" y="80"/>
                  </a:lnTo>
                  <a:lnTo>
                    <a:pt x="61" y="83"/>
                  </a:lnTo>
                  <a:lnTo>
                    <a:pt x="52" y="86"/>
                  </a:lnTo>
                  <a:lnTo>
                    <a:pt x="44" y="87"/>
                  </a:lnTo>
                  <a:lnTo>
                    <a:pt x="44" y="87"/>
                  </a:lnTo>
                  <a:lnTo>
                    <a:pt x="35" y="86"/>
                  </a:lnTo>
                  <a:lnTo>
                    <a:pt x="27" y="83"/>
                  </a:lnTo>
                  <a:lnTo>
                    <a:pt x="20" y="80"/>
                  </a:lnTo>
                  <a:lnTo>
                    <a:pt x="14" y="74"/>
                  </a:lnTo>
                  <a:lnTo>
                    <a:pt x="8" y="68"/>
                  </a:lnTo>
                  <a:lnTo>
                    <a:pt x="4" y="61"/>
                  </a:lnTo>
                  <a:lnTo>
                    <a:pt x="2" y="52"/>
                  </a:lnTo>
                  <a:lnTo>
                    <a:pt x="0" y="44"/>
                  </a:lnTo>
                  <a:lnTo>
                    <a:pt x="0" y="44"/>
                  </a:lnTo>
                  <a:close/>
                  <a:moveTo>
                    <a:pt x="76" y="44"/>
                  </a:moveTo>
                  <a:lnTo>
                    <a:pt x="76" y="44"/>
                  </a:lnTo>
                  <a:lnTo>
                    <a:pt x="76" y="36"/>
                  </a:lnTo>
                  <a:lnTo>
                    <a:pt x="74" y="29"/>
                  </a:lnTo>
                  <a:lnTo>
                    <a:pt x="72" y="23"/>
                  </a:lnTo>
                  <a:lnTo>
                    <a:pt x="67" y="18"/>
                  </a:lnTo>
                  <a:lnTo>
                    <a:pt x="62" y="13"/>
                  </a:lnTo>
                  <a:lnTo>
                    <a:pt x="57" y="11"/>
                  </a:lnTo>
                  <a:lnTo>
                    <a:pt x="51" y="9"/>
                  </a:lnTo>
                  <a:lnTo>
                    <a:pt x="44" y="9"/>
                  </a:lnTo>
                  <a:lnTo>
                    <a:pt x="44" y="9"/>
                  </a:lnTo>
                  <a:lnTo>
                    <a:pt x="38" y="9"/>
                  </a:lnTo>
                  <a:lnTo>
                    <a:pt x="31" y="11"/>
                  </a:lnTo>
                  <a:lnTo>
                    <a:pt x="26" y="13"/>
                  </a:lnTo>
                  <a:lnTo>
                    <a:pt x="21" y="18"/>
                  </a:lnTo>
                  <a:lnTo>
                    <a:pt x="16" y="23"/>
                  </a:lnTo>
                  <a:lnTo>
                    <a:pt x="14" y="29"/>
                  </a:lnTo>
                  <a:lnTo>
                    <a:pt x="11" y="36"/>
                  </a:lnTo>
                  <a:lnTo>
                    <a:pt x="11" y="44"/>
                  </a:lnTo>
                  <a:lnTo>
                    <a:pt x="11" y="44"/>
                  </a:lnTo>
                  <a:lnTo>
                    <a:pt x="11" y="51"/>
                  </a:lnTo>
                  <a:lnTo>
                    <a:pt x="14" y="57"/>
                  </a:lnTo>
                  <a:lnTo>
                    <a:pt x="16" y="63"/>
                  </a:lnTo>
                  <a:lnTo>
                    <a:pt x="21" y="69"/>
                  </a:lnTo>
                  <a:lnTo>
                    <a:pt x="26" y="73"/>
                  </a:lnTo>
                  <a:lnTo>
                    <a:pt x="31" y="76"/>
                  </a:lnTo>
                  <a:lnTo>
                    <a:pt x="38" y="77"/>
                  </a:lnTo>
                  <a:lnTo>
                    <a:pt x="44" y="79"/>
                  </a:lnTo>
                  <a:lnTo>
                    <a:pt x="44" y="79"/>
                  </a:lnTo>
                  <a:lnTo>
                    <a:pt x="51" y="77"/>
                  </a:lnTo>
                  <a:lnTo>
                    <a:pt x="57" y="76"/>
                  </a:lnTo>
                  <a:lnTo>
                    <a:pt x="62" y="73"/>
                  </a:lnTo>
                  <a:lnTo>
                    <a:pt x="67" y="69"/>
                  </a:lnTo>
                  <a:lnTo>
                    <a:pt x="72" y="63"/>
                  </a:lnTo>
                  <a:lnTo>
                    <a:pt x="74" y="57"/>
                  </a:lnTo>
                  <a:lnTo>
                    <a:pt x="76" y="51"/>
                  </a:lnTo>
                  <a:lnTo>
                    <a:pt x="76" y="44"/>
                  </a:lnTo>
                  <a:lnTo>
                    <a:pt x="76" y="44"/>
                  </a:lnTo>
                  <a:close/>
                  <a:moveTo>
                    <a:pt x="27" y="18"/>
                  </a:moveTo>
                  <a:lnTo>
                    <a:pt x="45" y="18"/>
                  </a:lnTo>
                  <a:lnTo>
                    <a:pt x="45" y="18"/>
                  </a:lnTo>
                  <a:lnTo>
                    <a:pt x="53" y="19"/>
                  </a:lnTo>
                  <a:lnTo>
                    <a:pt x="60" y="22"/>
                  </a:lnTo>
                  <a:lnTo>
                    <a:pt x="61" y="24"/>
                  </a:lnTo>
                  <a:lnTo>
                    <a:pt x="62" y="27"/>
                  </a:lnTo>
                  <a:lnTo>
                    <a:pt x="63" y="33"/>
                  </a:lnTo>
                  <a:lnTo>
                    <a:pt x="63" y="33"/>
                  </a:lnTo>
                  <a:lnTo>
                    <a:pt x="63" y="39"/>
                  </a:lnTo>
                  <a:lnTo>
                    <a:pt x="61" y="42"/>
                  </a:lnTo>
                  <a:lnTo>
                    <a:pt x="56" y="45"/>
                  </a:lnTo>
                  <a:lnTo>
                    <a:pt x="51" y="46"/>
                  </a:lnTo>
                  <a:lnTo>
                    <a:pt x="64" y="68"/>
                  </a:lnTo>
                  <a:lnTo>
                    <a:pt x="55" y="68"/>
                  </a:lnTo>
                  <a:lnTo>
                    <a:pt x="41" y="47"/>
                  </a:lnTo>
                  <a:lnTo>
                    <a:pt x="37" y="47"/>
                  </a:lnTo>
                  <a:lnTo>
                    <a:pt x="37" y="68"/>
                  </a:lnTo>
                  <a:lnTo>
                    <a:pt x="27" y="68"/>
                  </a:lnTo>
                  <a:lnTo>
                    <a:pt x="27" y="18"/>
                  </a:lnTo>
                  <a:close/>
                  <a:moveTo>
                    <a:pt x="37" y="40"/>
                  </a:moveTo>
                  <a:lnTo>
                    <a:pt x="44" y="40"/>
                  </a:lnTo>
                  <a:lnTo>
                    <a:pt x="44" y="40"/>
                  </a:lnTo>
                  <a:lnTo>
                    <a:pt x="49" y="40"/>
                  </a:lnTo>
                  <a:lnTo>
                    <a:pt x="51" y="39"/>
                  </a:lnTo>
                  <a:lnTo>
                    <a:pt x="53" y="36"/>
                  </a:lnTo>
                  <a:lnTo>
                    <a:pt x="55" y="33"/>
                  </a:lnTo>
                  <a:lnTo>
                    <a:pt x="55" y="33"/>
                  </a:lnTo>
                  <a:lnTo>
                    <a:pt x="53" y="29"/>
                  </a:lnTo>
                  <a:lnTo>
                    <a:pt x="51" y="27"/>
                  </a:lnTo>
                  <a:lnTo>
                    <a:pt x="49" y="26"/>
                  </a:lnTo>
                  <a:lnTo>
                    <a:pt x="45" y="26"/>
                  </a:lnTo>
                  <a:lnTo>
                    <a:pt x="37" y="26"/>
                  </a:lnTo>
                  <a:lnTo>
                    <a:pt x="3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grpSp>
      <p:sp>
        <p:nvSpPr>
          <p:cNvPr id="23" name="TextBox 5">
            <a:extLst>
              <a:ext uri="{FF2B5EF4-FFF2-40B4-BE49-F238E27FC236}">
                <a16:creationId xmlns:a16="http://schemas.microsoft.com/office/drawing/2014/main" id="{BF44BD84-81C4-4246-A77D-FA7A1A52220F}"/>
              </a:ext>
            </a:extLst>
          </p:cNvPr>
          <p:cNvSpPr txBox="1"/>
          <p:nvPr userDrawn="1"/>
        </p:nvSpPr>
        <p:spPr>
          <a:xfrm>
            <a:off x="342900" y="5662385"/>
            <a:ext cx="5538650" cy="5078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0" i="1" kern="1200" dirty="0">
                <a:solidFill>
                  <a:schemeClr val="bg2"/>
                </a:solidFill>
                <a:effectLst/>
                <a:latin typeface="+mn-lt"/>
                <a:ea typeface="+mn-ea"/>
                <a:cs typeface="+mn-cs"/>
              </a:rPr>
              <a:t>© 2022 Micron Technology, Inc. All rights reserved. Information, products, and/or specifications are subject to change without notice. Micron, the Micron logo, and all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4193035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B0F6D-6B1C-8544-A409-3BA71BB47F89}"/>
              </a:ext>
            </a:extLst>
          </p:cNvPr>
          <p:cNvSpPr>
            <a:spLocks noGrp="1"/>
          </p:cNvSpPr>
          <p:nvPr>
            <p:ph type="title"/>
          </p:nvPr>
        </p:nvSpPr>
        <p:spPr>
          <a:xfrm>
            <a:off x="342900" y="461528"/>
            <a:ext cx="11506200" cy="590931"/>
          </a:xfrm>
        </p:spPr>
        <p:txBody>
          <a:bodyPr anchor="t"/>
          <a:lstStyle>
            <a:lvl1pPr>
              <a:defRPr sz="3600" spc="-100" baseline="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28C68E1-4EE8-4949-A836-3FC1E429E9FC}"/>
              </a:ext>
            </a:extLst>
          </p:cNvPr>
          <p:cNvSpPr>
            <a:spLocks noGrp="1"/>
          </p:cNvSpPr>
          <p:nvPr>
            <p:ph type="dt" sz="half" idx="10"/>
          </p:nvPr>
        </p:nvSpPr>
        <p:spPr/>
        <p:txBody>
          <a:bodyPr/>
          <a:lstStyle/>
          <a:p>
            <a:fld id="{B1677013-9239-2E42-9A21-475D262F8D04}" type="datetime4">
              <a:rPr lang="en-US" smtClean="0"/>
              <a:t>June 9, 2023</a:t>
            </a:fld>
            <a:endParaRPr lang="en-US" dirty="0"/>
          </a:p>
        </p:txBody>
      </p:sp>
      <p:sp>
        <p:nvSpPr>
          <p:cNvPr id="4" name="Footer Placeholder 3">
            <a:extLst>
              <a:ext uri="{FF2B5EF4-FFF2-40B4-BE49-F238E27FC236}">
                <a16:creationId xmlns:a16="http://schemas.microsoft.com/office/drawing/2014/main" id="{FB48550C-E9C0-8B4F-9935-CAA409F05804}"/>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AC60F9BF-AFDF-254F-8A78-EEAD3A01981E}"/>
              </a:ext>
            </a:extLst>
          </p:cNvPr>
          <p:cNvSpPr>
            <a:spLocks noGrp="1"/>
          </p:cNvSpPr>
          <p:nvPr>
            <p:ph type="sldNum" sz="quarter" idx="12"/>
          </p:nvPr>
        </p:nvSpPr>
        <p:spPr/>
        <p:txBody>
          <a:bodyPr/>
          <a:lstStyle/>
          <a:p>
            <a:fld id="{B7E7695C-FCF1-4AA0-9B93-7941FED13DC4}" type="slidenum">
              <a:rPr lang="en-US" smtClean="0"/>
              <a:pPr/>
              <a:t>‹#›</a:t>
            </a:fld>
            <a:endParaRPr lang="en-US" dirty="0"/>
          </a:p>
        </p:txBody>
      </p:sp>
      <p:sp>
        <p:nvSpPr>
          <p:cNvPr id="9" name="Text Placeholder 2">
            <a:extLst>
              <a:ext uri="{FF2B5EF4-FFF2-40B4-BE49-F238E27FC236}">
                <a16:creationId xmlns:a16="http://schemas.microsoft.com/office/drawing/2014/main" id="{8A47592A-70EE-6B46-AD62-EBAE13AAE4C6}"/>
              </a:ext>
            </a:extLst>
          </p:cNvPr>
          <p:cNvSpPr>
            <a:spLocks noGrp="1"/>
          </p:cNvSpPr>
          <p:nvPr>
            <p:ph type="body" sz="quarter" idx="27" hasCustomPrompt="1"/>
          </p:nvPr>
        </p:nvSpPr>
        <p:spPr>
          <a:xfrm>
            <a:off x="344424" y="6091779"/>
            <a:ext cx="11503152"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
        <p:nvSpPr>
          <p:cNvPr id="18" name="Content Placeholder 14">
            <a:extLst>
              <a:ext uri="{FF2B5EF4-FFF2-40B4-BE49-F238E27FC236}">
                <a16:creationId xmlns:a16="http://schemas.microsoft.com/office/drawing/2014/main" id="{1AF1D174-53ED-A244-B836-03FA419D3354}"/>
              </a:ext>
            </a:extLst>
          </p:cNvPr>
          <p:cNvSpPr>
            <a:spLocks noGrp="1"/>
          </p:cNvSpPr>
          <p:nvPr>
            <p:ph sz="quarter" idx="29"/>
          </p:nvPr>
        </p:nvSpPr>
        <p:spPr>
          <a:xfrm>
            <a:off x="342900" y="1213631"/>
            <a:ext cx="11506200" cy="4700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1209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B0F6D-6B1C-8544-A409-3BA71BB47F89}"/>
              </a:ext>
            </a:extLst>
          </p:cNvPr>
          <p:cNvSpPr>
            <a:spLocks noGrp="1"/>
          </p:cNvSpPr>
          <p:nvPr>
            <p:ph type="title"/>
          </p:nvPr>
        </p:nvSpPr>
        <p:spPr>
          <a:xfrm>
            <a:off x="342900" y="461528"/>
            <a:ext cx="11506200" cy="590931"/>
          </a:xfrm>
        </p:spPr>
        <p:txBody>
          <a:bodyPr anchor="t"/>
          <a:lstStyle>
            <a:lvl1pPr>
              <a:defRPr sz="3600" spc="-100" baseline="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28C68E1-4EE8-4949-A836-3FC1E429E9FC}"/>
              </a:ext>
            </a:extLst>
          </p:cNvPr>
          <p:cNvSpPr>
            <a:spLocks noGrp="1"/>
          </p:cNvSpPr>
          <p:nvPr>
            <p:ph type="dt" sz="half" idx="10"/>
          </p:nvPr>
        </p:nvSpPr>
        <p:spPr/>
        <p:txBody>
          <a:bodyPr/>
          <a:lstStyle/>
          <a:p>
            <a:fld id="{B1677013-9239-2E42-9A21-475D262F8D04}" type="datetime4">
              <a:rPr lang="en-US" smtClean="0"/>
              <a:t>June 9, 2023</a:t>
            </a:fld>
            <a:endParaRPr lang="en-US" dirty="0"/>
          </a:p>
        </p:txBody>
      </p:sp>
      <p:sp>
        <p:nvSpPr>
          <p:cNvPr id="4" name="Footer Placeholder 3">
            <a:extLst>
              <a:ext uri="{FF2B5EF4-FFF2-40B4-BE49-F238E27FC236}">
                <a16:creationId xmlns:a16="http://schemas.microsoft.com/office/drawing/2014/main" id="{FB48550C-E9C0-8B4F-9935-CAA409F05804}"/>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AC60F9BF-AFDF-254F-8A78-EEAD3A01981E}"/>
              </a:ext>
            </a:extLst>
          </p:cNvPr>
          <p:cNvSpPr>
            <a:spLocks noGrp="1"/>
          </p:cNvSpPr>
          <p:nvPr>
            <p:ph type="sldNum" sz="quarter" idx="12"/>
          </p:nvPr>
        </p:nvSpPr>
        <p:spPr/>
        <p:txBody>
          <a:bodyPr/>
          <a:lstStyle/>
          <a:p>
            <a:fld id="{B7E7695C-FCF1-4AA0-9B93-7941FED13DC4}" type="slidenum">
              <a:rPr lang="en-US" smtClean="0"/>
              <a:pPr/>
              <a:t>‹#›</a:t>
            </a:fld>
            <a:endParaRPr lang="en-US" dirty="0"/>
          </a:p>
        </p:txBody>
      </p:sp>
      <p:sp>
        <p:nvSpPr>
          <p:cNvPr id="8" name="Text Placeholder 6">
            <a:extLst>
              <a:ext uri="{FF2B5EF4-FFF2-40B4-BE49-F238E27FC236}">
                <a16:creationId xmlns:a16="http://schemas.microsoft.com/office/drawing/2014/main" id="{B0153468-31C3-D84B-83EA-0F354263CC5B}"/>
              </a:ext>
            </a:extLst>
          </p:cNvPr>
          <p:cNvSpPr>
            <a:spLocks noGrp="1"/>
          </p:cNvSpPr>
          <p:nvPr>
            <p:ph type="body" sz="quarter" idx="13" hasCustomPrompt="1"/>
          </p:nvPr>
        </p:nvSpPr>
        <p:spPr>
          <a:xfrm>
            <a:off x="344424" y="1062972"/>
            <a:ext cx="11503152" cy="400110"/>
          </a:xfrm>
          <a:prstGeom prst="rect">
            <a:avLst/>
          </a:prstGeom>
        </p:spPr>
        <p:txBody>
          <a:bodyPr>
            <a:spAutoFit/>
          </a:bodyPr>
          <a:lstStyle>
            <a:lvl1pPr marL="0" indent="0">
              <a:buNone/>
              <a:defRPr sz="2000" b="0" spc="0" baseline="0"/>
            </a:lvl1pPr>
          </a:lstStyle>
          <a:p>
            <a:pPr lvl="0"/>
            <a:r>
              <a:rPr lang="en-US" dirty="0"/>
              <a:t>Click to add subtitle</a:t>
            </a:r>
          </a:p>
        </p:txBody>
      </p:sp>
      <p:sp>
        <p:nvSpPr>
          <p:cNvPr id="18" name="Content Placeholder 14">
            <a:extLst>
              <a:ext uri="{FF2B5EF4-FFF2-40B4-BE49-F238E27FC236}">
                <a16:creationId xmlns:a16="http://schemas.microsoft.com/office/drawing/2014/main" id="{1AF1D174-53ED-A244-B836-03FA419D3354}"/>
              </a:ext>
            </a:extLst>
          </p:cNvPr>
          <p:cNvSpPr>
            <a:spLocks noGrp="1"/>
          </p:cNvSpPr>
          <p:nvPr>
            <p:ph sz="quarter" idx="29"/>
          </p:nvPr>
        </p:nvSpPr>
        <p:spPr>
          <a:xfrm>
            <a:off x="342900" y="1639089"/>
            <a:ext cx="11506200" cy="42753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2">
            <a:extLst>
              <a:ext uri="{FF2B5EF4-FFF2-40B4-BE49-F238E27FC236}">
                <a16:creationId xmlns:a16="http://schemas.microsoft.com/office/drawing/2014/main" id="{9BF6909E-430C-6041-AE32-369D85060149}"/>
              </a:ext>
            </a:extLst>
          </p:cNvPr>
          <p:cNvSpPr>
            <a:spLocks noGrp="1"/>
          </p:cNvSpPr>
          <p:nvPr>
            <p:ph type="body" sz="quarter" idx="27" hasCustomPrompt="1"/>
          </p:nvPr>
        </p:nvSpPr>
        <p:spPr>
          <a:xfrm>
            <a:off x="344424" y="6091779"/>
            <a:ext cx="11503152"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Tree>
    <p:extLst>
      <p:ext uri="{BB962C8B-B14F-4D97-AF65-F5344CB8AC3E}">
        <p14:creationId xmlns:p14="http://schemas.microsoft.com/office/powerpoint/2010/main" val="1746786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ransition blue">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40B2F18-BAFF-1F4A-BB9A-6578231AD6F5}"/>
              </a:ext>
            </a:extLst>
          </p:cNvPr>
          <p:cNvSpPr/>
          <p:nvPr userDrawn="1"/>
        </p:nvSpPr>
        <p:spPr>
          <a:xfrm>
            <a:off x="0" y="0"/>
            <a:ext cx="12192000" cy="455221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58AA2C-E391-3B48-B1E4-41E5C59580D4}"/>
              </a:ext>
            </a:extLst>
          </p:cNvPr>
          <p:cNvSpPr>
            <a:spLocks noGrp="1"/>
          </p:cNvSpPr>
          <p:nvPr>
            <p:ph type="title"/>
          </p:nvPr>
        </p:nvSpPr>
        <p:spPr>
          <a:xfrm>
            <a:off x="342900" y="4713098"/>
            <a:ext cx="11506200" cy="1530048"/>
          </a:xfrm>
          <a:noFill/>
          <a:ln w="25400">
            <a:noFill/>
          </a:ln>
        </p:spPr>
        <p:txBody>
          <a:bodyPr anchor="t">
            <a:normAutofit/>
          </a:bodyPr>
          <a:lstStyle>
            <a:lvl1pPr algn="l">
              <a:defRPr sz="5400" spc="-200" baseline="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36EEB7A-660B-2849-8784-03277EB4E374}"/>
              </a:ext>
            </a:extLst>
          </p:cNvPr>
          <p:cNvSpPr>
            <a:spLocks noGrp="1"/>
          </p:cNvSpPr>
          <p:nvPr>
            <p:ph type="dt" sz="half" idx="10"/>
          </p:nvPr>
        </p:nvSpPr>
        <p:spPr/>
        <p:txBody>
          <a:bodyPr/>
          <a:lstStyle>
            <a:lvl1pPr>
              <a:defRPr>
                <a:solidFill>
                  <a:schemeClr val="tx1"/>
                </a:solidFill>
              </a:defRPr>
            </a:lvl1pPr>
          </a:lstStyle>
          <a:p>
            <a:fld id="{B8FDEC20-994C-6747-9500-226CB0C467E7}" type="datetime4">
              <a:rPr lang="en-US" smtClean="0"/>
              <a:pPr/>
              <a:t>June 9, 2023</a:t>
            </a:fld>
            <a:endParaRPr lang="en-US" dirty="0"/>
          </a:p>
        </p:txBody>
      </p:sp>
      <p:sp>
        <p:nvSpPr>
          <p:cNvPr id="4" name="Footer Placeholder 3">
            <a:extLst>
              <a:ext uri="{FF2B5EF4-FFF2-40B4-BE49-F238E27FC236}">
                <a16:creationId xmlns:a16="http://schemas.microsoft.com/office/drawing/2014/main" id="{6668D113-2F65-3E46-BA2C-CF80CA12A67E}"/>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B22B4456-3C67-D24A-BA0A-BF1D03932040}"/>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Tree>
    <p:extLst>
      <p:ext uri="{BB962C8B-B14F-4D97-AF65-F5344CB8AC3E}">
        <p14:creationId xmlns:p14="http://schemas.microsoft.com/office/powerpoint/2010/main" val="1079814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ansition white">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36EEB7A-660B-2849-8784-03277EB4E374}"/>
              </a:ext>
            </a:extLst>
          </p:cNvPr>
          <p:cNvSpPr>
            <a:spLocks noGrp="1"/>
          </p:cNvSpPr>
          <p:nvPr>
            <p:ph type="dt" sz="half" idx="10"/>
          </p:nvPr>
        </p:nvSpPr>
        <p:spPr/>
        <p:txBody>
          <a:bodyPr/>
          <a:lstStyle>
            <a:lvl1pPr>
              <a:defRPr>
                <a:solidFill>
                  <a:schemeClr val="tx1"/>
                </a:solidFill>
              </a:defRPr>
            </a:lvl1pPr>
          </a:lstStyle>
          <a:p>
            <a:fld id="{B8FDEC20-994C-6747-9500-226CB0C467E7}" type="datetime4">
              <a:rPr lang="en-US" smtClean="0"/>
              <a:pPr/>
              <a:t>June 9, 2023</a:t>
            </a:fld>
            <a:endParaRPr lang="en-US" dirty="0"/>
          </a:p>
        </p:txBody>
      </p:sp>
      <p:sp>
        <p:nvSpPr>
          <p:cNvPr id="4" name="Footer Placeholder 3">
            <a:extLst>
              <a:ext uri="{FF2B5EF4-FFF2-40B4-BE49-F238E27FC236}">
                <a16:creationId xmlns:a16="http://schemas.microsoft.com/office/drawing/2014/main" id="{6668D113-2F65-3E46-BA2C-CF80CA12A67E}"/>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B22B4456-3C67-D24A-BA0A-BF1D03932040}"/>
              </a:ext>
            </a:extLst>
          </p:cNvPr>
          <p:cNvSpPr>
            <a:spLocks noGrp="1"/>
          </p:cNvSpPr>
          <p:nvPr>
            <p:ph type="sldNum" sz="quarter" idx="12"/>
          </p:nvPr>
        </p:nvSpPr>
        <p:spPr/>
        <p:txBody>
          <a:bodyPr/>
          <a:lstStyle>
            <a:lvl1pPr>
              <a:defRPr>
                <a:solidFill>
                  <a:schemeClr val="tx1"/>
                </a:solidFill>
              </a:defRPr>
            </a:lvl1pPr>
          </a:lstStyle>
          <a:p>
            <a:fld id="{B7E7695C-FCF1-4AA0-9B93-7941FED13DC4}" type="slidenum">
              <a:rPr lang="en-US" smtClean="0"/>
              <a:pPr/>
              <a:t>‹#›</a:t>
            </a:fld>
            <a:endParaRPr lang="en-US" dirty="0"/>
          </a:p>
        </p:txBody>
      </p:sp>
      <p:sp>
        <p:nvSpPr>
          <p:cNvPr id="7" name="Title 1">
            <a:extLst>
              <a:ext uri="{FF2B5EF4-FFF2-40B4-BE49-F238E27FC236}">
                <a16:creationId xmlns:a16="http://schemas.microsoft.com/office/drawing/2014/main" id="{6BE0CEAE-8BF5-5F4E-B4E3-51BB76276DD5}"/>
              </a:ext>
            </a:extLst>
          </p:cNvPr>
          <p:cNvSpPr>
            <a:spLocks noGrp="1"/>
          </p:cNvSpPr>
          <p:nvPr>
            <p:ph type="title"/>
          </p:nvPr>
        </p:nvSpPr>
        <p:spPr>
          <a:xfrm>
            <a:off x="342900" y="4713098"/>
            <a:ext cx="11506200" cy="1530048"/>
          </a:xfrm>
          <a:noFill/>
          <a:ln w="25400">
            <a:noFill/>
          </a:ln>
        </p:spPr>
        <p:txBody>
          <a:bodyPr anchor="t">
            <a:normAutofit/>
          </a:bodyPr>
          <a:lstStyle>
            <a:lvl1pPr algn="l">
              <a:defRPr sz="5400" spc="-200" baseline="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39729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ansition photo">
    <p:bg>
      <p:bgPr>
        <a:solidFill>
          <a:schemeClr val="bg1"/>
        </a:solidFill>
        <a:effectLst/>
      </p:bgPr>
    </p:bg>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44420536-40CD-0B40-93DE-B36BED3C4A9E}"/>
              </a:ext>
            </a:extLst>
          </p:cNvPr>
          <p:cNvSpPr>
            <a:spLocks noGrp="1"/>
          </p:cNvSpPr>
          <p:nvPr>
            <p:ph type="pic" sz="quarter" idx="13" hasCustomPrompt="1"/>
          </p:nvPr>
        </p:nvSpPr>
        <p:spPr>
          <a:xfrm>
            <a:off x="0" y="4026"/>
            <a:ext cx="12192000" cy="4548188"/>
          </a:xfrm>
          <a:noFill/>
        </p:spPr>
        <p:txBody>
          <a:bodyPr lIns="365760" tIns="365760">
            <a:normAutofit/>
          </a:bodyPr>
          <a:lstStyle>
            <a:lvl1pPr marL="0" indent="0">
              <a:buNone/>
              <a:defRPr sz="2800" b="1"/>
            </a:lvl1pPr>
          </a:lstStyle>
          <a:p>
            <a:r>
              <a:rPr lang="en-US" dirty="0"/>
              <a:t>Insert image here</a:t>
            </a:r>
          </a:p>
        </p:txBody>
      </p:sp>
      <p:sp>
        <p:nvSpPr>
          <p:cNvPr id="2" name="Title 1">
            <a:extLst>
              <a:ext uri="{FF2B5EF4-FFF2-40B4-BE49-F238E27FC236}">
                <a16:creationId xmlns:a16="http://schemas.microsoft.com/office/drawing/2014/main" id="{9F58AA2C-E391-3B48-B1E4-41E5C59580D4}"/>
              </a:ext>
            </a:extLst>
          </p:cNvPr>
          <p:cNvSpPr>
            <a:spLocks noGrp="1"/>
          </p:cNvSpPr>
          <p:nvPr>
            <p:ph type="title"/>
          </p:nvPr>
        </p:nvSpPr>
        <p:spPr>
          <a:xfrm>
            <a:off x="342900" y="4713098"/>
            <a:ext cx="11506200" cy="1530048"/>
          </a:xfrm>
          <a:noFill/>
          <a:ln w="25400">
            <a:noFill/>
          </a:ln>
        </p:spPr>
        <p:txBody>
          <a:bodyPr anchor="t">
            <a:normAutofit/>
          </a:bodyPr>
          <a:lstStyle>
            <a:lvl1pPr algn="l">
              <a:defRPr sz="5400" spc="-200" baseline="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36EEB7A-660B-2849-8784-03277EB4E374}"/>
              </a:ext>
            </a:extLst>
          </p:cNvPr>
          <p:cNvSpPr>
            <a:spLocks noGrp="1"/>
          </p:cNvSpPr>
          <p:nvPr>
            <p:ph type="dt" sz="half" idx="10"/>
          </p:nvPr>
        </p:nvSpPr>
        <p:spPr/>
        <p:txBody>
          <a:bodyPr/>
          <a:lstStyle>
            <a:lvl1pPr>
              <a:defRPr>
                <a:solidFill>
                  <a:schemeClr val="tx1"/>
                </a:solidFill>
              </a:defRPr>
            </a:lvl1pPr>
          </a:lstStyle>
          <a:p>
            <a:fld id="{B8FDEC20-994C-6747-9500-226CB0C467E7}" type="datetime4">
              <a:rPr lang="en-US" smtClean="0"/>
              <a:pPr/>
              <a:t>June 9, 2023</a:t>
            </a:fld>
            <a:endParaRPr lang="en-US" dirty="0"/>
          </a:p>
        </p:txBody>
      </p:sp>
      <p:sp>
        <p:nvSpPr>
          <p:cNvPr id="4" name="Footer Placeholder 3">
            <a:extLst>
              <a:ext uri="{FF2B5EF4-FFF2-40B4-BE49-F238E27FC236}">
                <a16:creationId xmlns:a16="http://schemas.microsoft.com/office/drawing/2014/main" id="{6668D113-2F65-3E46-BA2C-CF80CA12A67E}"/>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B22B4456-3C67-D24A-BA0A-BF1D03932040}"/>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Tree>
    <p:extLst>
      <p:ext uri="{BB962C8B-B14F-4D97-AF65-F5344CB8AC3E}">
        <p14:creationId xmlns:p14="http://schemas.microsoft.com/office/powerpoint/2010/main" val="2728548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ngle photo with content">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291BB6CE-5AFC-5744-815E-06A14EAF2BD7}"/>
              </a:ext>
            </a:extLst>
          </p:cNvPr>
          <p:cNvSpPr>
            <a:spLocks noGrp="1"/>
          </p:cNvSpPr>
          <p:nvPr>
            <p:ph type="pic" sz="quarter" idx="15"/>
          </p:nvPr>
        </p:nvSpPr>
        <p:spPr>
          <a:xfrm>
            <a:off x="9110870" y="0"/>
            <a:ext cx="3081130" cy="6858000"/>
          </a:xfrm>
          <a:prstGeom prst="rect">
            <a:avLst/>
          </a:prstGeom>
          <a:noFill/>
          <a:effectLst>
            <a:outerShdw blurRad="38100" dist="12700" dir="5400000" algn="ctr" rotWithShape="0">
              <a:srgbClr val="000000">
                <a:alpha val="10000"/>
              </a:srgbClr>
            </a:outerShdw>
          </a:effectLst>
        </p:spPr>
        <p:txBody>
          <a:bodyPr/>
          <a:lstStyle>
            <a:lvl1pPr marL="0" indent="0">
              <a:buNone/>
              <a:defRPr sz="2800" b="1" spc="-150"/>
            </a:lvl1pPr>
          </a:lstStyle>
          <a:p>
            <a:r>
              <a:rPr lang="en-US"/>
              <a:t>Click icon to add picture</a:t>
            </a:r>
            <a:endParaRPr lang="en-US" dirty="0"/>
          </a:p>
        </p:txBody>
      </p:sp>
      <p:sp>
        <p:nvSpPr>
          <p:cNvPr id="2" name="Title 1">
            <a:extLst>
              <a:ext uri="{FF2B5EF4-FFF2-40B4-BE49-F238E27FC236}">
                <a16:creationId xmlns:a16="http://schemas.microsoft.com/office/drawing/2014/main" id="{3BD8B7D2-09EB-B547-A411-34A87B73CC35}"/>
              </a:ext>
            </a:extLst>
          </p:cNvPr>
          <p:cNvSpPr>
            <a:spLocks noGrp="1"/>
          </p:cNvSpPr>
          <p:nvPr>
            <p:ph type="title"/>
          </p:nvPr>
        </p:nvSpPr>
        <p:spPr>
          <a:xfrm>
            <a:off x="342900" y="461528"/>
            <a:ext cx="8425070" cy="590931"/>
          </a:xfrm>
        </p:spPr>
        <p:txBody>
          <a:bodyPr/>
          <a:lstStyle/>
          <a:p>
            <a:r>
              <a:rPr lang="en-US"/>
              <a:t>Click to edit Master title style</a:t>
            </a:r>
          </a:p>
        </p:txBody>
      </p:sp>
      <p:sp>
        <p:nvSpPr>
          <p:cNvPr id="3" name="Date Placeholder 2">
            <a:extLst>
              <a:ext uri="{FF2B5EF4-FFF2-40B4-BE49-F238E27FC236}">
                <a16:creationId xmlns:a16="http://schemas.microsoft.com/office/drawing/2014/main" id="{8BB96292-EB4C-8D48-844D-90971E9CDE47}"/>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AFCD4D95-DB6D-EA4F-8E71-BEDF7B3F9484}"/>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1A426C4-3606-6E45-A6DC-13895110BC4C}"/>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
        <p:nvSpPr>
          <p:cNvPr id="17" name="Content Placeholder 16">
            <a:extLst>
              <a:ext uri="{FF2B5EF4-FFF2-40B4-BE49-F238E27FC236}">
                <a16:creationId xmlns:a16="http://schemas.microsoft.com/office/drawing/2014/main" id="{6995042B-6ED4-9043-8E21-F8528C74E085}"/>
              </a:ext>
            </a:extLst>
          </p:cNvPr>
          <p:cNvSpPr>
            <a:spLocks noGrp="1"/>
          </p:cNvSpPr>
          <p:nvPr>
            <p:ph sz="quarter" idx="16"/>
          </p:nvPr>
        </p:nvSpPr>
        <p:spPr>
          <a:xfrm>
            <a:off x="342900" y="1217538"/>
            <a:ext cx="8425070" cy="46984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5">
            <a:extLst>
              <a:ext uri="{FF2B5EF4-FFF2-40B4-BE49-F238E27FC236}">
                <a16:creationId xmlns:a16="http://schemas.microsoft.com/office/drawing/2014/main" id="{2B4F3B64-CB93-674A-8596-FC0A77814773}"/>
              </a:ext>
            </a:extLst>
          </p:cNvPr>
          <p:cNvSpPr>
            <a:spLocks noGrp="1"/>
          </p:cNvSpPr>
          <p:nvPr>
            <p:ph type="body" sz="quarter" idx="29" hasCustomPrompt="1"/>
          </p:nvPr>
        </p:nvSpPr>
        <p:spPr>
          <a:xfrm>
            <a:off x="10754834" y="6360333"/>
            <a:ext cx="1041990" cy="309782"/>
          </a:xfrm>
          <a:blipFill dpi="0" rotWithShape="1">
            <a:blip r:embed="rId2"/>
            <a:srcRect/>
            <a:stretch>
              <a:fillRect/>
            </a:stretch>
          </a:blipFill>
        </p:spPr>
        <p:txBody>
          <a:bodyPr/>
          <a:lstStyle>
            <a:lvl1pPr marL="0" indent="0">
              <a:buNone/>
              <a:defRPr/>
            </a:lvl1pPr>
          </a:lstStyle>
          <a:p>
            <a:pPr lvl="0"/>
            <a:r>
              <a:rPr lang="en-US" dirty="0"/>
              <a:t>  </a:t>
            </a:r>
          </a:p>
        </p:txBody>
      </p:sp>
      <p:sp>
        <p:nvSpPr>
          <p:cNvPr id="12" name="Text Placeholder 2">
            <a:extLst>
              <a:ext uri="{FF2B5EF4-FFF2-40B4-BE49-F238E27FC236}">
                <a16:creationId xmlns:a16="http://schemas.microsoft.com/office/drawing/2014/main" id="{CCB53AD2-AA3B-374A-BE29-88091865745A}"/>
              </a:ext>
            </a:extLst>
          </p:cNvPr>
          <p:cNvSpPr>
            <a:spLocks noGrp="1"/>
          </p:cNvSpPr>
          <p:nvPr>
            <p:ph type="body" sz="quarter" idx="27" hasCustomPrompt="1"/>
          </p:nvPr>
        </p:nvSpPr>
        <p:spPr>
          <a:xfrm>
            <a:off x="344424" y="6091779"/>
            <a:ext cx="8423546"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Tree>
    <p:extLst>
      <p:ext uri="{BB962C8B-B14F-4D97-AF65-F5344CB8AC3E}">
        <p14:creationId xmlns:p14="http://schemas.microsoft.com/office/powerpoint/2010/main" val="518839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ouble photo with content">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90A1ECB4-0C8F-9443-8B74-270388C8B029}"/>
              </a:ext>
            </a:extLst>
          </p:cNvPr>
          <p:cNvSpPr>
            <a:spLocks noGrp="1"/>
          </p:cNvSpPr>
          <p:nvPr>
            <p:ph type="pic" sz="quarter" idx="26"/>
          </p:nvPr>
        </p:nvSpPr>
        <p:spPr>
          <a:xfrm>
            <a:off x="9110870" y="3429000"/>
            <a:ext cx="3081130" cy="3429000"/>
          </a:xfrm>
          <a:prstGeom prst="rect">
            <a:avLst/>
          </a:prstGeom>
          <a:solidFill>
            <a:schemeClr val="bg1"/>
          </a:solidFill>
          <a:effectLst>
            <a:outerShdw blurRad="38100" dist="12700" dir="5400000" algn="ctr" rotWithShape="0">
              <a:srgbClr val="000000">
                <a:alpha val="10000"/>
              </a:srgbClr>
            </a:outerShdw>
          </a:effectLst>
        </p:spPr>
        <p:txBody>
          <a:bodyPr/>
          <a:lstStyle>
            <a:lvl1pPr marL="0" indent="0">
              <a:buNone/>
              <a:defRPr sz="2800" b="1" spc="-150"/>
            </a:lvl1pPr>
          </a:lstStyle>
          <a:p>
            <a:r>
              <a:rPr lang="en-US"/>
              <a:t>Click icon to add picture</a:t>
            </a:r>
            <a:endParaRPr lang="en-US" dirty="0"/>
          </a:p>
        </p:txBody>
      </p:sp>
      <p:sp>
        <p:nvSpPr>
          <p:cNvPr id="8" name="Picture Placeholder 7">
            <a:extLst>
              <a:ext uri="{FF2B5EF4-FFF2-40B4-BE49-F238E27FC236}">
                <a16:creationId xmlns:a16="http://schemas.microsoft.com/office/drawing/2014/main" id="{7DDD3EE6-9EF8-4B4F-BDE3-611BE9E2879E}"/>
              </a:ext>
            </a:extLst>
          </p:cNvPr>
          <p:cNvSpPr>
            <a:spLocks noGrp="1"/>
          </p:cNvSpPr>
          <p:nvPr>
            <p:ph type="pic" sz="quarter" idx="15"/>
          </p:nvPr>
        </p:nvSpPr>
        <p:spPr>
          <a:xfrm>
            <a:off x="9110870" y="0"/>
            <a:ext cx="3081130" cy="3429000"/>
          </a:xfrm>
          <a:prstGeom prst="rect">
            <a:avLst/>
          </a:prstGeom>
          <a:noFill/>
          <a:effectLst>
            <a:outerShdw blurRad="38100" dist="12700" dir="5400000" algn="ctr" rotWithShape="0">
              <a:srgbClr val="000000">
                <a:alpha val="10000"/>
              </a:srgbClr>
            </a:outerShdw>
          </a:effectLst>
        </p:spPr>
        <p:txBody>
          <a:bodyPr/>
          <a:lstStyle>
            <a:lvl1pPr marL="0" indent="0">
              <a:buNone/>
              <a:defRPr sz="2800" b="1" spc="-150"/>
            </a:lvl1pPr>
          </a:lstStyle>
          <a:p>
            <a:r>
              <a:rPr lang="en-US"/>
              <a:t>Click icon to add picture</a:t>
            </a:r>
            <a:endParaRPr lang="en-US" dirty="0"/>
          </a:p>
        </p:txBody>
      </p:sp>
      <p:sp>
        <p:nvSpPr>
          <p:cNvPr id="2" name="Title 1">
            <a:extLst>
              <a:ext uri="{FF2B5EF4-FFF2-40B4-BE49-F238E27FC236}">
                <a16:creationId xmlns:a16="http://schemas.microsoft.com/office/drawing/2014/main" id="{0A5FD85D-F0F2-8948-899D-109399E2866F}"/>
              </a:ext>
            </a:extLst>
          </p:cNvPr>
          <p:cNvSpPr>
            <a:spLocks noGrp="1"/>
          </p:cNvSpPr>
          <p:nvPr>
            <p:ph type="title"/>
          </p:nvPr>
        </p:nvSpPr>
        <p:spPr>
          <a:xfrm>
            <a:off x="342900" y="461528"/>
            <a:ext cx="8425070" cy="590931"/>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1D76A09-FA54-7B43-B697-E1FE642C7D69}"/>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EF6407C4-F74A-8B46-B0C9-966D7E128059}"/>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F61D028-0152-9742-9B4A-118DEB54FC9F}"/>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
        <p:nvSpPr>
          <p:cNvPr id="18" name="Content Placeholder 16">
            <a:extLst>
              <a:ext uri="{FF2B5EF4-FFF2-40B4-BE49-F238E27FC236}">
                <a16:creationId xmlns:a16="http://schemas.microsoft.com/office/drawing/2014/main" id="{04B5CD5C-B402-DF4F-8193-F2455DA8DF9D}"/>
              </a:ext>
            </a:extLst>
          </p:cNvPr>
          <p:cNvSpPr>
            <a:spLocks noGrp="1"/>
          </p:cNvSpPr>
          <p:nvPr>
            <p:ph sz="quarter" idx="16"/>
          </p:nvPr>
        </p:nvSpPr>
        <p:spPr>
          <a:xfrm>
            <a:off x="342900" y="1217537"/>
            <a:ext cx="8425070" cy="4698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3A561852-4AE0-B843-9121-A504F4CDC03B}"/>
              </a:ext>
            </a:extLst>
          </p:cNvPr>
          <p:cNvSpPr>
            <a:spLocks noGrp="1"/>
          </p:cNvSpPr>
          <p:nvPr>
            <p:ph type="body" sz="quarter" idx="27" hasCustomPrompt="1"/>
          </p:nvPr>
        </p:nvSpPr>
        <p:spPr>
          <a:xfrm>
            <a:off x="344424" y="6091779"/>
            <a:ext cx="8423546"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
        <p:nvSpPr>
          <p:cNvPr id="15" name="Text Placeholder 15">
            <a:extLst>
              <a:ext uri="{FF2B5EF4-FFF2-40B4-BE49-F238E27FC236}">
                <a16:creationId xmlns:a16="http://schemas.microsoft.com/office/drawing/2014/main" id="{F0AF0899-B012-454F-8E9C-3C20BA72BC68}"/>
              </a:ext>
            </a:extLst>
          </p:cNvPr>
          <p:cNvSpPr>
            <a:spLocks noGrp="1"/>
          </p:cNvSpPr>
          <p:nvPr>
            <p:ph type="body" sz="quarter" idx="29" hasCustomPrompt="1"/>
          </p:nvPr>
        </p:nvSpPr>
        <p:spPr>
          <a:xfrm>
            <a:off x="10754834" y="6360333"/>
            <a:ext cx="1041990" cy="309782"/>
          </a:xfrm>
          <a:blipFill dpi="0" rotWithShape="1">
            <a:blip r:embed="rId2"/>
            <a:srcRect/>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2632036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2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B0F6D-6B1C-8544-A409-3BA71BB47F89}"/>
              </a:ext>
            </a:extLst>
          </p:cNvPr>
          <p:cNvSpPr>
            <a:spLocks noGrp="1"/>
          </p:cNvSpPr>
          <p:nvPr>
            <p:ph type="title"/>
          </p:nvPr>
        </p:nvSpPr>
        <p:spPr>
          <a:xfrm>
            <a:off x="342900" y="461528"/>
            <a:ext cx="11506200" cy="590931"/>
          </a:xfrm>
        </p:spPr>
        <p:txBody>
          <a:bodyPr anchor="t"/>
          <a:lstStyle>
            <a:lvl1pPr>
              <a:defRPr sz="3600" spc="-100" baseline="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28C68E1-4EE8-4949-A836-3FC1E429E9FC}"/>
              </a:ext>
            </a:extLst>
          </p:cNvPr>
          <p:cNvSpPr>
            <a:spLocks noGrp="1"/>
          </p:cNvSpPr>
          <p:nvPr>
            <p:ph type="dt" sz="half" idx="10"/>
          </p:nvPr>
        </p:nvSpPr>
        <p:spPr/>
        <p:txBody>
          <a:bodyPr/>
          <a:lstStyle/>
          <a:p>
            <a:fld id="{B1677013-9239-2E42-9A21-475D262F8D04}" type="datetime4">
              <a:rPr lang="en-US" smtClean="0"/>
              <a:t>June 9, 2023</a:t>
            </a:fld>
            <a:endParaRPr lang="en-US" dirty="0"/>
          </a:p>
        </p:txBody>
      </p:sp>
      <p:sp>
        <p:nvSpPr>
          <p:cNvPr id="4" name="Footer Placeholder 3">
            <a:extLst>
              <a:ext uri="{FF2B5EF4-FFF2-40B4-BE49-F238E27FC236}">
                <a16:creationId xmlns:a16="http://schemas.microsoft.com/office/drawing/2014/main" id="{FB48550C-E9C0-8B4F-9935-CAA409F05804}"/>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AC60F9BF-AFDF-254F-8A78-EEAD3A01981E}"/>
              </a:ext>
            </a:extLst>
          </p:cNvPr>
          <p:cNvSpPr>
            <a:spLocks noGrp="1"/>
          </p:cNvSpPr>
          <p:nvPr>
            <p:ph type="sldNum" sz="quarter" idx="12"/>
          </p:nvPr>
        </p:nvSpPr>
        <p:spPr/>
        <p:txBody>
          <a:bodyPr/>
          <a:lstStyle/>
          <a:p>
            <a:fld id="{B7E7695C-FCF1-4AA0-9B93-7941FED13DC4}" type="slidenum">
              <a:rPr lang="en-US" smtClean="0"/>
              <a:pPr/>
              <a:t>‹#›</a:t>
            </a:fld>
            <a:endParaRPr lang="en-US" dirty="0"/>
          </a:p>
        </p:txBody>
      </p:sp>
      <p:sp>
        <p:nvSpPr>
          <p:cNvPr id="15" name="Content Placeholder 14">
            <a:extLst>
              <a:ext uri="{FF2B5EF4-FFF2-40B4-BE49-F238E27FC236}">
                <a16:creationId xmlns:a16="http://schemas.microsoft.com/office/drawing/2014/main" id="{535B7C05-2AD5-F547-99D3-459AA948DDC2}"/>
              </a:ext>
            </a:extLst>
          </p:cNvPr>
          <p:cNvSpPr>
            <a:spLocks noGrp="1"/>
          </p:cNvSpPr>
          <p:nvPr>
            <p:ph sz="quarter" idx="28"/>
          </p:nvPr>
        </p:nvSpPr>
        <p:spPr>
          <a:xfrm>
            <a:off x="342900" y="1212722"/>
            <a:ext cx="5681726" cy="4703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14">
            <a:extLst>
              <a:ext uri="{FF2B5EF4-FFF2-40B4-BE49-F238E27FC236}">
                <a16:creationId xmlns:a16="http://schemas.microsoft.com/office/drawing/2014/main" id="{B3ED6851-0D12-B443-A108-E6A5DA87F50D}"/>
              </a:ext>
            </a:extLst>
          </p:cNvPr>
          <p:cNvSpPr>
            <a:spLocks noGrp="1"/>
          </p:cNvSpPr>
          <p:nvPr>
            <p:ph sz="quarter" idx="29"/>
          </p:nvPr>
        </p:nvSpPr>
        <p:spPr>
          <a:xfrm>
            <a:off x="6167376" y="1212722"/>
            <a:ext cx="5681726" cy="4703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a:extLst>
              <a:ext uri="{FF2B5EF4-FFF2-40B4-BE49-F238E27FC236}">
                <a16:creationId xmlns:a16="http://schemas.microsoft.com/office/drawing/2014/main" id="{5FE5484A-89E0-EA4B-A620-5AAF5267600E}"/>
              </a:ext>
            </a:extLst>
          </p:cNvPr>
          <p:cNvSpPr>
            <a:spLocks noGrp="1"/>
          </p:cNvSpPr>
          <p:nvPr>
            <p:ph type="body" sz="quarter" idx="27" hasCustomPrompt="1"/>
          </p:nvPr>
        </p:nvSpPr>
        <p:spPr>
          <a:xfrm>
            <a:off x="344424" y="6091779"/>
            <a:ext cx="11503152"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Tree>
    <p:extLst>
      <p:ext uri="{BB962C8B-B14F-4D97-AF65-F5344CB8AC3E}">
        <p14:creationId xmlns:p14="http://schemas.microsoft.com/office/powerpoint/2010/main" val="3023641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with 2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B0F6D-6B1C-8544-A409-3BA71BB47F89}"/>
              </a:ext>
            </a:extLst>
          </p:cNvPr>
          <p:cNvSpPr>
            <a:spLocks noGrp="1"/>
          </p:cNvSpPr>
          <p:nvPr>
            <p:ph type="title"/>
          </p:nvPr>
        </p:nvSpPr>
        <p:spPr>
          <a:xfrm>
            <a:off x="342900" y="461528"/>
            <a:ext cx="11506200" cy="590931"/>
          </a:xfrm>
        </p:spPr>
        <p:txBody>
          <a:bodyPr anchor="t"/>
          <a:lstStyle>
            <a:lvl1pPr>
              <a:defRPr sz="3600" spc="-100" baseline="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28C68E1-4EE8-4949-A836-3FC1E429E9FC}"/>
              </a:ext>
            </a:extLst>
          </p:cNvPr>
          <p:cNvSpPr>
            <a:spLocks noGrp="1"/>
          </p:cNvSpPr>
          <p:nvPr>
            <p:ph type="dt" sz="half" idx="10"/>
          </p:nvPr>
        </p:nvSpPr>
        <p:spPr/>
        <p:txBody>
          <a:bodyPr/>
          <a:lstStyle/>
          <a:p>
            <a:fld id="{B1677013-9239-2E42-9A21-475D262F8D04}" type="datetime4">
              <a:rPr lang="en-US" smtClean="0"/>
              <a:t>June 9, 2023</a:t>
            </a:fld>
            <a:endParaRPr lang="en-US" dirty="0"/>
          </a:p>
        </p:txBody>
      </p:sp>
      <p:sp>
        <p:nvSpPr>
          <p:cNvPr id="4" name="Footer Placeholder 3">
            <a:extLst>
              <a:ext uri="{FF2B5EF4-FFF2-40B4-BE49-F238E27FC236}">
                <a16:creationId xmlns:a16="http://schemas.microsoft.com/office/drawing/2014/main" id="{FB48550C-E9C0-8B4F-9935-CAA409F05804}"/>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AC60F9BF-AFDF-254F-8A78-EEAD3A01981E}"/>
              </a:ext>
            </a:extLst>
          </p:cNvPr>
          <p:cNvSpPr>
            <a:spLocks noGrp="1"/>
          </p:cNvSpPr>
          <p:nvPr>
            <p:ph type="sldNum" sz="quarter" idx="12"/>
          </p:nvPr>
        </p:nvSpPr>
        <p:spPr/>
        <p:txBody>
          <a:bodyPr/>
          <a:lstStyle/>
          <a:p>
            <a:fld id="{B7E7695C-FCF1-4AA0-9B93-7941FED13DC4}" type="slidenum">
              <a:rPr lang="en-US" smtClean="0"/>
              <a:pPr/>
              <a:t>‹#›</a:t>
            </a:fld>
            <a:endParaRPr lang="en-US" dirty="0"/>
          </a:p>
        </p:txBody>
      </p:sp>
      <p:sp>
        <p:nvSpPr>
          <p:cNvPr id="15" name="Content Placeholder 14">
            <a:extLst>
              <a:ext uri="{FF2B5EF4-FFF2-40B4-BE49-F238E27FC236}">
                <a16:creationId xmlns:a16="http://schemas.microsoft.com/office/drawing/2014/main" id="{535B7C05-2AD5-F547-99D3-459AA948DDC2}"/>
              </a:ext>
            </a:extLst>
          </p:cNvPr>
          <p:cNvSpPr>
            <a:spLocks noGrp="1"/>
          </p:cNvSpPr>
          <p:nvPr>
            <p:ph sz="quarter" idx="28"/>
          </p:nvPr>
        </p:nvSpPr>
        <p:spPr>
          <a:xfrm>
            <a:off x="342900" y="1626328"/>
            <a:ext cx="5681726" cy="42896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14">
            <a:extLst>
              <a:ext uri="{FF2B5EF4-FFF2-40B4-BE49-F238E27FC236}">
                <a16:creationId xmlns:a16="http://schemas.microsoft.com/office/drawing/2014/main" id="{B3ED6851-0D12-B443-A108-E6A5DA87F50D}"/>
              </a:ext>
            </a:extLst>
          </p:cNvPr>
          <p:cNvSpPr>
            <a:spLocks noGrp="1"/>
          </p:cNvSpPr>
          <p:nvPr>
            <p:ph sz="quarter" idx="29"/>
          </p:nvPr>
        </p:nvSpPr>
        <p:spPr>
          <a:xfrm>
            <a:off x="6167376" y="1626328"/>
            <a:ext cx="5681726" cy="42896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6">
            <a:extLst>
              <a:ext uri="{FF2B5EF4-FFF2-40B4-BE49-F238E27FC236}">
                <a16:creationId xmlns:a16="http://schemas.microsoft.com/office/drawing/2014/main" id="{00432C51-A503-E147-A56F-4D638C31D5D4}"/>
              </a:ext>
            </a:extLst>
          </p:cNvPr>
          <p:cNvSpPr>
            <a:spLocks noGrp="1"/>
          </p:cNvSpPr>
          <p:nvPr>
            <p:ph type="body" sz="quarter" idx="13" hasCustomPrompt="1"/>
          </p:nvPr>
        </p:nvSpPr>
        <p:spPr>
          <a:xfrm>
            <a:off x="344424" y="1061615"/>
            <a:ext cx="11503152" cy="400110"/>
          </a:xfrm>
          <a:prstGeom prst="rect">
            <a:avLst/>
          </a:prstGeom>
        </p:spPr>
        <p:txBody>
          <a:bodyPr>
            <a:spAutoFit/>
          </a:bodyPr>
          <a:lstStyle>
            <a:lvl1pPr marL="0" indent="0">
              <a:buNone/>
              <a:defRPr sz="2000" b="0" spc="0" baseline="0"/>
            </a:lvl1pPr>
          </a:lstStyle>
          <a:p>
            <a:pPr lvl="0"/>
            <a:r>
              <a:rPr lang="en-US" dirty="0"/>
              <a:t>Click to add subtitle</a:t>
            </a:r>
          </a:p>
        </p:txBody>
      </p:sp>
      <p:sp>
        <p:nvSpPr>
          <p:cNvPr id="11" name="Text Placeholder 2">
            <a:extLst>
              <a:ext uri="{FF2B5EF4-FFF2-40B4-BE49-F238E27FC236}">
                <a16:creationId xmlns:a16="http://schemas.microsoft.com/office/drawing/2014/main" id="{21E90F56-55EC-9E46-A270-A4B83052EA06}"/>
              </a:ext>
            </a:extLst>
          </p:cNvPr>
          <p:cNvSpPr>
            <a:spLocks noGrp="1"/>
          </p:cNvSpPr>
          <p:nvPr>
            <p:ph type="body" sz="quarter" idx="27" hasCustomPrompt="1"/>
          </p:nvPr>
        </p:nvSpPr>
        <p:spPr>
          <a:xfrm>
            <a:off x="344424" y="6091779"/>
            <a:ext cx="11503152"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Tree>
    <p:extLst>
      <p:ext uri="{BB962C8B-B14F-4D97-AF65-F5344CB8AC3E}">
        <p14:creationId xmlns:p14="http://schemas.microsoft.com/office/powerpoint/2010/main" val="2711308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DC37E3D-A383-C946-B129-A217E00F30B3}"/>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EAD1D2E8-8A32-F14E-864F-896481D632A7}"/>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74C517C-E2A3-4349-A092-D18B0C677543}"/>
              </a:ext>
            </a:extLst>
          </p:cNvPr>
          <p:cNvSpPr>
            <a:spLocks noGrp="1"/>
          </p:cNvSpPr>
          <p:nvPr>
            <p:ph type="sldNum" sz="quarter" idx="12"/>
          </p:nvPr>
        </p:nvSpPr>
        <p:spPr/>
        <p:txBody>
          <a:bodyPr/>
          <a:lstStyle/>
          <a:p>
            <a:fld id="{B7E7695C-FCF1-4AA0-9B93-7941FED13DC4}" type="slidenum">
              <a:rPr lang="en-US" smtClean="0"/>
              <a:pPr/>
              <a:t>‹#›</a:t>
            </a:fld>
            <a:endParaRPr lang="en-US" dirty="0"/>
          </a:p>
        </p:txBody>
      </p:sp>
      <p:sp>
        <p:nvSpPr>
          <p:cNvPr id="6" name="Chart Placeholder 5">
            <a:extLst>
              <a:ext uri="{FF2B5EF4-FFF2-40B4-BE49-F238E27FC236}">
                <a16:creationId xmlns:a16="http://schemas.microsoft.com/office/drawing/2014/main" id="{F61B3E04-D4A5-8940-BE85-9E8EAF515B14}"/>
              </a:ext>
            </a:extLst>
          </p:cNvPr>
          <p:cNvSpPr>
            <a:spLocks noGrp="1"/>
          </p:cNvSpPr>
          <p:nvPr>
            <p:ph type="chart" sz="quarter" idx="29"/>
          </p:nvPr>
        </p:nvSpPr>
        <p:spPr>
          <a:xfrm>
            <a:off x="342900" y="457200"/>
            <a:ext cx="11499850" cy="5458794"/>
          </a:xfrm>
        </p:spPr>
        <p:txBody>
          <a:bodyPr/>
          <a:lstStyle/>
          <a:p>
            <a:r>
              <a:rPr lang="en-US"/>
              <a:t>Click icon to add chart</a:t>
            </a:r>
            <a:endParaRPr lang="en-US" dirty="0"/>
          </a:p>
        </p:txBody>
      </p:sp>
      <p:sp>
        <p:nvSpPr>
          <p:cNvPr id="7" name="Text Placeholder 2">
            <a:extLst>
              <a:ext uri="{FF2B5EF4-FFF2-40B4-BE49-F238E27FC236}">
                <a16:creationId xmlns:a16="http://schemas.microsoft.com/office/drawing/2014/main" id="{E616D475-8BCE-BB42-9DD2-67047D7BFC14}"/>
              </a:ext>
            </a:extLst>
          </p:cNvPr>
          <p:cNvSpPr>
            <a:spLocks noGrp="1"/>
          </p:cNvSpPr>
          <p:nvPr>
            <p:ph type="body" sz="quarter" idx="27" hasCustomPrompt="1"/>
          </p:nvPr>
        </p:nvSpPr>
        <p:spPr>
          <a:xfrm>
            <a:off x="344424" y="6091779"/>
            <a:ext cx="11503152"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Tree>
    <p:extLst>
      <p:ext uri="{BB962C8B-B14F-4D97-AF65-F5344CB8AC3E}">
        <p14:creationId xmlns:p14="http://schemas.microsoft.com/office/powerpoint/2010/main" val="4073233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DDA4B-48C9-B74F-859B-998DF679EE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1036DC-2B3D-6646-8F58-B439696BB87B}"/>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6A6D1E84-8AE5-A943-94AF-C6A68C7197AE}"/>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F64FB25-39FF-8B49-A982-37EB7A333760}"/>
              </a:ext>
            </a:extLst>
          </p:cNvPr>
          <p:cNvSpPr>
            <a:spLocks noGrp="1"/>
          </p:cNvSpPr>
          <p:nvPr>
            <p:ph type="sldNum" sz="quarter" idx="12"/>
          </p:nvPr>
        </p:nvSpPr>
        <p:spPr/>
        <p:txBody>
          <a:bodyPr/>
          <a:lstStyle/>
          <a:p>
            <a:fld id="{B7E7695C-FCF1-4AA0-9B93-7941FED13DC4}" type="slidenum">
              <a:rPr lang="en-US" smtClean="0"/>
              <a:pPr/>
              <a:t>‹#›</a:t>
            </a:fld>
            <a:endParaRPr lang="en-US" dirty="0"/>
          </a:p>
        </p:txBody>
      </p:sp>
    </p:spTree>
    <p:extLst>
      <p:ext uri="{BB962C8B-B14F-4D97-AF65-F5344CB8AC3E}">
        <p14:creationId xmlns:p14="http://schemas.microsoft.com/office/powerpoint/2010/main" val="3534246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DDA4B-48C9-B74F-859B-998DF679EE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1036DC-2B3D-6646-8F58-B439696BB87B}"/>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6A6D1E84-8AE5-A943-94AF-C6A68C7197AE}"/>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F64FB25-39FF-8B49-A982-37EB7A333760}"/>
              </a:ext>
            </a:extLst>
          </p:cNvPr>
          <p:cNvSpPr>
            <a:spLocks noGrp="1"/>
          </p:cNvSpPr>
          <p:nvPr>
            <p:ph type="sldNum" sz="quarter" idx="12"/>
          </p:nvPr>
        </p:nvSpPr>
        <p:spPr/>
        <p:txBody>
          <a:bodyPr/>
          <a:lstStyle/>
          <a:p>
            <a:fld id="{B7E7695C-FCF1-4AA0-9B93-7941FED13DC4}" type="slidenum">
              <a:rPr lang="en-US" smtClean="0"/>
              <a:pPr/>
              <a:t>‹#›</a:t>
            </a:fld>
            <a:endParaRPr lang="en-US" dirty="0"/>
          </a:p>
        </p:txBody>
      </p:sp>
      <p:sp>
        <p:nvSpPr>
          <p:cNvPr id="7" name="Text Placeholder 6">
            <a:extLst>
              <a:ext uri="{FF2B5EF4-FFF2-40B4-BE49-F238E27FC236}">
                <a16:creationId xmlns:a16="http://schemas.microsoft.com/office/drawing/2014/main" id="{AA01A914-C393-0D42-983A-BAC555BFC9E8}"/>
              </a:ext>
            </a:extLst>
          </p:cNvPr>
          <p:cNvSpPr>
            <a:spLocks noGrp="1"/>
          </p:cNvSpPr>
          <p:nvPr>
            <p:ph type="body" sz="quarter" idx="13" hasCustomPrompt="1"/>
          </p:nvPr>
        </p:nvSpPr>
        <p:spPr>
          <a:xfrm>
            <a:off x="344424" y="1061615"/>
            <a:ext cx="11503152" cy="400110"/>
          </a:xfrm>
          <a:prstGeom prst="rect">
            <a:avLst/>
          </a:prstGeom>
        </p:spPr>
        <p:txBody>
          <a:bodyPr>
            <a:spAutoFit/>
          </a:bodyPr>
          <a:lstStyle>
            <a:lvl1pPr marL="0" indent="0">
              <a:buNone/>
              <a:defRPr sz="2000" b="0" spc="0" baseline="0"/>
            </a:lvl1pPr>
          </a:lstStyle>
          <a:p>
            <a:pPr lvl="0"/>
            <a:r>
              <a:rPr lang="en-US" dirty="0"/>
              <a:t>Click to add subtitle</a:t>
            </a:r>
          </a:p>
        </p:txBody>
      </p:sp>
    </p:spTree>
    <p:extLst>
      <p:ext uri="{BB962C8B-B14F-4D97-AF65-F5344CB8AC3E}">
        <p14:creationId xmlns:p14="http://schemas.microsoft.com/office/powerpoint/2010/main" val="2657798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E2947A2-86E9-C64A-AFC3-42CEC54B0BF6}"/>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DC4939A7-B8C0-284B-B36E-6FEEA4ED84E2}"/>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CC04071A-33BF-AE4C-9AD4-644F7BB5DA5F}"/>
              </a:ext>
            </a:extLst>
          </p:cNvPr>
          <p:cNvSpPr>
            <a:spLocks noGrp="1"/>
          </p:cNvSpPr>
          <p:nvPr>
            <p:ph type="sldNum" sz="quarter" idx="12"/>
          </p:nvPr>
        </p:nvSpPr>
        <p:spPr/>
        <p:txBody>
          <a:bodyPr/>
          <a:lstStyle/>
          <a:p>
            <a:fld id="{B7E7695C-FCF1-4AA0-9B93-7941FED13DC4}" type="slidenum">
              <a:rPr lang="en-US" smtClean="0"/>
              <a:pPr/>
              <a:t>‹#›</a:t>
            </a:fld>
            <a:endParaRPr lang="en-US" dirty="0"/>
          </a:p>
        </p:txBody>
      </p:sp>
    </p:spTree>
    <p:extLst>
      <p:ext uri="{BB962C8B-B14F-4D97-AF65-F5344CB8AC3E}">
        <p14:creationId xmlns:p14="http://schemas.microsoft.com/office/powerpoint/2010/main" val="35884089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6" name="Picture Placeholder 254">
            <a:extLst>
              <a:ext uri="{FF2B5EF4-FFF2-40B4-BE49-F238E27FC236}">
                <a16:creationId xmlns:a16="http://schemas.microsoft.com/office/drawing/2014/main" id="{B7CC49EB-D965-2D48-BF94-456D002CCD87}"/>
              </a:ext>
            </a:extLst>
          </p:cNvPr>
          <p:cNvSpPr>
            <a:spLocks noGrp="1"/>
          </p:cNvSpPr>
          <p:nvPr>
            <p:ph type="pic" sz="quarter" idx="13"/>
          </p:nvPr>
        </p:nvSpPr>
        <p:spPr>
          <a:xfrm>
            <a:off x="-1" y="0"/>
            <a:ext cx="12192001" cy="6858000"/>
          </a:xfrm>
          <a:prstGeom prst="rect">
            <a:avLst/>
          </a:prstGeom>
          <a:solidFill>
            <a:schemeClr val="bg1"/>
          </a:solidFill>
        </p:spPr>
        <p:txBody>
          <a:bodyPr/>
          <a:lstStyle>
            <a:lvl1pPr marL="0" indent="0">
              <a:buNone/>
              <a:defRPr sz="2800" b="1" spc="-150"/>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882816B7-05C5-FF48-9E5A-774958ED059B}"/>
              </a:ext>
            </a:extLst>
          </p:cNvPr>
          <p:cNvSpPr>
            <a:spLocks noGrp="1"/>
          </p:cNvSpPr>
          <p:nvPr>
            <p:ph type="dt" sz="half" idx="10"/>
          </p:nvPr>
        </p:nvSpPr>
        <p:spPr/>
        <p:txBody>
          <a:bodyPr/>
          <a:lstStyle>
            <a:lvl1pPr>
              <a:defRPr>
                <a:solidFill>
                  <a:schemeClr val="bg1"/>
                </a:solidFill>
              </a:defRPr>
            </a:lvl1pPr>
          </a:lstStyle>
          <a:p>
            <a:fld id="{B8FDEC20-994C-6747-9500-226CB0C467E7}" type="datetime4">
              <a:rPr lang="en-US" smtClean="0"/>
              <a:pPr/>
              <a:t>June 9, 2023</a:t>
            </a:fld>
            <a:endParaRPr lang="en-US" dirty="0"/>
          </a:p>
        </p:txBody>
      </p:sp>
      <p:sp>
        <p:nvSpPr>
          <p:cNvPr id="4" name="Footer Placeholder 3">
            <a:extLst>
              <a:ext uri="{FF2B5EF4-FFF2-40B4-BE49-F238E27FC236}">
                <a16:creationId xmlns:a16="http://schemas.microsoft.com/office/drawing/2014/main" id="{58E69BFD-949C-2F4E-9BF6-66D6D0E64054}"/>
              </a:ext>
            </a:extLst>
          </p:cNvPr>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5" name="Slide Number Placeholder 4">
            <a:extLst>
              <a:ext uri="{FF2B5EF4-FFF2-40B4-BE49-F238E27FC236}">
                <a16:creationId xmlns:a16="http://schemas.microsoft.com/office/drawing/2014/main" id="{67AE0D72-4DC1-6246-A36B-CC81251FCB90}"/>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
        <p:nvSpPr>
          <p:cNvPr id="8" name="Text Placeholder 15">
            <a:extLst>
              <a:ext uri="{FF2B5EF4-FFF2-40B4-BE49-F238E27FC236}">
                <a16:creationId xmlns:a16="http://schemas.microsoft.com/office/drawing/2014/main" id="{056F7D7B-0168-E74C-B8C6-EAA6C8509563}"/>
              </a:ext>
            </a:extLst>
          </p:cNvPr>
          <p:cNvSpPr>
            <a:spLocks noGrp="1"/>
          </p:cNvSpPr>
          <p:nvPr>
            <p:ph type="body" sz="quarter" idx="29" hasCustomPrompt="1"/>
          </p:nvPr>
        </p:nvSpPr>
        <p:spPr>
          <a:xfrm>
            <a:off x="10754834" y="6360333"/>
            <a:ext cx="1041990" cy="309782"/>
          </a:xfrm>
          <a:blipFill dpi="0" rotWithShape="1">
            <a:blip r:embed="rId2"/>
            <a:srcRect/>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186279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lose blue">
    <p:bg>
      <p:bgPr>
        <a:solidFill>
          <a:schemeClr val="tx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36EEB7A-660B-2849-8784-03277EB4E374}"/>
              </a:ext>
            </a:extLst>
          </p:cNvPr>
          <p:cNvSpPr>
            <a:spLocks noGrp="1"/>
          </p:cNvSpPr>
          <p:nvPr>
            <p:ph type="dt" sz="half" idx="10"/>
          </p:nvPr>
        </p:nvSpPr>
        <p:spPr/>
        <p:txBody>
          <a:bodyPr/>
          <a:lstStyle>
            <a:lvl1pPr>
              <a:defRPr>
                <a:solidFill>
                  <a:schemeClr val="tx2"/>
                </a:solidFill>
              </a:defRPr>
            </a:lvl1pPr>
          </a:lstStyle>
          <a:p>
            <a:fld id="{B8FDEC20-994C-6747-9500-226CB0C467E7}" type="datetime4">
              <a:rPr lang="en-US" smtClean="0"/>
              <a:pPr/>
              <a:t>June 9, 2023</a:t>
            </a:fld>
            <a:endParaRPr lang="en-US" dirty="0"/>
          </a:p>
        </p:txBody>
      </p:sp>
      <p:sp>
        <p:nvSpPr>
          <p:cNvPr id="4" name="Footer Placeholder 3">
            <a:extLst>
              <a:ext uri="{FF2B5EF4-FFF2-40B4-BE49-F238E27FC236}">
                <a16:creationId xmlns:a16="http://schemas.microsoft.com/office/drawing/2014/main" id="{6668D113-2F65-3E46-BA2C-CF80CA12A67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B22B4456-3C67-D24A-BA0A-BF1D03932040}"/>
              </a:ext>
            </a:extLst>
          </p:cNvPr>
          <p:cNvSpPr>
            <a:spLocks noGrp="1"/>
          </p:cNvSpPr>
          <p:nvPr>
            <p:ph type="sldNum" sz="quarter" idx="12"/>
          </p:nvPr>
        </p:nvSpPr>
        <p:spPr/>
        <p:txBody>
          <a:bodyPr/>
          <a:lstStyle>
            <a:lvl1pPr>
              <a:defRPr>
                <a:solidFill>
                  <a:schemeClr val="tx2"/>
                </a:solidFill>
              </a:defRPr>
            </a:lvl1pPr>
          </a:lstStyle>
          <a:p>
            <a:fld id="{B7E7695C-FCF1-4AA0-9B93-7941FED13DC4}" type="slidenum">
              <a:rPr lang="en-US" smtClean="0"/>
              <a:pPr/>
              <a:t>‹#›</a:t>
            </a:fld>
            <a:endParaRPr lang="en-US" dirty="0"/>
          </a:p>
        </p:txBody>
      </p:sp>
      <p:grpSp>
        <p:nvGrpSpPr>
          <p:cNvPr id="16" name="Group 15">
            <a:extLst>
              <a:ext uri="{FF2B5EF4-FFF2-40B4-BE49-F238E27FC236}">
                <a16:creationId xmlns:a16="http://schemas.microsoft.com/office/drawing/2014/main" id="{8DC4FCCB-CCBE-7E4B-A589-0FC338EFFA64}"/>
              </a:ext>
            </a:extLst>
          </p:cNvPr>
          <p:cNvGrpSpPr/>
          <p:nvPr userDrawn="1"/>
        </p:nvGrpSpPr>
        <p:grpSpPr>
          <a:xfrm>
            <a:off x="3556774" y="2736865"/>
            <a:ext cx="5078452" cy="1384271"/>
            <a:chOff x="1233488" y="677863"/>
            <a:chExt cx="2882900" cy="785813"/>
          </a:xfrm>
          <a:solidFill>
            <a:schemeClr val="bg1"/>
          </a:solidFill>
        </p:grpSpPr>
        <p:sp>
          <p:nvSpPr>
            <p:cNvPr id="17" name="Freeform 35">
              <a:extLst>
                <a:ext uri="{FF2B5EF4-FFF2-40B4-BE49-F238E27FC236}">
                  <a16:creationId xmlns:a16="http://schemas.microsoft.com/office/drawing/2014/main" id="{433A1FF5-AF6D-124A-ACAF-A3575D9C6CA4}"/>
                </a:ext>
              </a:extLst>
            </p:cNvPr>
            <p:cNvSpPr>
              <a:spLocks/>
            </p:cNvSpPr>
            <p:nvPr/>
          </p:nvSpPr>
          <p:spPr bwMode="auto">
            <a:xfrm>
              <a:off x="2346326" y="944563"/>
              <a:ext cx="417513" cy="354013"/>
            </a:xfrm>
            <a:custGeom>
              <a:avLst/>
              <a:gdLst>
                <a:gd name="T0" fmla="*/ 310 w 525"/>
                <a:gd name="T1" fmla="*/ 445 h 445"/>
                <a:gd name="T2" fmla="*/ 250 w 525"/>
                <a:gd name="T3" fmla="*/ 440 h 445"/>
                <a:gd name="T4" fmla="*/ 193 w 525"/>
                <a:gd name="T5" fmla="*/ 428 h 445"/>
                <a:gd name="T6" fmla="*/ 140 w 525"/>
                <a:gd name="T7" fmla="*/ 409 h 445"/>
                <a:gd name="T8" fmla="*/ 94 w 525"/>
                <a:gd name="T9" fmla="*/ 383 h 445"/>
                <a:gd name="T10" fmla="*/ 55 w 525"/>
                <a:gd name="T11" fmla="*/ 350 h 445"/>
                <a:gd name="T12" fmla="*/ 25 w 525"/>
                <a:gd name="T13" fmla="*/ 313 h 445"/>
                <a:gd name="T14" fmla="*/ 14 w 525"/>
                <a:gd name="T15" fmla="*/ 291 h 445"/>
                <a:gd name="T16" fmla="*/ 7 w 525"/>
                <a:gd name="T17" fmla="*/ 269 h 445"/>
                <a:gd name="T18" fmla="*/ 1 w 525"/>
                <a:gd name="T19" fmla="*/ 246 h 445"/>
                <a:gd name="T20" fmla="*/ 0 w 525"/>
                <a:gd name="T21" fmla="*/ 222 h 445"/>
                <a:gd name="T22" fmla="*/ 0 w 525"/>
                <a:gd name="T23" fmla="*/ 210 h 445"/>
                <a:gd name="T24" fmla="*/ 3 w 525"/>
                <a:gd name="T25" fmla="*/ 187 h 445"/>
                <a:gd name="T26" fmla="*/ 11 w 525"/>
                <a:gd name="T27" fmla="*/ 164 h 445"/>
                <a:gd name="T28" fmla="*/ 19 w 525"/>
                <a:gd name="T29" fmla="*/ 143 h 445"/>
                <a:gd name="T30" fmla="*/ 38 w 525"/>
                <a:gd name="T31" fmla="*/ 113 h 445"/>
                <a:gd name="T32" fmla="*/ 73 w 525"/>
                <a:gd name="T33" fmla="*/ 78 h 445"/>
                <a:gd name="T34" fmla="*/ 116 w 525"/>
                <a:gd name="T35" fmla="*/ 48 h 445"/>
                <a:gd name="T36" fmla="*/ 166 w 525"/>
                <a:gd name="T37" fmla="*/ 25 h 445"/>
                <a:gd name="T38" fmla="*/ 221 w 525"/>
                <a:gd name="T39" fmla="*/ 9 h 445"/>
                <a:gd name="T40" fmla="*/ 281 w 525"/>
                <a:gd name="T41" fmla="*/ 1 h 445"/>
                <a:gd name="T42" fmla="*/ 311 w 525"/>
                <a:gd name="T43" fmla="*/ 0 h 445"/>
                <a:gd name="T44" fmla="*/ 364 w 525"/>
                <a:gd name="T45" fmla="*/ 3 h 445"/>
                <a:gd name="T46" fmla="*/ 416 w 525"/>
                <a:gd name="T47" fmla="*/ 14 h 445"/>
                <a:gd name="T48" fmla="*/ 468 w 525"/>
                <a:gd name="T49" fmla="*/ 32 h 445"/>
                <a:gd name="T50" fmla="*/ 523 w 525"/>
                <a:gd name="T51" fmla="*/ 58 h 445"/>
                <a:gd name="T52" fmla="*/ 471 w 525"/>
                <a:gd name="T53" fmla="*/ 124 h 445"/>
                <a:gd name="T54" fmla="*/ 434 w 525"/>
                <a:gd name="T55" fmla="*/ 108 h 445"/>
                <a:gd name="T56" fmla="*/ 396 w 525"/>
                <a:gd name="T57" fmla="*/ 98 h 445"/>
                <a:gd name="T58" fmla="*/ 355 w 525"/>
                <a:gd name="T59" fmla="*/ 90 h 445"/>
                <a:gd name="T60" fmla="*/ 311 w 525"/>
                <a:gd name="T61" fmla="*/ 88 h 445"/>
                <a:gd name="T62" fmla="*/ 298 w 525"/>
                <a:gd name="T63" fmla="*/ 89 h 445"/>
                <a:gd name="T64" fmla="*/ 271 w 525"/>
                <a:gd name="T65" fmla="*/ 93 h 445"/>
                <a:gd name="T66" fmla="*/ 246 w 525"/>
                <a:gd name="T67" fmla="*/ 100 h 445"/>
                <a:gd name="T68" fmla="*/ 222 w 525"/>
                <a:gd name="T69" fmla="*/ 112 h 445"/>
                <a:gd name="T70" fmla="*/ 200 w 525"/>
                <a:gd name="T71" fmla="*/ 128 h 445"/>
                <a:gd name="T72" fmla="*/ 182 w 525"/>
                <a:gd name="T73" fmla="*/ 150 h 445"/>
                <a:gd name="T74" fmla="*/ 170 w 525"/>
                <a:gd name="T75" fmla="*/ 175 h 445"/>
                <a:gd name="T76" fmla="*/ 163 w 525"/>
                <a:gd name="T77" fmla="*/ 205 h 445"/>
                <a:gd name="T78" fmla="*/ 162 w 525"/>
                <a:gd name="T79" fmla="*/ 222 h 445"/>
                <a:gd name="T80" fmla="*/ 165 w 525"/>
                <a:gd name="T81" fmla="*/ 256 h 445"/>
                <a:gd name="T82" fmla="*/ 175 w 525"/>
                <a:gd name="T83" fmla="*/ 284 h 445"/>
                <a:gd name="T84" fmla="*/ 191 w 525"/>
                <a:gd name="T85" fmla="*/ 306 h 445"/>
                <a:gd name="T86" fmla="*/ 210 w 525"/>
                <a:gd name="T87" fmla="*/ 326 h 445"/>
                <a:gd name="T88" fmla="*/ 233 w 525"/>
                <a:gd name="T89" fmla="*/ 339 h 445"/>
                <a:gd name="T90" fmla="*/ 258 w 525"/>
                <a:gd name="T91" fmla="*/ 349 h 445"/>
                <a:gd name="T92" fmla="*/ 285 w 525"/>
                <a:gd name="T93" fmla="*/ 355 h 445"/>
                <a:gd name="T94" fmla="*/ 311 w 525"/>
                <a:gd name="T95" fmla="*/ 357 h 445"/>
                <a:gd name="T96" fmla="*/ 333 w 525"/>
                <a:gd name="T97" fmla="*/ 356 h 445"/>
                <a:gd name="T98" fmla="*/ 375 w 525"/>
                <a:gd name="T99" fmla="*/ 352 h 445"/>
                <a:gd name="T100" fmla="*/ 416 w 525"/>
                <a:gd name="T101" fmla="*/ 344 h 445"/>
                <a:gd name="T102" fmla="*/ 455 w 525"/>
                <a:gd name="T103" fmla="*/ 332 h 445"/>
                <a:gd name="T104" fmla="*/ 525 w 525"/>
                <a:gd name="T105" fmla="*/ 393 h 445"/>
                <a:gd name="T106" fmla="*/ 501 w 525"/>
                <a:gd name="T107" fmla="*/ 405 h 445"/>
                <a:gd name="T108" fmla="*/ 451 w 525"/>
                <a:gd name="T109" fmla="*/ 425 h 445"/>
                <a:gd name="T110" fmla="*/ 397 w 525"/>
                <a:gd name="T111" fmla="*/ 438 h 445"/>
                <a:gd name="T112" fmla="*/ 340 w 525"/>
                <a:gd name="T113" fmla="*/ 444 h 445"/>
                <a:gd name="T114" fmla="*/ 310 w 525"/>
                <a:gd name="T115"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5" h="445">
                  <a:moveTo>
                    <a:pt x="310" y="445"/>
                  </a:moveTo>
                  <a:lnTo>
                    <a:pt x="310" y="445"/>
                  </a:lnTo>
                  <a:lnTo>
                    <a:pt x="280" y="444"/>
                  </a:lnTo>
                  <a:lnTo>
                    <a:pt x="250" y="440"/>
                  </a:lnTo>
                  <a:lnTo>
                    <a:pt x="221" y="436"/>
                  </a:lnTo>
                  <a:lnTo>
                    <a:pt x="193" y="428"/>
                  </a:lnTo>
                  <a:lnTo>
                    <a:pt x="165" y="420"/>
                  </a:lnTo>
                  <a:lnTo>
                    <a:pt x="140" y="409"/>
                  </a:lnTo>
                  <a:lnTo>
                    <a:pt x="116" y="397"/>
                  </a:lnTo>
                  <a:lnTo>
                    <a:pt x="94" y="383"/>
                  </a:lnTo>
                  <a:lnTo>
                    <a:pt x="73" y="367"/>
                  </a:lnTo>
                  <a:lnTo>
                    <a:pt x="55" y="350"/>
                  </a:lnTo>
                  <a:lnTo>
                    <a:pt x="38" y="332"/>
                  </a:lnTo>
                  <a:lnTo>
                    <a:pt x="25" y="313"/>
                  </a:lnTo>
                  <a:lnTo>
                    <a:pt x="19" y="302"/>
                  </a:lnTo>
                  <a:lnTo>
                    <a:pt x="14" y="291"/>
                  </a:lnTo>
                  <a:lnTo>
                    <a:pt x="11" y="280"/>
                  </a:lnTo>
                  <a:lnTo>
                    <a:pt x="7" y="269"/>
                  </a:lnTo>
                  <a:lnTo>
                    <a:pt x="3" y="258"/>
                  </a:lnTo>
                  <a:lnTo>
                    <a:pt x="1" y="246"/>
                  </a:lnTo>
                  <a:lnTo>
                    <a:pt x="0" y="234"/>
                  </a:lnTo>
                  <a:lnTo>
                    <a:pt x="0" y="222"/>
                  </a:lnTo>
                  <a:lnTo>
                    <a:pt x="0" y="222"/>
                  </a:lnTo>
                  <a:lnTo>
                    <a:pt x="0" y="210"/>
                  </a:lnTo>
                  <a:lnTo>
                    <a:pt x="1" y="199"/>
                  </a:lnTo>
                  <a:lnTo>
                    <a:pt x="3" y="187"/>
                  </a:lnTo>
                  <a:lnTo>
                    <a:pt x="7" y="176"/>
                  </a:lnTo>
                  <a:lnTo>
                    <a:pt x="11" y="164"/>
                  </a:lnTo>
                  <a:lnTo>
                    <a:pt x="14" y="153"/>
                  </a:lnTo>
                  <a:lnTo>
                    <a:pt x="19" y="143"/>
                  </a:lnTo>
                  <a:lnTo>
                    <a:pt x="25" y="133"/>
                  </a:lnTo>
                  <a:lnTo>
                    <a:pt x="38" y="113"/>
                  </a:lnTo>
                  <a:lnTo>
                    <a:pt x="55" y="95"/>
                  </a:lnTo>
                  <a:lnTo>
                    <a:pt x="73" y="78"/>
                  </a:lnTo>
                  <a:lnTo>
                    <a:pt x="94" y="63"/>
                  </a:lnTo>
                  <a:lnTo>
                    <a:pt x="116" y="48"/>
                  </a:lnTo>
                  <a:lnTo>
                    <a:pt x="140" y="36"/>
                  </a:lnTo>
                  <a:lnTo>
                    <a:pt x="166" y="25"/>
                  </a:lnTo>
                  <a:lnTo>
                    <a:pt x="193" y="17"/>
                  </a:lnTo>
                  <a:lnTo>
                    <a:pt x="221" y="9"/>
                  </a:lnTo>
                  <a:lnTo>
                    <a:pt x="251" y="3"/>
                  </a:lnTo>
                  <a:lnTo>
                    <a:pt x="281" y="1"/>
                  </a:lnTo>
                  <a:lnTo>
                    <a:pt x="311" y="0"/>
                  </a:lnTo>
                  <a:lnTo>
                    <a:pt x="311" y="0"/>
                  </a:lnTo>
                  <a:lnTo>
                    <a:pt x="338" y="1"/>
                  </a:lnTo>
                  <a:lnTo>
                    <a:pt x="364" y="3"/>
                  </a:lnTo>
                  <a:lnTo>
                    <a:pt x="390" y="7"/>
                  </a:lnTo>
                  <a:lnTo>
                    <a:pt x="416" y="14"/>
                  </a:lnTo>
                  <a:lnTo>
                    <a:pt x="443" y="22"/>
                  </a:lnTo>
                  <a:lnTo>
                    <a:pt x="468" y="32"/>
                  </a:lnTo>
                  <a:lnTo>
                    <a:pt x="495" y="44"/>
                  </a:lnTo>
                  <a:lnTo>
                    <a:pt x="523" y="58"/>
                  </a:lnTo>
                  <a:lnTo>
                    <a:pt x="471" y="124"/>
                  </a:lnTo>
                  <a:lnTo>
                    <a:pt x="471" y="124"/>
                  </a:lnTo>
                  <a:lnTo>
                    <a:pt x="454" y="116"/>
                  </a:lnTo>
                  <a:lnTo>
                    <a:pt x="434" y="108"/>
                  </a:lnTo>
                  <a:lnTo>
                    <a:pt x="415" y="102"/>
                  </a:lnTo>
                  <a:lnTo>
                    <a:pt x="396" y="98"/>
                  </a:lnTo>
                  <a:lnTo>
                    <a:pt x="375" y="94"/>
                  </a:lnTo>
                  <a:lnTo>
                    <a:pt x="355" y="90"/>
                  </a:lnTo>
                  <a:lnTo>
                    <a:pt x="333" y="89"/>
                  </a:lnTo>
                  <a:lnTo>
                    <a:pt x="311" y="88"/>
                  </a:lnTo>
                  <a:lnTo>
                    <a:pt x="311" y="88"/>
                  </a:lnTo>
                  <a:lnTo>
                    <a:pt x="298" y="89"/>
                  </a:lnTo>
                  <a:lnTo>
                    <a:pt x="285" y="90"/>
                  </a:lnTo>
                  <a:lnTo>
                    <a:pt x="271" y="93"/>
                  </a:lnTo>
                  <a:lnTo>
                    <a:pt x="258" y="95"/>
                  </a:lnTo>
                  <a:lnTo>
                    <a:pt x="246" y="100"/>
                  </a:lnTo>
                  <a:lnTo>
                    <a:pt x="234" y="105"/>
                  </a:lnTo>
                  <a:lnTo>
                    <a:pt x="222" y="112"/>
                  </a:lnTo>
                  <a:lnTo>
                    <a:pt x="211" y="119"/>
                  </a:lnTo>
                  <a:lnTo>
                    <a:pt x="200" y="128"/>
                  </a:lnTo>
                  <a:lnTo>
                    <a:pt x="191" y="137"/>
                  </a:lnTo>
                  <a:lnTo>
                    <a:pt x="182" y="150"/>
                  </a:lnTo>
                  <a:lnTo>
                    <a:pt x="176" y="162"/>
                  </a:lnTo>
                  <a:lnTo>
                    <a:pt x="170" y="175"/>
                  </a:lnTo>
                  <a:lnTo>
                    <a:pt x="165" y="189"/>
                  </a:lnTo>
                  <a:lnTo>
                    <a:pt x="163" y="205"/>
                  </a:lnTo>
                  <a:lnTo>
                    <a:pt x="162" y="222"/>
                  </a:lnTo>
                  <a:lnTo>
                    <a:pt x="162" y="222"/>
                  </a:lnTo>
                  <a:lnTo>
                    <a:pt x="163" y="240"/>
                  </a:lnTo>
                  <a:lnTo>
                    <a:pt x="165" y="256"/>
                  </a:lnTo>
                  <a:lnTo>
                    <a:pt x="170" y="270"/>
                  </a:lnTo>
                  <a:lnTo>
                    <a:pt x="175" y="284"/>
                  </a:lnTo>
                  <a:lnTo>
                    <a:pt x="182" y="296"/>
                  </a:lnTo>
                  <a:lnTo>
                    <a:pt x="191" y="306"/>
                  </a:lnTo>
                  <a:lnTo>
                    <a:pt x="200" y="317"/>
                  </a:lnTo>
                  <a:lnTo>
                    <a:pt x="210" y="326"/>
                  </a:lnTo>
                  <a:lnTo>
                    <a:pt x="221" y="333"/>
                  </a:lnTo>
                  <a:lnTo>
                    <a:pt x="233" y="339"/>
                  </a:lnTo>
                  <a:lnTo>
                    <a:pt x="245" y="345"/>
                  </a:lnTo>
                  <a:lnTo>
                    <a:pt x="258" y="349"/>
                  </a:lnTo>
                  <a:lnTo>
                    <a:pt x="271" y="352"/>
                  </a:lnTo>
                  <a:lnTo>
                    <a:pt x="285" y="355"/>
                  </a:lnTo>
                  <a:lnTo>
                    <a:pt x="298" y="356"/>
                  </a:lnTo>
                  <a:lnTo>
                    <a:pt x="311" y="357"/>
                  </a:lnTo>
                  <a:lnTo>
                    <a:pt x="311" y="357"/>
                  </a:lnTo>
                  <a:lnTo>
                    <a:pt x="333" y="356"/>
                  </a:lnTo>
                  <a:lnTo>
                    <a:pt x="355" y="355"/>
                  </a:lnTo>
                  <a:lnTo>
                    <a:pt x="375" y="352"/>
                  </a:lnTo>
                  <a:lnTo>
                    <a:pt x="396" y="349"/>
                  </a:lnTo>
                  <a:lnTo>
                    <a:pt x="416" y="344"/>
                  </a:lnTo>
                  <a:lnTo>
                    <a:pt x="436" y="338"/>
                  </a:lnTo>
                  <a:lnTo>
                    <a:pt x="455" y="332"/>
                  </a:lnTo>
                  <a:lnTo>
                    <a:pt x="473" y="325"/>
                  </a:lnTo>
                  <a:lnTo>
                    <a:pt x="525" y="393"/>
                  </a:lnTo>
                  <a:lnTo>
                    <a:pt x="525" y="393"/>
                  </a:lnTo>
                  <a:lnTo>
                    <a:pt x="501" y="405"/>
                  </a:lnTo>
                  <a:lnTo>
                    <a:pt x="477" y="415"/>
                  </a:lnTo>
                  <a:lnTo>
                    <a:pt x="451" y="425"/>
                  </a:lnTo>
                  <a:lnTo>
                    <a:pt x="425" y="432"/>
                  </a:lnTo>
                  <a:lnTo>
                    <a:pt x="397" y="438"/>
                  </a:lnTo>
                  <a:lnTo>
                    <a:pt x="369" y="442"/>
                  </a:lnTo>
                  <a:lnTo>
                    <a:pt x="340" y="444"/>
                  </a:lnTo>
                  <a:lnTo>
                    <a:pt x="310" y="445"/>
                  </a:lnTo>
                  <a:lnTo>
                    <a:pt x="310" y="4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8" name="Freeform 36">
              <a:extLst>
                <a:ext uri="{FF2B5EF4-FFF2-40B4-BE49-F238E27FC236}">
                  <a16:creationId xmlns:a16="http://schemas.microsoft.com/office/drawing/2014/main" id="{7CB889FE-2D70-0A49-B056-1C7476B8F792}"/>
                </a:ext>
              </a:extLst>
            </p:cNvPr>
            <p:cNvSpPr>
              <a:spLocks noEditPoints="1"/>
            </p:cNvSpPr>
            <p:nvPr/>
          </p:nvSpPr>
          <p:spPr bwMode="auto">
            <a:xfrm>
              <a:off x="3087688" y="942976"/>
              <a:ext cx="493713" cy="355600"/>
            </a:xfrm>
            <a:custGeom>
              <a:avLst/>
              <a:gdLst>
                <a:gd name="T0" fmla="*/ 459 w 622"/>
                <a:gd name="T1" fmla="*/ 241 h 447"/>
                <a:gd name="T2" fmla="*/ 447 w 622"/>
                <a:gd name="T3" fmla="*/ 285 h 447"/>
                <a:gd name="T4" fmla="*/ 421 w 622"/>
                <a:gd name="T5" fmla="*/ 318 h 447"/>
                <a:gd name="T6" fmla="*/ 389 w 622"/>
                <a:gd name="T7" fmla="*/ 341 h 447"/>
                <a:gd name="T8" fmla="*/ 350 w 622"/>
                <a:gd name="T9" fmla="*/ 354 h 447"/>
                <a:gd name="T10" fmla="*/ 310 w 622"/>
                <a:gd name="T11" fmla="*/ 358 h 447"/>
                <a:gd name="T12" fmla="*/ 285 w 622"/>
                <a:gd name="T13" fmla="*/ 357 h 447"/>
                <a:gd name="T14" fmla="*/ 245 w 622"/>
                <a:gd name="T15" fmla="*/ 346 h 447"/>
                <a:gd name="T16" fmla="*/ 210 w 622"/>
                <a:gd name="T17" fmla="*/ 326 h 447"/>
                <a:gd name="T18" fmla="*/ 182 w 622"/>
                <a:gd name="T19" fmla="*/ 297 h 447"/>
                <a:gd name="T20" fmla="*/ 165 w 622"/>
                <a:gd name="T21" fmla="*/ 258 h 447"/>
                <a:gd name="T22" fmla="*/ 162 w 622"/>
                <a:gd name="T23" fmla="*/ 224 h 447"/>
                <a:gd name="T24" fmla="*/ 169 w 622"/>
                <a:gd name="T25" fmla="*/ 175 h 447"/>
                <a:gd name="T26" fmla="*/ 191 w 622"/>
                <a:gd name="T27" fmla="*/ 139 h 447"/>
                <a:gd name="T28" fmla="*/ 221 w 622"/>
                <a:gd name="T29" fmla="*/ 113 h 447"/>
                <a:gd name="T30" fmla="*/ 258 w 622"/>
                <a:gd name="T31" fmla="*/ 97 h 447"/>
                <a:gd name="T32" fmla="*/ 298 w 622"/>
                <a:gd name="T33" fmla="*/ 90 h 447"/>
                <a:gd name="T34" fmla="*/ 323 w 622"/>
                <a:gd name="T35" fmla="*/ 90 h 447"/>
                <a:gd name="T36" fmla="*/ 363 w 622"/>
                <a:gd name="T37" fmla="*/ 97 h 447"/>
                <a:gd name="T38" fmla="*/ 400 w 622"/>
                <a:gd name="T39" fmla="*/ 113 h 447"/>
                <a:gd name="T40" fmla="*/ 431 w 622"/>
                <a:gd name="T41" fmla="*/ 139 h 447"/>
                <a:gd name="T42" fmla="*/ 451 w 622"/>
                <a:gd name="T43" fmla="*/ 175 h 447"/>
                <a:gd name="T44" fmla="*/ 460 w 622"/>
                <a:gd name="T45" fmla="*/ 224 h 447"/>
                <a:gd name="T46" fmla="*/ 310 w 622"/>
                <a:gd name="T47" fmla="*/ 447 h 447"/>
                <a:gd name="T48" fmla="*/ 401 w 622"/>
                <a:gd name="T49" fmla="*/ 437 h 447"/>
                <a:gd name="T50" fmla="*/ 482 w 622"/>
                <a:gd name="T51" fmla="*/ 411 h 447"/>
                <a:gd name="T52" fmla="*/ 548 w 622"/>
                <a:gd name="T53" fmla="*/ 369 h 447"/>
                <a:gd name="T54" fmla="*/ 596 w 622"/>
                <a:gd name="T55" fmla="*/ 313 h 447"/>
                <a:gd name="T56" fmla="*/ 612 w 622"/>
                <a:gd name="T57" fmla="*/ 282 h 447"/>
                <a:gd name="T58" fmla="*/ 620 w 622"/>
                <a:gd name="T59" fmla="*/ 248 h 447"/>
                <a:gd name="T60" fmla="*/ 622 w 622"/>
                <a:gd name="T61" fmla="*/ 224 h 447"/>
                <a:gd name="T62" fmla="*/ 618 w 622"/>
                <a:gd name="T63" fmla="*/ 189 h 447"/>
                <a:gd name="T64" fmla="*/ 607 w 622"/>
                <a:gd name="T65" fmla="*/ 155 h 447"/>
                <a:gd name="T66" fmla="*/ 583 w 622"/>
                <a:gd name="T67" fmla="*/ 115 h 447"/>
                <a:gd name="T68" fmla="*/ 529 w 622"/>
                <a:gd name="T69" fmla="*/ 63 h 447"/>
                <a:gd name="T70" fmla="*/ 456 w 622"/>
                <a:gd name="T71" fmla="*/ 27 h 447"/>
                <a:gd name="T72" fmla="*/ 372 w 622"/>
                <a:gd name="T73" fmla="*/ 5 h 447"/>
                <a:gd name="T74" fmla="*/ 310 w 622"/>
                <a:gd name="T75" fmla="*/ 0 h 447"/>
                <a:gd name="T76" fmla="*/ 221 w 622"/>
                <a:gd name="T77" fmla="*/ 10 h 447"/>
                <a:gd name="T78" fmla="*/ 140 w 622"/>
                <a:gd name="T79" fmla="*/ 38 h 447"/>
                <a:gd name="T80" fmla="*/ 72 w 622"/>
                <a:gd name="T81" fmla="*/ 79 h 447"/>
                <a:gd name="T82" fmla="*/ 25 w 622"/>
                <a:gd name="T83" fmla="*/ 134 h 447"/>
                <a:gd name="T84" fmla="*/ 10 w 622"/>
                <a:gd name="T85" fmla="*/ 166 h 447"/>
                <a:gd name="T86" fmla="*/ 1 w 622"/>
                <a:gd name="T87" fmla="*/ 200 h 447"/>
                <a:gd name="T88" fmla="*/ 0 w 622"/>
                <a:gd name="T89" fmla="*/ 224 h 447"/>
                <a:gd name="T90" fmla="*/ 4 w 622"/>
                <a:gd name="T91" fmla="*/ 259 h 447"/>
                <a:gd name="T92" fmla="*/ 14 w 622"/>
                <a:gd name="T93" fmla="*/ 293 h 447"/>
                <a:gd name="T94" fmla="*/ 39 w 622"/>
                <a:gd name="T95" fmla="*/ 332 h 447"/>
                <a:gd name="T96" fmla="*/ 93 w 622"/>
                <a:gd name="T97" fmla="*/ 384 h 447"/>
                <a:gd name="T98" fmla="*/ 165 w 622"/>
                <a:gd name="T99" fmla="*/ 421 h 447"/>
                <a:gd name="T100" fmla="*/ 250 w 622"/>
                <a:gd name="T101" fmla="*/ 442 h 447"/>
                <a:gd name="T102" fmla="*/ 310 w 622"/>
                <a:gd name="T103" fmla="*/ 447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22" h="447">
                  <a:moveTo>
                    <a:pt x="460" y="224"/>
                  </a:moveTo>
                  <a:lnTo>
                    <a:pt x="460" y="224"/>
                  </a:lnTo>
                  <a:lnTo>
                    <a:pt x="459" y="241"/>
                  </a:lnTo>
                  <a:lnTo>
                    <a:pt x="456" y="258"/>
                  </a:lnTo>
                  <a:lnTo>
                    <a:pt x="451" y="272"/>
                  </a:lnTo>
                  <a:lnTo>
                    <a:pt x="447" y="285"/>
                  </a:lnTo>
                  <a:lnTo>
                    <a:pt x="439" y="297"/>
                  </a:lnTo>
                  <a:lnTo>
                    <a:pt x="431" y="308"/>
                  </a:lnTo>
                  <a:lnTo>
                    <a:pt x="421" y="318"/>
                  </a:lnTo>
                  <a:lnTo>
                    <a:pt x="412" y="326"/>
                  </a:lnTo>
                  <a:lnTo>
                    <a:pt x="400" y="335"/>
                  </a:lnTo>
                  <a:lnTo>
                    <a:pt x="389" y="341"/>
                  </a:lnTo>
                  <a:lnTo>
                    <a:pt x="375" y="346"/>
                  </a:lnTo>
                  <a:lnTo>
                    <a:pt x="363" y="351"/>
                  </a:lnTo>
                  <a:lnTo>
                    <a:pt x="350" y="354"/>
                  </a:lnTo>
                  <a:lnTo>
                    <a:pt x="337" y="357"/>
                  </a:lnTo>
                  <a:lnTo>
                    <a:pt x="323" y="358"/>
                  </a:lnTo>
                  <a:lnTo>
                    <a:pt x="310" y="358"/>
                  </a:lnTo>
                  <a:lnTo>
                    <a:pt x="310" y="358"/>
                  </a:lnTo>
                  <a:lnTo>
                    <a:pt x="298" y="358"/>
                  </a:lnTo>
                  <a:lnTo>
                    <a:pt x="285" y="357"/>
                  </a:lnTo>
                  <a:lnTo>
                    <a:pt x="272" y="354"/>
                  </a:lnTo>
                  <a:lnTo>
                    <a:pt x="258" y="351"/>
                  </a:lnTo>
                  <a:lnTo>
                    <a:pt x="245" y="346"/>
                  </a:lnTo>
                  <a:lnTo>
                    <a:pt x="233" y="341"/>
                  </a:lnTo>
                  <a:lnTo>
                    <a:pt x="221" y="335"/>
                  </a:lnTo>
                  <a:lnTo>
                    <a:pt x="210" y="326"/>
                  </a:lnTo>
                  <a:lnTo>
                    <a:pt x="200" y="318"/>
                  </a:lnTo>
                  <a:lnTo>
                    <a:pt x="191" y="308"/>
                  </a:lnTo>
                  <a:lnTo>
                    <a:pt x="182" y="297"/>
                  </a:lnTo>
                  <a:lnTo>
                    <a:pt x="175" y="285"/>
                  </a:lnTo>
                  <a:lnTo>
                    <a:pt x="169" y="272"/>
                  </a:lnTo>
                  <a:lnTo>
                    <a:pt x="165" y="258"/>
                  </a:lnTo>
                  <a:lnTo>
                    <a:pt x="163" y="241"/>
                  </a:lnTo>
                  <a:lnTo>
                    <a:pt x="162" y="224"/>
                  </a:lnTo>
                  <a:lnTo>
                    <a:pt x="162" y="224"/>
                  </a:lnTo>
                  <a:lnTo>
                    <a:pt x="163" y="207"/>
                  </a:lnTo>
                  <a:lnTo>
                    <a:pt x="165" y="191"/>
                  </a:lnTo>
                  <a:lnTo>
                    <a:pt x="169" y="175"/>
                  </a:lnTo>
                  <a:lnTo>
                    <a:pt x="175" y="162"/>
                  </a:lnTo>
                  <a:lnTo>
                    <a:pt x="182" y="150"/>
                  </a:lnTo>
                  <a:lnTo>
                    <a:pt x="191" y="139"/>
                  </a:lnTo>
                  <a:lnTo>
                    <a:pt x="200" y="130"/>
                  </a:lnTo>
                  <a:lnTo>
                    <a:pt x="210" y="121"/>
                  </a:lnTo>
                  <a:lnTo>
                    <a:pt x="221" y="113"/>
                  </a:lnTo>
                  <a:lnTo>
                    <a:pt x="233" y="107"/>
                  </a:lnTo>
                  <a:lnTo>
                    <a:pt x="245" y="102"/>
                  </a:lnTo>
                  <a:lnTo>
                    <a:pt x="258" y="97"/>
                  </a:lnTo>
                  <a:lnTo>
                    <a:pt x="272" y="93"/>
                  </a:lnTo>
                  <a:lnTo>
                    <a:pt x="285" y="91"/>
                  </a:lnTo>
                  <a:lnTo>
                    <a:pt x="298" y="90"/>
                  </a:lnTo>
                  <a:lnTo>
                    <a:pt x="310" y="90"/>
                  </a:lnTo>
                  <a:lnTo>
                    <a:pt x="310" y="90"/>
                  </a:lnTo>
                  <a:lnTo>
                    <a:pt x="323" y="90"/>
                  </a:lnTo>
                  <a:lnTo>
                    <a:pt x="337" y="91"/>
                  </a:lnTo>
                  <a:lnTo>
                    <a:pt x="350" y="93"/>
                  </a:lnTo>
                  <a:lnTo>
                    <a:pt x="363" y="97"/>
                  </a:lnTo>
                  <a:lnTo>
                    <a:pt x="375" y="102"/>
                  </a:lnTo>
                  <a:lnTo>
                    <a:pt x="389" y="107"/>
                  </a:lnTo>
                  <a:lnTo>
                    <a:pt x="400" y="113"/>
                  </a:lnTo>
                  <a:lnTo>
                    <a:pt x="412" y="121"/>
                  </a:lnTo>
                  <a:lnTo>
                    <a:pt x="421" y="130"/>
                  </a:lnTo>
                  <a:lnTo>
                    <a:pt x="431" y="139"/>
                  </a:lnTo>
                  <a:lnTo>
                    <a:pt x="439" y="150"/>
                  </a:lnTo>
                  <a:lnTo>
                    <a:pt x="447" y="162"/>
                  </a:lnTo>
                  <a:lnTo>
                    <a:pt x="451" y="175"/>
                  </a:lnTo>
                  <a:lnTo>
                    <a:pt x="456" y="191"/>
                  </a:lnTo>
                  <a:lnTo>
                    <a:pt x="459" y="207"/>
                  </a:lnTo>
                  <a:lnTo>
                    <a:pt x="460" y="224"/>
                  </a:lnTo>
                  <a:lnTo>
                    <a:pt x="460" y="224"/>
                  </a:lnTo>
                  <a:close/>
                  <a:moveTo>
                    <a:pt x="310" y="447"/>
                  </a:moveTo>
                  <a:lnTo>
                    <a:pt x="310" y="447"/>
                  </a:lnTo>
                  <a:lnTo>
                    <a:pt x="342" y="446"/>
                  </a:lnTo>
                  <a:lnTo>
                    <a:pt x="372" y="442"/>
                  </a:lnTo>
                  <a:lnTo>
                    <a:pt x="401" y="437"/>
                  </a:lnTo>
                  <a:lnTo>
                    <a:pt x="429" y="430"/>
                  </a:lnTo>
                  <a:lnTo>
                    <a:pt x="456" y="421"/>
                  </a:lnTo>
                  <a:lnTo>
                    <a:pt x="482" y="411"/>
                  </a:lnTo>
                  <a:lnTo>
                    <a:pt x="506" y="398"/>
                  </a:lnTo>
                  <a:lnTo>
                    <a:pt x="529" y="384"/>
                  </a:lnTo>
                  <a:lnTo>
                    <a:pt x="548" y="369"/>
                  </a:lnTo>
                  <a:lnTo>
                    <a:pt x="567" y="352"/>
                  </a:lnTo>
                  <a:lnTo>
                    <a:pt x="583" y="332"/>
                  </a:lnTo>
                  <a:lnTo>
                    <a:pt x="596" y="313"/>
                  </a:lnTo>
                  <a:lnTo>
                    <a:pt x="602" y="303"/>
                  </a:lnTo>
                  <a:lnTo>
                    <a:pt x="607" y="293"/>
                  </a:lnTo>
                  <a:lnTo>
                    <a:pt x="612" y="282"/>
                  </a:lnTo>
                  <a:lnTo>
                    <a:pt x="616" y="271"/>
                  </a:lnTo>
                  <a:lnTo>
                    <a:pt x="618" y="259"/>
                  </a:lnTo>
                  <a:lnTo>
                    <a:pt x="620" y="248"/>
                  </a:lnTo>
                  <a:lnTo>
                    <a:pt x="622" y="236"/>
                  </a:lnTo>
                  <a:lnTo>
                    <a:pt x="622" y="224"/>
                  </a:lnTo>
                  <a:lnTo>
                    <a:pt x="622" y="224"/>
                  </a:lnTo>
                  <a:lnTo>
                    <a:pt x="622" y="212"/>
                  </a:lnTo>
                  <a:lnTo>
                    <a:pt x="620" y="200"/>
                  </a:lnTo>
                  <a:lnTo>
                    <a:pt x="618" y="189"/>
                  </a:lnTo>
                  <a:lnTo>
                    <a:pt x="616" y="177"/>
                  </a:lnTo>
                  <a:lnTo>
                    <a:pt x="612" y="166"/>
                  </a:lnTo>
                  <a:lnTo>
                    <a:pt x="607" y="155"/>
                  </a:lnTo>
                  <a:lnTo>
                    <a:pt x="602" y="144"/>
                  </a:lnTo>
                  <a:lnTo>
                    <a:pt x="596" y="134"/>
                  </a:lnTo>
                  <a:lnTo>
                    <a:pt x="583" y="115"/>
                  </a:lnTo>
                  <a:lnTo>
                    <a:pt x="567" y="96"/>
                  </a:lnTo>
                  <a:lnTo>
                    <a:pt x="548" y="79"/>
                  </a:lnTo>
                  <a:lnTo>
                    <a:pt x="529" y="63"/>
                  </a:lnTo>
                  <a:lnTo>
                    <a:pt x="506" y="50"/>
                  </a:lnTo>
                  <a:lnTo>
                    <a:pt x="482" y="38"/>
                  </a:lnTo>
                  <a:lnTo>
                    <a:pt x="456" y="27"/>
                  </a:lnTo>
                  <a:lnTo>
                    <a:pt x="429" y="17"/>
                  </a:lnTo>
                  <a:lnTo>
                    <a:pt x="401" y="10"/>
                  </a:lnTo>
                  <a:lnTo>
                    <a:pt x="372" y="5"/>
                  </a:lnTo>
                  <a:lnTo>
                    <a:pt x="342" y="2"/>
                  </a:lnTo>
                  <a:lnTo>
                    <a:pt x="310" y="0"/>
                  </a:lnTo>
                  <a:lnTo>
                    <a:pt x="310" y="0"/>
                  </a:lnTo>
                  <a:lnTo>
                    <a:pt x="280" y="2"/>
                  </a:lnTo>
                  <a:lnTo>
                    <a:pt x="250" y="5"/>
                  </a:lnTo>
                  <a:lnTo>
                    <a:pt x="221" y="10"/>
                  </a:lnTo>
                  <a:lnTo>
                    <a:pt x="193" y="17"/>
                  </a:lnTo>
                  <a:lnTo>
                    <a:pt x="165" y="27"/>
                  </a:lnTo>
                  <a:lnTo>
                    <a:pt x="140" y="38"/>
                  </a:lnTo>
                  <a:lnTo>
                    <a:pt x="116" y="50"/>
                  </a:lnTo>
                  <a:lnTo>
                    <a:pt x="93" y="63"/>
                  </a:lnTo>
                  <a:lnTo>
                    <a:pt x="72" y="79"/>
                  </a:lnTo>
                  <a:lnTo>
                    <a:pt x="54" y="96"/>
                  </a:lnTo>
                  <a:lnTo>
                    <a:pt x="39" y="115"/>
                  </a:lnTo>
                  <a:lnTo>
                    <a:pt x="25" y="134"/>
                  </a:lnTo>
                  <a:lnTo>
                    <a:pt x="19" y="144"/>
                  </a:lnTo>
                  <a:lnTo>
                    <a:pt x="14" y="155"/>
                  </a:lnTo>
                  <a:lnTo>
                    <a:pt x="10" y="166"/>
                  </a:lnTo>
                  <a:lnTo>
                    <a:pt x="6" y="177"/>
                  </a:lnTo>
                  <a:lnTo>
                    <a:pt x="4" y="189"/>
                  </a:lnTo>
                  <a:lnTo>
                    <a:pt x="1" y="200"/>
                  </a:lnTo>
                  <a:lnTo>
                    <a:pt x="0" y="212"/>
                  </a:lnTo>
                  <a:lnTo>
                    <a:pt x="0" y="224"/>
                  </a:lnTo>
                  <a:lnTo>
                    <a:pt x="0" y="224"/>
                  </a:lnTo>
                  <a:lnTo>
                    <a:pt x="0" y="236"/>
                  </a:lnTo>
                  <a:lnTo>
                    <a:pt x="1" y="248"/>
                  </a:lnTo>
                  <a:lnTo>
                    <a:pt x="4" y="259"/>
                  </a:lnTo>
                  <a:lnTo>
                    <a:pt x="6" y="271"/>
                  </a:lnTo>
                  <a:lnTo>
                    <a:pt x="10" y="282"/>
                  </a:lnTo>
                  <a:lnTo>
                    <a:pt x="14" y="293"/>
                  </a:lnTo>
                  <a:lnTo>
                    <a:pt x="19" y="303"/>
                  </a:lnTo>
                  <a:lnTo>
                    <a:pt x="25" y="313"/>
                  </a:lnTo>
                  <a:lnTo>
                    <a:pt x="39" y="332"/>
                  </a:lnTo>
                  <a:lnTo>
                    <a:pt x="54" y="352"/>
                  </a:lnTo>
                  <a:lnTo>
                    <a:pt x="72" y="369"/>
                  </a:lnTo>
                  <a:lnTo>
                    <a:pt x="93" y="384"/>
                  </a:lnTo>
                  <a:lnTo>
                    <a:pt x="116" y="398"/>
                  </a:lnTo>
                  <a:lnTo>
                    <a:pt x="140" y="411"/>
                  </a:lnTo>
                  <a:lnTo>
                    <a:pt x="165" y="421"/>
                  </a:lnTo>
                  <a:lnTo>
                    <a:pt x="193" y="430"/>
                  </a:lnTo>
                  <a:lnTo>
                    <a:pt x="221" y="437"/>
                  </a:lnTo>
                  <a:lnTo>
                    <a:pt x="250" y="442"/>
                  </a:lnTo>
                  <a:lnTo>
                    <a:pt x="280" y="446"/>
                  </a:lnTo>
                  <a:lnTo>
                    <a:pt x="310" y="447"/>
                  </a:lnTo>
                  <a:lnTo>
                    <a:pt x="310" y="4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9" name="Freeform 37">
              <a:extLst>
                <a:ext uri="{FF2B5EF4-FFF2-40B4-BE49-F238E27FC236}">
                  <a16:creationId xmlns:a16="http://schemas.microsoft.com/office/drawing/2014/main" id="{9ACEE2A6-AE3F-F143-9CD3-1095B2E3AB0A}"/>
                </a:ext>
              </a:extLst>
            </p:cNvPr>
            <p:cNvSpPr>
              <a:spLocks/>
            </p:cNvSpPr>
            <p:nvPr/>
          </p:nvSpPr>
          <p:spPr bwMode="auto">
            <a:xfrm>
              <a:off x="3633788" y="938213"/>
              <a:ext cx="360363" cy="350838"/>
            </a:xfrm>
            <a:custGeom>
              <a:avLst/>
              <a:gdLst>
                <a:gd name="T0" fmla="*/ 155 w 454"/>
                <a:gd name="T1" fmla="*/ 442 h 442"/>
                <a:gd name="T2" fmla="*/ 155 w 454"/>
                <a:gd name="T3" fmla="*/ 177 h 442"/>
                <a:gd name="T4" fmla="*/ 159 w 454"/>
                <a:gd name="T5" fmla="*/ 149 h 442"/>
                <a:gd name="T6" fmla="*/ 174 w 454"/>
                <a:gd name="T7" fmla="*/ 125 h 442"/>
                <a:gd name="T8" fmla="*/ 185 w 454"/>
                <a:gd name="T9" fmla="*/ 114 h 442"/>
                <a:gd name="T10" fmla="*/ 198 w 454"/>
                <a:gd name="T11" fmla="*/ 105 h 442"/>
                <a:gd name="T12" fmla="*/ 214 w 454"/>
                <a:gd name="T13" fmla="*/ 101 h 442"/>
                <a:gd name="T14" fmla="*/ 232 w 454"/>
                <a:gd name="T15" fmla="*/ 98 h 442"/>
                <a:gd name="T16" fmla="*/ 245 w 454"/>
                <a:gd name="T17" fmla="*/ 99 h 442"/>
                <a:gd name="T18" fmla="*/ 268 w 454"/>
                <a:gd name="T19" fmla="*/ 108 h 442"/>
                <a:gd name="T20" fmla="*/ 287 w 454"/>
                <a:gd name="T21" fmla="*/ 122 h 442"/>
                <a:gd name="T22" fmla="*/ 298 w 454"/>
                <a:gd name="T23" fmla="*/ 142 h 442"/>
                <a:gd name="T24" fmla="*/ 299 w 454"/>
                <a:gd name="T25" fmla="*/ 152 h 442"/>
                <a:gd name="T26" fmla="*/ 454 w 454"/>
                <a:gd name="T27" fmla="*/ 442 h 442"/>
                <a:gd name="T28" fmla="*/ 454 w 454"/>
                <a:gd name="T29" fmla="*/ 144 h 442"/>
                <a:gd name="T30" fmla="*/ 450 w 454"/>
                <a:gd name="T31" fmla="*/ 116 h 442"/>
                <a:gd name="T32" fmla="*/ 439 w 454"/>
                <a:gd name="T33" fmla="*/ 89 h 442"/>
                <a:gd name="T34" fmla="*/ 421 w 454"/>
                <a:gd name="T35" fmla="*/ 64 h 442"/>
                <a:gd name="T36" fmla="*/ 400 w 454"/>
                <a:gd name="T37" fmla="*/ 43 h 442"/>
                <a:gd name="T38" fmla="*/ 372 w 454"/>
                <a:gd name="T39" fmla="*/ 26 h 442"/>
                <a:gd name="T40" fmla="*/ 341 w 454"/>
                <a:gd name="T41" fmla="*/ 12 h 442"/>
                <a:gd name="T42" fmla="*/ 307 w 454"/>
                <a:gd name="T43" fmla="*/ 4 h 442"/>
                <a:gd name="T44" fmla="*/ 269 w 454"/>
                <a:gd name="T45" fmla="*/ 0 h 442"/>
                <a:gd name="T46" fmla="*/ 267 w 454"/>
                <a:gd name="T47" fmla="*/ 0 h 442"/>
                <a:gd name="T48" fmla="*/ 263 w 454"/>
                <a:gd name="T49" fmla="*/ 0 h 442"/>
                <a:gd name="T50" fmla="*/ 249 w 454"/>
                <a:gd name="T51" fmla="*/ 2 h 442"/>
                <a:gd name="T52" fmla="*/ 219 w 454"/>
                <a:gd name="T53" fmla="*/ 5 h 442"/>
                <a:gd name="T54" fmla="*/ 190 w 454"/>
                <a:gd name="T55" fmla="*/ 14 h 442"/>
                <a:gd name="T56" fmla="*/ 163 w 454"/>
                <a:gd name="T57" fmla="*/ 26 h 442"/>
                <a:gd name="T58" fmla="*/ 151 w 454"/>
                <a:gd name="T59" fmla="*/ 33 h 442"/>
                <a:gd name="T60" fmla="*/ 147 w 454"/>
                <a:gd name="T61" fmla="*/ 28 h 442"/>
                <a:gd name="T62" fmla="*/ 129 w 454"/>
                <a:gd name="T63" fmla="*/ 17 h 442"/>
                <a:gd name="T64" fmla="*/ 83 w 454"/>
                <a:gd name="T65" fmla="*/ 8 h 442"/>
                <a:gd name="T66" fmla="*/ 0 w 454"/>
                <a:gd name="T67" fmla="*/ 4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4" h="442">
                  <a:moveTo>
                    <a:pt x="0" y="442"/>
                  </a:moveTo>
                  <a:lnTo>
                    <a:pt x="155" y="442"/>
                  </a:lnTo>
                  <a:lnTo>
                    <a:pt x="155" y="177"/>
                  </a:lnTo>
                  <a:lnTo>
                    <a:pt x="155" y="177"/>
                  </a:lnTo>
                  <a:lnTo>
                    <a:pt x="156" y="163"/>
                  </a:lnTo>
                  <a:lnTo>
                    <a:pt x="159" y="149"/>
                  </a:lnTo>
                  <a:lnTo>
                    <a:pt x="165" y="136"/>
                  </a:lnTo>
                  <a:lnTo>
                    <a:pt x="174" y="125"/>
                  </a:lnTo>
                  <a:lnTo>
                    <a:pt x="180" y="119"/>
                  </a:lnTo>
                  <a:lnTo>
                    <a:pt x="185" y="114"/>
                  </a:lnTo>
                  <a:lnTo>
                    <a:pt x="192" y="109"/>
                  </a:lnTo>
                  <a:lnTo>
                    <a:pt x="198" y="105"/>
                  </a:lnTo>
                  <a:lnTo>
                    <a:pt x="207" y="103"/>
                  </a:lnTo>
                  <a:lnTo>
                    <a:pt x="214" y="101"/>
                  </a:lnTo>
                  <a:lnTo>
                    <a:pt x="222" y="99"/>
                  </a:lnTo>
                  <a:lnTo>
                    <a:pt x="232" y="98"/>
                  </a:lnTo>
                  <a:lnTo>
                    <a:pt x="232" y="98"/>
                  </a:lnTo>
                  <a:lnTo>
                    <a:pt x="245" y="99"/>
                  </a:lnTo>
                  <a:lnTo>
                    <a:pt x="257" y="103"/>
                  </a:lnTo>
                  <a:lnTo>
                    <a:pt x="268" y="108"/>
                  </a:lnTo>
                  <a:lnTo>
                    <a:pt x="279" y="114"/>
                  </a:lnTo>
                  <a:lnTo>
                    <a:pt x="287" y="122"/>
                  </a:lnTo>
                  <a:lnTo>
                    <a:pt x="295" y="132"/>
                  </a:lnTo>
                  <a:lnTo>
                    <a:pt x="298" y="142"/>
                  </a:lnTo>
                  <a:lnTo>
                    <a:pt x="299" y="146"/>
                  </a:lnTo>
                  <a:lnTo>
                    <a:pt x="299" y="152"/>
                  </a:lnTo>
                  <a:lnTo>
                    <a:pt x="299" y="442"/>
                  </a:lnTo>
                  <a:lnTo>
                    <a:pt x="454" y="442"/>
                  </a:lnTo>
                  <a:lnTo>
                    <a:pt x="454" y="144"/>
                  </a:lnTo>
                  <a:lnTo>
                    <a:pt x="454" y="144"/>
                  </a:lnTo>
                  <a:lnTo>
                    <a:pt x="453" y="130"/>
                  </a:lnTo>
                  <a:lnTo>
                    <a:pt x="450" y="116"/>
                  </a:lnTo>
                  <a:lnTo>
                    <a:pt x="446" y="102"/>
                  </a:lnTo>
                  <a:lnTo>
                    <a:pt x="439" y="89"/>
                  </a:lnTo>
                  <a:lnTo>
                    <a:pt x="431" y="76"/>
                  </a:lnTo>
                  <a:lnTo>
                    <a:pt x="421" y="64"/>
                  </a:lnTo>
                  <a:lnTo>
                    <a:pt x="411" y="53"/>
                  </a:lnTo>
                  <a:lnTo>
                    <a:pt x="400" y="43"/>
                  </a:lnTo>
                  <a:lnTo>
                    <a:pt x="386" y="34"/>
                  </a:lnTo>
                  <a:lnTo>
                    <a:pt x="372" y="26"/>
                  </a:lnTo>
                  <a:lnTo>
                    <a:pt x="356" y="18"/>
                  </a:lnTo>
                  <a:lnTo>
                    <a:pt x="341" y="12"/>
                  </a:lnTo>
                  <a:lnTo>
                    <a:pt x="324" y="8"/>
                  </a:lnTo>
                  <a:lnTo>
                    <a:pt x="307" y="4"/>
                  </a:lnTo>
                  <a:lnTo>
                    <a:pt x="289" y="2"/>
                  </a:lnTo>
                  <a:lnTo>
                    <a:pt x="269" y="0"/>
                  </a:lnTo>
                  <a:lnTo>
                    <a:pt x="269" y="0"/>
                  </a:lnTo>
                  <a:lnTo>
                    <a:pt x="267" y="0"/>
                  </a:lnTo>
                  <a:lnTo>
                    <a:pt x="267" y="0"/>
                  </a:lnTo>
                  <a:lnTo>
                    <a:pt x="263" y="0"/>
                  </a:lnTo>
                  <a:lnTo>
                    <a:pt x="263" y="0"/>
                  </a:lnTo>
                  <a:lnTo>
                    <a:pt x="249" y="2"/>
                  </a:lnTo>
                  <a:lnTo>
                    <a:pt x="233" y="3"/>
                  </a:lnTo>
                  <a:lnTo>
                    <a:pt x="219" y="5"/>
                  </a:lnTo>
                  <a:lnTo>
                    <a:pt x="204" y="9"/>
                  </a:lnTo>
                  <a:lnTo>
                    <a:pt x="190" y="14"/>
                  </a:lnTo>
                  <a:lnTo>
                    <a:pt x="176" y="20"/>
                  </a:lnTo>
                  <a:lnTo>
                    <a:pt x="163" y="26"/>
                  </a:lnTo>
                  <a:lnTo>
                    <a:pt x="151" y="33"/>
                  </a:lnTo>
                  <a:lnTo>
                    <a:pt x="151" y="33"/>
                  </a:lnTo>
                  <a:lnTo>
                    <a:pt x="150" y="32"/>
                  </a:lnTo>
                  <a:lnTo>
                    <a:pt x="147" y="28"/>
                  </a:lnTo>
                  <a:lnTo>
                    <a:pt x="140" y="23"/>
                  </a:lnTo>
                  <a:lnTo>
                    <a:pt x="129" y="17"/>
                  </a:lnTo>
                  <a:lnTo>
                    <a:pt x="110" y="12"/>
                  </a:lnTo>
                  <a:lnTo>
                    <a:pt x="83" y="8"/>
                  </a:lnTo>
                  <a:lnTo>
                    <a:pt x="47" y="5"/>
                  </a:lnTo>
                  <a:lnTo>
                    <a:pt x="0" y="4"/>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0" name="Rectangle 38">
              <a:extLst>
                <a:ext uri="{FF2B5EF4-FFF2-40B4-BE49-F238E27FC236}">
                  <a16:creationId xmlns:a16="http://schemas.microsoft.com/office/drawing/2014/main" id="{C1C36DB5-919E-E848-851D-2F5763A28D2A}"/>
                </a:ext>
              </a:extLst>
            </p:cNvPr>
            <p:cNvSpPr>
              <a:spLocks noChangeArrowheads="1"/>
            </p:cNvSpPr>
            <p:nvPr/>
          </p:nvSpPr>
          <p:spPr bwMode="auto">
            <a:xfrm>
              <a:off x="2168526" y="952501"/>
              <a:ext cx="120650" cy="336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1" name="Freeform 39">
              <a:extLst>
                <a:ext uri="{FF2B5EF4-FFF2-40B4-BE49-F238E27FC236}">
                  <a16:creationId xmlns:a16="http://schemas.microsoft.com/office/drawing/2014/main" id="{811E474A-E647-AE4A-B519-971C7D685AD6}"/>
                </a:ext>
              </a:extLst>
            </p:cNvPr>
            <p:cNvSpPr>
              <a:spLocks/>
            </p:cNvSpPr>
            <p:nvPr/>
          </p:nvSpPr>
          <p:spPr bwMode="auto">
            <a:xfrm>
              <a:off x="2820988" y="946151"/>
              <a:ext cx="252413" cy="342900"/>
            </a:xfrm>
            <a:custGeom>
              <a:avLst/>
              <a:gdLst>
                <a:gd name="T0" fmla="*/ 0 w 319"/>
                <a:gd name="T1" fmla="*/ 432 h 432"/>
                <a:gd name="T2" fmla="*/ 151 w 319"/>
                <a:gd name="T3" fmla="*/ 432 h 432"/>
                <a:gd name="T4" fmla="*/ 151 w 319"/>
                <a:gd name="T5" fmla="*/ 175 h 432"/>
                <a:gd name="T6" fmla="*/ 151 w 319"/>
                <a:gd name="T7" fmla="*/ 175 h 432"/>
                <a:gd name="T8" fmla="*/ 152 w 319"/>
                <a:gd name="T9" fmla="*/ 167 h 432"/>
                <a:gd name="T10" fmla="*/ 153 w 319"/>
                <a:gd name="T11" fmla="*/ 159 h 432"/>
                <a:gd name="T12" fmla="*/ 156 w 319"/>
                <a:gd name="T13" fmla="*/ 153 h 432"/>
                <a:gd name="T14" fmla="*/ 159 w 319"/>
                <a:gd name="T15" fmla="*/ 146 h 432"/>
                <a:gd name="T16" fmla="*/ 164 w 319"/>
                <a:gd name="T17" fmla="*/ 140 h 432"/>
                <a:gd name="T18" fmla="*/ 169 w 319"/>
                <a:gd name="T19" fmla="*/ 134 h 432"/>
                <a:gd name="T20" fmla="*/ 175 w 319"/>
                <a:gd name="T21" fmla="*/ 128 h 432"/>
                <a:gd name="T22" fmla="*/ 181 w 319"/>
                <a:gd name="T23" fmla="*/ 123 h 432"/>
                <a:gd name="T24" fmla="*/ 196 w 319"/>
                <a:gd name="T25" fmla="*/ 114 h 432"/>
                <a:gd name="T26" fmla="*/ 213 w 319"/>
                <a:gd name="T27" fmla="*/ 107 h 432"/>
                <a:gd name="T28" fmla="*/ 231 w 319"/>
                <a:gd name="T29" fmla="*/ 103 h 432"/>
                <a:gd name="T30" fmla="*/ 240 w 319"/>
                <a:gd name="T31" fmla="*/ 101 h 432"/>
                <a:gd name="T32" fmla="*/ 250 w 319"/>
                <a:gd name="T33" fmla="*/ 101 h 432"/>
                <a:gd name="T34" fmla="*/ 250 w 319"/>
                <a:gd name="T35" fmla="*/ 101 h 432"/>
                <a:gd name="T36" fmla="*/ 268 w 319"/>
                <a:gd name="T37" fmla="*/ 103 h 432"/>
                <a:gd name="T38" fmla="*/ 286 w 319"/>
                <a:gd name="T39" fmla="*/ 105 h 432"/>
                <a:gd name="T40" fmla="*/ 303 w 319"/>
                <a:gd name="T41" fmla="*/ 110 h 432"/>
                <a:gd name="T42" fmla="*/ 319 w 319"/>
                <a:gd name="T43" fmla="*/ 116 h 432"/>
                <a:gd name="T44" fmla="*/ 319 w 319"/>
                <a:gd name="T45" fmla="*/ 116 h 432"/>
                <a:gd name="T46" fmla="*/ 319 w 319"/>
                <a:gd name="T47" fmla="*/ 4 h 432"/>
                <a:gd name="T48" fmla="*/ 319 w 319"/>
                <a:gd name="T49" fmla="*/ 4 h 432"/>
                <a:gd name="T50" fmla="*/ 291 w 319"/>
                <a:gd name="T51" fmla="*/ 1 h 432"/>
                <a:gd name="T52" fmla="*/ 265 w 319"/>
                <a:gd name="T53" fmla="*/ 0 h 432"/>
                <a:gd name="T54" fmla="*/ 265 w 319"/>
                <a:gd name="T55" fmla="*/ 0 h 432"/>
                <a:gd name="T56" fmla="*/ 250 w 319"/>
                <a:gd name="T57" fmla="*/ 0 h 432"/>
                <a:gd name="T58" fmla="*/ 234 w 319"/>
                <a:gd name="T59" fmla="*/ 2 h 432"/>
                <a:gd name="T60" fmla="*/ 220 w 319"/>
                <a:gd name="T61" fmla="*/ 5 h 432"/>
                <a:gd name="T62" fmla="*/ 205 w 319"/>
                <a:gd name="T63" fmla="*/ 8 h 432"/>
                <a:gd name="T64" fmla="*/ 191 w 319"/>
                <a:gd name="T65" fmla="*/ 12 h 432"/>
                <a:gd name="T66" fmla="*/ 176 w 319"/>
                <a:gd name="T67" fmla="*/ 18 h 432"/>
                <a:gd name="T68" fmla="*/ 163 w 319"/>
                <a:gd name="T69" fmla="*/ 24 h 432"/>
                <a:gd name="T70" fmla="*/ 151 w 319"/>
                <a:gd name="T71" fmla="*/ 31 h 432"/>
                <a:gd name="T72" fmla="*/ 151 w 319"/>
                <a:gd name="T73" fmla="*/ 31 h 432"/>
                <a:gd name="T74" fmla="*/ 149 w 319"/>
                <a:gd name="T75" fmla="*/ 29 h 432"/>
                <a:gd name="T76" fmla="*/ 144 w 319"/>
                <a:gd name="T77" fmla="*/ 24 h 432"/>
                <a:gd name="T78" fmla="*/ 137 w 319"/>
                <a:gd name="T79" fmla="*/ 19 h 432"/>
                <a:gd name="T80" fmla="*/ 123 w 319"/>
                <a:gd name="T81" fmla="*/ 15 h 432"/>
                <a:gd name="T82" fmla="*/ 104 w 319"/>
                <a:gd name="T83" fmla="*/ 10 h 432"/>
                <a:gd name="T84" fmla="*/ 79 w 319"/>
                <a:gd name="T85" fmla="*/ 6 h 432"/>
                <a:gd name="T86" fmla="*/ 44 w 319"/>
                <a:gd name="T87" fmla="*/ 4 h 432"/>
                <a:gd name="T88" fmla="*/ 0 w 319"/>
                <a:gd name="T89" fmla="*/ 2 h 432"/>
                <a:gd name="T90" fmla="*/ 0 w 319"/>
                <a:gd name="T91" fmla="*/ 43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9" h="432">
                  <a:moveTo>
                    <a:pt x="0" y="432"/>
                  </a:moveTo>
                  <a:lnTo>
                    <a:pt x="151" y="432"/>
                  </a:lnTo>
                  <a:lnTo>
                    <a:pt x="151" y="175"/>
                  </a:lnTo>
                  <a:lnTo>
                    <a:pt x="151" y="175"/>
                  </a:lnTo>
                  <a:lnTo>
                    <a:pt x="152" y="167"/>
                  </a:lnTo>
                  <a:lnTo>
                    <a:pt x="153" y="159"/>
                  </a:lnTo>
                  <a:lnTo>
                    <a:pt x="156" y="153"/>
                  </a:lnTo>
                  <a:lnTo>
                    <a:pt x="159" y="146"/>
                  </a:lnTo>
                  <a:lnTo>
                    <a:pt x="164" y="140"/>
                  </a:lnTo>
                  <a:lnTo>
                    <a:pt x="169" y="134"/>
                  </a:lnTo>
                  <a:lnTo>
                    <a:pt x="175" y="128"/>
                  </a:lnTo>
                  <a:lnTo>
                    <a:pt x="181" y="123"/>
                  </a:lnTo>
                  <a:lnTo>
                    <a:pt x="196" y="114"/>
                  </a:lnTo>
                  <a:lnTo>
                    <a:pt x="213" y="107"/>
                  </a:lnTo>
                  <a:lnTo>
                    <a:pt x="231" y="103"/>
                  </a:lnTo>
                  <a:lnTo>
                    <a:pt x="240" y="101"/>
                  </a:lnTo>
                  <a:lnTo>
                    <a:pt x="250" y="101"/>
                  </a:lnTo>
                  <a:lnTo>
                    <a:pt x="250" y="101"/>
                  </a:lnTo>
                  <a:lnTo>
                    <a:pt x="268" y="103"/>
                  </a:lnTo>
                  <a:lnTo>
                    <a:pt x="286" y="105"/>
                  </a:lnTo>
                  <a:lnTo>
                    <a:pt x="303" y="110"/>
                  </a:lnTo>
                  <a:lnTo>
                    <a:pt x="319" y="116"/>
                  </a:lnTo>
                  <a:lnTo>
                    <a:pt x="319" y="116"/>
                  </a:lnTo>
                  <a:lnTo>
                    <a:pt x="319" y="4"/>
                  </a:lnTo>
                  <a:lnTo>
                    <a:pt x="319" y="4"/>
                  </a:lnTo>
                  <a:lnTo>
                    <a:pt x="291" y="1"/>
                  </a:lnTo>
                  <a:lnTo>
                    <a:pt x="265" y="0"/>
                  </a:lnTo>
                  <a:lnTo>
                    <a:pt x="265" y="0"/>
                  </a:lnTo>
                  <a:lnTo>
                    <a:pt x="250" y="0"/>
                  </a:lnTo>
                  <a:lnTo>
                    <a:pt x="234" y="2"/>
                  </a:lnTo>
                  <a:lnTo>
                    <a:pt x="220" y="5"/>
                  </a:lnTo>
                  <a:lnTo>
                    <a:pt x="205" y="8"/>
                  </a:lnTo>
                  <a:lnTo>
                    <a:pt x="191" y="12"/>
                  </a:lnTo>
                  <a:lnTo>
                    <a:pt x="176" y="18"/>
                  </a:lnTo>
                  <a:lnTo>
                    <a:pt x="163" y="24"/>
                  </a:lnTo>
                  <a:lnTo>
                    <a:pt x="151" y="31"/>
                  </a:lnTo>
                  <a:lnTo>
                    <a:pt x="151" y="31"/>
                  </a:lnTo>
                  <a:lnTo>
                    <a:pt x="149" y="29"/>
                  </a:lnTo>
                  <a:lnTo>
                    <a:pt x="144" y="24"/>
                  </a:lnTo>
                  <a:lnTo>
                    <a:pt x="137" y="19"/>
                  </a:lnTo>
                  <a:lnTo>
                    <a:pt x="123" y="15"/>
                  </a:lnTo>
                  <a:lnTo>
                    <a:pt x="104" y="10"/>
                  </a:lnTo>
                  <a:lnTo>
                    <a:pt x="79" y="6"/>
                  </a:lnTo>
                  <a:lnTo>
                    <a:pt x="44" y="4"/>
                  </a:lnTo>
                  <a:lnTo>
                    <a:pt x="0" y="2"/>
                  </a:lnTo>
                  <a:lnTo>
                    <a:pt x="0" y="4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2" name="Freeform 40">
              <a:extLst>
                <a:ext uri="{FF2B5EF4-FFF2-40B4-BE49-F238E27FC236}">
                  <a16:creationId xmlns:a16="http://schemas.microsoft.com/office/drawing/2014/main" id="{FABAFA95-CC38-A146-A011-3F8E98911E8B}"/>
                </a:ext>
              </a:extLst>
            </p:cNvPr>
            <p:cNvSpPr>
              <a:spLocks/>
            </p:cNvSpPr>
            <p:nvPr/>
          </p:nvSpPr>
          <p:spPr bwMode="auto">
            <a:xfrm>
              <a:off x="1701801" y="677863"/>
              <a:ext cx="522288" cy="635000"/>
            </a:xfrm>
            <a:custGeom>
              <a:avLst/>
              <a:gdLst>
                <a:gd name="T0" fmla="*/ 635 w 658"/>
                <a:gd name="T1" fmla="*/ 37 h 800"/>
                <a:gd name="T2" fmla="*/ 614 w 658"/>
                <a:gd name="T3" fmla="*/ 19 h 800"/>
                <a:gd name="T4" fmla="*/ 587 w 658"/>
                <a:gd name="T5" fmla="*/ 7 h 800"/>
                <a:gd name="T6" fmla="*/ 529 w 658"/>
                <a:gd name="T7" fmla="*/ 0 h 800"/>
                <a:gd name="T8" fmla="*/ 442 w 658"/>
                <a:gd name="T9" fmla="*/ 11 h 800"/>
                <a:gd name="T10" fmla="*/ 337 w 658"/>
                <a:gd name="T11" fmla="*/ 43 h 800"/>
                <a:gd name="T12" fmla="*/ 218 w 658"/>
                <a:gd name="T13" fmla="*/ 95 h 800"/>
                <a:gd name="T14" fmla="*/ 161 w 658"/>
                <a:gd name="T15" fmla="*/ 126 h 800"/>
                <a:gd name="T16" fmla="*/ 146 w 658"/>
                <a:gd name="T17" fmla="*/ 135 h 800"/>
                <a:gd name="T18" fmla="*/ 144 w 658"/>
                <a:gd name="T19" fmla="*/ 142 h 800"/>
                <a:gd name="T20" fmla="*/ 152 w 658"/>
                <a:gd name="T21" fmla="*/ 142 h 800"/>
                <a:gd name="T22" fmla="*/ 181 w 658"/>
                <a:gd name="T23" fmla="*/ 132 h 800"/>
                <a:gd name="T24" fmla="*/ 244 w 658"/>
                <a:gd name="T25" fmla="*/ 104 h 800"/>
                <a:gd name="T26" fmla="*/ 331 w 658"/>
                <a:gd name="T27" fmla="*/ 74 h 800"/>
                <a:gd name="T28" fmla="*/ 407 w 658"/>
                <a:gd name="T29" fmla="*/ 59 h 800"/>
                <a:gd name="T30" fmla="*/ 470 w 658"/>
                <a:gd name="T31" fmla="*/ 59 h 800"/>
                <a:gd name="T32" fmla="*/ 518 w 658"/>
                <a:gd name="T33" fmla="*/ 74 h 800"/>
                <a:gd name="T34" fmla="*/ 541 w 658"/>
                <a:gd name="T35" fmla="*/ 92 h 800"/>
                <a:gd name="T36" fmla="*/ 558 w 658"/>
                <a:gd name="T37" fmla="*/ 121 h 800"/>
                <a:gd name="T38" fmla="*/ 562 w 658"/>
                <a:gd name="T39" fmla="*/ 159 h 800"/>
                <a:gd name="T40" fmla="*/ 554 w 658"/>
                <a:gd name="T41" fmla="*/ 206 h 800"/>
                <a:gd name="T42" fmla="*/ 535 w 658"/>
                <a:gd name="T43" fmla="*/ 258 h 800"/>
                <a:gd name="T44" fmla="*/ 506 w 658"/>
                <a:gd name="T45" fmla="*/ 316 h 800"/>
                <a:gd name="T46" fmla="*/ 436 w 658"/>
                <a:gd name="T47" fmla="*/ 420 h 800"/>
                <a:gd name="T48" fmla="*/ 320 w 658"/>
                <a:gd name="T49" fmla="*/ 551 h 800"/>
                <a:gd name="T50" fmla="*/ 225 w 658"/>
                <a:gd name="T51" fmla="*/ 634 h 800"/>
                <a:gd name="T52" fmla="*/ 173 w 658"/>
                <a:gd name="T53" fmla="*/ 675 h 800"/>
                <a:gd name="T54" fmla="*/ 39 w 658"/>
                <a:gd name="T55" fmla="*/ 767 h 800"/>
                <a:gd name="T56" fmla="*/ 31 w 658"/>
                <a:gd name="T57" fmla="*/ 771 h 800"/>
                <a:gd name="T58" fmla="*/ 2 w 658"/>
                <a:gd name="T59" fmla="*/ 794 h 800"/>
                <a:gd name="T60" fmla="*/ 3 w 658"/>
                <a:gd name="T61" fmla="*/ 799 h 800"/>
                <a:gd name="T62" fmla="*/ 11 w 658"/>
                <a:gd name="T63" fmla="*/ 798 h 800"/>
                <a:gd name="T64" fmla="*/ 38 w 658"/>
                <a:gd name="T65" fmla="*/ 785 h 800"/>
                <a:gd name="T66" fmla="*/ 45 w 658"/>
                <a:gd name="T67" fmla="*/ 780 h 800"/>
                <a:gd name="T68" fmla="*/ 195 w 658"/>
                <a:gd name="T69" fmla="*/ 680 h 800"/>
                <a:gd name="T70" fmla="*/ 301 w 658"/>
                <a:gd name="T71" fmla="*/ 601 h 800"/>
                <a:gd name="T72" fmla="*/ 455 w 658"/>
                <a:gd name="T73" fmla="*/ 461 h 800"/>
                <a:gd name="T74" fmla="*/ 515 w 658"/>
                <a:gd name="T75" fmla="*/ 396 h 800"/>
                <a:gd name="T76" fmla="*/ 585 w 658"/>
                <a:gd name="T77" fmla="*/ 303 h 800"/>
                <a:gd name="T78" fmla="*/ 632 w 658"/>
                <a:gd name="T79" fmla="*/ 216 h 800"/>
                <a:gd name="T80" fmla="*/ 656 w 658"/>
                <a:gd name="T81" fmla="*/ 141 h 800"/>
                <a:gd name="T82" fmla="*/ 657 w 658"/>
                <a:gd name="T83" fmla="*/ 87 h 800"/>
                <a:gd name="T84" fmla="*/ 650 w 658"/>
                <a:gd name="T85" fmla="*/ 60 h 800"/>
                <a:gd name="T86" fmla="*/ 640 w 658"/>
                <a:gd name="T87" fmla="*/ 45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8" h="800">
                  <a:moveTo>
                    <a:pt x="640" y="45"/>
                  </a:moveTo>
                  <a:lnTo>
                    <a:pt x="640" y="45"/>
                  </a:lnTo>
                  <a:lnTo>
                    <a:pt x="635" y="37"/>
                  </a:lnTo>
                  <a:lnTo>
                    <a:pt x="628" y="30"/>
                  </a:lnTo>
                  <a:lnTo>
                    <a:pt x="621" y="24"/>
                  </a:lnTo>
                  <a:lnTo>
                    <a:pt x="614" y="19"/>
                  </a:lnTo>
                  <a:lnTo>
                    <a:pt x="605" y="14"/>
                  </a:lnTo>
                  <a:lnTo>
                    <a:pt x="597" y="11"/>
                  </a:lnTo>
                  <a:lnTo>
                    <a:pt x="587" y="7"/>
                  </a:lnTo>
                  <a:lnTo>
                    <a:pt x="576" y="5"/>
                  </a:lnTo>
                  <a:lnTo>
                    <a:pt x="553" y="1"/>
                  </a:lnTo>
                  <a:lnTo>
                    <a:pt x="529" y="0"/>
                  </a:lnTo>
                  <a:lnTo>
                    <a:pt x="503" y="1"/>
                  </a:lnTo>
                  <a:lnTo>
                    <a:pt x="474" y="5"/>
                  </a:lnTo>
                  <a:lnTo>
                    <a:pt x="442" y="11"/>
                  </a:lnTo>
                  <a:lnTo>
                    <a:pt x="408" y="19"/>
                  </a:lnTo>
                  <a:lnTo>
                    <a:pt x="373" y="30"/>
                  </a:lnTo>
                  <a:lnTo>
                    <a:pt x="337" y="43"/>
                  </a:lnTo>
                  <a:lnTo>
                    <a:pt x="299" y="59"/>
                  </a:lnTo>
                  <a:lnTo>
                    <a:pt x="260" y="76"/>
                  </a:lnTo>
                  <a:lnTo>
                    <a:pt x="218" y="95"/>
                  </a:lnTo>
                  <a:lnTo>
                    <a:pt x="175" y="117"/>
                  </a:lnTo>
                  <a:lnTo>
                    <a:pt x="175" y="117"/>
                  </a:lnTo>
                  <a:lnTo>
                    <a:pt x="161" y="126"/>
                  </a:lnTo>
                  <a:lnTo>
                    <a:pt x="150" y="133"/>
                  </a:lnTo>
                  <a:lnTo>
                    <a:pt x="150" y="133"/>
                  </a:lnTo>
                  <a:lnTo>
                    <a:pt x="146" y="135"/>
                  </a:lnTo>
                  <a:lnTo>
                    <a:pt x="144" y="138"/>
                  </a:lnTo>
                  <a:lnTo>
                    <a:pt x="144" y="140"/>
                  </a:lnTo>
                  <a:lnTo>
                    <a:pt x="144" y="142"/>
                  </a:lnTo>
                  <a:lnTo>
                    <a:pt x="145" y="144"/>
                  </a:lnTo>
                  <a:lnTo>
                    <a:pt x="148" y="144"/>
                  </a:lnTo>
                  <a:lnTo>
                    <a:pt x="152" y="142"/>
                  </a:lnTo>
                  <a:lnTo>
                    <a:pt x="152" y="142"/>
                  </a:lnTo>
                  <a:lnTo>
                    <a:pt x="167" y="138"/>
                  </a:lnTo>
                  <a:lnTo>
                    <a:pt x="181" y="132"/>
                  </a:lnTo>
                  <a:lnTo>
                    <a:pt x="181" y="132"/>
                  </a:lnTo>
                  <a:lnTo>
                    <a:pt x="214" y="116"/>
                  </a:lnTo>
                  <a:lnTo>
                    <a:pt x="244" y="104"/>
                  </a:lnTo>
                  <a:lnTo>
                    <a:pt x="274" y="92"/>
                  </a:lnTo>
                  <a:lnTo>
                    <a:pt x="303" y="82"/>
                  </a:lnTo>
                  <a:lnTo>
                    <a:pt x="331" y="74"/>
                  </a:lnTo>
                  <a:lnTo>
                    <a:pt x="358" y="68"/>
                  </a:lnTo>
                  <a:lnTo>
                    <a:pt x="383" y="63"/>
                  </a:lnTo>
                  <a:lnTo>
                    <a:pt x="407" y="59"/>
                  </a:lnTo>
                  <a:lnTo>
                    <a:pt x="429" y="58"/>
                  </a:lnTo>
                  <a:lnTo>
                    <a:pt x="451" y="58"/>
                  </a:lnTo>
                  <a:lnTo>
                    <a:pt x="470" y="59"/>
                  </a:lnTo>
                  <a:lnTo>
                    <a:pt x="488" y="62"/>
                  </a:lnTo>
                  <a:lnTo>
                    <a:pt x="504" y="66"/>
                  </a:lnTo>
                  <a:lnTo>
                    <a:pt x="518" y="74"/>
                  </a:lnTo>
                  <a:lnTo>
                    <a:pt x="530" y="82"/>
                  </a:lnTo>
                  <a:lnTo>
                    <a:pt x="541" y="92"/>
                  </a:lnTo>
                  <a:lnTo>
                    <a:pt x="541" y="92"/>
                  </a:lnTo>
                  <a:lnTo>
                    <a:pt x="548" y="100"/>
                  </a:lnTo>
                  <a:lnTo>
                    <a:pt x="554" y="110"/>
                  </a:lnTo>
                  <a:lnTo>
                    <a:pt x="558" y="121"/>
                  </a:lnTo>
                  <a:lnTo>
                    <a:pt x="560" y="133"/>
                  </a:lnTo>
                  <a:lnTo>
                    <a:pt x="562" y="146"/>
                  </a:lnTo>
                  <a:lnTo>
                    <a:pt x="562" y="159"/>
                  </a:lnTo>
                  <a:lnTo>
                    <a:pt x="560" y="174"/>
                  </a:lnTo>
                  <a:lnTo>
                    <a:pt x="558" y="190"/>
                  </a:lnTo>
                  <a:lnTo>
                    <a:pt x="554" y="206"/>
                  </a:lnTo>
                  <a:lnTo>
                    <a:pt x="548" y="223"/>
                  </a:lnTo>
                  <a:lnTo>
                    <a:pt x="542" y="240"/>
                  </a:lnTo>
                  <a:lnTo>
                    <a:pt x="535" y="258"/>
                  </a:lnTo>
                  <a:lnTo>
                    <a:pt x="527" y="278"/>
                  </a:lnTo>
                  <a:lnTo>
                    <a:pt x="517" y="297"/>
                  </a:lnTo>
                  <a:lnTo>
                    <a:pt x="506" y="316"/>
                  </a:lnTo>
                  <a:lnTo>
                    <a:pt x="494" y="337"/>
                  </a:lnTo>
                  <a:lnTo>
                    <a:pt x="468" y="378"/>
                  </a:lnTo>
                  <a:lnTo>
                    <a:pt x="436" y="420"/>
                  </a:lnTo>
                  <a:lnTo>
                    <a:pt x="401" y="464"/>
                  </a:lnTo>
                  <a:lnTo>
                    <a:pt x="362" y="507"/>
                  </a:lnTo>
                  <a:lnTo>
                    <a:pt x="320" y="551"/>
                  </a:lnTo>
                  <a:lnTo>
                    <a:pt x="274" y="593"/>
                  </a:lnTo>
                  <a:lnTo>
                    <a:pt x="250" y="613"/>
                  </a:lnTo>
                  <a:lnTo>
                    <a:pt x="225" y="634"/>
                  </a:lnTo>
                  <a:lnTo>
                    <a:pt x="200" y="654"/>
                  </a:lnTo>
                  <a:lnTo>
                    <a:pt x="173" y="675"/>
                  </a:lnTo>
                  <a:lnTo>
                    <a:pt x="173" y="675"/>
                  </a:lnTo>
                  <a:lnTo>
                    <a:pt x="107" y="723"/>
                  </a:lnTo>
                  <a:lnTo>
                    <a:pt x="70" y="747"/>
                  </a:lnTo>
                  <a:lnTo>
                    <a:pt x="39" y="767"/>
                  </a:lnTo>
                  <a:lnTo>
                    <a:pt x="39" y="767"/>
                  </a:lnTo>
                  <a:lnTo>
                    <a:pt x="31" y="771"/>
                  </a:lnTo>
                  <a:lnTo>
                    <a:pt x="31" y="771"/>
                  </a:lnTo>
                  <a:lnTo>
                    <a:pt x="5" y="790"/>
                  </a:lnTo>
                  <a:lnTo>
                    <a:pt x="5" y="790"/>
                  </a:lnTo>
                  <a:lnTo>
                    <a:pt x="2" y="794"/>
                  </a:lnTo>
                  <a:lnTo>
                    <a:pt x="0" y="797"/>
                  </a:lnTo>
                  <a:lnTo>
                    <a:pt x="2" y="798"/>
                  </a:lnTo>
                  <a:lnTo>
                    <a:pt x="3" y="799"/>
                  </a:lnTo>
                  <a:lnTo>
                    <a:pt x="4" y="800"/>
                  </a:lnTo>
                  <a:lnTo>
                    <a:pt x="8" y="800"/>
                  </a:lnTo>
                  <a:lnTo>
                    <a:pt x="11" y="798"/>
                  </a:lnTo>
                  <a:lnTo>
                    <a:pt x="11" y="798"/>
                  </a:lnTo>
                  <a:lnTo>
                    <a:pt x="24" y="792"/>
                  </a:lnTo>
                  <a:lnTo>
                    <a:pt x="38" y="785"/>
                  </a:lnTo>
                  <a:lnTo>
                    <a:pt x="38" y="785"/>
                  </a:lnTo>
                  <a:lnTo>
                    <a:pt x="45" y="780"/>
                  </a:lnTo>
                  <a:lnTo>
                    <a:pt x="45" y="780"/>
                  </a:lnTo>
                  <a:lnTo>
                    <a:pt x="80" y="758"/>
                  </a:lnTo>
                  <a:lnTo>
                    <a:pt x="120" y="732"/>
                  </a:lnTo>
                  <a:lnTo>
                    <a:pt x="195" y="680"/>
                  </a:lnTo>
                  <a:lnTo>
                    <a:pt x="195" y="680"/>
                  </a:lnTo>
                  <a:lnTo>
                    <a:pt x="249" y="641"/>
                  </a:lnTo>
                  <a:lnTo>
                    <a:pt x="301" y="601"/>
                  </a:lnTo>
                  <a:lnTo>
                    <a:pt x="301" y="770"/>
                  </a:lnTo>
                  <a:lnTo>
                    <a:pt x="455" y="770"/>
                  </a:lnTo>
                  <a:lnTo>
                    <a:pt x="455" y="461"/>
                  </a:lnTo>
                  <a:lnTo>
                    <a:pt x="455" y="461"/>
                  </a:lnTo>
                  <a:lnTo>
                    <a:pt x="486" y="429"/>
                  </a:lnTo>
                  <a:lnTo>
                    <a:pt x="515" y="396"/>
                  </a:lnTo>
                  <a:lnTo>
                    <a:pt x="540" y="365"/>
                  </a:lnTo>
                  <a:lnTo>
                    <a:pt x="563" y="333"/>
                  </a:lnTo>
                  <a:lnTo>
                    <a:pt x="585" y="303"/>
                  </a:lnTo>
                  <a:lnTo>
                    <a:pt x="603" y="273"/>
                  </a:lnTo>
                  <a:lnTo>
                    <a:pt x="618" y="244"/>
                  </a:lnTo>
                  <a:lnTo>
                    <a:pt x="632" y="216"/>
                  </a:lnTo>
                  <a:lnTo>
                    <a:pt x="643" y="190"/>
                  </a:lnTo>
                  <a:lnTo>
                    <a:pt x="651" y="164"/>
                  </a:lnTo>
                  <a:lnTo>
                    <a:pt x="656" y="141"/>
                  </a:lnTo>
                  <a:lnTo>
                    <a:pt x="658" y="118"/>
                  </a:lnTo>
                  <a:lnTo>
                    <a:pt x="658" y="98"/>
                  </a:lnTo>
                  <a:lnTo>
                    <a:pt x="657" y="87"/>
                  </a:lnTo>
                  <a:lnTo>
                    <a:pt x="656" y="78"/>
                  </a:lnTo>
                  <a:lnTo>
                    <a:pt x="652" y="69"/>
                  </a:lnTo>
                  <a:lnTo>
                    <a:pt x="650" y="60"/>
                  </a:lnTo>
                  <a:lnTo>
                    <a:pt x="645" y="52"/>
                  </a:lnTo>
                  <a:lnTo>
                    <a:pt x="640" y="45"/>
                  </a:lnTo>
                  <a:lnTo>
                    <a:pt x="64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3" name="Freeform 41">
              <a:extLst>
                <a:ext uri="{FF2B5EF4-FFF2-40B4-BE49-F238E27FC236}">
                  <a16:creationId xmlns:a16="http://schemas.microsoft.com/office/drawing/2014/main" id="{440278FE-D342-0247-8DFC-E3FD4498C7C1}"/>
                </a:ext>
              </a:extLst>
            </p:cNvPr>
            <p:cNvSpPr>
              <a:spLocks/>
            </p:cNvSpPr>
            <p:nvPr/>
          </p:nvSpPr>
          <p:spPr bwMode="auto">
            <a:xfrm>
              <a:off x="1233488" y="814388"/>
              <a:ext cx="819150" cy="649288"/>
            </a:xfrm>
            <a:custGeom>
              <a:avLst/>
              <a:gdLst>
                <a:gd name="T0" fmla="*/ 442 w 1032"/>
                <a:gd name="T1" fmla="*/ 660 h 819"/>
                <a:gd name="T2" fmla="*/ 582 w 1032"/>
                <a:gd name="T3" fmla="*/ 569 h 819"/>
                <a:gd name="T4" fmla="*/ 598 w 1032"/>
                <a:gd name="T5" fmla="*/ 553 h 819"/>
                <a:gd name="T6" fmla="*/ 594 w 1032"/>
                <a:gd name="T7" fmla="*/ 549 h 819"/>
                <a:gd name="T8" fmla="*/ 560 w 1032"/>
                <a:gd name="T9" fmla="*/ 567 h 819"/>
                <a:gd name="T10" fmla="*/ 397 w 1032"/>
                <a:gd name="T11" fmla="*/ 661 h 819"/>
                <a:gd name="T12" fmla="*/ 264 w 1032"/>
                <a:gd name="T13" fmla="*/ 713 h 819"/>
                <a:gd name="T14" fmla="*/ 175 w 1032"/>
                <a:gd name="T15" fmla="*/ 722 h 819"/>
                <a:gd name="T16" fmla="*/ 138 w 1032"/>
                <a:gd name="T17" fmla="*/ 713 h 819"/>
                <a:gd name="T18" fmla="*/ 107 w 1032"/>
                <a:gd name="T19" fmla="*/ 692 h 819"/>
                <a:gd name="T20" fmla="*/ 94 w 1032"/>
                <a:gd name="T21" fmla="*/ 670 h 819"/>
                <a:gd name="T22" fmla="*/ 87 w 1032"/>
                <a:gd name="T23" fmla="*/ 639 h 819"/>
                <a:gd name="T24" fmla="*/ 106 w 1032"/>
                <a:gd name="T25" fmla="*/ 559 h 819"/>
                <a:gd name="T26" fmla="*/ 167 w 1032"/>
                <a:gd name="T27" fmla="*/ 463 h 819"/>
                <a:gd name="T28" fmla="*/ 260 w 1032"/>
                <a:gd name="T29" fmla="*/ 354 h 819"/>
                <a:gd name="T30" fmla="*/ 322 w 1032"/>
                <a:gd name="T31" fmla="*/ 668 h 819"/>
                <a:gd name="T32" fmla="*/ 442 w 1032"/>
                <a:gd name="T33" fmla="*/ 281 h 819"/>
                <a:gd name="T34" fmla="*/ 491 w 1032"/>
                <a:gd name="T35" fmla="*/ 381 h 819"/>
                <a:gd name="T36" fmla="*/ 530 w 1032"/>
                <a:gd name="T37" fmla="*/ 428 h 819"/>
                <a:gd name="T38" fmla="*/ 578 w 1032"/>
                <a:gd name="T39" fmla="*/ 460 h 819"/>
                <a:gd name="T40" fmla="*/ 635 w 1032"/>
                <a:gd name="T41" fmla="*/ 479 h 819"/>
                <a:gd name="T42" fmla="*/ 682 w 1032"/>
                <a:gd name="T43" fmla="*/ 480 h 819"/>
                <a:gd name="T44" fmla="*/ 741 w 1032"/>
                <a:gd name="T45" fmla="*/ 466 h 819"/>
                <a:gd name="T46" fmla="*/ 792 w 1032"/>
                <a:gd name="T47" fmla="*/ 437 h 819"/>
                <a:gd name="T48" fmla="*/ 833 w 1032"/>
                <a:gd name="T49" fmla="*/ 394 h 819"/>
                <a:gd name="T50" fmla="*/ 891 w 1032"/>
                <a:gd name="T51" fmla="*/ 281 h 819"/>
                <a:gd name="T52" fmla="*/ 967 w 1032"/>
                <a:gd name="T53" fmla="*/ 284 h 819"/>
                <a:gd name="T54" fmla="*/ 1029 w 1032"/>
                <a:gd name="T55" fmla="*/ 206 h 819"/>
                <a:gd name="T56" fmla="*/ 1031 w 1032"/>
                <a:gd name="T57" fmla="*/ 188 h 819"/>
                <a:gd name="T58" fmla="*/ 994 w 1032"/>
                <a:gd name="T59" fmla="*/ 139 h 819"/>
                <a:gd name="T60" fmla="*/ 939 w 1032"/>
                <a:gd name="T61" fmla="*/ 110 h 819"/>
                <a:gd name="T62" fmla="*/ 897 w 1032"/>
                <a:gd name="T63" fmla="*/ 104 h 819"/>
                <a:gd name="T64" fmla="*/ 866 w 1032"/>
                <a:gd name="T65" fmla="*/ 108 h 819"/>
                <a:gd name="T66" fmla="*/ 818 w 1032"/>
                <a:gd name="T67" fmla="*/ 127 h 819"/>
                <a:gd name="T68" fmla="*/ 764 w 1032"/>
                <a:gd name="T69" fmla="*/ 186 h 819"/>
                <a:gd name="T70" fmla="*/ 694 w 1032"/>
                <a:gd name="T71" fmla="*/ 332 h 819"/>
                <a:gd name="T72" fmla="*/ 666 w 1032"/>
                <a:gd name="T73" fmla="*/ 344 h 819"/>
                <a:gd name="T74" fmla="*/ 643 w 1032"/>
                <a:gd name="T75" fmla="*/ 336 h 819"/>
                <a:gd name="T76" fmla="*/ 569 w 1032"/>
                <a:gd name="T77" fmla="*/ 186 h 819"/>
                <a:gd name="T78" fmla="*/ 546 w 1032"/>
                <a:gd name="T79" fmla="*/ 153 h 819"/>
                <a:gd name="T80" fmla="*/ 549 w 1032"/>
                <a:gd name="T81" fmla="*/ 99 h 819"/>
                <a:gd name="T82" fmla="*/ 652 w 1032"/>
                <a:gd name="T83" fmla="*/ 28 h 819"/>
                <a:gd name="T84" fmla="*/ 682 w 1032"/>
                <a:gd name="T85" fmla="*/ 6 h 819"/>
                <a:gd name="T86" fmla="*/ 678 w 1032"/>
                <a:gd name="T87" fmla="*/ 0 h 819"/>
                <a:gd name="T88" fmla="*/ 658 w 1032"/>
                <a:gd name="T89" fmla="*/ 8 h 819"/>
                <a:gd name="T90" fmla="*/ 540 w 1032"/>
                <a:gd name="T91" fmla="*/ 80 h 819"/>
                <a:gd name="T92" fmla="*/ 489 w 1032"/>
                <a:gd name="T93" fmla="*/ 114 h 819"/>
                <a:gd name="T94" fmla="*/ 436 w 1032"/>
                <a:gd name="T95" fmla="*/ 104 h 819"/>
                <a:gd name="T96" fmla="*/ 391 w 1032"/>
                <a:gd name="T97" fmla="*/ 111 h 819"/>
                <a:gd name="T98" fmla="*/ 342 w 1032"/>
                <a:gd name="T99" fmla="*/ 138 h 819"/>
                <a:gd name="T100" fmla="*/ 305 w 1032"/>
                <a:gd name="T101" fmla="*/ 182 h 819"/>
                <a:gd name="T102" fmla="*/ 289 w 1032"/>
                <a:gd name="T103" fmla="*/ 237 h 819"/>
                <a:gd name="T104" fmla="*/ 249 w 1032"/>
                <a:gd name="T105" fmla="*/ 308 h 819"/>
                <a:gd name="T106" fmla="*/ 116 w 1032"/>
                <a:gd name="T107" fmla="*/ 451 h 819"/>
                <a:gd name="T108" fmla="*/ 31 w 1032"/>
                <a:gd name="T109" fmla="*/ 580 h 819"/>
                <a:gd name="T110" fmla="*/ 2 w 1032"/>
                <a:gd name="T111" fmla="*/ 662 h 819"/>
                <a:gd name="T112" fmla="*/ 1 w 1032"/>
                <a:gd name="T113" fmla="*/ 708 h 819"/>
                <a:gd name="T114" fmla="*/ 16 w 1032"/>
                <a:gd name="T115" fmla="*/ 745 h 819"/>
                <a:gd name="T116" fmla="*/ 46 w 1032"/>
                <a:gd name="T117" fmla="*/ 772 h 819"/>
                <a:gd name="T118" fmla="*/ 104 w 1032"/>
                <a:gd name="T119" fmla="*/ 786 h 819"/>
                <a:gd name="T120" fmla="*/ 179 w 1032"/>
                <a:gd name="T121" fmla="*/ 777 h 819"/>
                <a:gd name="T122" fmla="*/ 289 w 1032"/>
                <a:gd name="T123" fmla="*/ 739 h 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2" h="819">
                  <a:moveTo>
                    <a:pt x="289" y="819"/>
                  </a:moveTo>
                  <a:lnTo>
                    <a:pt x="442" y="819"/>
                  </a:lnTo>
                  <a:lnTo>
                    <a:pt x="442" y="660"/>
                  </a:lnTo>
                  <a:lnTo>
                    <a:pt x="442" y="660"/>
                  </a:lnTo>
                  <a:lnTo>
                    <a:pt x="506" y="620"/>
                  </a:lnTo>
                  <a:lnTo>
                    <a:pt x="569" y="579"/>
                  </a:lnTo>
                  <a:lnTo>
                    <a:pt x="569" y="579"/>
                  </a:lnTo>
                  <a:lnTo>
                    <a:pt x="582" y="569"/>
                  </a:lnTo>
                  <a:lnTo>
                    <a:pt x="593" y="559"/>
                  </a:lnTo>
                  <a:lnTo>
                    <a:pt x="593" y="559"/>
                  </a:lnTo>
                  <a:lnTo>
                    <a:pt x="596" y="557"/>
                  </a:lnTo>
                  <a:lnTo>
                    <a:pt x="598" y="553"/>
                  </a:lnTo>
                  <a:lnTo>
                    <a:pt x="598" y="551"/>
                  </a:lnTo>
                  <a:lnTo>
                    <a:pt x="598" y="550"/>
                  </a:lnTo>
                  <a:lnTo>
                    <a:pt x="595" y="549"/>
                  </a:lnTo>
                  <a:lnTo>
                    <a:pt x="594" y="549"/>
                  </a:lnTo>
                  <a:lnTo>
                    <a:pt x="588" y="550"/>
                  </a:lnTo>
                  <a:lnTo>
                    <a:pt x="588" y="550"/>
                  </a:lnTo>
                  <a:lnTo>
                    <a:pt x="560" y="567"/>
                  </a:lnTo>
                  <a:lnTo>
                    <a:pt x="560" y="567"/>
                  </a:lnTo>
                  <a:lnTo>
                    <a:pt x="517" y="593"/>
                  </a:lnTo>
                  <a:lnTo>
                    <a:pt x="474" y="619"/>
                  </a:lnTo>
                  <a:lnTo>
                    <a:pt x="435" y="640"/>
                  </a:lnTo>
                  <a:lnTo>
                    <a:pt x="397" y="661"/>
                  </a:lnTo>
                  <a:lnTo>
                    <a:pt x="361" y="678"/>
                  </a:lnTo>
                  <a:lnTo>
                    <a:pt x="326" y="692"/>
                  </a:lnTo>
                  <a:lnTo>
                    <a:pt x="295" y="703"/>
                  </a:lnTo>
                  <a:lnTo>
                    <a:pt x="264" y="713"/>
                  </a:lnTo>
                  <a:lnTo>
                    <a:pt x="237" y="719"/>
                  </a:lnTo>
                  <a:lnTo>
                    <a:pt x="210" y="722"/>
                  </a:lnTo>
                  <a:lnTo>
                    <a:pt x="187" y="724"/>
                  </a:lnTo>
                  <a:lnTo>
                    <a:pt x="175" y="722"/>
                  </a:lnTo>
                  <a:lnTo>
                    <a:pt x="165" y="721"/>
                  </a:lnTo>
                  <a:lnTo>
                    <a:pt x="156" y="720"/>
                  </a:lnTo>
                  <a:lnTo>
                    <a:pt x="146" y="716"/>
                  </a:lnTo>
                  <a:lnTo>
                    <a:pt x="138" y="713"/>
                  </a:lnTo>
                  <a:lnTo>
                    <a:pt x="129" y="709"/>
                  </a:lnTo>
                  <a:lnTo>
                    <a:pt x="121" y="704"/>
                  </a:lnTo>
                  <a:lnTo>
                    <a:pt x="115" y="698"/>
                  </a:lnTo>
                  <a:lnTo>
                    <a:pt x="107" y="692"/>
                  </a:lnTo>
                  <a:lnTo>
                    <a:pt x="101" y="685"/>
                  </a:lnTo>
                  <a:lnTo>
                    <a:pt x="101" y="685"/>
                  </a:lnTo>
                  <a:lnTo>
                    <a:pt x="98" y="678"/>
                  </a:lnTo>
                  <a:lnTo>
                    <a:pt x="94" y="670"/>
                  </a:lnTo>
                  <a:lnTo>
                    <a:pt x="91" y="663"/>
                  </a:lnTo>
                  <a:lnTo>
                    <a:pt x="89" y="655"/>
                  </a:lnTo>
                  <a:lnTo>
                    <a:pt x="87" y="648"/>
                  </a:lnTo>
                  <a:lnTo>
                    <a:pt x="87" y="639"/>
                  </a:lnTo>
                  <a:lnTo>
                    <a:pt x="88" y="621"/>
                  </a:lnTo>
                  <a:lnTo>
                    <a:pt x="92" y="602"/>
                  </a:lnTo>
                  <a:lnTo>
                    <a:pt x="98" y="581"/>
                  </a:lnTo>
                  <a:lnTo>
                    <a:pt x="106" y="559"/>
                  </a:lnTo>
                  <a:lnTo>
                    <a:pt x="118" y="536"/>
                  </a:lnTo>
                  <a:lnTo>
                    <a:pt x="132" y="512"/>
                  </a:lnTo>
                  <a:lnTo>
                    <a:pt x="148" y="488"/>
                  </a:lnTo>
                  <a:lnTo>
                    <a:pt x="167" y="463"/>
                  </a:lnTo>
                  <a:lnTo>
                    <a:pt x="187" y="436"/>
                  </a:lnTo>
                  <a:lnTo>
                    <a:pt x="210" y="410"/>
                  </a:lnTo>
                  <a:lnTo>
                    <a:pt x="234" y="383"/>
                  </a:lnTo>
                  <a:lnTo>
                    <a:pt x="260" y="354"/>
                  </a:lnTo>
                  <a:lnTo>
                    <a:pt x="289" y="326"/>
                  </a:lnTo>
                  <a:lnTo>
                    <a:pt x="289" y="681"/>
                  </a:lnTo>
                  <a:lnTo>
                    <a:pt x="289" y="681"/>
                  </a:lnTo>
                  <a:lnTo>
                    <a:pt x="322" y="668"/>
                  </a:lnTo>
                  <a:lnTo>
                    <a:pt x="359" y="652"/>
                  </a:lnTo>
                  <a:lnTo>
                    <a:pt x="400" y="633"/>
                  </a:lnTo>
                  <a:lnTo>
                    <a:pt x="442" y="610"/>
                  </a:lnTo>
                  <a:lnTo>
                    <a:pt x="442" y="281"/>
                  </a:lnTo>
                  <a:lnTo>
                    <a:pt x="476" y="353"/>
                  </a:lnTo>
                  <a:lnTo>
                    <a:pt x="476" y="353"/>
                  </a:lnTo>
                  <a:lnTo>
                    <a:pt x="483" y="367"/>
                  </a:lnTo>
                  <a:lnTo>
                    <a:pt x="491" y="381"/>
                  </a:lnTo>
                  <a:lnTo>
                    <a:pt x="500" y="394"/>
                  </a:lnTo>
                  <a:lnTo>
                    <a:pt x="509" y="406"/>
                  </a:lnTo>
                  <a:lnTo>
                    <a:pt x="519" y="418"/>
                  </a:lnTo>
                  <a:lnTo>
                    <a:pt x="530" y="428"/>
                  </a:lnTo>
                  <a:lnTo>
                    <a:pt x="541" y="437"/>
                  </a:lnTo>
                  <a:lnTo>
                    <a:pt x="553" y="446"/>
                  </a:lnTo>
                  <a:lnTo>
                    <a:pt x="565" y="454"/>
                  </a:lnTo>
                  <a:lnTo>
                    <a:pt x="578" y="460"/>
                  </a:lnTo>
                  <a:lnTo>
                    <a:pt x="592" y="466"/>
                  </a:lnTo>
                  <a:lnTo>
                    <a:pt x="606" y="471"/>
                  </a:lnTo>
                  <a:lnTo>
                    <a:pt x="621" y="475"/>
                  </a:lnTo>
                  <a:lnTo>
                    <a:pt x="635" y="479"/>
                  </a:lnTo>
                  <a:lnTo>
                    <a:pt x="651" y="480"/>
                  </a:lnTo>
                  <a:lnTo>
                    <a:pt x="666" y="480"/>
                  </a:lnTo>
                  <a:lnTo>
                    <a:pt x="666" y="480"/>
                  </a:lnTo>
                  <a:lnTo>
                    <a:pt x="682" y="480"/>
                  </a:lnTo>
                  <a:lnTo>
                    <a:pt x="698" y="479"/>
                  </a:lnTo>
                  <a:lnTo>
                    <a:pt x="712" y="475"/>
                  </a:lnTo>
                  <a:lnTo>
                    <a:pt x="727" y="471"/>
                  </a:lnTo>
                  <a:lnTo>
                    <a:pt x="741" y="466"/>
                  </a:lnTo>
                  <a:lnTo>
                    <a:pt x="755" y="460"/>
                  </a:lnTo>
                  <a:lnTo>
                    <a:pt x="768" y="454"/>
                  </a:lnTo>
                  <a:lnTo>
                    <a:pt x="780" y="446"/>
                  </a:lnTo>
                  <a:lnTo>
                    <a:pt x="792" y="437"/>
                  </a:lnTo>
                  <a:lnTo>
                    <a:pt x="803" y="428"/>
                  </a:lnTo>
                  <a:lnTo>
                    <a:pt x="814" y="418"/>
                  </a:lnTo>
                  <a:lnTo>
                    <a:pt x="823" y="406"/>
                  </a:lnTo>
                  <a:lnTo>
                    <a:pt x="833" y="394"/>
                  </a:lnTo>
                  <a:lnTo>
                    <a:pt x="841" y="381"/>
                  </a:lnTo>
                  <a:lnTo>
                    <a:pt x="850" y="367"/>
                  </a:lnTo>
                  <a:lnTo>
                    <a:pt x="857" y="353"/>
                  </a:lnTo>
                  <a:lnTo>
                    <a:pt x="891" y="281"/>
                  </a:lnTo>
                  <a:lnTo>
                    <a:pt x="891" y="365"/>
                  </a:lnTo>
                  <a:lnTo>
                    <a:pt x="891" y="365"/>
                  </a:lnTo>
                  <a:lnTo>
                    <a:pt x="931" y="324"/>
                  </a:lnTo>
                  <a:lnTo>
                    <a:pt x="967" y="284"/>
                  </a:lnTo>
                  <a:lnTo>
                    <a:pt x="1000" y="246"/>
                  </a:lnTo>
                  <a:lnTo>
                    <a:pt x="1015" y="225"/>
                  </a:lnTo>
                  <a:lnTo>
                    <a:pt x="1029" y="206"/>
                  </a:lnTo>
                  <a:lnTo>
                    <a:pt x="1029" y="206"/>
                  </a:lnTo>
                  <a:lnTo>
                    <a:pt x="1031" y="201"/>
                  </a:lnTo>
                  <a:lnTo>
                    <a:pt x="1032" y="197"/>
                  </a:lnTo>
                  <a:lnTo>
                    <a:pt x="1032" y="192"/>
                  </a:lnTo>
                  <a:lnTo>
                    <a:pt x="1031" y="188"/>
                  </a:lnTo>
                  <a:lnTo>
                    <a:pt x="1031" y="188"/>
                  </a:lnTo>
                  <a:lnTo>
                    <a:pt x="1020" y="171"/>
                  </a:lnTo>
                  <a:lnTo>
                    <a:pt x="1008" y="154"/>
                  </a:lnTo>
                  <a:lnTo>
                    <a:pt x="994" y="139"/>
                  </a:lnTo>
                  <a:lnTo>
                    <a:pt x="977" y="127"/>
                  </a:lnTo>
                  <a:lnTo>
                    <a:pt x="959" y="118"/>
                  </a:lnTo>
                  <a:lnTo>
                    <a:pt x="950" y="114"/>
                  </a:lnTo>
                  <a:lnTo>
                    <a:pt x="939" y="110"/>
                  </a:lnTo>
                  <a:lnTo>
                    <a:pt x="930" y="108"/>
                  </a:lnTo>
                  <a:lnTo>
                    <a:pt x="919" y="105"/>
                  </a:lnTo>
                  <a:lnTo>
                    <a:pt x="908" y="104"/>
                  </a:lnTo>
                  <a:lnTo>
                    <a:pt x="897" y="104"/>
                  </a:lnTo>
                  <a:lnTo>
                    <a:pt x="897" y="104"/>
                  </a:lnTo>
                  <a:lnTo>
                    <a:pt x="886" y="104"/>
                  </a:lnTo>
                  <a:lnTo>
                    <a:pt x="876" y="105"/>
                  </a:lnTo>
                  <a:lnTo>
                    <a:pt x="866" y="108"/>
                  </a:lnTo>
                  <a:lnTo>
                    <a:pt x="856" y="110"/>
                  </a:lnTo>
                  <a:lnTo>
                    <a:pt x="845" y="114"/>
                  </a:lnTo>
                  <a:lnTo>
                    <a:pt x="837" y="118"/>
                  </a:lnTo>
                  <a:lnTo>
                    <a:pt x="818" y="127"/>
                  </a:lnTo>
                  <a:lnTo>
                    <a:pt x="802" y="139"/>
                  </a:lnTo>
                  <a:lnTo>
                    <a:pt x="787" y="154"/>
                  </a:lnTo>
                  <a:lnTo>
                    <a:pt x="775" y="169"/>
                  </a:lnTo>
                  <a:lnTo>
                    <a:pt x="764" y="186"/>
                  </a:lnTo>
                  <a:lnTo>
                    <a:pt x="700" y="324"/>
                  </a:lnTo>
                  <a:lnTo>
                    <a:pt x="700" y="324"/>
                  </a:lnTo>
                  <a:lnTo>
                    <a:pt x="697" y="329"/>
                  </a:lnTo>
                  <a:lnTo>
                    <a:pt x="694" y="332"/>
                  </a:lnTo>
                  <a:lnTo>
                    <a:pt x="691" y="336"/>
                  </a:lnTo>
                  <a:lnTo>
                    <a:pt x="686" y="340"/>
                  </a:lnTo>
                  <a:lnTo>
                    <a:pt x="677" y="343"/>
                  </a:lnTo>
                  <a:lnTo>
                    <a:pt x="666" y="344"/>
                  </a:lnTo>
                  <a:lnTo>
                    <a:pt x="666" y="344"/>
                  </a:lnTo>
                  <a:lnTo>
                    <a:pt x="657" y="343"/>
                  </a:lnTo>
                  <a:lnTo>
                    <a:pt x="647" y="340"/>
                  </a:lnTo>
                  <a:lnTo>
                    <a:pt x="643" y="336"/>
                  </a:lnTo>
                  <a:lnTo>
                    <a:pt x="639" y="332"/>
                  </a:lnTo>
                  <a:lnTo>
                    <a:pt x="636" y="329"/>
                  </a:lnTo>
                  <a:lnTo>
                    <a:pt x="634" y="324"/>
                  </a:lnTo>
                  <a:lnTo>
                    <a:pt x="569" y="186"/>
                  </a:lnTo>
                  <a:lnTo>
                    <a:pt x="569" y="186"/>
                  </a:lnTo>
                  <a:lnTo>
                    <a:pt x="564" y="178"/>
                  </a:lnTo>
                  <a:lnTo>
                    <a:pt x="558" y="169"/>
                  </a:lnTo>
                  <a:lnTo>
                    <a:pt x="546" y="153"/>
                  </a:lnTo>
                  <a:lnTo>
                    <a:pt x="530" y="139"/>
                  </a:lnTo>
                  <a:lnTo>
                    <a:pt x="514" y="127"/>
                  </a:lnTo>
                  <a:lnTo>
                    <a:pt x="514" y="127"/>
                  </a:lnTo>
                  <a:lnTo>
                    <a:pt x="549" y="99"/>
                  </a:lnTo>
                  <a:lnTo>
                    <a:pt x="583" y="74"/>
                  </a:lnTo>
                  <a:lnTo>
                    <a:pt x="618" y="50"/>
                  </a:lnTo>
                  <a:lnTo>
                    <a:pt x="652" y="28"/>
                  </a:lnTo>
                  <a:lnTo>
                    <a:pt x="652" y="28"/>
                  </a:lnTo>
                  <a:lnTo>
                    <a:pt x="666" y="19"/>
                  </a:lnTo>
                  <a:lnTo>
                    <a:pt x="678" y="10"/>
                  </a:lnTo>
                  <a:lnTo>
                    <a:pt x="678" y="10"/>
                  </a:lnTo>
                  <a:lnTo>
                    <a:pt x="682" y="6"/>
                  </a:lnTo>
                  <a:lnTo>
                    <a:pt x="682" y="4"/>
                  </a:lnTo>
                  <a:lnTo>
                    <a:pt x="682" y="2"/>
                  </a:lnTo>
                  <a:lnTo>
                    <a:pt x="681" y="0"/>
                  </a:lnTo>
                  <a:lnTo>
                    <a:pt x="678" y="0"/>
                  </a:lnTo>
                  <a:lnTo>
                    <a:pt x="675" y="0"/>
                  </a:lnTo>
                  <a:lnTo>
                    <a:pt x="671" y="2"/>
                  </a:lnTo>
                  <a:lnTo>
                    <a:pt x="671" y="2"/>
                  </a:lnTo>
                  <a:lnTo>
                    <a:pt x="658" y="8"/>
                  </a:lnTo>
                  <a:lnTo>
                    <a:pt x="643" y="16"/>
                  </a:lnTo>
                  <a:lnTo>
                    <a:pt x="643" y="16"/>
                  </a:lnTo>
                  <a:lnTo>
                    <a:pt x="575" y="58"/>
                  </a:lnTo>
                  <a:lnTo>
                    <a:pt x="540" y="80"/>
                  </a:lnTo>
                  <a:lnTo>
                    <a:pt x="506" y="103"/>
                  </a:lnTo>
                  <a:lnTo>
                    <a:pt x="506" y="103"/>
                  </a:lnTo>
                  <a:lnTo>
                    <a:pt x="489" y="114"/>
                  </a:lnTo>
                  <a:lnTo>
                    <a:pt x="489" y="114"/>
                  </a:lnTo>
                  <a:lnTo>
                    <a:pt x="477" y="110"/>
                  </a:lnTo>
                  <a:lnTo>
                    <a:pt x="464" y="107"/>
                  </a:lnTo>
                  <a:lnTo>
                    <a:pt x="450" y="105"/>
                  </a:lnTo>
                  <a:lnTo>
                    <a:pt x="436" y="104"/>
                  </a:lnTo>
                  <a:lnTo>
                    <a:pt x="436" y="104"/>
                  </a:lnTo>
                  <a:lnTo>
                    <a:pt x="420" y="105"/>
                  </a:lnTo>
                  <a:lnTo>
                    <a:pt x="406" y="108"/>
                  </a:lnTo>
                  <a:lnTo>
                    <a:pt x="391" y="111"/>
                  </a:lnTo>
                  <a:lnTo>
                    <a:pt x="378" y="116"/>
                  </a:lnTo>
                  <a:lnTo>
                    <a:pt x="366" y="122"/>
                  </a:lnTo>
                  <a:lnTo>
                    <a:pt x="353" y="130"/>
                  </a:lnTo>
                  <a:lnTo>
                    <a:pt x="342" y="138"/>
                  </a:lnTo>
                  <a:lnTo>
                    <a:pt x="331" y="148"/>
                  </a:lnTo>
                  <a:lnTo>
                    <a:pt x="321" y="159"/>
                  </a:lnTo>
                  <a:lnTo>
                    <a:pt x="313" y="169"/>
                  </a:lnTo>
                  <a:lnTo>
                    <a:pt x="305" y="182"/>
                  </a:lnTo>
                  <a:lnTo>
                    <a:pt x="299" y="195"/>
                  </a:lnTo>
                  <a:lnTo>
                    <a:pt x="295" y="208"/>
                  </a:lnTo>
                  <a:lnTo>
                    <a:pt x="291" y="223"/>
                  </a:lnTo>
                  <a:lnTo>
                    <a:pt x="289" y="237"/>
                  </a:lnTo>
                  <a:lnTo>
                    <a:pt x="289" y="252"/>
                  </a:lnTo>
                  <a:lnTo>
                    <a:pt x="289" y="272"/>
                  </a:lnTo>
                  <a:lnTo>
                    <a:pt x="289" y="272"/>
                  </a:lnTo>
                  <a:lnTo>
                    <a:pt x="249" y="308"/>
                  </a:lnTo>
                  <a:lnTo>
                    <a:pt x="211" y="344"/>
                  </a:lnTo>
                  <a:lnTo>
                    <a:pt x="176" y="381"/>
                  </a:lnTo>
                  <a:lnTo>
                    <a:pt x="145" y="416"/>
                  </a:lnTo>
                  <a:lnTo>
                    <a:pt x="116" y="451"/>
                  </a:lnTo>
                  <a:lnTo>
                    <a:pt x="91" y="485"/>
                  </a:lnTo>
                  <a:lnTo>
                    <a:pt x="68" y="517"/>
                  </a:lnTo>
                  <a:lnTo>
                    <a:pt x="47" y="550"/>
                  </a:lnTo>
                  <a:lnTo>
                    <a:pt x="31" y="580"/>
                  </a:lnTo>
                  <a:lnTo>
                    <a:pt x="18" y="609"/>
                  </a:lnTo>
                  <a:lnTo>
                    <a:pt x="8" y="637"/>
                  </a:lnTo>
                  <a:lnTo>
                    <a:pt x="5" y="650"/>
                  </a:lnTo>
                  <a:lnTo>
                    <a:pt x="2" y="662"/>
                  </a:lnTo>
                  <a:lnTo>
                    <a:pt x="0" y="674"/>
                  </a:lnTo>
                  <a:lnTo>
                    <a:pt x="0" y="686"/>
                  </a:lnTo>
                  <a:lnTo>
                    <a:pt x="0" y="697"/>
                  </a:lnTo>
                  <a:lnTo>
                    <a:pt x="1" y="708"/>
                  </a:lnTo>
                  <a:lnTo>
                    <a:pt x="4" y="718"/>
                  </a:lnTo>
                  <a:lnTo>
                    <a:pt x="6" y="727"/>
                  </a:lnTo>
                  <a:lnTo>
                    <a:pt x="11" y="737"/>
                  </a:lnTo>
                  <a:lnTo>
                    <a:pt x="16" y="745"/>
                  </a:lnTo>
                  <a:lnTo>
                    <a:pt x="16" y="745"/>
                  </a:lnTo>
                  <a:lnTo>
                    <a:pt x="24" y="756"/>
                  </a:lnTo>
                  <a:lnTo>
                    <a:pt x="35" y="765"/>
                  </a:lnTo>
                  <a:lnTo>
                    <a:pt x="46" y="772"/>
                  </a:lnTo>
                  <a:lnTo>
                    <a:pt x="59" y="778"/>
                  </a:lnTo>
                  <a:lnTo>
                    <a:pt x="72" y="783"/>
                  </a:lnTo>
                  <a:lnTo>
                    <a:pt x="88" y="785"/>
                  </a:lnTo>
                  <a:lnTo>
                    <a:pt x="104" y="786"/>
                  </a:lnTo>
                  <a:lnTo>
                    <a:pt x="122" y="786"/>
                  </a:lnTo>
                  <a:lnTo>
                    <a:pt x="140" y="784"/>
                  </a:lnTo>
                  <a:lnTo>
                    <a:pt x="158" y="782"/>
                  </a:lnTo>
                  <a:lnTo>
                    <a:pt x="179" y="777"/>
                  </a:lnTo>
                  <a:lnTo>
                    <a:pt x="199" y="772"/>
                  </a:lnTo>
                  <a:lnTo>
                    <a:pt x="220" y="765"/>
                  </a:lnTo>
                  <a:lnTo>
                    <a:pt x="243" y="757"/>
                  </a:lnTo>
                  <a:lnTo>
                    <a:pt x="289" y="739"/>
                  </a:lnTo>
                  <a:lnTo>
                    <a:pt x="289" y="8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4" name="Freeform 42">
              <a:extLst>
                <a:ext uri="{FF2B5EF4-FFF2-40B4-BE49-F238E27FC236}">
                  <a16:creationId xmlns:a16="http://schemas.microsoft.com/office/drawing/2014/main" id="{2BF1A0E8-A187-7C40-B895-3F4FF6B4888B}"/>
                </a:ext>
              </a:extLst>
            </p:cNvPr>
            <p:cNvSpPr>
              <a:spLocks noEditPoints="1"/>
            </p:cNvSpPr>
            <p:nvPr/>
          </p:nvSpPr>
          <p:spPr bwMode="auto">
            <a:xfrm>
              <a:off x="4046538" y="938213"/>
              <a:ext cx="69850" cy="68263"/>
            </a:xfrm>
            <a:custGeom>
              <a:avLst/>
              <a:gdLst>
                <a:gd name="T0" fmla="*/ 0 w 87"/>
                <a:gd name="T1" fmla="*/ 44 h 87"/>
                <a:gd name="T2" fmla="*/ 4 w 87"/>
                <a:gd name="T3" fmla="*/ 27 h 87"/>
                <a:gd name="T4" fmla="*/ 14 w 87"/>
                <a:gd name="T5" fmla="*/ 12 h 87"/>
                <a:gd name="T6" fmla="*/ 27 w 87"/>
                <a:gd name="T7" fmla="*/ 4 h 87"/>
                <a:gd name="T8" fmla="*/ 44 w 87"/>
                <a:gd name="T9" fmla="*/ 0 h 87"/>
                <a:gd name="T10" fmla="*/ 52 w 87"/>
                <a:gd name="T11" fmla="*/ 0 h 87"/>
                <a:gd name="T12" fmla="*/ 68 w 87"/>
                <a:gd name="T13" fmla="*/ 7 h 87"/>
                <a:gd name="T14" fmla="*/ 80 w 87"/>
                <a:gd name="T15" fmla="*/ 19 h 87"/>
                <a:gd name="T16" fmla="*/ 86 w 87"/>
                <a:gd name="T17" fmla="*/ 35 h 87"/>
                <a:gd name="T18" fmla="*/ 87 w 87"/>
                <a:gd name="T19" fmla="*/ 44 h 87"/>
                <a:gd name="T20" fmla="*/ 84 w 87"/>
                <a:gd name="T21" fmla="*/ 61 h 87"/>
                <a:gd name="T22" fmla="*/ 75 w 87"/>
                <a:gd name="T23" fmla="*/ 74 h 87"/>
                <a:gd name="T24" fmla="*/ 61 w 87"/>
                <a:gd name="T25" fmla="*/ 83 h 87"/>
                <a:gd name="T26" fmla="*/ 44 w 87"/>
                <a:gd name="T27" fmla="*/ 87 h 87"/>
                <a:gd name="T28" fmla="*/ 35 w 87"/>
                <a:gd name="T29" fmla="*/ 86 h 87"/>
                <a:gd name="T30" fmla="*/ 20 w 87"/>
                <a:gd name="T31" fmla="*/ 80 h 87"/>
                <a:gd name="T32" fmla="*/ 8 w 87"/>
                <a:gd name="T33" fmla="*/ 68 h 87"/>
                <a:gd name="T34" fmla="*/ 2 w 87"/>
                <a:gd name="T35" fmla="*/ 52 h 87"/>
                <a:gd name="T36" fmla="*/ 0 w 87"/>
                <a:gd name="T37" fmla="*/ 44 h 87"/>
                <a:gd name="T38" fmla="*/ 76 w 87"/>
                <a:gd name="T39" fmla="*/ 44 h 87"/>
                <a:gd name="T40" fmla="*/ 74 w 87"/>
                <a:gd name="T41" fmla="*/ 29 h 87"/>
                <a:gd name="T42" fmla="*/ 67 w 87"/>
                <a:gd name="T43" fmla="*/ 18 h 87"/>
                <a:gd name="T44" fmla="*/ 57 w 87"/>
                <a:gd name="T45" fmla="*/ 11 h 87"/>
                <a:gd name="T46" fmla="*/ 44 w 87"/>
                <a:gd name="T47" fmla="*/ 9 h 87"/>
                <a:gd name="T48" fmla="*/ 38 w 87"/>
                <a:gd name="T49" fmla="*/ 9 h 87"/>
                <a:gd name="T50" fmla="*/ 26 w 87"/>
                <a:gd name="T51" fmla="*/ 13 h 87"/>
                <a:gd name="T52" fmla="*/ 16 w 87"/>
                <a:gd name="T53" fmla="*/ 23 h 87"/>
                <a:gd name="T54" fmla="*/ 11 w 87"/>
                <a:gd name="T55" fmla="*/ 36 h 87"/>
                <a:gd name="T56" fmla="*/ 11 w 87"/>
                <a:gd name="T57" fmla="*/ 44 h 87"/>
                <a:gd name="T58" fmla="*/ 14 w 87"/>
                <a:gd name="T59" fmla="*/ 57 h 87"/>
                <a:gd name="T60" fmla="*/ 21 w 87"/>
                <a:gd name="T61" fmla="*/ 69 h 87"/>
                <a:gd name="T62" fmla="*/ 31 w 87"/>
                <a:gd name="T63" fmla="*/ 76 h 87"/>
                <a:gd name="T64" fmla="*/ 44 w 87"/>
                <a:gd name="T65" fmla="*/ 79 h 87"/>
                <a:gd name="T66" fmla="*/ 51 w 87"/>
                <a:gd name="T67" fmla="*/ 77 h 87"/>
                <a:gd name="T68" fmla="*/ 62 w 87"/>
                <a:gd name="T69" fmla="*/ 73 h 87"/>
                <a:gd name="T70" fmla="*/ 72 w 87"/>
                <a:gd name="T71" fmla="*/ 63 h 87"/>
                <a:gd name="T72" fmla="*/ 76 w 87"/>
                <a:gd name="T73" fmla="*/ 51 h 87"/>
                <a:gd name="T74" fmla="*/ 76 w 87"/>
                <a:gd name="T75" fmla="*/ 44 h 87"/>
                <a:gd name="T76" fmla="*/ 45 w 87"/>
                <a:gd name="T77" fmla="*/ 18 h 87"/>
                <a:gd name="T78" fmla="*/ 53 w 87"/>
                <a:gd name="T79" fmla="*/ 19 h 87"/>
                <a:gd name="T80" fmla="*/ 61 w 87"/>
                <a:gd name="T81" fmla="*/ 24 h 87"/>
                <a:gd name="T82" fmla="*/ 63 w 87"/>
                <a:gd name="T83" fmla="*/ 33 h 87"/>
                <a:gd name="T84" fmla="*/ 63 w 87"/>
                <a:gd name="T85" fmla="*/ 39 h 87"/>
                <a:gd name="T86" fmla="*/ 56 w 87"/>
                <a:gd name="T87" fmla="*/ 45 h 87"/>
                <a:gd name="T88" fmla="*/ 64 w 87"/>
                <a:gd name="T89" fmla="*/ 68 h 87"/>
                <a:gd name="T90" fmla="*/ 41 w 87"/>
                <a:gd name="T91" fmla="*/ 47 h 87"/>
                <a:gd name="T92" fmla="*/ 37 w 87"/>
                <a:gd name="T93" fmla="*/ 68 h 87"/>
                <a:gd name="T94" fmla="*/ 27 w 87"/>
                <a:gd name="T95" fmla="*/ 18 h 87"/>
                <a:gd name="T96" fmla="*/ 44 w 87"/>
                <a:gd name="T97" fmla="*/ 40 h 87"/>
                <a:gd name="T98" fmla="*/ 49 w 87"/>
                <a:gd name="T99" fmla="*/ 40 h 87"/>
                <a:gd name="T100" fmla="*/ 53 w 87"/>
                <a:gd name="T101" fmla="*/ 36 h 87"/>
                <a:gd name="T102" fmla="*/ 55 w 87"/>
                <a:gd name="T103" fmla="*/ 33 h 87"/>
                <a:gd name="T104" fmla="*/ 51 w 87"/>
                <a:gd name="T105" fmla="*/ 27 h 87"/>
                <a:gd name="T106" fmla="*/ 45 w 87"/>
                <a:gd name="T107" fmla="*/ 26 h 87"/>
                <a:gd name="T108" fmla="*/ 37 w 87"/>
                <a:gd name="T109"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7" h="87">
                  <a:moveTo>
                    <a:pt x="0" y="44"/>
                  </a:moveTo>
                  <a:lnTo>
                    <a:pt x="0" y="44"/>
                  </a:lnTo>
                  <a:lnTo>
                    <a:pt x="2" y="35"/>
                  </a:lnTo>
                  <a:lnTo>
                    <a:pt x="4" y="27"/>
                  </a:lnTo>
                  <a:lnTo>
                    <a:pt x="8" y="19"/>
                  </a:lnTo>
                  <a:lnTo>
                    <a:pt x="14" y="12"/>
                  </a:lnTo>
                  <a:lnTo>
                    <a:pt x="20" y="7"/>
                  </a:lnTo>
                  <a:lnTo>
                    <a:pt x="27" y="4"/>
                  </a:lnTo>
                  <a:lnTo>
                    <a:pt x="35" y="0"/>
                  </a:lnTo>
                  <a:lnTo>
                    <a:pt x="44" y="0"/>
                  </a:lnTo>
                  <a:lnTo>
                    <a:pt x="44" y="0"/>
                  </a:lnTo>
                  <a:lnTo>
                    <a:pt x="52" y="0"/>
                  </a:lnTo>
                  <a:lnTo>
                    <a:pt x="61" y="4"/>
                  </a:lnTo>
                  <a:lnTo>
                    <a:pt x="68" y="7"/>
                  </a:lnTo>
                  <a:lnTo>
                    <a:pt x="75" y="12"/>
                  </a:lnTo>
                  <a:lnTo>
                    <a:pt x="80" y="19"/>
                  </a:lnTo>
                  <a:lnTo>
                    <a:pt x="84" y="27"/>
                  </a:lnTo>
                  <a:lnTo>
                    <a:pt x="86" y="35"/>
                  </a:lnTo>
                  <a:lnTo>
                    <a:pt x="87" y="44"/>
                  </a:lnTo>
                  <a:lnTo>
                    <a:pt x="87" y="44"/>
                  </a:lnTo>
                  <a:lnTo>
                    <a:pt x="86" y="52"/>
                  </a:lnTo>
                  <a:lnTo>
                    <a:pt x="84" y="61"/>
                  </a:lnTo>
                  <a:lnTo>
                    <a:pt x="80" y="68"/>
                  </a:lnTo>
                  <a:lnTo>
                    <a:pt x="75" y="74"/>
                  </a:lnTo>
                  <a:lnTo>
                    <a:pt x="68" y="80"/>
                  </a:lnTo>
                  <a:lnTo>
                    <a:pt x="61" y="83"/>
                  </a:lnTo>
                  <a:lnTo>
                    <a:pt x="52" y="86"/>
                  </a:lnTo>
                  <a:lnTo>
                    <a:pt x="44" y="87"/>
                  </a:lnTo>
                  <a:lnTo>
                    <a:pt x="44" y="87"/>
                  </a:lnTo>
                  <a:lnTo>
                    <a:pt x="35" y="86"/>
                  </a:lnTo>
                  <a:lnTo>
                    <a:pt x="27" y="83"/>
                  </a:lnTo>
                  <a:lnTo>
                    <a:pt x="20" y="80"/>
                  </a:lnTo>
                  <a:lnTo>
                    <a:pt x="14" y="74"/>
                  </a:lnTo>
                  <a:lnTo>
                    <a:pt x="8" y="68"/>
                  </a:lnTo>
                  <a:lnTo>
                    <a:pt x="4" y="61"/>
                  </a:lnTo>
                  <a:lnTo>
                    <a:pt x="2" y="52"/>
                  </a:lnTo>
                  <a:lnTo>
                    <a:pt x="0" y="44"/>
                  </a:lnTo>
                  <a:lnTo>
                    <a:pt x="0" y="44"/>
                  </a:lnTo>
                  <a:close/>
                  <a:moveTo>
                    <a:pt x="76" y="44"/>
                  </a:moveTo>
                  <a:lnTo>
                    <a:pt x="76" y="44"/>
                  </a:lnTo>
                  <a:lnTo>
                    <a:pt x="76" y="36"/>
                  </a:lnTo>
                  <a:lnTo>
                    <a:pt x="74" y="29"/>
                  </a:lnTo>
                  <a:lnTo>
                    <a:pt x="72" y="23"/>
                  </a:lnTo>
                  <a:lnTo>
                    <a:pt x="67" y="18"/>
                  </a:lnTo>
                  <a:lnTo>
                    <a:pt x="62" y="13"/>
                  </a:lnTo>
                  <a:lnTo>
                    <a:pt x="57" y="11"/>
                  </a:lnTo>
                  <a:lnTo>
                    <a:pt x="51" y="9"/>
                  </a:lnTo>
                  <a:lnTo>
                    <a:pt x="44" y="9"/>
                  </a:lnTo>
                  <a:lnTo>
                    <a:pt x="44" y="9"/>
                  </a:lnTo>
                  <a:lnTo>
                    <a:pt x="38" y="9"/>
                  </a:lnTo>
                  <a:lnTo>
                    <a:pt x="31" y="11"/>
                  </a:lnTo>
                  <a:lnTo>
                    <a:pt x="26" y="13"/>
                  </a:lnTo>
                  <a:lnTo>
                    <a:pt x="21" y="18"/>
                  </a:lnTo>
                  <a:lnTo>
                    <a:pt x="16" y="23"/>
                  </a:lnTo>
                  <a:lnTo>
                    <a:pt x="14" y="29"/>
                  </a:lnTo>
                  <a:lnTo>
                    <a:pt x="11" y="36"/>
                  </a:lnTo>
                  <a:lnTo>
                    <a:pt x="11" y="44"/>
                  </a:lnTo>
                  <a:lnTo>
                    <a:pt x="11" y="44"/>
                  </a:lnTo>
                  <a:lnTo>
                    <a:pt x="11" y="51"/>
                  </a:lnTo>
                  <a:lnTo>
                    <a:pt x="14" y="57"/>
                  </a:lnTo>
                  <a:lnTo>
                    <a:pt x="16" y="63"/>
                  </a:lnTo>
                  <a:lnTo>
                    <a:pt x="21" y="69"/>
                  </a:lnTo>
                  <a:lnTo>
                    <a:pt x="26" y="73"/>
                  </a:lnTo>
                  <a:lnTo>
                    <a:pt x="31" y="76"/>
                  </a:lnTo>
                  <a:lnTo>
                    <a:pt x="38" y="77"/>
                  </a:lnTo>
                  <a:lnTo>
                    <a:pt x="44" y="79"/>
                  </a:lnTo>
                  <a:lnTo>
                    <a:pt x="44" y="79"/>
                  </a:lnTo>
                  <a:lnTo>
                    <a:pt x="51" y="77"/>
                  </a:lnTo>
                  <a:lnTo>
                    <a:pt x="57" y="76"/>
                  </a:lnTo>
                  <a:lnTo>
                    <a:pt x="62" y="73"/>
                  </a:lnTo>
                  <a:lnTo>
                    <a:pt x="67" y="69"/>
                  </a:lnTo>
                  <a:lnTo>
                    <a:pt x="72" y="63"/>
                  </a:lnTo>
                  <a:lnTo>
                    <a:pt x="74" y="57"/>
                  </a:lnTo>
                  <a:lnTo>
                    <a:pt x="76" y="51"/>
                  </a:lnTo>
                  <a:lnTo>
                    <a:pt x="76" y="44"/>
                  </a:lnTo>
                  <a:lnTo>
                    <a:pt x="76" y="44"/>
                  </a:lnTo>
                  <a:close/>
                  <a:moveTo>
                    <a:pt x="27" y="18"/>
                  </a:moveTo>
                  <a:lnTo>
                    <a:pt x="45" y="18"/>
                  </a:lnTo>
                  <a:lnTo>
                    <a:pt x="45" y="18"/>
                  </a:lnTo>
                  <a:lnTo>
                    <a:pt x="53" y="19"/>
                  </a:lnTo>
                  <a:lnTo>
                    <a:pt x="60" y="22"/>
                  </a:lnTo>
                  <a:lnTo>
                    <a:pt x="61" y="24"/>
                  </a:lnTo>
                  <a:lnTo>
                    <a:pt x="62" y="27"/>
                  </a:lnTo>
                  <a:lnTo>
                    <a:pt x="63" y="33"/>
                  </a:lnTo>
                  <a:lnTo>
                    <a:pt x="63" y="33"/>
                  </a:lnTo>
                  <a:lnTo>
                    <a:pt x="63" y="39"/>
                  </a:lnTo>
                  <a:lnTo>
                    <a:pt x="61" y="42"/>
                  </a:lnTo>
                  <a:lnTo>
                    <a:pt x="56" y="45"/>
                  </a:lnTo>
                  <a:lnTo>
                    <a:pt x="51" y="46"/>
                  </a:lnTo>
                  <a:lnTo>
                    <a:pt x="64" y="68"/>
                  </a:lnTo>
                  <a:lnTo>
                    <a:pt x="55" y="68"/>
                  </a:lnTo>
                  <a:lnTo>
                    <a:pt x="41" y="47"/>
                  </a:lnTo>
                  <a:lnTo>
                    <a:pt x="37" y="47"/>
                  </a:lnTo>
                  <a:lnTo>
                    <a:pt x="37" y="68"/>
                  </a:lnTo>
                  <a:lnTo>
                    <a:pt x="27" y="68"/>
                  </a:lnTo>
                  <a:lnTo>
                    <a:pt x="27" y="18"/>
                  </a:lnTo>
                  <a:close/>
                  <a:moveTo>
                    <a:pt x="37" y="40"/>
                  </a:moveTo>
                  <a:lnTo>
                    <a:pt x="44" y="40"/>
                  </a:lnTo>
                  <a:lnTo>
                    <a:pt x="44" y="40"/>
                  </a:lnTo>
                  <a:lnTo>
                    <a:pt x="49" y="40"/>
                  </a:lnTo>
                  <a:lnTo>
                    <a:pt x="51" y="39"/>
                  </a:lnTo>
                  <a:lnTo>
                    <a:pt x="53" y="36"/>
                  </a:lnTo>
                  <a:lnTo>
                    <a:pt x="55" y="33"/>
                  </a:lnTo>
                  <a:lnTo>
                    <a:pt x="55" y="33"/>
                  </a:lnTo>
                  <a:lnTo>
                    <a:pt x="53" y="29"/>
                  </a:lnTo>
                  <a:lnTo>
                    <a:pt x="51" y="27"/>
                  </a:lnTo>
                  <a:lnTo>
                    <a:pt x="49" y="26"/>
                  </a:lnTo>
                  <a:lnTo>
                    <a:pt x="45" y="26"/>
                  </a:lnTo>
                  <a:lnTo>
                    <a:pt x="37" y="26"/>
                  </a:lnTo>
                  <a:lnTo>
                    <a:pt x="3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19714824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e white">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36EEB7A-660B-2849-8784-03277EB4E374}"/>
              </a:ext>
            </a:extLst>
          </p:cNvPr>
          <p:cNvSpPr>
            <a:spLocks noGrp="1"/>
          </p:cNvSpPr>
          <p:nvPr>
            <p:ph type="dt" sz="half" idx="10"/>
          </p:nvPr>
        </p:nvSpPr>
        <p:spPr/>
        <p:txBody>
          <a:bodyPr/>
          <a:lstStyle>
            <a:lvl1pPr>
              <a:defRPr>
                <a:solidFill>
                  <a:schemeClr val="bg1"/>
                </a:solidFill>
              </a:defRPr>
            </a:lvl1pPr>
          </a:lstStyle>
          <a:p>
            <a:fld id="{B8FDEC20-994C-6747-9500-226CB0C467E7}" type="datetime4">
              <a:rPr lang="en-US" smtClean="0"/>
              <a:pPr/>
              <a:t>June 9, 2023</a:t>
            </a:fld>
            <a:endParaRPr lang="en-US" dirty="0"/>
          </a:p>
        </p:txBody>
      </p:sp>
      <p:sp>
        <p:nvSpPr>
          <p:cNvPr id="4" name="Footer Placeholder 3">
            <a:extLst>
              <a:ext uri="{FF2B5EF4-FFF2-40B4-BE49-F238E27FC236}">
                <a16:creationId xmlns:a16="http://schemas.microsoft.com/office/drawing/2014/main" id="{6668D113-2F65-3E46-BA2C-CF80CA12A67E}"/>
              </a:ext>
            </a:extLst>
          </p:cNvPr>
          <p:cNvSpPr>
            <a:spLocks noGrp="1"/>
          </p:cNvSpPr>
          <p:nvPr>
            <p:ph type="ftr" sz="quarter" idx="11"/>
          </p:nvPr>
        </p:nvSpPr>
        <p:spPr/>
        <p:txBody>
          <a:bodyPr/>
          <a:lstStyle>
            <a:lvl1pPr>
              <a:defRPr>
                <a:solidFill>
                  <a:schemeClr val="bg1"/>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B22B4456-3C67-D24A-BA0A-BF1D03932040}"/>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grpSp>
        <p:nvGrpSpPr>
          <p:cNvPr id="14" name="Group 13">
            <a:extLst>
              <a:ext uri="{FF2B5EF4-FFF2-40B4-BE49-F238E27FC236}">
                <a16:creationId xmlns:a16="http://schemas.microsoft.com/office/drawing/2014/main" id="{4720F530-6ED7-C64C-9700-F4AB1DD1641A}"/>
              </a:ext>
            </a:extLst>
          </p:cNvPr>
          <p:cNvGrpSpPr/>
          <p:nvPr userDrawn="1"/>
        </p:nvGrpSpPr>
        <p:grpSpPr>
          <a:xfrm>
            <a:off x="3556774" y="2736865"/>
            <a:ext cx="5078452" cy="1384271"/>
            <a:chOff x="1233488" y="677863"/>
            <a:chExt cx="2882900" cy="785813"/>
          </a:xfrm>
          <a:solidFill>
            <a:schemeClr val="tx2"/>
          </a:solidFill>
        </p:grpSpPr>
        <p:sp>
          <p:nvSpPr>
            <p:cNvPr id="15" name="Freeform 35">
              <a:extLst>
                <a:ext uri="{FF2B5EF4-FFF2-40B4-BE49-F238E27FC236}">
                  <a16:creationId xmlns:a16="http://schemas.microsoft.com/office/drawing/2014/main" id="{7F9DE9C3-93E9-E341-805F-3A974A674DBB}"/>
                </a:ext>
              </a:extLst>
            </p:cNvPr>
            <p:cNvSpPr>
              <a:spLocks/>
            </p:cNvSpPr>
            <p:nvPr/>
          </p:nvSpPr>
          <p:spPr bwMode="auto">
            <a:xfrm>
              <a:off x="2346326" y="944563"/>
              <a:ext cx="417513" cy="354013"/>
            </a:xfrm>
            <a:custGeom>
              <a:avLst/>
              <a:gdLst>
                <a:gd name="T0" fmla="*/ 310 w 525"/>
                <a:gd name="T1" fmla="*/ 445 h 445"/>
                <a:gd name="T2" fmla="*/ 250 w 525"/>
                <a:gd name="T3" fmla="*/ 440 h 445"/>
                <a:gd name="T4" fmla="*/ 193 w 525"/>
                <a:gd name="T5" fmla="*/ 428 h 445"/>
                <a:gd name="T6" fmla="*/ 140 w 525"/>
                <a:gd name="T7" fmla="*/ 409 h 445"/>
                <a:gd name="T8" fmla="*/ 94 w 525"/>
                <a:gd name="T9" fmla="*/ 383 h 445"/>
                <a:gd name="T10" fmla="*/ 55 w 525"/>
                <a:gd name="T11" fmla="*/ 350 h 445"/>
                <a:gd name="T12" fmla="*/ 25 w 525"/>
                <a:gd name="T13" fmla="*/ 313 h 445"/>
                <a:gd name="T14" fmla="*/ 14 w 525"/>
                <a:gd name="T15" fmla="*/ 291 h 445"/>
                <a:gd name="T16" fmla="*/ 7 w 525"/>
                <a:gd name="T17" fmla="*/ 269 h 445"/>
                <a:gd name="T18" fmla="*/ 1 w 525"/>
                <a:gd name="T19" fmla="*/ 246 h 445"/>
                <a:gd name="T20" fmla="*/ 0 w 525"/>
                <a:gd name="T21" fmla="*/ 222 h 445"/>
                <a:gd name="T22" fmla="*/ 0 w 525"/>
                <a:gd name="T23" fmla="*/ 210 h 445"/>
                <a:gd name="T24" fmla="*/ 3 w 525"/>
                <a:gd name="T25" fmla="*/ 187 h 445"/>
                <a:gd name="T26" fmla="*/ 11 w 525"/>
                <a:gd name="T27" fmla="*/ 164 h 445"/>
                <a:gd name="T28" fmla="*/ 19 w 525"/>
                <a:gd name="T29" fmla="*/ 143 h 445"/>
                <a:gd name="T30" fmla="*/ 38 w 525"/>
                <a:gd name="T31" fmla="*/ 113 h 445"/>
                <a:gd name="T32" fmla="*/ 73 w 525"/>
                <a:gd name="T33" fmla="*/ 78 h 445"/>
                <a:gd name="T34" fmla="*/ 116 w 525"/>
                <a:gd name="T35" fmla="*/ 48 h 445"/>
                <a:gd name="T36" fmla="*/ 166 w 525"/>
                <a:gd name="T37" fmla="*/ 25 h 445"/>
                <a:gd name="T38" fmla="*/ 221 w 525"/>
                <a:gd name="T39" fmla="*/ 9 h 445"/>
                <a:gd name="T40" fmla="*/ 281 w 525"/>
                <a:gd name="T41" fmla="*/ 1 h 445"/>
                <a:gd name="T42" fmla="*/ 311 w 525"/>
                <a:gd name="T43" fmla="*/ 0 h 445"/>
                <a:gd name="T44" fmla="*/ 364 w 525"/>
                <a:gd name="T45" fmla="*/ 3 h 445"/>
                <a:gd name="T46" fmla="*/ 416 w 525"/>
                <a:gd name="T47" fmla="*/ 14 h 445"/>
                <a:gd name="T48" fmla="*/ 468 w 525"/>
                <a:gd name="T49" fmla="*/ 32 h 445"/>
                <a:gd name="T50" fmla="*/ 523 w 525"/>
                <a:gd name="T51" fmla="*/ 58 h 445"/>
                <a:gd name="T52" fmla="*/ 471 w 525"/>
                <a:gd name="T53" fmla="*/ 124 h 445"/>
                <a:gd name="T54" fmla="*/ 434 w 525"/>
                <a:gd name="T55" fmla="*/ 108 h 445"/>
                <a:gd name="T56" fmla="*/ 396 w 525"/>
                <a:gd name="T57" fmla="*/ 98 h 445"/>
                <a:gd name="T58" fmla="*/ 355 w 525"/>
                <a:gd name="T59" fmla="*/ 90 h 445"/>
                <a:gd name="T60" fmla="*/ 311 w 525"/>
                <a:gd name="T61" fmla="*/ 88 h 445"/>
                <a:gd name="T62" fmla="*/ 298 w 525"/>
                <a:gd name="T63" fmla="*/ 89 h 445"/>
                <a:gd name="T64" fmla="*/ 271 w 525"/>
                <a:gd name="T65" fmla="*/ 93 h 445"/>
                <a:gd name="T66" fmla="*/ 246 w 525"/>
                <a:gd name="T67" fmla="*/ 100 h 445"/>
                <a:gd name="T68" fmla="*/ 222 w 525"/>
                <a:gd name="T69" fmla="*/ 112 h 445"/>
                <a:gd name="T70" fmla="*/ 200 w 525"/>
                <a:gd name="T71" fmla="*/ 128 h 445"/>
                <a:gd name="T72" fmla="*/ 182 w 525"/>
                <a:gd name="T73" fmla="*/ 150 h 445"/>
                <a:gd name="T74" fmla="*/ 170 w 525"/>
                <a:gd name="T75" fmla="*/ 175 h 445"/>
                <a:gd name="T76" fmla="*/ 163 w 525"/>
                <a:gd name="T77" fmla="*/ 205 h 445"/>
                <a:gd name="T78" fmla="*/ 162 w 525"/>
                <a:gd name="T79" fmla="*/ 222 h 445"/>
                <a:gd name="T80" fmla="*/ 165 w 525"/>
                <a:gd name="T81" fmla="*/ 256 h 445"/>
                <a:gd name="T82" fmla="*/ 175 w 525"/>
                <a:gd name="T83" fmla="*/ 284 h 445"/>
                <a:gd name="T84" fmla="*/ 191 w 525"/>
                <a:gd name="T85" fmla="*/ 306 h 445"/>
                <a:gd name="T86" fmla="*/ 210 w 525"/>
                <a:gd name="T87" fmla="*/ 326 h 445"/>
                <a:gd name="T88" fmla="*/ 233 w 525"/>
                <a:gd name="T89" fmla="*/ 339 h 445"/>
                <a:gd name="T90" fmla="*/ 258 w 525"/>
                <a:gd name="T91" fmla="*/ 349 h 445"/>
                <a:gd name="T92" fmla="*/ 285 w 525"/>
                <a:gd name="T93" fmla="*/ 355 h 445"/>
                <a:gd name="T94" fmla="*/ 311 w 525"/>
                <a:gd name="T95" fmla="*/ 357 h 445"/>
                <a:gd name="T96" fmla="*/ 333 w 525"/>
                <a:gd name="T97" fmla="*/ 356 h 445"/>
                <a:gd name="T98" fmla="*/ 375 w 525"/>
                <a:gd name="T99" fmla="*/ 352 h 445"/>
                <a:gd name="T100" fmla="*/ 416 w 525"/>
                <a:gd name="T101" fmla="*/ 344 h 445"/>
                <a:gd name="T102" fmla="*/ 455 w 525"/>
                <a:gd name="T103" fmla="*/ 332 h 445"/>
                <a:gd name="T104" fmla="*/ 525 w 525"/>
                <a:gd name="T105" fmla="*/ 393 h 445"/>
                <a:gd name="T106" fmla="*/ 501 w 525"/>
                <a:gd name="T107" fmla="*/ 405 h 445"/>
                <a:gd name="T108" fmla="*/ 451 w 525"/>
                <a:gd name="T109" fmla="*/ 425 h 445"/>
                <a:gd name="T110" fmla="*/ 397 w 525"/>
                <a:gd name="T111" fmla="*/ 438 h 445"/>
                <a:gd name="T112" fmla="*/ 340 w 525"/>
                <a:gd name="T113" fmla="*/ 444 h 445"/>
                <a:gd name="T114" fmla="*/ 310 w 525"/>
                <a:gd name="T115"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5" h="445">
                  <a:moveTo>
                    <a:pt x="310" y="445"/>
                  </a:moveTo>
                  <a:lnTo>
                    <a:pt x="310" y="445"/>
                  </a:lnTo>
                  <a:lnTo>
                    <a:pt x="280" y="444"/>
                  </a:lnTo>
                  <a:lnTo>
                    <a:pt x="250" y="440"/>
                  </a:lnTo>
                  <a:lnTo>
                    <a:pt x="221" y="436"/>
                  </a:lnTo>
                  <a:lnTo>
                    <a:pt x="193" y="428"/>
                  </a:lnTo>
                  <a:lnTo>
                    <a:pt x="165" y="420"/>
                  </a:lnTo>
                  <a:lnTo>
                    <a:pt x="140" y="409"/>
                  </a:lnTo>
                  <a:lnTo>
                    <a:pt x="116" y="397"/>
                  </a:lnTo>
                  <a:lnTo>
                    <a:pt x="94" y="383"/>
                  </a:lnTo>
                  <a:lnTo>
                    <a:pt x="73" y="367"/>
                  </a:lnTo>
                  <a:lnTo>
                    <a:pt x="55" y="350"/>
                  </a:lnTo>
                  <a:lnTo>
                    <a:pt x="38" y="332"/>
                  </a:lnTo>
                  <a:lnTo>
                    <a:pt x="25" y="313"/>
                  </a:lnTo>
                  <a:lnTo>
                    <a:pt x="19" y="302"/>
                  </a:lnTo>
                  <a:lnTo>
                    <a:pt x="14" y="291"/>
                  </a:lnTo>
                  <a:lnTo>
                    <a:pt x="11" y="280"/>
                  </a:lnTo>
                  <a:lnTo>
                    <a:pt x="7" y="269"/>
                  </a:lnTo>
                  <a:lnTo>
                    <a:pt x="3" y="258"/>
                  </a:lnTo>
                  <a:lnTo>
                    <a:pt x="1" y="246"/>
                  </a:lnTo>
                  <a:lnTo>
                    <a:pt x="0" y="234"/>
                  </a:lnTo>
                  <a:lnTo>
                    <a:pt x="0" y="222"/>
                  </a:lnTo>
                  <a:lnTo>
                    <a:pt x="0" y="222"/>
                  </a:lnTo>
                  <a:lnTo>
                    <a:pt x="0" y="210"/>
                  </a:lnTo>
                  <a:lnTo>
                    <a:pt x="1" y="199"/>
                  </a:lnTo>
                  <a:lnTo>
                    <a:pt x="3" y="187"/>
                  </a:lnTo>
                  <a:lnTo>
                    <a:pt x="7" y="176"/>
                  </a:lnTo>
                  <a:lnTo>
                    <a:pt x="11" y="164"/>
                  </a:lnTo>
                  <a:lnTo>
                    <a:pt x="14" y="153"/>
                  </a:lnTo>
                  <a:lnTo>
                    <a:pt x="19" y="143"/>
                  </a:lnTo>
                  <a:lnTo>
                    <a:pt x="25" y="133"/>
                  </a:lnTo>
                  <a:lnTo>
                    <a:pt x="38" y="113"/>
                  </a:lnTo>
                  <a:lnTo>
                    <a:pt x="55" y="95"/>
                  </a:lnTo>
                  <a:lnTo>
                    <a:pt x="73" y="78"/>
                  </a:lnTo>
                  <a:lnTo>
                    <a:pt x="94" y="63"/>
                  </a:lnTo>
                  <a:lnTo>
                    <a:pt x="116" y="48"/>
                  </a:lnTo>
                  <a:lnTo>
                    <a:pt x="140" y="36"/>
                  </a:lnTo>
                  <a:lnTo>
                    <a:pt x="166" y="25"/>
                  </a:lnTo>
                  <a:lnTo>
                    <a:pt x="193" y="17"/>
                  </a:lnTo>
                  <a:lnTo>
                    <a:pt x="221" y="9"/>
                  </a:lnTo>
                  <a:lnTo>
                    <a:pt x="251" y="3"/>
                  </a:lnTo>
                  <a:lnTo>
                    <a:pt x="281" y="1"/>
                  </a:lnTo>
                  <a:lnTo>
                    <a:pt x="311" y="0"/>
                  </a:lnTo>
                  <a:lnTo>
                    <a:pt x="311" y="0"/>
                  </a:lnTo>
                  <a:lnTo>
                    <a:pt x="338" y="1"/>
                  </a:lnTo>
                  <a:lnTo>
                    <a:pt x="364" y="3"/>
                  </a:lnTo>
                  <a:lnTo>
                    <a:pt x="390" y="7"/>
                  </a:lnTo>
                  <a:lnTo>
                    <a:pt x="416" y="14"/>
                  </a:lnTo>
                  <a:lnTo>
                    <a:pt x="443" y="22"/>
                  </a:lnTo>
                  <a:lnTo>
                    <a:pt x="468" y="32"/>
                  </a:lnTo>
                  <a:lnTo>
                    <a:pt x="495" y="44"/>
                  </a:lnTo>
                  <a:lnTo>
                    <a:pt x="523" y="58"/>
                  </a:lnTo>
                  <a:lnTo>
                    <a:pt x="471" y="124"/>
                  </a:lnTo>
                  <a:lnTo>
                    <a:pt x="471" y="124"/>
                  </a:lnTo>
                  <a:lnTo>
                    <a:pt x="454" y="116"/>
                  </a:lnTo>
                  <a:lnTo>
                    <a:pt x="434" y="108"/>
                  </a:lnTo>
                  <a:lnTo>
                    <a:pt x="415" y="102"/>
                  </a:lnTo>
                  <a:lnTo>
                    <a:pt x="396" y="98"/>
                  </a:lnTo>
                  <a:lnTo>
                    <a:pt x="375" y="94"/>
                  </a:lnTo>
                  <a:lnTo>
                    <a:pt x="355" y="90"/>
                  </a:lnTo>
                  <a:lnTo>
                    <a:pt x="333" y="89"/>
                  </a:lnTo>
                  <a:lnTo>
                    <a:pt x="311" y="88"/>
                  </a:lnTo>
                  <a:lnTo>
                    <a:pt x="311" y="88"/>
                  </a:lnTo>
                  <a:lnTo>
                    <a:pt x="298" y="89"/>
                  </a:lnTo>
                  <a:lnTo>
                    <a:pt x="285" y="90"/>
                  </a:lnTo>
                  <a:lnTo>
                    <a:pt x="271" y="93"/>
                  </a:lnTo>
                  <a:lnTo>
                    <a:pt x="258" y="95"/>
                  </a:lnTo>
                  <a:lnTo>
                    <a:pt x="246" y="100"/>
                  </a:lnTo>
                  <a:lnTo>
                    <a:pt x="234" y="105"/>
                  </a:lnTo>
                  <a:lnTo>
                    <a:pt x="222" y="112"/>
                  </a:lnTo>
                  <a:lnTo>
                    <a:pt x="211" y="119"/>
                  </a:lnTo>
                  <a:lnTo>
                    <a:pt x="200" y="128"/>
                  </a:lnTo>
                  <a:lnTo>
                    <a:pt x="191" y="137"/>
                  </a:lnTo>
                  <a:lnTo>
                    <a:pt x="182" y="150"/>
                  </a:lnTo>
                  <a:lnTo>
                    <a:pt x="176" y="162"/>
                  </a:lnTo>
                  <a:lnTo>
                    <a:pt x="170" y="175"/>
                  </a:lnTo>
                  <a:lnTo>
                    <a:pt x="165" y="189"/>
                  </a:lnTo>
                  <a:lnTo>
                    <a:pt x="163" y="205"/>
                  </a:lnTo>
                  <a:lnTo>
                    <a:pt x="162" y="222"/>
                  </a:lnTo>
                  <a:lnTo>
                    <a:pt x="162" y="222"/>
                  </a:lnTo>
                  <a:lnTo>
                    <a:pt x="163" y="240"/>
                  </a:lnTo>
                  <a:lnTo>
                    <a:pt x="165" y="256"/>
                  </a:lnTo>
                  <a:lnTo>
                    <a:pt x="170" y="270"/>
                  </a:lnTo>
                  <a:lnTo>
                    <a:pt x="175" y="284"/>
                  </a:lnTo>
                  <a:lnTo>
                    <a:pt x="182" y="296"/>
                  </a:lnTo>
                  <a:lnTo>
                    <a:pt x="191" y="306"/>
                  </a:lnTo>
                  <a:lnTo>
                    <a:pt x="200" y="317"/>
                  </a:lnTo>
                  <a:lnTo>
                    <a:pt x="210" y="326"/>
                  </a:lnTo>
                  <a:lnTo>
                    <a:pt x="221" y="333"/>
                  </a:lnTo>
                  <a:lnTo>
                    <a:pt x="233" y="339"/>
                  </a:lnTo>
                  <a:lnTo>
                    <a:pt x="245" y="345"/>
                  </a:lnTo>
                  <a:lnTo>
                    <a:pt x="258" y="349"/>
                  </a:lnTo>
                  <a:lnTo>
                    <a:pt x="271" y="352"/>
                  </a:lnTo>
                  <a:lnTo>
                    <a:pt x="285" y="355"/>
                  </a:lnTo>
                  <a:lnTo>
                    <a:pt x="298" y="356"/>
                  </a:lnTo>
                  <a:lnTo>
                    <a:pt x="311" y="357"/>
                  </a:lnTo>
                  <a:lnTo>
                    <a:pt x="311" y="357"/>
                  </a:lnTo>
                  <a:lnTo>
                    <a:pt x="333" y="356"/>
                  </a:lnTo>
                  <a:lnTo>
                    <a:pt x="355" y="355"/>
                  </a:lnTo>
                  <a:lnTo>
                    <a:pt x="375" y="352"/>
                  </a:lnTo>
                  <a:lnTo>
                    <a:pt x="396" y="349"/>
                  </a:lnTo>
                  <a:lnTo>
                    <a:pt x="416" y="344"/>
                  </a:lnTo>
                  <a:lnTo>
                    <a:pt x="436" y="338"/>
                  </a:lnTo>
                  <a:lnTo>
                    <a:pt x="455" y="332"/>
                  </a:lnTo>
                  <a:lnTo>
                    <a:pt x="473" y="325"/>
                  </a:lnTo>
                  <a:lnTo>
                    <a:pt x="525" y="393"/>
                  </a:lnTo>
                  <a:lnTo>
                    <a:pt x="525" y="393"/>
                  </a:lnTo>
                  <a:lnTo>
                    <a:pt x="501" y="405"/>
                  </a:lnTo>
                  <a:lnTo>
                    <a:pt x="477" y="415"/>
                  </a:lnTo>
                  <a:lnTo>
                    <a:pt x="451" y="425"/>
                  </a:lnTo>
                  <a:lnTo>
                    <a:pt x="425" y="432"/>
                  </a:lnTo>
                  <a:lnTo>
                    <a:pt x="397" y="438"/>
                  </a:lnTo>
                  <a:lnTo>
                    <a:pt x="369" y="442"/>
                  </a:lnTo>
                  <a:lnTo>
                    <a:pt x="340" y="444"/>
                  </a:lnTo>
                  <a:lnTo>
                    <a:pt x="310" y="445"/>
                  </a:lnTo>
                  <a:lnTo>
                    <a:pt x="310" y="4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5" name="Freeform 36">
              <a:extLst>
                <a:ext uri="{FF2B5EF4-FFF2-40B4-BE49-F238E27FC236}">
                  <a16:creationId xmlns:a16="http://schemas.microsoft.com/office/drawing/2014/main" id="{303C2EE9-A25B-6B4C-A0BA-056FEE1A50D0}"/>
                </a:ext>
              </a:extLst>
            </p:cNvPr>
            <p:cNvSpPr>
              <a:spLocks noEditPoints="1"/>
            </p:cNvSpPr>
            <p:nvPr/>
          </p:nvSpPr>
          <p:spPr bwMode="auto">
            <a:xfrm>
              <a:off x="3087688" y="942976"/>
              <a:ext cx="493713" cy="355600"/>
            </a:xfrm>
            <a:custGeom>
              <a:avLst/>
              <a:gdLst>
                <a:gd name="T0" fmla="*/ 459 w 622"/>
                <a:gd name="T1" fmla="*/ 241 h 447"/>
                <a:gd name="T2" fmla="*/ 447 w 622"/>
                <a:gd name="T3" fmla="*/ 285 h 447"/>
                <a:gd name="T4" fmla="*/ 421 w 622"/>
                <a:gd name="T5" fmla="*/ 318 h 447"/>
                <a:gd name="T6" fmla="*/ 389 w 622"/>
                <a:gd name="T7" fmla="*/ 341 h 447"/>
                <a:gd name="T8" fmla="*/ 350 w 622"/>
                <a:gd name="T9" fmla="*/ 354 h 447"/>
                <a:gd name="T10" fmla="*/ 310 w 622"/>
                <a:gd name="T11" fmla="*/ 358 h 447"/>
                <a:gd name="T12" fmla="*/ 285 w 622"/>
                <a:gd name="T13" fmla="*/ 357 h 447"/>
                <a:gd name="T14" fmla="*/ 245 w 622"/>
                <a:gd name="T15" fmla="*/ 346 h 447"/>
                <a:gd name="T16" fmla="*/ 210 w 622"/>
                <a:gd name="T17" fmla="*/ 326 h 447"/>
                <a:gd name="T18" fmla="*/ 182 w 622"/>
                <a:gd name="T19" fmla="*/ 297 h 447"/>
                <a:gd name="T20" fmla="*/ 165 w 622"/>
                <a:gd name="T21" fmla="*/ 258 h 447"/>
                <a:gd name="T22" fmla="*/ 162 w 622"/>
                <a:gd name="T23" fmla="*/ 224 h 447"/>
                <a:gd name="T24" fmla="*/ 169 w 622"/>
                <a:gd name="T25" fmla="*/ 175 h 447"/>
                <a:gd name="T26" fmla="*/ 191 w 622"/>
                <a:gd name="T27" fmla="*/ 139 h 447"/>
                <a:gd name="T28" fmla="*/ 221 w 622"/>
                <a:gd name="T29" fmla="*/ 113 h 447"/>
                <a:gd name="T30" fmla="*/ 258 w 622"/>
                <a:gd name="T31" fmla="*/ 97 h 447"/>
                <a:gd name="T32" fmla="*/ 298 w 622"/>
                <a:gd name="T33" fmla="*/ 90 h 447"/>
                <a:gd name="T34" fmla="*/ 323 w 622"/>
                <a:gd name="T35" fmla="*/ 90 h 447"/>
                <a:gd name="T36" fmla="*/ 363 w 622"/>
                <a:gd name="T37" fmla="*/ 97 h 447"/>
                <a:gd name="T38" fmla="*/ 400 w 622"/>
                <a:gd name="T39" fmla="*/ 113 h 447"/>
                <a:gd name="T40" fmla="*/ 431 w 622"/>
                <a:gd name="T41" fmla="*/ 139 h 447"/>
                <a:gd name="T42" fmla="*/ 451 w 622"/>
                <a:gd name="T43" fmla="*/ 175 h 447"/>
                <a:gd name="T44" fmla="*/ 460 w 622"/>
                <a:gd name="T45" fmla="*/ 224 h 447"/>
                <a:gd name="T46" fmla="*/ 310 w 622"/>
                <a:gd name="T47" fmla="*/ 447 h 447"/>
                <a:gd name="T48" fmla="*/ 401 w 622"/>
                <a:gd name="T49" fmla="*/ 437 h 447"/>
                <a:gd name="T50" fmla="*/ 482 w 622"/>
                <a:gd name="T51" fmla="*/ 411 h 447"/>
                <a:gd name="T52" fmla="*/ 548 w 622"/>
                <a:gd name="T53" fmla="*/ 369 h 447"/>
                <a:gd name="T54" fmla="*/ 596 w 622"/>
                <a:gd name="T55" fmla="*/ 313 h 447"/>
                <a:gd name="T56" fmla="*/ 612 w 622"/>
                <a:gd name="T57" fmla="*/ 282 h 447"/>
                <a:gd name="T58" fmla="*/ 620 w 622"/>
                <a:gd name="T59" fmla="*/ 248 h 447"/>
                <a:gd name="T60" fmla="*/ 622 w 622"/>
                <a:gd name="T61" fmla="*/ 224 h 447"/>
                <a:gd name="T62" fmla="*/ 618 w 622"/>
                <a:gd name="T63" fmla="*/ 189 h 447"/>
                <a:gd name="T64" fmla="*/ 607 w 622"/>
                <a:gd name="T65" fmla="*/ 155 h 447"/>
                <a:gd name="T66" fmla="*/ 583 w 622"/>
                <a:gd name="T67" fmla="*/ 115 h 447"/>
                <a:gd name="T68" fmla="*/ 529 w 622"/>
                <a:gd name="T69" fmla="*/ 63 h 447"/>
                <a:gd name="T70" fmla="*/ 456 w 622"/>
                <a:gd name="T71" fmla="*/ 27 h 447"/>
                <a:gd name="T72" fmla="*/ 372 w 622"/>
                <a:gd name="T73" fmla="*/ 5 h 447"/>
                <a:gd name="T74" fmla="*/ 310 w 622"/>
                <a:gd name="T75" fmla="*/ 0 h 447"/>
                <a:gd name="T76" fmla="*/ 221 w 622"/>
                <a:gd name="T77" fmla="*/ 10 h 447"/>
                <a:gd name="T78" fmla="*/ 140 w 622"/>
                <a:gd name="T79" fmla="*/ 38 h 447"/>
                <a:gd name="T80" fmla="*/ 72 w 622"/>
                <a:gd name="T81" fmla="*/ 79 h 447"/>
                <a:gd name="T82" fmla="*/ 25 w 622"/>
                <a:gd name="T83" fmla="*/ 134 h 447"/>
                <a:gd name="T84" fmla="*/ 10 w 622"/>
                <a:gd name="T85" fmla="*/ 166 h 447"/>
                <a:gd name="T86" fmla="*/ 1 w 622"/>
                <a:gd name="T87" fmla="*/ 200 h 447"/>
                <a:gd name="T88" fmla="*/ 0 w 622"/>
                <a:gd name="T89" fmla="*/ 224 h 447"/>
                <a:gd name="T90" fmla="*/ 4 w 622"/>
                <a:gd name="T91" fmla="*/ 259 h 447"/>
                <a:gd name="T92" fmla="*/ 14 w 622"/>
                <a:gd name="T93" fmla="*/ 293 h 447"/>
                <a:gd name="T94" fmla="*/ 39 w 622"/>
                <a:gd name="T95" fmla="*/ 332 h 447"/>
                <a:gd name="T96" fmla="*/ 93 w 622"/>
                <a:gd name="T97" fmla="*/ 384 h 447"/>
                <a:gd name="T98" fmla="*/ 165 w 622"/>
                <a:gd name="T99" fmla="*/ 421 h 447"/>
                <a:gd name="T100" fmla="*/ 250 w 622"/>
                <a:gd name="T101" fmla="*/ 442 h 447"/>
                <a:gd name="T102" fmla="*/ 310 w 622"/>
                <a:gd name="T103" fmla="*/ 447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22" h="447">
                  <a:moveTo>
                    <a:pt x="460" y="224"/>
                  </a:moveTo>
                  <a:lnTo>
                    <a:pt x="460" y="224"/>
                  </a:lnTo>
                  <a:lnTo>
                    <a:pt x="459" y="241"/>
                  </a:lnTo>
                  <a:lnTo>
                    <a:pt x="456" y="258"/>
                  </a:lnTo>
                  <a:lnTo>
                    <a:pt x="451" y="272"/>
                  </a:lnTo>
                  <a:lnTo>
                    <a:pt x="447" y="285"/>
                  </a:lnTo>
                  <a:lnTo>
                    <a:pt x="439" y="297"/>
                  </a:lnTo>
                  <a:lnTo>
                    <a:pt x="431" y="308"/>
                  </a:lnTo>
                  <a:lnTo>
                    <a:pt x="421" y="318"/>
                  </a:lnTo>
                  <a:lnTo>
                    <a:pt x="412" y="326"/>
                  </a:lnTo>
                  <a:lnTo>
                    <a:pt x="400" y="335"/>
                  </a:lnTo>
                  <a:lnTo>
                    <a:pt x="389" y="341"/>
                  </a:lnTo>
                  <a:lnTo>
                    <a:pt x="375" y="346"/>
                  </a:lnTo>
                  <a:lnTo>
                    <a:pt x="363" y="351"/>
                  </a:lnTo>
                  <a:lnTo>
                    <a:pt x="350" y="354"/>
                  </a:lnTo>
                  <a:lnTo>
                    <a:pt x="337" y="357"/>
                  </a:lnTo>
                  <a:lnTo>
                    <a:pt x="323" y="358"/>
                  </a:lnTo>
                  <a:lnTo>
                    <a:pt x="310" y="358"/>
                  </a:lnTo>
                  <a:lnTo>
                    <a:pt x="310" y="358"/>
                  </a:lnTo>
                  <a:lnTo>
                    <a:pt x="298" y="358"/>
                  </a:lnTo>
                  <a:lnTo>
                    <a:pt x="285" y="357"/>
                  </a:lnTo>
                  <a:lnTo>
                    <a:pt x="272" y="354"/>
                  </a:lnTo>
                  <a:lnTo>
                    <a:pt x="258" y="351"/>
                  </a:lnTo>
                  <a:lnTo>
                    <a:pt x="245" y="346"/>
                  </a:lnTo>
                  <a:lnTo>
                    <a:pt x="233" y="341"/>
                  </a:lnTo>
                  <a:lnTo>
                    <a:pt x="221" y="335"/>
                  </a:lnTo>
                  <a:lnTo>
                    <a:pt x="210" y="326"/>
                  </a:lnTo>
                  <a:lnTo>
                    <a:pt x="200" y="318"/>
                  </a:lnTo>
                  <a:lnTo>
                    <a:pt x="191" y="308"/>
                  </a:lnTo>
                  <a:lnTo>
                    <a:pt x="182" y="297"/>
                  </a:lnTo>
                  <a:lnTo>
                    <a:pt x="175" y="285"/>
                  </a:lnTo>
                  <a:lnTo>
                    <a:pt x="169" y="272"/>
                  </a:lnTo>
                  <a:lnTo>
                    <a:pt x="165" y="258"/>
                  </a:lnTo>
                  <a:lnTo>
                    <a:pt x="163" y="241"/>
                  </a:lnTo>
                  <a:lnTo>
                    <a:pt x="162" y="224"/>
                  </a:lnTo>
                  <a:lnTo>
                    <a:pt x="162" y="224"/>
                  </a:lnTo>
                  <a:lnTo>
                    <a:pt x="163" y="207"/>
                  </a:lnTo>
                  <a:lnTo>
                    <a:pt x="165" y="191"/>
                  </a:lnTo>
                  <a:lnTo>
                    <a:pt x="169" y="175"/>
                  </a:lnTo>
                  <a:lnTo>
                    <a:pt x="175" y="162"/>
                  </a:lnTo>
                  <a:lnTo>
                    <a:pt x="182" y="150"/>
                  </a:lnTo>
                  <a:lnTo>
                    <a:pt x="191" y="139"/>
                  </a:lnTo>
                  <a:lnTo>
                    <a:pt x="200" y="130"/>
                  </a:lnTo>
                  <a:lnTo>
                    <a:pt x="210" y="121"/>
                  </a:lnTo>
                  <a:lnTo>
                    <a:pt x="221" y="113"/>
                  </a:lnTo>
                  <a:lnTo>
                    <a:pt x="233" y="107"/>
                  </a:lnTo>
                  <a:lnTo>
                    <a:pt x="245" y="102"/>
                  </a:lnTo>
                  <a:lnTo>
                    <a:pt x="258" y="97"/>
                  </a:lnTo>
                  <a:lnTo>
                    <a:pt x="272" y="93"/>
                  </a:lnTo>
                  <a:lnTo>
                    <a:pt x="285" y="91"/>
                  </a:lnTo>
                  <a:lnTo>
                    <a:pt x="298" y="90"/>
                  </a:lnTo>
                  <a:lnTo>
                    <a:pt x="310" y="90"/>
                  </a:lnTo>
                  <a:lnTo>
                    <a:pt x="310" y="90"/>
                  </a:lnTo>
                  <a:lnTo>
                    <a:pt x="323" y="90"/>
                  </a:lnTo>
                  <a:lnTo>
                    <a:pt x="337" y="91"/>
                  </a:lnTo>
                  <a:lnTo>
                    <a:pt x="350" y="93"/>
                  </a:lnTo>
                  <a:lnTo>
                    <a:pt x="363" y="97"/>
                  </a:lnTo>
                  <a:lnTo>
                    <a:pt x="375" y="102"/>
                  </a:lnTo>
                  <a:lnTo>
                    <a:pt x="389" y="107"/>
                  </a:lnTo>
                  <a:lnTo>
                    <a:pt x="400" y="113"/>
                  </a:lnTo>
                  <a:lnTo>
                    <a:pt x="412" y="121"/>
                  </a:lnTo>
                  <a:lnTo>
                    <a:pt x="421" y="130"/>
                  </a:lnTo>
                  <a:lnTo>
                    <a:pt x="431" y="139"/>
                  </a:lnTo>
                  <a:lnTo>
                    <a:pt x="439" y="150"/>
                  </a:lnTo>
                  <a:lnTo>
                    <a:pt x="447" y="162"/>
                  </a:lnTo>
                  <a:lnTo>
                    <a:pt x="451" y="175"/>
                  </a:lnTo>
                  <a:lnTo>
                    <a:pt x="456" y="191"/>
                  </a:lnTo>
                  <a:lnTo>
                    <a:pt x="459" y="207"/>
                  </a:lnTo>
                  <a:lnTo>
                    <a:pt x="460" y="224"/>
                  </a:lnTo>
                  <a:lnTo>
                    <a:pt x="460" y="224"/>
                  </a:lnTo>
                  <a:close/>
                  <a:moveTo>
                    <a:pt x="310" y="447"/>
                  </a:moveTo>
                  <a:lnTo>
                    <a:pt x="310" y="447"/>
                  </a:lnTo>
                  <a:lnTo>
                    <a:pt x="342" y="446"/>
                  </a:lnTo>
                  <a:lnTo>
                    <a:pt x="372" y="442"/>
                  </a:lnTo>
                  <a:lnTo>
                    <a:pt x="401" y="437"/>
                  </a:lnTo>
                  <a:lnTo>
                    <a:pt x="429" y="430"/>
                  </a:lnTo>
                  <a:lnTo>
                    <a:pt x="456" y="421"/>
                  </a:lnTo>
                  <a:lnTo>
                    <a:pt x="482" y="411"/>
                  </a:lnTo>
                  <a:lnTo>
                    <a:pt x="506" y="398"/>
                  </a:lnTo>
                  <a:lnTo>
                    <a:pt x="529" y="384"/>
                  </a:lnTo>
                  <a:lnTo>
                    <a:pt x="548" y="369"/>
                  </a:lnTo>
                  <a:lnTo>
                    <a:pt x="567" y="352"/>
                  </a:lnTo>
                  <a:lnTo>
                    <a:pt x="583" y="332"/>
                  </a:lnTo>
                  <a:lnTo>
                    <a:pt x="596" y="313"/>
                  </a:lnTo>
                  <a:lnTo>
                    <a:pt x="602" y="303"/>
                  </a:lnTo>
                  <a:lnTo>
                    <a:pt x="607" y="293"/>
                  </a:lnTo>
                  <a:lnTo>
                    <a:pt x="612" y="282"/>
                  </a:lnTo>
                  <a:lnTo>
                    <a:pt x="616" y="271"/>
                  </a:lnTo>
                  <a:lnTo>
                    <a:pt x="618" y="259"/>
                  </a:lnTo>
                  <a:lnTo>
                    <a:pt x="620" y="248"/>
                  </a:lnTo>
                  <a:lnTo>
                    <a:pt x="622" y="236"/>
                  </a:lnTo>
                  <a:lnTo>
                    <a:pt x="622" y="224"/>
                  </a:lnTo>
                  <a:lnTo>
                    <a:pt x="622" y="224"/>
                  </a:lnTo>
                  <a:lnTo>
                    <a:pt x="622" y="212"/>
                  </a:lnTo>
                  <a:lnTo>
                    <a:pt x="620" y="200"/>
                  </a:lnTo>
                  <a:lnTo>
                    <a:pt x="618" y="189"/>
                  </a:lnTo>
                  <a:lnTo>
                    <a:pt x="616" y="177"/>
                  </a:lnTo>
                  <a:lnTo>
                    <a:pt x="612" y="166"/>
                  </a:lnTo>
                  <a:lnTo>
                    <a:pt x="607" y="155"/>
                  </a:lnTo>
                  <a:lnTo>
                    <a:pt x="602" y="144"/>
                  </a:lnTo>
                  <a:lnTo>
                    <a:pt x="596" y="134"/>
                  </a:lnTo>
                  <a:lnTo>
                    <a:pt x="583" y="115"/>
                  </a:lnTo>
                  <a:lnTo>
                    <a:pt x="567" y="96"/>
                  </a:lnTo>
                  <a:lnTo>
                    <a:pt x="548" y="79"/>
                  </a:lnTo>
                  <a:lnTo>
                    <a:pt x="529" y="63"/>
                  </a:lnTo>
                  <a:lnTo>
                    <a:pt x="506" y="50"/>
                  </a:lnTo>
                  <a:lnTo>
                    <a:pt x="482" y="38"/>
                  </a:lnTo>
                  <a:lnTo>
                    <a:pt x="456" y="27"/>
                  </a:lnTo>
                  <a:lnTo>
                    <a:pt x="429" y="17"/>
                  </a:lnTo>
                  <a:lnTo>
                    <a:pt x="401" y="10"/>
                  </a:lnTo>
                  <a:lnTo>
                    <a:pt x="372" y="5"/>
                  </a:lnTo>
                  <a:lnTo>
                    <a:pt x="342" y="2"/>
                  </a:lnTo>
                  <a:lnTo>
                    <a:pt x="310" y="0"/>
                  </a:lnTo>
                  <a:lnTo>
                    <a:pt x="310" y="0"/>
                  </a:lnTo>
                  <a:lnTo>
                    <a:pt x="280" y="2"/>
                  </a:lnTo>
                  <a:lnTo>
                    <a:pt x="250" y="5"/>
                  </a:lnTo>
                  <a:lnTo>
                    <a:pt x="221" y="10"/>
                  </a:lnTo>
                  <a:lnTo>
                    <a:pt x="193" y="17"/>
                  </a:lnTo>
                  <a:lnTo>
                    <a:pt x="165" y="27"/>
                  </a:lnTo>
                  <a:lnTo>
                    <a:pt x="140" y="38"/>
                  </a:lnTo>
                  <a:lnTo>
                    <a:pt x="116" y="50"/>
                  </a:lnTo>
                  <a:lnTo>
                    <a:pt x="93" y="63"/>
                  </a:lnTo>
                  <a:lnTo>
                    <a:pt x="72" y="79"/>
                  </a:lnTo>
                  <a:lnTo>
                    <a:pt x="54" y="96"/>
                  </a:lnTo>
                  <a:lnTo>
                    <a:pt x="39" y="115"/>
                  </a:lnTo>
                  <a:lnTo>
                    <a:pt x="25" y="134"/>
                  </a:lnTo>
                  <a:lnTo>
                    <a:pt x="19" y="144"/>
                  </a:lnTo>
                  <a:lnTo>
                    <a:pt x="14" y="155"/>
                  </a:lnTo>
                  <a:lnTo>
                    <a:pt x="10" y="166"/>
                  </a:lnTo>
                  <a:lnTo>
                    <a:pt x="6" y="177"/>
                  </a:lnTo>
                  <a:lnTo>
                    <a:pt x="4" y="189"/>
                  </a:lnTo>
                  <a:lnTo>
                    <a:pt x="1" y="200"/>
                  </a:lnTo>
                  <a:lnTo>
                    <a:pt x="0" y="212"/>
                  </a:lnTo>
                  <a:lnTo>
                    <a:pt x="0" y="224"/>
                  </a:lnTo>
                  <a:lnTo>
                    <a:pt x="0" y="224"/>
                  </a:lnTo>
                  <a:lnTo>
                    <a:pt x="0" y="236"/>
                  </a:lnTo>
                  <a:lnTo>
                    <a:pt x="1" y="248"/>
                  </a:lnTo>
                  <a:lnTo>
                    <a:pt x="4" y="259"/>
                  </a:lnTo>
                  <a:lnTo>
                    <a:pt x="6" y="271"/>
                  </a:lnTo>
                  <a:lnTo>
                    <a:pt x="10" y="282"/>
                  </a:lnTo>
                  <a:lnTo>
                    <a:pt x="14" y="293"/>
                  </a:lnTo>
                  <a:lnTo>
                    <a:pt x="19" y="303"/>
                  </a:lnTo>
                  <a:lnTo>
                    <a:pt x="25" y="313"/>
                  </a:lnTo>
                  <a:lnTo>
                    <a:pt x="39" y="332"/>
                  </a:lnTo>
                  <a:lnTo>
                    <a:pt x="54" y="352"/>
                  </a:lnTo>
                  <a:lnTo>
                    <a:pt x="72" y="369"/>
                  </a:lnTo>
                  <a:lnTo>
                    <a:pt x="93" y="384"/>
                  </a:lnTo>
                  <a:lnTo>
                    <a:pt x="116" y="398"/>
                  </a:lnTo>
                  <a:lnTo>
                    <a:pt x="140" y="411"/>
                  </a:lnTo>
                  <a:lnTo>
                    <a:pt x="165" y="421"/>
                  </a:lnTo>
                  <a:lnTo>
                    <a:pt x="193" y="430"/>
                  </a:lnTo>
                  <a:lnTo>
                    <a:pt x="221" y="437"/>
                  </a:lnTo>
                  <a:lnTo>
                    <a:pt x="250" y="442"/>
                  </a:lnTo>
                  <a:lnTo>
                    <a:pt x="280" y="446"/>
                  </a:lnTo>
                  <a:lnTo>
                    <a:pt x="310" y="447"/>
                  </a:lnTo>
                  <a:lnTo>
                    <a:pt x="310" y="4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6" name="Freeform 37">
              <a:extLst>
                <a:ext uri="{FF2B5EF4-FFF2-40B4-BE49-F238E27FC236}">
                  <a16:creationId xmlns:a16="http://schemas.microsoft.com/office/drawing/2014/main" id="{AB448CC9-DDCF-1647-B990-128F07220E04}"/>
                </a:ext>
              </a:extLst>
            </p:cNvPr>
            <p:cNvSpPr>
              <a:spLocks/>
            </p:cNvSpPr>
            <p:nvPr/>
          </p:nvSpPr>
          <p:spPr bwMode="auto">
            <a:xfrm>
              <a:off x="3633788" y="938213"/>
              <a:ext cx="360363" cy="350838"/>
            </a:xfrm>
            <a:custGeom>
              <a:avLst/>
              <a:gdLst>
                <a:gd name="T0" fmla="*/ 155 w 454"/>
                <a:gd name="T1" fmla="*/ 442 h 442"/>
                <a:gd name="T2" fmla="*/ 155 w 454"/>
                <a:gd name="T3" fmla="*/ 177 h 442"/>
                <a:gd name="T4" fmla="*/ 159 w 454"/>
                <a:gd name="T5" fmla="*/ 149 h 442"/>
                <a:gd name="T6" fmla="*/ 174 w 454"/>
                <a:gd name="T7" fmla="*/ 125 h 442"/>
                <a:gd name="T8" fmla="*/ 185 w 454"/>
                <a:gd name="T9" fmla="*/ 114 h 442"/>
                <a:gd name="T10" fmla="*/ 198 w 454"/>
                <a:gd name="T11" fmla="*/ 105 h 442"/>
                <a:gd name="T12" fmla="*/ 214 w 454"/>
                <a:gd name="T13" fmla="*/ 101 h 442"/>
                <a:gd name="T14" fmla="*/ 232 w 454"/>
                <a:gd name="T15" fmla="*/ 98 h 442"/>
                <a:gd name="T16" fmla="*/ 245 w 454"/>
                <a:gd name="T17" fmla="*/ 99 h 442"/>
                <a:gd name="T18" fmla="*/ 268 w 454"/>
                <a:gd name="T19" fmla="*/ 108 h 442"/>
                <a:gd name="T20" fmla="*/ 287 w 454"/>
                <a:gd name="T21" fmla="*/ 122 h 442"/>
                <a:gd name="T22" fmla="*/ 298 w 454"/>
                <a:gd name="T23" fmla="*/ 142 h 442"/>
                <a:gd name="T24" fmla="*/ 299 w 454"/>
                <a:gd name="T25" fmla="*/ 152 h 442"/>
                <a:gd name="T26" fmla="*/ 454 w 454"/>
                <a:gd name="T27" fmla="*/ 442 h 442"/>
                <a:gd name="T28" fmla="*/ 454 w 454"/>
                <a:gd name="T29" fmla="*/ 144 h 442"/>
                <a:gd name="T30" fmla="*/ 450 w 454"/>
                <a:gd name="T31" fmla="*/ 116 h 442"/>
                <a:gd name="T32" fmla="*/ 439 w 454"/>
                <a:gd name="T33" fmla="*/ 89 h 442"/>
                <a:gd name="T34" fmla="*/ 421 w 454"/>
                <a:gd name="T35" fmla="*/ 64 h 442"/>
                <a:gd name="T36" fmla="*/ 400 w 454"/>
                <a:gd name="T37" fmla="*/ 43 h 442"/>
                <a:gd name="T38" fmla="*/ 372 w 454"/>
                <a:gd name="T39" fmla="*/ 26 h 442"/>
                <a:gd name="T40" fmla="*/ 341 w 454"/>
                <a:gd name="T41" fmla="*/ 12 h 442"/>
                <a:gd name="T42" fmla="*/ 307 w 454"/>
                <a:gd name="T43" fmla="*/ 4 h 442"/>
                <a:gd name="T44" fmla="*/ 269 w 454"/>
                <a:gd name="T45" fmla="*/ 0 h 442"/>
                <a:gd name="T46" fmla="*/ 267 w 454"/>
                <a:gd name="T47" fmla="*/ 0 h 442"/>
                <a:gd name="T48" fmla="*/ 263 w 454"/>
                <a:gd name="T49" fmla="*/ 0 h 442"/>
                <a:gd name="T50" fmla="*/ 249 w 454"/>
                <a:gd name="T51" fmla="*/ 2 h 442"/>
                <a:gd name="T52" fmla="*/ 219 w 454"/>
                <a:gd name="T53" fmla="*/ 5 h 442"/>
                <a:gd name="T54" fmla="*/ 190 w 454"/>
                <a:gd name="T55" fmla="*/ 14 h 442"/>
                <a:gd name="T56" fmla="*/ 163 w 454"/>
                <a:gd name="T57" fmla="*/ 26 h 442"/>
                <a:gd name="T58" fmla="*/ 151 w 454"/>
                <a:gd name="T59" fmla="*/ 33 h 442"/>
                <a:gd name="T60" fmla="*/ 147 w 454"/>
                <a:gd name="T61" fmla="*/ 28 h 442"/>
                <a:gd name="T62" fmla="*/ 129 w 454"/>
                <a:gd name="T63" fmla="*/ 17 h 442"/>
                <a:gd name="T64" fmla="*/ 83 w 454"/>
                <a:gd name="T65" fmla="*/ 8 h 442"/>
                <a:gd name="T66" fmla="*/ 0 w 454"/>
                <a:gd name="T67" fmla="*/ 4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4" h="442">
                  <a:moveTo>
                    <a:pt x="0" y="442"/>
                  </a:moveTo>
                  <a:lnTo>
                    <a:pt x="155" y="442"/>
                  </a:lnTo>
                  <a:lnTo>
                    <a:pt x="155" y="177"/>
                  </a:lnTo>
                  <a:lnTo>
                    <a:pt x="155" y="177"/>
                  </a:lnTo>
                  <a:lnTo>
                    <a:pt x="156" y="163"/>
                  </a:lnTo>
                  <a:lnTo>
                    <a:pt x="159" y="149"/>
                  </a:lnTo>
                  <a:lnTo>
                    <a:pt x="165" y="136"/>
                  </a:lnTo>
                  <a:lnTo>
                    <a:pt x="174" y="125"/>
                  </a:lnTo>
                  <a:lnTo>
                    <a:pt x="180" y="119"/>
                  </a:lnTo>
                  <a:lnTo>
                    <a:pt x="185" y="114"/>
                  </a:lnTo>
                  <a:lnTo>
                    <a:pt x="192" y="109"/>
                  </a:lnTo>
                  <a:lnTo>
                    <a:pt x="198" y="105"/>
                  </a:lnTo>
                  <a:lnTo>
                    <a:pt x="207" y="103"/>
                  </a:lnTo>
                  <a:lnTo>
                    <a:pt x="214" y="101"/>
                  </a:lnTo>
                  <a:lnTo>
                    <a:pt x="222" y="99"/>
                  </a:lnTo>
                  <a:lnTo>
                    <a:pt x="232" y="98"/>
                  </a:lnTo>
                  <a:lnTo>
                    <a:pt x="232" y="98"/>
                  </a:lnTo>
                  <a:lnTo>
                    <a:pt x="245" y="99"/>
                  </a:lnTo>
                  <a:lnTo>
                    <a:pt x="257" y="103"/>
                  </a:lnTo>
                  <a:lnTo>
                    <a:pt x="268" y="108"/>
                  </a:lnTo>
                  <a:lnTo>
                    <a:pt x="279" y="114"/>
                  </a:lnTo>
                  <a:lnTo>
                    <a:pt x="287" y="122"/>
                  </a:lnTo>
                  <a:lnTo>
                    <a:pt x="295" y="132"/>
                  </a:lnTo>
                  <a:lnTo>
                    <a:pt x="298" y="142"/>
                  </a:lnTo>
                  <a:lnTo>
                    <a:pt x="299" y="146"/>
                  </a:lnTo>
                  <a:lnTo>
                    <a:pt x="299" y="152"/>
                  </a:lnTo>
                  <a:lnTo>
                    <a:pt x="299" y="442"/>
                  </a:lnTo>
                  <a:lnTo>
                    <a:pt x="454" y="442"/>
                  </a:lnTo>
                  <a:lnTo>
                    <a:pt x="454" y="144"/>
                  </a:lnTo>
                  <a:lnTo>
                    <a:pt x="454" y="144"/>
                  </a:lnTo>
                  <a:lnTo>
                    <a:pt x="453" y="130"/>
                  </a:lnTo>
                  <a:lnTo>
                    <a:pt x="450" y="116"/>
                  </a:lnTo>
                  <a:lnTo>
                    <a:pt x="446" y="102"/>
                  </a:lnTo>
                  <a:lnTo>
                    <a:pt x="439" y="89"/>
                  </a:lnTo>
                  <a:lnTo>
                    <a:pt x="431" y="76"/>
                  </a:lnTo>
                  <a:lnTo>
                    <a:pt x="421" y="64"/>
                  </a:lnTo>
                  <a:lnTo>
                    <a:pt x="411" y="53"/>
                  </a:lnTo>
                  <a:lnTo>
                    <a:pt x="400" y="43"/>
                  </a:lnTo>
                  <a:lnTo>
                    <a:pt x="386" y="34"/>
                  </a:lnTo>
                  <a:lnTo>
                    <a:pt x="372" y="26"/>
                  </a:lnTo>
                  <a:lnTo>
                    <a:pt x="356" y="18"/>
                  </a:lnTo>
                  <a:lnTo>
                    <a:pt x="341" y="12"/>
                  </a:lnTo>
                  <a:lnTo>
                    <a:pt x="324" y="8"/>
                  </a:lnTo>
                  <a:lnTo>
                    <a:pt x="307" y="4"/>
                  </a:lnTo>
                  <a:lnTo>
                    <a:pt x="289" y="2"/>
                  </a:lnTo>
                  <a:lnTo>
                    <a:pt x="269" y="0"/>
                  </a:lnTo>
                  <a:lnTo>
                    <a:pt x="269" y="0"/>
                  </a:lnTo>
                  <a:lnTo>
                    <a:pt x="267" y="0"/>
                  </a:lnTo>
                  <a:lnTo>
                    <a:pt x="267" y="0"/>
                  </a:lnTo>
                  <a:lnTo>
                    <a:pt x="263" y="0"/>
                  </a:lnTo>
                  <a:lnTo>
                    <a:pt x="263" y="0"/>
                  </a:lnTo>
                  <a:lnTo>
                    <a:pt x="249" y="2"/>
                  </a:lnTo>
                  <a:lnTo>
                    <a:pt x="233" y="3"/>
                  </a:lnTo>
                  <a:lnTo>
                    <a:pt x="219" y="5"/>
                  </a:lnTo>
                  <a:lnTo>
                    <a:pt x="204" y="9"/>
                  </a:lnTo>
                  <a:lnTo>
                    <a:pt x="190" y="14"/>
                  </a:lnTo>
                  <a:lnTo>
                    <a:pt x="176" y="20"/>
                  </a:lnTo>
                  <a:lnTo>
                    <a:pt x="163" y="26"/>
                  </a:lnTo>
                  <a:lnTo>
                    <a:pt x="151" y="33"/>
                  </a:lnTo>
                  <a:lnTo>
                    <a:pt x="151" y="33"/>
                  </a:lnTo>
                  <a:lnTo>
                    <a:pt x="150" y="32"/>
                  </a:lnTo>
                  <a:lnTo>
                    <a:pt x="147" y="28"/>
                  </a:lnTo>
                  <a:lnTo>
                    <a:pt x="140" y="23"/>
                  </a:lnTo>
                  <a:lnTo>
                    <a:pt x="129" y="17"/>
                  </a:lnTo>
                  <a:lnTo>
                    <a:pt x="110" y="12"/>
                  </a:lnTo>
                  <a:lnTo>
                    <a:pt x="83" y="8"/>
                  </a:lnTo>
                  <a:lnTo>
                    <a:pt x="47" y="5"/>
                  </a:lnTo>
                  <a:lnTo>
                    <a:pt x="0" y="4"/>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7" name="Rectangle 38">
              <a:extLst>
                <a:ext uri="{FF2B5EF4-FFF2-40B4-BE49-F238E27FC236}">
                  <a16:creationId xmlns:a16="http://schemas.microsoft.com/office/drawing/2014/main" id="{A6AEA21E-A637-5E43-AD93-36B6BCEF4657}"/>
                </a:ext>
              </a:extLst>
            </p:cNvPr>
            <p:cNvSpPr>
              <a:spLocks noChangeArrowheads="1"/>
            </p:cNvSpPr>
            <p:nvPr/>
          </p:nvSpPr>
          <p:spPr bwMode="auto">
            <a:xfrm>
              <a:off x="2168526" y="952501"/>
              <a:ext cx="120650" cy="336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8" name="Freeform 39">
              <a:extLst>
                <a:ext uri="{FF2B5EF4-FFF2-40B4-BE49-F238E27FC236}">
                  <a16:creationId xmlns:a16="http://schemas.microsoft.com/office/drawing/2014/main" id="{EE10B9EA-6EA0-644F-B6EE-EEE153AFA557}"/>
                </a:ext>
              </a:extLst>
            </p:cNvPr>
            <p:cNvSpPr>
              <a:spLocks/>
            </p:cNvSpPr>
            <p:nvPr/>
          </p:nvSpPr>
          <p:spPr bwMode="auto">
            <a:xfrm>
              <a:off x="2820988" y="946151"/>
              <a:ext cx="252413" cy="342900"/>
            </a:xfrm>
            <a:custGeom>
              <a:avLst/>
              <a:gdLst>
                <a:gd name="T0" fmla="*/ 0 w 319"/>
                <a:gd name="T1" fmla="*/ 432 h 432"/>
                <a:gd name="T2" fmla="*/ 151 w 319"/>
                <a:gd name="T3" fmla="*/ 432 h 432"/>
                <a:gd name="T4" fmla="*/ 151 w 319"/>
                <a:gd name="T5" fmla="*/ 175 h 432"/>
                <a:gd name="T6" fmla="*/ 151 w 319"/>
                <a:gd name="T7" fmla="*/ 175 h 432"/>
                <a:gd name="T8" fmla="*/ 152 w 319"/>
                <a:gd name="T9" fmla="*/ 167 h 432"/>
                <a:gd name="T10" fmla="*/ 153 w 319"/>
                <a:gd name="T11" fmla="*/ 159 h 432"/>
                <a:gd name="T12" fmla="*/ 156 w 319"/>
                <a:gd name="T13" fmla="*/ 153 h 432"/>
                <a:gd name="T14" fmla="*/ 159 w 319"/>
                <a:gd name="T15" fmla="*/ 146 h 432"/>
                <a:gd name="T16" fmla="*/ 164 w 319"/>
                <a:gd name="T17" fmla="*/ 140 h 432"/>
                <a:gd name="T18" fmla="*/ 169 w 319"/>
                <a:gd name="T19" fmla="*/ 134 h 432"/>
                <a:gd name="T20" fmla="*/ 175 w 319"/>
                <a:gd name="T21" fmla="*/ 128 h 432"/>
                <a:gd name="T22" fmla="*/ 181 w 319"/>
                <a:gd name="T23" fmla="*/ 123 h 432"/>
                <a:gd name="T24" fmla="*/ 196 w 319"/>
                <a:gd name="T25" fmla="*/ 114 h 432"/>
                <a:gd name="T26" fmla="*/ 213 w 319"/>
                <a:gd name="T27" fmla="*/ 107 h 432"/>
                <a:gd name="T28" fmla="*/ 231 w 319"/>
                <a:gd name="T29" fmla="*/ 103 h 432"/>
                <a:gd name="T30" fmla="*/ 240 w 319"/>
                <a:gd name="T31" fmla="*/ 101 h 432"/>
                <a:gd name="T32" fmla="*/ 250 w 319"/>
                <a:gd name="T33" fmla="*/ 101 h 432"/>
                <a:gd name="T34" fmla="*/ 250 w 319"/>
                <a:gd name="T35" fmla="*/ 101 h 432"/>
                <a:gd name="T36" fmla="*/ 268 w 319"/>
                <a:gd name="T37" fmla="*/ 103 h 432"/>
                <a:gd name="T38" fmla="*/ 286 w 319"/>
                <a:gd name="T39" fmla="*/ 105 h 432"/>
                <a:gd name="T40" fmla="*/ 303 w 319"/>
                <a:gd name="T41" fmla="*/ 110 h 432"/>
                <a:gd name="T42" fmla="*/ 319 w 319"/>
                <a:gd name="T43" fmla="*/ 116 h 432"/>
                <a:gd name="T44" fmla="*/ 319 w 319"/>
                <a:gd name="T45" fmla="*/ 116 h 432"/>
                <a:gd name="T46" fmla="*/ 319 w 319"/>
                <a:gd name="T47" fmla="*/ 4 h 432"/>
                <a:gd name="T48" fmla="*/ 319 w 319"/>
                <a:gd name="T49" fmla="*/ 4 h 432"/>
                <a:gd name="T50" fmla="*/ 291 w 319"/>
                <a:gd name="T51" fmla="*/ 1 h 432"/>
                <a:gd name="T52" fmla="*/ 265 w 319"/>
                <a:gd name="T53" fmla="*/ 0 h 432"/>
                <a:gd name="T54" fmla="*/ 265 w 319"/>
                <a:gd name="T55" fmla="*/ 0 h 432"/>
                <a:gd name="T56" fmla="*/ 250 w 319"/>
                <a:gd name="T57" fmla="*/ 0 h 432"/>
                <a:gd name="T58" fmla="*/ 234 w 319"/>
                <a:gd name="T59" fmla="*/ 2 h 432"/>
                <a:gd name="T60" fmla="*/ 220 w 319"/>
                <a:gd name="T61" fmla="*/ 5 h 432"/>
                <a:gd name="T62" fmla="*/ 205 w 319"/>
                <a:gd name="T63" fmla="*/ 8 h 432"/>
                <a:gd name="T64" fmla="*/ 191 w 319"/>
                <a:gd name="T65" fmla="*/ 12 h 432"/>
                <a:gd name="T66" fmla="*/ 176 w 319"/>
                <a:gd name="T67" fmla="*/ 18 h 432"/>
                <a:gd name="T68" fmla="*/ 163 w 319"/>
                <a:gd name="T69" fmla="*/ 24 h 432"/>
                <a:gd name="T70" fmla="*/ 151 w 319"/>
                <a:gd name="T71" fmla="*/ 31 h 432"/>
                <a:gd name="T72" fmla="*/ 151 w 319"/>
                <a:gd name="T73" fmla="*/ 31 h 432"/>
                <a:gd name="T74" fmla="*/ 149 w 319"/>
                <a:gd name="T75" fmla="*/ 29 h 432"/>
                <a:gd name="T76" fmla="*/ 144 w 319"/>
                <a:gd name="T77" fmla="*/ 24 h 432"/>
                <a:gd name="T78" fmla="*/ 137 w 319"/>
                <a:gd name="T79" fmla="*/ 19 h 432"/>
                <a:gd name="T80" fmla="*/ 123 w 319"/>
                <a:gd name="T81" fmla="*/ 15 h 432"/>
                <a:gd name="T82" fmla="*/ 104 w 319"/>
                <a:gd name="T83" fmla="*/ 10 h 432"/>
                <a:gd name="T84" fmla="*/ 79 w 319"/>
                <a:gd name="T85" fmla="*/ 6 h 432"/>
                <a:gd name="T86" fmla="*/ 44 w 319"/>
                <a:gd name="T87" fmla="*/ 4 h 432"/>
                <a:gd name="T88" fmla="*/ 0 w 319"/>
                <a:gd name="T89" fmla="*/ 2 h 432"/>
                <a:gd name="T90" fmla="*/ 0 w 319"/>
                <a:gd name="T91" fmla="*/ 43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9" h="432">
                  <a:moveTo>
                    <a:pt x="0" y="432"/>
                  </a:moveTo>
                  <a:lnTo>
                    <a:pt x="151" y="432"/>
                  </a:lnTo>
                  <a:lnTo>
                    <a:pt x="151" y="175"/>
                  </a:lnTo>
                  <a:lnTo>
                    <a:pt x="151" y="175"/>
                  </a:lnTo>
                  <a:lnTo>
                    <a:pt x="152" y="167"/>
                  </a:lnTo>
                  <a:lnTo>
                    <a:pt x="153" y="159"/>
                  </a:lnTo>
                  <a:lnTo>
                    <a:pt x="156" y="153"/>
                  </a:lnTo>
                  <a:lnTo>
                    <a:pt x="159" y="146"/>
                  </a:lnTo>
                  <a:lnTo>
                    <a:pt x="164" y="140"/>
                  </a:lnTo>
                  <a:lnTo>
                    <a:pt x="169" y="134"/>
                  </a:lnTo>
                  <a:lnTo>
                    <a:pt x="175" y="128"/>
                  </a:lnTo>
                  <a:lnTo>
                    <a:pt x="181" y="123"/>
                  </a:lnTo>
                  <a:lnTo>
                    <a:pt x="196" y="114"/>
                  </a:lnTo>
                  <a:lnTo>
                    <a:pt x="213" y="107"/>
                  </a:lnTo>
                  <a:lnTo>
                    <a:pt x="231" y="103"/>
                  </a:lnTo>
                  <a:lnTo>
                    <a:pt x="240" y="101"/>
                  </a:lnTo>
                  <a:lnTo>
                    <a:pt x="250" y="101"/>
                  </a:lnTo>
                  <a:lnTo>
                    <a:pt x="250" y="101"/>
                  </a:lnTo>
                  <a:lnTo>
                    <a:pt x="268" y="103"/>
                  </a:lnTo>
                  <a:lnTo>
                    <a:pt x="286" y="105"/>
                  </a:lnTo>
                  <a:lnTo>
                    <a:pt x="303" y="110"/>
                  </a:lnTo>
                  <a:lnTo>
                    <a:pt x="319" y="116"/>
                  </a:lnTo>
                  <a:lnTo>
                    <a:pt x="319" y="116"/>
                  </a:lnTo>
                  <a:lnTo>
                    <a:pt x="319" y="4"/>
                  </a:lnTo>
                  <a:lnTo>
                    <a:pt x="319" y="4"/>
                  </a:lnTo>
                  <a:lnTo>
                    <a:pt x="291" y="1"/>
                  </a:lnTo>
                  <a:lnTo>
                    <a:pt x="265" y="0"/>
                  </a:lnTo>
                  <a:lnTo>
                    <a:pt x="265" y="0"/>
                  </a:lnTo>
                  <a:lnTo>
                    <a:pt x="250" y="0"/>
                  </a:lnTo>
                  <a:lnTo>
                    <a:pt x="234" y="2"/>
                  </a:lnTo>
                  <a:lnTo>
                    <a:pt x="220" y="5"/>
                  </a:lnTo>
                  <a:lnTo>
                    <a:pt x="205" y="8"/>
                  </a:lnTo>
                  <a:lnTo>
                    <a:pt x="191" y="12"/>
                  </a:lnTo>
                  <a:lnTo>
                    <a:pt x="176" y="18"/>
                  </a:lnTo>
                  <a:lnTo>
                    <a:pt x="163" y="24"/>
                  </a:lnTo>
                  <a:lnTo>
                    <a:pt x="151" y="31"/>
                  </a:lnTo>
                  <a:lnTo>
                    <a:pt x="151" y="31"/>
                  </a:lnTo>
                  <a:lnTo>
                    <a:pt x="149" y="29"/>
                  </a:lnTo>
                  <a:lnTo>
                    <a:pt x="144" y="24"/>
                  </a:lnTo>
                  <a:lnTo>
                    <a:pt x="137" y="19"/>
                  </a:lnTo>
                  <a:lnTo>
                    <a:pt x="123" y="15"/>
                  </a:lnTo>
                  <a:lnTo>
                    <a:pt x="104" y="10"/>
                  </a:lnTo>
                  <a:lnTo>
                    <a:pt x="79" y="6"/>
                  </a:lnTo>
                  <a:lnTo>
                    <a:pt x="44" y="4"/>
                  </a:lnTo>
                  <a:lnTo>
                    <a:pt x="0" y="2"/>
                  </a:lnTo>
                  <a:lnTo>
                    <a:pt x="0" y="4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9" name="Freeform 40">
              <a:extLst>
                <a:ext uri="{FF2B5EF4-FFF2-40B4-BE49-F238E27FC236}">
                  <a16:creationId xmlns:a16="http://schemas.microsoft.com/office/drawing/2014/main" id="{EBDD8C99-F1F7-1845-99F3-FCB5F62F3ADF}"/>
                </a:ext>
              </a:extLst>
            </p:cNvPr>
            <p:cNvSpPr>
              <a:spLocks/>
            </p:cNvSpPr>
            <p:nvPr/>
          </p:nvSpPr>
          <p:spPr bwMode="auto">
            <a:xfrm>
              <a:off x="1701801" y="677863"/>
              <a:ext cx="522288" cy="635000"/>
            </a:xfrm>
            <a:custGeom>
              <a:avLst/>
              <a:gdLst>
                <a:gd name="T0" fmla="*/ 635 w 658"/>
                <a:gd name="T1" fmla="*/ 37 h 800"/>
                <a:gd name="T2" fmla="*/ 614 w 658"/>
                <a:gd name="T3" fmla="*/ 19 h 800"/>
                <a:gd name="T4" fmla="*/ 587 w 658"/>
                <a:gd name="T5" fmla="*/ 7 h 800"/>
                <a:gd name="T6" fmla="*/ 529 w 658"/>
                <a:gd name="T7" fmla="*/ 0 h 800"/>
                <a:gd name="T8" fmla="*/ 442 w 658"/>
                <a:gd name="T9" fmla="*/ 11 h 800"/>
                <a:gd name="T10" fmla="*/ 337 w 658"/>
                <a:gd name="T11" fmla="*/ 43 h 800"/>
                <a:gd name="T12" fmla="*/ 218 w 658"/>
                <a:gd name="T13" fmla="*/ 95 h 800"/>
                <a:gd name="T14" fmla="*/ 161 w 658"/>
                <a:gd name="T15" fmla="*/ 126 h 800"/>
                <a:gd name="T16" fmla="*/ 146 w 658"/>
                <a:gd name="T17" fmla="*/ 135 h 800"/>
                <a:gd name="T18" fmla="*/ 144 w 658"/>
                <a:gd name="T19" fmla="*/ 142 h 800"/>
                <a:gd name="T20" fmla="*/ 152 w 658"/>
                <a:gd name="T21" fmla="*/ 142 h 800"/>
                <a:gd name="T22" fmla="*/ 181 w 658"/>
                <a:gd name="T23" fmla="*/ 132 h 800"/>
                <a:gd name="T24" fmla="*/ 244 w 658"/>
                <a:gd name="T25" fmla="*/ 104 h 800"/>
                <a:gd name="T26" fmla="*/ 331 w 658"/>
                <a:gd name="T27" fmla="*/ 74 h 800"/>
                <a:gd name="T28" fmla="*/ 407 w 658"/>
                <a:gd name="T29" fmla="*/ 59 h 800"/>
                <a:gd name="T30" fmla="*/ 470 w 658"/>
                <a:gd name="T31" fmla="*/ 59 h 800"/>
                <a:gd name="T32" fmla="*/ 518 w 658"/>
                <a:gd name="T33" fmla="*/ 74 h 800"/>
                <a:gd name="T34" fmla="*/ 541 w 658"/>
                <a:gd name="T35" fmla="*/ 92 h 800"/>
                <a:gd name="T36" fmla="*/ 558 w 658"/>
                <a:gd name="T37" fmla="*/ 121 h 800"/>
                <a:gd name="T38" fmla="*/ 562 w 658"/>
                <a:gd name="T39" fmla="*/ 159 h 800"/>
                <a:gd name="T40" fmla="*/ 554 w 658"/>
                <a:gd name="T41" fmla="*/ 206 h 800"/>
                <a:gd name="T42" fmla="*/ 535 w 658"/>
                <a:gd name="T43" fmla="*/ 258 h 800"/>
                <a:gd name="T44" fmla="*/ 506 w 658"/>
                <a:gd name="T45" fmla="*/ 316 h 800"/>
                <a:gd name="T46" fmla="*/ 436 w 658"/>
                <a:gd name="T47" fmla="*/ 420 h 800"/>
                <a:gd name="T48" fmla="*/ 320 w 658"/>
                <a:gd name="T49" fmla="*/ 551 h 800"/>
                <a:gd name="T50" fmla="*/ 225 w 658"/>
                <a:gd name="T51" fmla="*/ 634 h 800"/>
                <a:gd name="T52" fmla="*/ 173 w 658"/>
                <a:gd name="T53" fmla="*/ 675 h 800"/>
                <a:gd name="T54" fmla="*/ 39 w 658"/>
                <a:gd name="T55" fmla="*/ 767 h 800"/>
                <a:gd name="T56" fmla="*/ 31 w 658"/>
                <a:gd name="T57" fmla="*/ 771 h 800"/>
                <a:gd name="T58" fmla="*/ 2 w 658"/>
                <a:gd name="T59" fmla="*/ 794 h 800"/>
                <a:gd name="T60" fmla="*/ 3 w 658"/>
                <a:gd name="T61" fmla="*/ 799 h 800"/>
                <a:gd name="T62" fmla="*/ 11 w 658"/>
                <a:gd name="T63" fmla="*/ 798 h 800"/>
                <a:gd name="T64" fmla="*/ 38 w 658"/>
                <a:gd name="T65" fmla="*/ 785 h 800"/>
                <a:gd name="T66" fmla="*/ 45 w 658"/>
                <a:gd name="T67" fmla="*/ 780 h 800"/>
                <a:gd name="T68" fmla="*/ 195 w 658"/>
                <a:gd name="T69" fmla="*/ 680 h 800"/>
                <a:gd name="T70" fmla="*/ 301 w 658"/>
                <a:gd name="T71" fmla="*/ 601 h 800"/>
                <a:gd name="T72" fmla="*/ 455 w 658"/>
                <a:gd name="T73" fmla="*/ 461 h 800"/>
                <a:gd name="T74" fmla="*/ 515 w 658"/>
                <a:gd name="T75" fmla="*/ 396 h 800"/>
                <a:gd name="T76" fmla="*/ 585 w 658"/>
                <a:gd name="T77" fmla="*/ 303 h 800"/>
                <a:gd name="T78" fmla="*/ 632 w 658"/>
                <a:gd name="T79" fmla="*/ 216 h 800"/>
                <a:gd name="T80" fmla="*/ 656 w 658"/>
                <a:gd name="T81" fmla="*/ 141 h 800"/>
                <a:gd name="T82" fmla="*/ 657 w 658"/>
                <a:gd name="T83" fmla="*/ 87 h 800"/>
                <a:gd name="T84" fmla="*/ 650 w 658"/>
                <a:gd name="T85" fmla="*/ 60 h 800"/>
                <a:gd name="T86" fmla="*/ 640 w 658"/>
                <a:gd name="T87" fmla="*/ 45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8" h="800">
                  <a:moveTo>
                    <a:pt x="640" y="45"/>
                  </a:moveTo>
                  <a:lnTo>
                    <a:pt x="640" y="45"/>
                  </a:lnTo>
                  <a:lnTo>
                    <a:pt x="635" y="37"/>
                  </a:lnTo>
                  <a:lnTo>
                    <a:pt x="628" y="30"/>
                  </a:lnTo>
                  <a:lnTo>
                    <a:pt x="621" y="24"/>
                  </a:lnTo>
                  <a:lnTo>
                    <a:pt x="614" y="19"/>
                  </a:lnTo>
                  <a:lnTo>
                    <a:pt x="605" y="14"/>
                  </a:lnTo>
                  <a:lnTo>
                    <a:pt x="597" y="11"/>
                  </a:lnTo>
                  <a:lnTo>
                    <a:pt x="587" y="7"/>
                  </a:lnTo>
                  <a:lnTo>
                    <a:pt x="576" y="5"/>
                  </a:lnTo>
                  <a:lnTo>
                    <a:pt x="553" y="1"/>
                  </a:lnTo>
                  <a:lnTo>
                    <a:pt x="529" y="0"/>
                  </a:lnTo>
                  <a:lnTo>
                    <a:pt x="503" y="1"/>
                  </a:lnTo>
                  <a:lnTo>
                    <a:pt x="474" y="5"/>
                  </a:lnTo>
                  <a:lnTo>
                    <a:pt x="442" y="11"/>
                  </a:lnTo>
                  <a:lnTo>
                    <a:pt x="408" y="19"/>
                  </a:lnTo>
                  <a:lnTo>
                    <a:pt x="373" y="30"/>
                  </a:lnTo>
                  <a:lnTo>
                    <a:pt x="337" y="43"/>
                  </a:lnTo>
                  <a:lnTo>
                    <a:pt x="299" y="59"/>
                  </a:lnTo>
                  <a:lnTo>
                    <a:pt x="260" y="76"/>
                  </a:lnTo>
                  <a:lnTo>
                    <a:pt x="218" y="95"/>
                  </a:lnTo>
                  <a:lnTo>
                    <a:pt x="175" y="117"/>
                  </a:lnTo>
                  <a:lnTo>
                    <a:pt x="175" y="117"/>
                  </a:lnTo>
                  <a:lnTo>
                    <a:pt x="161" y="126"/>
                  </a:lnTo>
                  <a:lnTo>
                    <a:pt x="150" y="133"/>
                  </a:lnTo>
                  <a:lnTo>
                    <a:pt x="150" y="133"/>
                  </a:lnTo>
                  <a:lnTo>
                    <a:pt x="146" y="135"/>
                  </a:lnTo>
                  <a:lnTo>
                    <a:pt x="144" y="138"/>
                  </a:lnTo>
                  <a:lnTo>
                    <a:pt x="144" y="140"/>
                  </a:lnTo>
                  <a:lnTo>
                    <a:pt x="144" y="142"/>
                  </a:lnTo>
                  <a:lnTo>
                    <a:pt x="145" y="144"/>
                  </a:lnTo>
                  <a:lnTo>
                    <a:pt x="148" y="144"/>
                  </a:lnTo>
                  <a:lnTo>
                    <a:pt x="152" y="142"/>
                  </a:lnTo>
                  <a:lnTo>
                    <a:pt x="152" y="142"/>
                  </a:lnTo>
                  <a:lnTo>
                    <a:pt x="167" y="138"/>
                  </a:lnTo>
                  <a:lnTo>
                    <a:pt x="181" y="132"/>
                  </a:lnTo>
                  <a:lnTo>
                    <a:pt x="181" y="132"/>
                  </a:lnTo>
                  <a:lnTo>
                    <a:pt x="214" y="116"/>
                  </a:lnTo>
                  <a:lnTo>
                    <a:pt x="244" y="104"/>
                  </a:lnTo>
                  <a:lnTo>
                    <a:pt x="274" y="92"/>
                  </a:lnTo>
                  <a:lnTo>
                    <a:pt x="303" y="82"/>
                  </a:lnTo>
                  <a:lnTo>
                    <a:pt x="331" y="74"/>
                  </a:lnTo>
                  <a:lnTo>
                    <a:pt x="358" y="68"/>
                  </a:lnTo>
                  <a:lnTo>
                    <a:pt x="383" y="63"/>
                  </a:lnTo>
                  <a:lnTo>
                    <a:pt x="407" y="59"/>
                  </a:lnTo>
                  <a:lnTo>
                    <a:pt x="429" y="58"/>
                  </a:lnTo>
                  <a:lnTo>
                    <a:pt x="451" y="58"/>
                  </a:lnTo>
                  <a:lnTo>
                    <a:pt x="470" y="59"/>
                  </a:lnTo>
                  <a:lnTo>
                    <a:pt x="488" y="62"/>
                  </a:lnTo>
                  <a:lnTo>
                    <a:pt x="504" y="66"/>
                  </a:lnTo>
                  <a:lnTo>
                    <a:pt x="518" y="74"/>
                  </a:lnTo>
                  <a:lnTo>
                    <a:pt x="530" y="82"/>
                  </a:lnTo>
                  <a:lnTo>
                    <a:pt x="541" y="92"/>
                  </a:lnTo>
                  <a:lnTo>
                    <a:pt x="541" y="92"/>
                  </a:lnTo>
                  <a:lnTo>
                    <a:pt x="548" y="100"/>
                  </a:lnTo>
                  <a:lnTo>
                    <a:pt x="554" y="110"/>
                  </a:lnTo>
                  <a:lnTo>
                    <a:pt x="558" y="121"/>
                  </a:lnTo>
                  <a:lnTo>
                    <a:pt x="560" y="133"/>
                  </a:lnTo>
                  <a:lnTo>
                    <a:pt x="562" y="146"/>
                  </a:lnTo>
                  <a:lnTo>
                    <a:pt x="562" y="159"/>
                  </a:lnTo>
                  <a:lnTo>
                    <a:pt x="560" y="174"/>
                  </a:lnTo>
                  <a:lnTo>
                    <a:pt x="558" y="190"/>
                  </a:lnTo>
                  <a:lnTo>
                    <a:pt x="554" y="206"/>
                  </a:lnTo>
                  <a:lnTo>
                    <a:pt x="548" y="223"/>
                  </a:lnTo>
                  <a:lnTo>
                    <a:pt x="542" y="240"/>
                  </a:lnTo>
                  <a:lnTo>
                    <a:pt x="535" y="258"/>
                  </a:lnTo>
                  <a:lnTo>
                    <a:pt x="527" y="278"/>
                  </a:lnTo>
                  <a:lnTo>
                    <a:pt x="517" y="297"/>
                  </a:lnTo>
                  <a:lnTo>
                    <a:pt x="506" y="316"/>
                  </a:lnTo>
                  <a:lnTo>
                    <a:pt x="494" y="337"/>
                  </a:lnTo>
                  <a:lnTo>
                    <a:pt x="468" y="378"/>
                  </a:lnTo>
                  <a:lnTo>
                    <a:pt x="436" y="420"/>
                  </a:lnTo>
                  <a:lnTo>
                    <a:pt x="401" y="464"/>
                  </a:lnTo>
                  <a:lnTo>
                    <a:pt x="362" y="507"/>
                  </a:lnTo>
                  <a:lnTo>
                    <a:pt x="320" y="551"/>
                  </a:lnTo>
                  <a:lnTo>
                    <a:pt x="274" y="593"/>
                  </a:lnTo>
                  <a:lnTo>
                    <a:pt x="250" y="613"/>
                  </a:lnTo>
                  <a:lnTo>
                    <a:pt x="225" y="634"/>
                  </a:lnTo>
                  <a:lnTo>
                    <a:pt x="200" y="654"/>
                  </a:lnTo>
                  <a:lnTo>
                    <a:pt x="173" y="675"/>
                  </a:lnTo>
                  <a:lnTo>
                    <a:pt x="173" y="675"/>
                  </a:lnTo>
                  <a:lnTo>
                    <a:pt x="107" y="723"/>
                  </a:lnTo>
                  <a:lnTo>
                    <a:pt x="70" y="747"/>
                  </a:lnTo>
                  <a:lnTo>
                    <a:pt x="39" y="767"/>
                  </a:lnTo>
                  <a:lnTo>
                    <a:pt x="39" y="767"/>
                  </a:lnTo>
                  <a:lnTo>
                    <a:pt x="31" y="771"/>
                  </a:lnTo>
                  <a:lnTo>
                    <a:pt x="31" y="771"/>
                  </a:lnTo>
                  <a:lnTo>
                    <a:pt x="5" y="790"/>
                  </a:lnTo>
                  <a:lnTo>
                    <a:pt x="5" y="790"/>
                  </a:lnTo>
                  <a:lnTo>
                    <a:pt x="2" y="794"/>
                  </a:lnTo>
                  <a:lnTo>
                    <a:pt x="0" y="797"/>
                  </a:lnTo>
                  <a:lnTo>
                    <a:pt x="2" y="798"/>
                  </a:lnTo>
                  <a:lnTo>
                    <a:pt x="3" y="799"/>
                  </a:lnTo>
                  <a:lnTo>
                    <a:pt x="4" y="800"/>
                  </a:lnTo>
                  <a:lnTo>
                    <a:pt x="8" y="800"/>
                  </a:lnTo>
                  <a:lnTo>
                    <a:pt x="11" y="798"/>
                  </a:lnTo>
                  <a:lnTo>
                    <a:pt x="11" y="798"/>
                  </a:lnTo>
                  <a:lnTo>
                    <a:pt x="24" y="792"/>
                  </a:lnTo>
                  <a:lnTo>
                    <a:pt x="38" y="785"/>
                  </a:lnTo>
                  <a:lnTo>
                    <a:pt x="38" y="785"/>
                  </a:lnTo>
                  <a:lnTo>
                    <a:pt x="45" y="780"/>
                  </a:lnTo>
                  <a:lnTo>
                    <a:pt x="45" y="780"/>
                  </a:lnTo>
                  <a:lnTo>
                    <a:pt x="80" y="758"/>
                  </a:lnTo>
                  <a:lnTo>
                    <a:pt x="120" y="732"/>
                  </a:lnTo>
                  <a:lnTo>
                    <a:pt x="195" y="680"/>
                  </a:lnTo>
                  <a:lnTo>
                    <a:pt x="195" y="680"/>
                  </a:lnTo>
                  <a:lnTo>
                    <a:pt x="249" y="641"/>
                  </a:lnTo>
                  <a:lnTo>
                    <a:pt x="301" y="601"/>
                  </a:lnTo>
                  <a:lnTo>
                    <a:pt x="301" y="770"/>
                  </a:lnTo>
                  <a:lnTo>
                    <a:pt x="455" y="770"/>
                  </a:lnTo>
                  <a:lnTo>
                    <a:pt x="455" y="461"/>
                  </a:lnTo>
                  <a:lnTo>
                    <a:pt x="455" y="461"/>
                  </a:lnTo>
                  <a:lnTo>
                    <a:pt x="486" y="429"/>
                  </a:lnTo>
                  <a:lnTo>
                    <a:pt x="515" y="396"/>
                  </a:lnTo>
                  <a:lnTo>
                    <a:pt x="540" y="365"/>
                  </a:lnTo>
                  <a:lnTo>
                    <a:pt x="563" y="333"/>
                  </a:lnTo>
                  <a:lnTo>
                    <a:pt x="585" y="303"/>
                  </a:lnTo>
                  <a:lnTo>
                    <a:pt x="603" y="273"/>
                  </a:lnTo>
                  <a:lnTo>
                    <a:pt x="618" y="244"/>
                  </a:lnTo>
                  <a:lnTo>
                    <a:pt x="632" y="216"/>
                  </a:lnTo>
                  <a:lnTo>
                    <a:pt x="643" y="190"/>
                  </a:lnTo>
                  <a:lnTo>
                    <a:pt x="651" y="164"/>
                  </a:lnTo>
                  <a:lnTo>
                    <a:pt x="656" y="141"/>
                  </a:lnTo>
                  <a:lnTo>
                    <a:pt x="658" y="118"/>
                  </a:lnTo>
                  <a:lnTo>
                    <a:pt x="658" y="98"/>
                  </a:lnTo>
                  <a:lnTo>
                    <a:pt x="657" y="87"/>
                  </a:lnTo>
                  <a:lnTo>
                    <a:pt x="656" y="78"/>
                  </a:lnTo>
                  <a:lnTo>
                    <a:pt x="652" y="69"/>
                  </a:lnTo>
                  <a:lnTo>
                    <a:pt x="650" y="60"/>
                  </a:lnTo>
                  <a:lnTo>
                    <a:pt x="645" y="52"/>
                  </a:lnTo>
                  <a:lnTo>
                    <a:pt x="640" y="45"/>
                  </a:lnTo>
                  <a:lnTo>
                    <a:pt x="64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30" name="Freeform 41">
              <a:extLst>
                <a:ext uri="{FF2B5EF4-FFF2-40B4-BE49-F238E27FC236}">
                  <a16:creationId xmlns:a16="http://schemas.microsoft.com/office/drawing/2014/main" id="{D362B0FA-9D53-0544-95FB-7EC78573E5DF}"/>
                </a:ext>
              </a:extLst>
            </p:cNvPr>
            <p:cNvSpPr>
              <a:spLocks/>
            </p:cNvSpPr>
            <p:nvPr/>
          </p:nvSpPr>
          <p:spPr bwMode="auto">
            <a:xfrm>
              <a:off x="1233488" y="814388"/>
              <a:ext cx="819150" cy="649288"/>
            </a:xfrm>
            <a:custGeom>
              <a:avLst/>
              <a:gdLst>
                <a:gd name="T0" fmla="*/ 442 w 1032"/>
                <a:gd name="T1" fmla="*/ 660 h 819"/>
                <a:gd name="T2" fmla="*/ 582 w 1032"/>
                <a:gd name="T3" fmla="*/ 569 h 819"/>
                <a:gd name="T4" fmla="*/ 598 w 1032"/>
                <a:gd name="T5" fmla="*/ 553 h 819"/>
                <a:gd name="T6" fmla="*/ 594 w 1032"/>
                <a:gd name="T7" fmla="*/ 549 h 819"/>
                <a:gd name="T8" fmla="*/ 560 w 1032"/>
                <a:gd name="T9" fmla="*/ 567 h 819"/>
                <a:gd name="T10" fmla="*/ 397 w 1032"/>
                <a:gd name="T11" fmla="*/ 661 h 819"/>
                <a:gd name="T12" fmla="*/ 264 w 1032"/>
                <a:gd name="T13" fmla="*/ 713 h 819"/>
                <a:gd name="T14" fmla="*/ 175 w 1032"/>
                <a:gd name="T15" fmla="*/ 722 h 819"/>
                <a:gd name="T16" fmla="*/ 138 w 1032"/>
                <a:gd name="T17" fmla="*/ 713 h 819"/>
                <a:gd name="T18" fmla="*/ 107 w 1032"/>
                <a:gd name="T19" fmla="*/ 692 h 819"/>
                <a:gd name="T20" fmla="*/ 94 w 1032"/>
                <a:gd name="T21" fmla="*/ 670 h 819"/>
                <a:gd name="T22" fmla="*/ 87 w 1032"/>
                <a:gd name="T23" fmla="*/ 639 h 819"/>
                <a:gd name="T24" fmla="*/ 106 w 1032"/>
                <a:gd name="T25" fmla="*/ 559 h 819"/>
                <a:gd name="T26" fmla="*/ 167 w 1032"/>
                <a:gd name="T27" fmla="*/ 463 h 819"/>
                <a:gd name="T28" fmla="*/ 260 w 1032"/>
                <a:gd name="T29" fmla="*/ 354 h 819"/>
                <a:gd name="T30" fmla="*/ 322 w 1032"/>
                <a:gd name="T31" fmla="*/ 668 h 819"/>
                <a:gd name="T32" fmla="*/ 442 w 1032"/>
                <a:gd name="T33" fmla="*/ 281 h 819"/>
                <a:gd name="T34" fmla="*/ 491 w 1032"/>
                <a:gd name="T35" fmla="*/ 381 h 819"/>
                <a:gd name="T36" fmla="*/ 530 w 1032"/>
                <a:gd name="T37" fmla="*/ 428 h 819"/>
                <a:gd name="T38" fmla="*/ 578 w 1032"/>
                <a:gd name="T39" fmla="*/ 460 h 819"/>
                <a:gd name="T40" fmla="*/ 635 w 1032"/>
                <a:gd name="T41" fmla="*/ 479 h 819"/>
                <a:gd name="T42" fmla="*/ 682 w 1032"/>
                <a:gd name="T43" fmla="*/ 480 h 819"/>
                <a:gd name="T44" fmla="*/ 741 w 1032"/>
                <a:gd name="T45" fmla="*/ 466 h 819"/>
                <a:gd name="T46" fmla="*/ 792 w 1032"/>
                <a:gd name="T47" fmla="*/ 437 h 819"/>
                <a:gd name="T48" fmla="*/ 833 w 1032"/>
                <a:gd name="T49" fmla="*/ 394 h 819"/>
                <a:gd name="T50" fmla="*/ 891 w 1032"/>
                <a:gd name="T51" fmla="*/ 281 h 819"/>
                <a:gd name="T52" fmla="*/ 967 w 1032"/>
                <a:gd name="T53" fmla="*/ 284 h 819"/>
                <a:gd name="T54" fmla="*/ 1029 w 1032"/>
                <a:gd name="T55" fmla="*/ 206 h 819"/>
                <a:gd name="T56" fmla="*/ 1031 w 1032"/>
                <a:gd name="T57" fmla="*/ 188 h 819"/>
                <a:gd name="T58" fmla="*/ 994 w 1032"/>
                <a:gd name="T59" fmla="*/ 139 h 819"/>
                <a:gd name="T60" fmla="*/ 939 w 1032"/>
                <a:gd name="T61" fmla="*/ 110 h 819"/>
                <a:gd name="T62" fmla="*/ 897 w 1032"/>
                <a:gd name="T63" fmla="*/ 104 h 819"/>
                <a:gd name="T64" fmla="*/ 866 w 1032"/>
                <a:gd name="T65" fmla="*/ 108 h 819"/>
                <a:gd name="T66" fmla="*/ 818 w 1032"/>
                <a:gd name="T67" fmla="*/ 127 h 819"/>
                <a:gd name="T68" fmla="*/ 764 w 1032"/>
                <a:gd name="T69" fmla="*/ 186 h 819"/>
                <a:gd name="T70" fmla="*/ 694 w 1032"/>
                <a:gd name="T71" fmla="*/ 332 h 819"/>
                <a:gd name="T72" fmla="*/ 666 w 1032"/>
                <a:gd name="T73" fmla="*/ 344 h 819"/>
                <a:gd name="T74" fmla="*/ 643 w 1032"/>
                <a:gd name="T75" fmla="*/ 336 h 819"/>
                <a:gd name="T76" fmla="*/ 569 w 1032"/>
                <a:gd name="T77" fmla="*/ 186 h 819"/>
                <a:gd name="T78" fmla="*/ 546 w 1032"/>
                <a:gd name="T79" fmla="*/ 153 h 819"/>
                <a:gd name="T80" fmla="*/ 549 w 1032"/>
                <a:gd name="T81" fmla="*/ 99 h 819"/>
                <a:gd name="T82" fmla="*/ 652 w 1032"/>
                <a:gd name="T83" fmla="*/ 28 h 819"/>
                <a:gd name="T84" fmla="*/ 682 w 1032"/>
                <a:gd name="T85" fmla="*/ 6 h 819"/>
                <a:gd name="T86" fmla="*/ 678 w 1032"/>
                <a:gd name="T87" fmla="*/ 0 h 819"/>
                <a:gd name="T88" fmla="*/ 658 w 1032"/>
                <a:gd name="T89" fmla="*/ 8 h 819"/>
                <a:gd name="T90" fmla="*/ 540 w 1032"/>
                <a:gd name="T91" fmla="*/ 80 h 819"/>
                <a:gd name="T92" fmla="*/ 489 w 1032"/>
                <a:gd name="T93" fmla="*/ 114 h 819"/>
                <a:gd name="T94" fmla="*/ 436 w 1032"/>
                <a:gd name="T95" fmla="*/ 104 h 819"/>
                <a:gd name="T96" fmla="*/ 391 w 1032"/>
                <a:gd name="T97" fmla="*/ 111 h 819"/>
                <a:gd name="T98" fmla="*/ 342 w 1032"/>
                <a:gd name="T99" fmla="*/ 138 h 819"/>
                <a:gd name="T100" fmla="*/ 305 w 1032"/>
                <a:gd name="T101" fmla="*/ 182 h 819"/>
                <a:gd name="T102" fmla="*/ 289 w 1032"/>
                <a:gd name="T103" fmla="*/ 237 h 819"/>
                <a:gd name="T104" fmla="*/ 249 w 1032"/>
                <a:gd name="T105" fmla="*/ 308 h 819"/>
                <a:gd name="T106" fmla="*/ 116 w 1032"/>
                <a:gd name="T107" fmla="*/ 451 h 819"/>
                <a:gd name="T108" fmla="*/ 31 w 1032"/>
                <a:gd name="T109" fmla="*/ 580 h 819"/>
                <a:gd name="T110" fmla="*/ 2 w 1032"/>
                <a:gd name="T111" fmla="*/ 662 h 819"/>
                <a:gd name="T112" fmla="*/ 1 w 1032"/>
                <a:gd name="T113" fmla="*/ 708 h 819"/>
                <a:gd name="T114" fmla="*/ 16 w 1032"/>
                <a:gd name="T115" fmla="*/ 745 h 819"/>
                <a:gd name="T116" fmla="*/ 46 w 1032"/>
                <a:gd name="T117" fmla="*/ 772 h 819"/>
                <a:gd name="T118" fmla="*/ 104 w 1032"/>
                <a:gd name="T119" fmla="*/ 786 h 819"/>
                <a:gd name="T120" fmla="*/ 179 w 1032"/>
                <a:gd name="T121" fmla="*/ 777 h 819"/>
                <a:gd name="T122" fmla="*/ 289 w 1032"/>
                <a:gd name="T123" fmla="*/ 739 h 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2" h="819">
                  <a:moveTo>
                    <a:pt x="289" y="819"/>
                  </a:moveTo>
                  <a:lnTo>
                    <a:pt x="442" y="819"/>
                  </a:lnTo>
                  <a:lnTo>
                    <a:pt x="442" y="660"/>
                  </a:lnTo>
                  <a:lnTo>
                    <a:pt x="442" y="660"/>
                  </a:lnTo>
                  <a:lnTo>
                    <a:pt x="506" y="620"/>
                  </a:lnTo>
                  <a:lnTo>
                    <a:pt x="569" y="579"/>
                  </a:lnTo>
                  <a:lnTo>
                    <a:pt x="569" y="579"/>
                  </a:lnTo>
                  <a:lnTo>
                    <a:pt x="582" y="569"/>
                  </a:lnTo>
                  <a:lnTo>
                    <a:pt x="593" y="559"/>
                  </a:lnTo>
                  <a:lnTo>
                    <a:pt x="593" y="559"/>
                  </a:lnTo>
                  <a:lnTo>
                    <a:pt x="596" y="557"/>
                  </a:lnTo>
                  <a:lnTo>
                    <a:pt x="598" y="553"/>
                  </a:lnTo>
                  <a:lnTo>
                    <a:pt x="598" y="551"/>
                  </a:lnTo>
                  <a:lnTo>
                    <a:pt x="598" y="550"/>
                  </a:lnTo>
                  <a:lnTo>
                    <a:pt x="595" y="549"/>
                  </a:lnTo>
                  <a:lnTo>
                    <a:pt x="594" y="549"/>
                  </a:lnTo>
                  <a:lnTo>
                    <a:pt x="588" y="550"/>
                  </a:lnTo>
                  <a:lnTo>
                    <a:pt x="588" y="550"/>
                  </a:lnTo>
                  <a:lnTo>
                    <a:pt x="560" y="567"/>
                  </a:lnTo>
                  <a:lnTo>
                    <a:pt x="560" y="567"/>
                  </a:lnTo>
                  <a:lnTo>
                    <a:pt x="517" y="593"/>
                  </a:lnTo>
                  <a:lnTo>
                    <a:pt x="474" y="619"/>
                  </a:lnTo>
                  <a:lnTo>
                    <a:pt x="435" y="640"/>
                  </a:lnTo>
                  <a:lnTo>
                    <a:pt x="397" y="661"/>
                  </a:lnTo>
                  <a:lnTo>
                    <a:pt x="361" y="678"/>
                  </a:lnTo>
                  <a:lnTo>
                    <a:pt x="326" y="692"/>
                  </a:lnTo>
                  <a:lnTo>
                    <a:pt x="295" y="703"/>
                  </a:lnTo>
                  <a:lnTo>
                    <a:pt x="264" y="713"/>
                  </a:lnTo>
                  <a:lnTo>
                    <a:pt x="237" y="719"/>
                  </a:lnTo>
                  <a:lnTo>
                    <a:pt x="210" y="722"/>
                  </a:lnTo>
                  <a:lnTo>
                    <a:pt x="187" y="724"/>
                  </a:lnTo>
                  <a:lnTo>
                    <a:pt x="175" y="722"/>
                  </a:lnTo>
                  <a:lnTo>
                    <a:pt x="165" y="721"/>
                  </a:lnTo>
                  <a:lnTo>
                    <a:pt x="156" y="720"/>
                  </a:lnTo>
                  <a:lnTo>
                    <a:pt x="146" y="716"/>
                  </a:lnTo>
                  <a:lnTo>
                    <a:pt x="138" y="713"/>
                  </a:lnTo>
                  <a:lnTo>
                    <a:pt x="129" y="709"/>
                  </a:lnTo>
                  <a:lnTo>
                    <a:pt x="121" y="704"/>
                  </a:lnTo>
                  <a:lnTo>
                    <a:pt x="115" y="698"/>
                  </a:lnTo>
                  <a:lnTo>
                    <a:pt x="107" y="692"/>
                  </a:lnTo>
                  <a:lnTo>
                    <a:pt x="101" y="685"/>
                  </a:lnTo>
                  <a:lnTo>
                    <a:pt x="101" y="685"/>
                  </a:lnTo>
                  <a:lnTo>
                    <a:pt x="98" y="678"/>
                  </a:lnTo>
                  <a:lnTo>
                    <a:pt x="94" y="670"/>
                  </a:lnTo>
                  <a:lnTo>
                    <a:pt x="91" y="663"/>
                  </a:lnTo>
                  <a:lnTo>
                    <a:pt x="89" y="655"/>
                  </a:lnTo>
                  <a:lnTo>
                    <a:pt x="87" y="648"/>
                  </a:lnTo>
                  <a:lnTo>
                    <a:pt x="87" y="639"/>
                  </a:lnTo>
                  <a:lnTo>
                    <a:pt x="88" y="621"/>
                  </a:lnTo>
                  <a:lnTo>
                    <a:pt x="92" y="602"/>
                  </a:lnTo>
                  <a:lnTo>
                    <a:pt x="98" y="581"/>
                  </a:lnTo>
                  <a:lnTo>
                    <a:pt x="106" y="559"/>
                  </a:lnTo>
                  <a:lnTo>
                    <a:pt x="118" y="536"/>
                  </a:lnTo>
                  <a:lnTo>
                    <a:pt x="132" y="512"/>
                  </a:lnTo>
                  <a:lnTo>
                    <a:pt x="148" y="488"/>
                  </a:lnTo>
                  <a:lnTo>
                    <a:pt x="167" y="463"/>
                  </a:lnTo>
                  <a:lnTo>
                    <a:pt x="187" y="436"/>
                  </a:lnTo>
                  <a:lnTo>
                    <a:pt x="210" y="410"/>
                  </a:lnTo>
                  <a:lnTo>
                    <a:pt x="234" y="383"/>
                  </a:lnTo>
                  <a:lnTo>
                    <a:pt x="260" y="354"/>
                  </a:lnTo>
                  <a:lnTo>
                    <a:pt x="289" y="326"/>
                  </a:lnTo>
                  <a:lnTo>
                    <a:pt x="289" y="681"/>
                  </a:lnTo>
                  <a:lnTo>
                    <a:pt x="289" y="681"/>
                  </a:lnTo>
                  <a:lnTo>
                    <a:pt x="322" y="668"/>
                  </a:lnTo>
                  <a:lnTo>
                    <a:pt x="359" y="652"/>
                  </a:lnTo>
                  <a:lnTo>
                    <a:pt x="400" y="633"/>
                  </a:lnTo>
                  <a:lnTo>
                    <a:pt x="442" y="610"/>
                  </a:lnTo>
                  <a:lnTo>
                    <a:pt x="442" y="281"/>
                  </a:lnTo>
                  <a:lnTo>
                    <a:pt x="476" y="353"/>
                  </a:lnTo>
                  <a:lnTo>
                    <a:pt x="476" y="353"/>
                  </a:lnTo>
                  <a:lnTo>
                    <a:pt x="483" y="367"/>
                  </a:lnTo>
                  <a:lnTo>
                    <a:pt x="491" y="381"/>
                  </a:lnTo>
                  <a:lnTo>
                    <a:pt x="500" y="394"/>
                  </a:lnTo>
                  <a:lnTo>
                    <a:pt x="509" y="406"/>
                  </a:lnTo>
                  <a:lnTo>
                    <a:pt x="519" y="418"/>
                  </a:lnTo>
                  <a:lnTo>
                    <a:pt x="530" y="428"/>
                  </a:lnTo>
                  <a:lnTo>
                    <a:pt x="541" y="437"/>
                  </a:lnTo>
                  <a:lnTo>
                    <a:pt x="553" y="446"/>
                  </a:lnTo>
                  <a:lnTo>
                    <a:pt x="565" y="454"/>
                  </a:lnTo>
                  <a:lnTo>
                    <a:pt x="578" y="460"/>
                  </a:lnTo>
                  <a:lnTo>
                    <a:pt x="592" y="466"/>
                  </a:lnTo>
                  <a:lnTo>
                    <a:pt x="606" y="471"/>
                  </a:lnTo>
                  <a:lnTo>
                    <a:pt x="621" y="475"/>
                  </a:lnTo>
                  <a:lnTo>
                    <a:pt x="635" y="479"/>
                  </a:lnTo>
                  <a:lnTo>
                    <a:pt x="651" y="480"/>
                  </a:lnTo>
                  <a:lnTo>
                    <a:pt x="666" y="480"/>
                  </a:lnTo>
                  <a:lnTo>
                    <a:pt x="666" y="480"/>
                  </a:lnTo>
                  <a:lnTo>
                    <a:pt x="682" y="480"/>
                  </a:lnTo>
                  <a:lnTo>
                    <a:pt x="698" y="479"/>
                  </a:lnTo>
                  <a:lnTo>
                    <a:pt x="712" y="475"/>
                  </a:lnTo>
                  <a:lnTo>
                    <a:pt x="727" y="471"/>
                  </a:lnTo>
                  <a:lnTo>
                    <a:pt x="741" y="466"/>
                  </a:lnTo>
                  <a:lnTo>
                    <a:pt x="755" y="460"/>
                  </a:lnTo>
                  <a:lnTo>
                    <a:pt x="768" y="454"/>
                  </a:lnTo>
                  <a:lnTo>
                    <a:pt x="780" y="446"/>
                  </a:lnTo>
                  <a:lnTo>
                    <a:pt x="792" y="437"/>
                  </a:lnTo>
                  <a:lnTo>
                    <a:pt x="803" y="428"/>
                  </a:lnTo>
                  <a:lnTo>
                    <a:pt x="814" y="418"/>
                  </a:lnTo>
                  <a:lnTo>
                    <a:pt x="823" y="406"/>
                  </a:lnTo>
                  <a:lnTo>
                    <a:pt x="833" y="394"/>
                  </a:lnTo>
                  <a:lnTo>
                    <a:pt x="841" y="381"/>
                  </a:lnTo>
                  <a:lnTo>
                    <a:pt x="850" y="367"/>
                  </a:lnTo>
                  <a:lnTo>
                    <a:pt x="857" y="353"/>
                  </a:lnTo>
                  <a:lnTo>
                    <a:pt x="891" y="281"/>
                  </a:lnTo>
                  <a:lnTo>
                    <a:pt x="891" y="365"/>
                  </a:lnTo>
                  <a:lnTo>
                    <a:pt x="891" y="365"/>
                  </a:lnTo>
                  <a:lnTo>
                    <a:pt x="931" y="324"/>
                  </a:lnTo>
                  <a:lnTo>
                    <a:pt x="967" y="284"/>
                  </a:lnTo>
                  <a:lnTo>
                    <a:pt x="1000" y="246"/>
                  </a:lnTo>
                  <a:lnTo>
                    <a:pt x="1015" y="225"/>
                  </a:lnTo>
                  <a:lnTo>
                    <a:pt x="1029" y="206"/>
                  </a:lnTo>
                  <a:lnTo>
                    <a:pt x="1029" y="206"/>
                  </a:lnTo>
                  <a:lnTo>
                    <a:pt x="1031" y="201"/>
                  </a:lnTo>
                  <a:lnTo>
                    <a:pt x="1032" y="197"/>
                  </a:lnTo>
                  <a:lnTo>
                    <a:pt x="1032" y="192"/>
                  </a:lnTo>
                  <a:lnTo>
                    <a:pt x="1031" y="188"/>
                  </a:lnTo>
                  <a:lnTo>
                    <a:pt x="1031" y="188"/>
                  </a:lnTo>
                  <a:lnTo>
                    <a:pt x="1020" y="171"/>
                  </a:lnTo>
                  <a:lnTo>
                    <a:pt x="1008" y="154"/>
                  </a:lnTo>
                  <a:lnTo>
                    <a:pt x="994" y="139"/>
                  </a:lnTo>
                  <a:lnTo>
                    <a:pt x="977" y="127"/>
                  </a:lnTo>
                  <a:lnTo>
                    <a:pt x="959" y="118"/>
                  </a:lnTo>
                  <a:lnTo>
                    <a:pt x="950" y="114"/>
                  </a:lnTo>
                  <a:lnTo>
                    <a:pt x="939" y="110"/>
                  </a:lnTo>
                  <a:lnTo>
                    <a:pt x="930" y="108"/>
                  </a:lnTo>
                  <a:lnTo>
                    <a:pt x="919" y="105"/>
                  </a:lnTo>
                  <a:lnTo>
                    <a:pt x="908" y="104"/>
                  </a:lnTo>
                  <a:lnTo>
                    <a:pt x="897" y="104"/>
                  </a:lnTo>
                  <a:lnTo>
                    <a:pt x="897" y="104"/>
                  </a:lnTo>
                  <a:lnTo>
                    <a:pt x="886" y="104"/>
                  </a:lnTo>
                  <a:lnTo>
                    <a:pt x="876" y="105"/>
                  </a:lnTo>
                  <a:lnTo>
                    <a:pt x="866" y="108"/>
                  </a:lnTo>
                  <a:lnTo>
                    <a:pt x="856" y="110"/>
                  </a:lnTo>
                  <a:lnTo>
                    <a:pt x="845" y="114"/>
                  </a:lnTo>
                  <a:lnTo>
                    <a:pt x="837" y="118"/>
                  </a:lnTo>
                  <a:lnTo>
                    <a:pt x="818" y="127"/>
                  </a:lnTo>
                  <a:lnTo>
                    <a:pt x="802" y="139"/>
                  </a:lnTo>
                  <a:lnTo>
                    <a:pt x="787" y="154"/>
                  </a:lnTo>
                  <a:lnTo>
                    <a:pt x="775" y="169"/>
                  </a:lnTo>
                  <a:lnTo>
                    <a:pt x="764" y="186"/>
                  </a:lnTo>
                  <a:lnTo>
                    <a:pt x="700" y="324"/>
                  </a:lnTo>
                  <a:lnTo>
                    <a:pt x="700" y="324"/>
                  </a:lnTo>
                  <a:lnTo>
                    <a:pt x="697" y="329"/>
                  </a:lnTo>
                  <a:lnTo>
                    <a:pt x="694" y="332"/>
                  </a:lnTo>
                  <a:lnTo>
                    <a:pt x="691" y="336"/>
                  </a:lnTo>
                  <a:lnTo>
                    <a:pt x="686" y="340"/>
                  </a:lnTo>
                  <a:lnTo>
                    <a:pt x="677" y="343"/>
                  </a:lnTo>
                  <a:lnTo>
                    <a:pt x="666" y="344"/>
                  </a:lnTo>
                  <a:lnTo>
                    <a:pt x="666" y="344"/>
                  </a:lnTo>
                  <a:lnTo>
                    <a:pt x="657" y="343"/>
                  </a:lnTo>
                  <a:lnTo>
                    <a:pt x="647" y="340"/>
                  </a:lnTo>
                  <a:lnTo>
                    <a:pt x="643" y="336"/>
                  </a:lnTo>
                  <a:lnTo>
                    <a:pt x="639" y="332"/>
                  </a:lnTo>
                  <a:lnTo>
                    <a:pt x="636" y="329"/>
                  </a:lnTo>
                  <a:lnTo>
                    <a:pt x="634" y="324"/>
                  </a:lnTo>
                  <a:lnTo>
                    <a:pt x="569" y="186"/>
                  </a:lnTo>
                  <a:lnTo>
                    <a:pt x="569" y="186"/>
                  </a:lnTo>
                  <a:lnTo>
                    <a:pt x="564" y="178"/>
                  </a:lnTo>
                  <a:lnTo>
                    <a:pt x="558" y="169"/>
                  </a:lnTo>
                  <a:lnTo>
                    <a:pt x="546" y="153"/>
                  </a:lnTo>
                  <a:lnTo>
                    <a:pt x="530" y="139"/>
                  </a:lnTo>
                  <a:lnTo>
                    <a:pt x="514" y="127"/>
                  </a:lnTo>
                  <a:lnTo>
                    <a:pt x="514" y="127"/>
                  </a:lnTo>
                  <a:lnTo>
                    <a:pt x="549" y="99"/>
                  </a:lnTo>
                  <a:lnTo>
                    <a:pt x="583" y="74"/>
                  </a:lnTo>
                  <a:lnTo>
                    <a:pt x="618" y="50"/>
                  </a:lnTo>
                  <a:lnTo>
                    <a:pt x="652" y="28"/>
                  </a:lnTo>
                  <a:lnTo>
                    <a:pt x="652" y="28"/>
                  </a:lnTo>
                  <a:lnTo>
                    <a:pt x="666" y="19"/>
                  </a:lnTo>
                  <a:lnTo>
                    <a:pt x="678" y="10"/>
                  </a:lnTo>
                  <a:lnTo>
                    <a:pt x="678" y="10"/>
                  </a:lnTo>
                  <a:lnTo>
                    <a:pt x="682" y="6"/>
                  </a:lnTo>
                  <a:lnTo>
                    <a:pt x="682" y="4"/>
                  </a:lnTo>
                  <a:lnTo>
                    <a:pt x="682" y="2"/>
                  </a:lnTo>
                  <a:lnTo>
                    <a:pt x="681" y="0"/>
                  </a:lnTo>
                  <a:lnTo>
                    <a:pt x="678" y="0"/>
                  </a:lnTo>
                  <a:lnTo>
                    <a:pt x="675" y="0"/>
                  </a:lnTo>
                  <a:lnTo>
                    <a:pt x="671" y="2"/>
                  </a:lnTo>
                  <a:lnTo>
                    <a:pt x="671" y="2"/>
                  </a:lnTo>
                  <a:lnTo>
                    <a:pt x="658" y="8"/>
                  </a:lnTo>
                  <a:lnTo>
                    <a:pt x="643" y="16"/>
                  </a:lnTo>
                  <a:lnTo>
                    <a:pt x="643" y="16"/>
                  </a:lnTo>
                  <a:lnTo>
                    <a:pt x="575" y="58"/>
                  </a:lnTo>
                  <a:lnTo>
                    <a:pt x="540" y="80"/>
                  </a:lnTo>
                  <a:lnTo>
                    <a:pt x="506" y="103"/>
                  </a:lnTo>
                  <a:lnTo>
                    <a:pt x="506" y="103"/>
                  </a:lnTo>
                  <a:lnTo>
                    <a:pt x="489" y="114"/>
                  </a:lnTo>
                  <a:lnTo>
                    <a:pt x="489" y="114"/>
                  </a:lnTo>
                  <a:lnTo>
                    <a:pt x="477" y="110"/>
                  </a:lnTo>
                  <a:lnTo>
                    <a:pt x="464" y="107"/>
                  </a:lnTo>
                  <a:lnTo>
                    <a:pt x="450" y="105"/>
                  </a:lnTo>
                  <a:lnTo>
                    <a:pt x="436" y="104"/>
                  </a:lnTo>
                  <a:lnTo>
                    <a:pt x="436" y="104"/>
                  </a:lnTo>
                  <a:lnTo>
                    <a:pt x="420" y="105"/>
                  </a:lnTo>
                  <a:lnTo>
                    <a:pt x="406" y="108"/>
                  </a:lnTo>
                  <a:lnTo>
                    <a:pt x="391" y="111"/>
                  </a:lnTo>
                  <a:lnTo>
                    <a:pt x="378" y="116"/>
                  </a:lnTo>
                  <a:lnTo>
                    <a:pt x="366" y="122"/>
                  </a:lnTo>
                  <a:lnTo>
                    <a:pt x="353" y="130"/>
                  </a:lnTo>
                  <a:lnTo>
                    <a:pt x="342" y="138"/>
                  </a:lnTo>
                  <a:lnTo>
                    <a:pt x="331" y="148"/>
                  </a:lnTo>
                  <a:lnTo>
                    <a:pt x="321" y="159"/>
                  </a:lnTo>
                  <a:lnTo>
                    <a:pt x="313" y="169"/>
                  </a:lnTo>
                  <a:lnTo>
                    <a:pt x="305" y="182"/>
                  </a:lnTo>
                  <a:lnTo>
                    <a:pt x="299" y="195"/>
                  </a:lnTo>
                  <a:lnTo>
                    <a:pt x="295" y="208"/>
                  </a:lnTo>
                  <a:lnTo>
                    <a:pt x="291" y="223"/>
                  </a:lnTo>
                  <a:lnTo>
                    <a:pt x="289" y="237"/>
                  </a:lnTo>
                  <a:lnTo>
                    <a:pt x="289" y="252"/>
                  </a:lnTo>
                  <a:lnTo>
                    <a:pt x="289" y="272"/>
                  </a:lnTo>
                  <a:lnTo>
                    <a:pt x="289" y="272"/>
                  </a:lnTo>
                  <a:lnTo>
                    <a:pt x="249" y="308"/>
                  </a:lnTo>
                  <a:lnTo>
                    <a:pt x="211" y="344"/>
                  </a:lnTo>
                  <a:lnTo>
                    <a:pt x="176" y="381"/>
                  </a:lnTo>
                  <a:lnTo>
                    <a:pt x="145" y="416"/>
                  </a:lnTo>
                  <a:lnTo>
                    <a:pt x="116" y="451"/>
                  </a:lnTo>
                  <a:lnTo>
                    <a:pt x="91" y="485"/>
                  </a:lnTo>
                  <a:lnTo>
                    <a:pt x="68" y="517"/>
                  </a:lnTo>
                  <a:lnTo>
                    <a:pt x="47" y="550"/>
                  </a:lnTo>
                  <a:lnTo>
                    <a:pt x="31" y="580"/>
                  </a:lnTo>
                  <a:lnTo>
                    <a:pt x="18" y="609"/>
                  </a:lnTo>
                  <a:lnTo>
                    <a:pt x="8" y="637"/>
                  </a:lnTo>
                  <a:lnTo>
                    <a:pt x="5" y="650"/>
                  </a:lnTo>
                  <a:lnTo>
                    <a:pt x="2" y="662"/>
                  </a:lnTo>
                  <a:lnTo>
                    <a:pt x="0" y="674"/>
                  </a:lnTo>
                  <a:lnTo>
                    <a:pt x="0" y="686"/>
                  </a:lnTo>
                  <a:lnTo>
                    <a:pt x="0" y="697"/>
                  </a:lnTo>
                  <a:lnTo>
                    <a:pt x="1" y="708"/>
                  </a:lnTo>
                  <a:lnTo>
                    <a:pt x="4" y="718"/>
                  </a:lnTo>
                  <a:lnTo>
                    <a:pt x="6" y="727"/>
                  </a:lnTo>
                  <a:lnTo>
                    <a:pt x="11" y="737"/>
                  </a:lnTo>
                  <a:lnTo>
                    <a:pt x="16" y="745"/>
                  </a:lnTo>
                  <a:lnTo>
                    <a:pt x="16" y="745"/>
                  </a:lnTo>
                  <a:lnTo>
                    <a:pt x="24" y="756"/>
                  </a:lnTo>
                  <a:lnTo>
                    <a:pt x="35" y="765"/>
                  </a:lnTo>
                  <a:lnTo>
                    <a:pt x="46" y="772"/>
                  </a:lnTo>
                  <a:lnTo>
                    <a:pt x="59" y="778"/>
                  </a:lnTo>
                  <a:lnTo>
                    <a:pt x="72" y="783"/>
                  </a:lnTo>
                  <a:lnTo>
                    <a:pt x="88" y="785"/>
                  </a:lnTo>
                  <a:lnTo>
                    <a:pt x="104" y="786"/>
                  </a:lnTo>
                  <a:lnTo>
                    <a:pt x="122" y="786"/>
                  </a:lnTo>
                  <a:lnTo>
                    <a:pt x="140" y="784"/>
                  </a:lnTo>
                  <a:lnTo>
                    <a:pt x="158" y="782"/>
                  </a:lnTo>
                  <a:lnTo>
                    <a:pt x="179" y="777"/>
                  </a:lnTo>
                  <a:lnTo>
                    <a:pt x="199" y="772"/>
                  </a:lnTo>
                  <a:lnTo>
                    <a:pt x="220" y="765"/>
                  </a:lnTo>
                  <a:lnTo>
                    <a:pt x="243" y="757"/>
                  </a:lnTo>
                  <a:lnTo>
                    <a:pt x="289" y="739"/>
                  </a:lnTo>
                  <a:lnTo>
                    <a:pt x="289" y="8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31" name="Freeform 42">
              <a:extLst>
                <a:ext uri="{FF2B5EF4-FFF2-40B4-BE49-F238E27FC236}">
                  <a16:creationId xmlns:a16="http://schemas.microsoft.com/office/drawing/2014/main" id="{5E49F73B-AFFC-FB40-B91A-5007B1FD2DE7}"/>
                </a:ext>
              </a:extLst>
            </p:cNvPr>
            <p:cNvSpPr>
              <a:spLocks noEditPoints="1"/>
            </p:cNvSpPr>
            <p:nvPr/>
          </p:nvSpPr>
          <p:spPr bwMode="auto">
            <a:xfrm>
              <a:off x="4046538" y="938213"/>
              <a:ext cx="69850" cy="68263"/>
            </a:xfrm>
            <a:custGeom>
              <a:avLst/>
              <a:gdLst>
                <a:gd name="T0" fmla="*/ 0 w 87"/>
                <a:gd name="T1" fmla="*/ 44 h 87"/>
                <a:gd name="T2" fmla="*/ 4 w 87"/>
                <a:gd name="T3" fmla="*/ 27 h 87"/>
                <a:gd name="T4" fmla="*/ 14 w 87"/>
                <a:gd name="T5" fmla="*/ 12 h 87"/>
                <a:gd name="T6" fmla="*/ 27 w 87"/>
                <a:gd name="T7" fmla="*/ 4 h 87"/>
                <a:gd name="T8" fmla="*/ 44 w 87"/>
                <a:gd name="T9" fmla="*/ 0 h 87"/>
                <a:gd name="T10" fmla="*/ 52 w 87"/>
                <a:gd name="T11" fmla="*/ 0 h 87"/>
                <a:gd name="T12" fmla="*/ 68 w 87"/>
                <a:gd name="T13" fmla="*/ 7 h 87"/>
                <a:gd name="T14" fmla="*/ 80 w 87"/>
                <a:gd name="T15" fmla="*/ 19 h 87"/>
                <a:gd name="T16" fmla="*/ 86 w 87"/>
                <a:gd name="T17" fmla="*/ 35 h 87"/>
                <a:gd name="T18" fmla="*/ 87 w 87"/>
                <a:gd name="T19" fmla="*/ 44 h 87"/>
                <a:gd name="T20" fmla="*/ 84 w 87"/>
                <a:gd name="T21" fmla="*/ 61 h 87"/>
                <a:gd name="T22" fmla="*/ 75 w 87"/>
                <a:gd name="T23" fmla="*/ 74 h 87"/>
                <a:gd name="T24" fmla="*/ 61 w 87"/>
                <a:gd name="T25" fmla="*/ 83 h 87"/>
                <a:gd name="T26" fmla="*/ 44 w 87"/>
                <a:gd name="T27" fmla="*/ 87 h 87"/>
                <a:gd name="T28" fmla="*/ 35 w 87"/>
                <a:gd name="T29" fmla="*/ 86 h 87"/>
                <a:gd name="T30" fmla="*/ 20 w 87"/>
                <a:gd name="T31" fmla="*/ 80 h 87"/>
                <a:gd name="T32" fmla="*/ 8 w 87"/>
                <a:gd name="T33" fmla="*/ 68 h 87"/>
                <a:gd name="T34" fmla="*/ 2 w 87"/>
                <a:gd name="T35" fmla="*/ 52 h 87"/>
                <a:gd name="T36" fmla="*/ 0 w 87"/>
                <a:gd name="T37" fmla="*/ 44 h 87"/>
                <a:gd name="T38" fmla="*/ 76 w 87"/>
                <a:gd name="T39" fmla="*/ 44 h 87"/>
                <a:gd name="T40" fmla="*/ 74 w 87"/>
                <a:gd name="T41" fmla="*/ 29 h 87"/>
                <a:gd name="T42" fmla="*/ 67 w 87"/>
                <a:gd name="T43" fmla="*/ 18 h 87"/>
                <a:gd name="T44" fmla="*/ 57 w 87"/>
                <a:gd name="T45" fmla="*/ 11 h 87"/>
                <a:gd name="T46" fmla="*/ 44 w 87"/>
                <a:gd name="T47" fmla="*/ 9 h 87"/>
                <a:gd name="T48" fmla="*/ 38 w 87"/>
                <a:gd name="T49" fmla="*/ 9 h 87"/>
                <a:gd name="T50" fmla="*/ 26 w 87"/>
                <a:gd name="T51" fmla="*/ 13 h 87"/>
                <a:gd name="T52" fmla="*/ 16 w 87"/>
                <a:gd name="T53" fmla="*/ 23 h 87"/>
                <a:gd name="T54" fmla="*/ 11 w 87"/>
                <a:gd name="T55" fmla="*/ 36 h 87"/>
                <a:gd name="T56" fmla="*/ 11 w 87"/>
                <a:gd name="T57" fmla="*/ 44 h 87"/>
                <a:gd name="T58" fmla="*/ 14 w 87"/>
                <a:gd name="T59" fmla="*/ 57 h 87"/>
                <a:gd name="T60" fmla="*/ 21 w 87"/>
                <a:gd name="T61" fmla="*/ 69 h 87"/>
                <a:gd name="T62" fmla="*/ 31 w 87"/>
                <a:gd name="T63" fmla="*/ 76 h 87"/>
                <a:gd name="T64" fmla="*/ 44 w 87"/>
                <a:gd name="T65" fmla="*/ 79 h 87"/>
                <a:gd name="T66" fmla="*/ 51 w 87"/>
                <a:gd name="T67" fmla="*/ 77 h 87"/>
                <a:gd name="T68" fmla="*/ 62 w 87"/>
                <a:gd name="T69" fmla="*/ 73 h 87"/>
                <a:gd name="T70" fmla="*/ 72 w 87"/>
                <a:gd name="T71" fmla="*/ 63 h 87"/>
                <a:gd name="T72" fmla="*/ 76 w 87"/>
                <a:gd name="T73" fmla="*/ 51 h 87"/>
                <a:gd name="T74" fmla="*/ 76 w 87"/>
                <a:gd name="T75" fmla="*/ 44 h 87"/>
                <a:gd name="T76" fmla="*/ 45 w 87"/>
                <a:gd name="T77" fmla="*/ 18 h 87"/>
                <a:gd name="T78" fmla="*/ 53 w 87"/>
                <a:gd name="T79" fmla="*/ 19 h 87"/>
                <a:gd name="T80" fmla="*/ 61 w 87"/>
                <a:gd name="T81" fmla="*/ 24 h 87"/>
                <a:gd name="T82" fmla="*/ 63 w 87"/>
                <a:gd name="T83" fmla="*/ 33 h 87"/>
                <a:gd name="T84" fmla="*/ 63 w 87"/>
                <a:gd name="T85" fmla="*/ 39 h 87"/>
                <a:gd name="T86" fmla="*/ 56 w 87"/>
                <a:gd name="T87" fmla="*/ 45 h 87"/>
                <a:gd name="T88" fmla="*/ 64 w 87"/>
                <a:gd name="T89" fmla="*/ 68 h 87"/>
                <a:gd name="T90" fmla="*/ 41 w 87"/>
                <a:gd name="T91" fmla="*/ 47 h 87"/>
                <a:gd name="T92" fmla="*/ 37 w 87"/>
                <a:gd name="T93" fmla="*/ 68 h 87"/>
                <a:gd name="T94" fmla="*/ 27 w 87"/>
                <a:gd name="T95" fmla="*/ 18 h 87"/>
                <a:gd name="T96" fmla="*/ 44 w 87"/>
                <a:gd name="T97" fmla="*/ 40 h 87"/>
                <a:gd name="T98" fmla="*/ 49 w 87"/>
                <a:gd name="T99" fmla="*/ 40 h 87"/>
                <a:gd name="T100" fmla="*/ 53 w 87"/>
                <a:gd name="T101" fmla="*/ 36 h 87"/>
                <a:gd name="T102" fmla="*/ 55 w 87"/>
                <a:gd name="T103" fmla="*/ 33 h 87"/>
                <a:gd name="T104" fmla="*/ 51 w 87"/>
                <a:gd name="T105" fmla="*/ 27 h 87"/>
                <a:gd name="T106" fmla="*/ 45 w 87"/>
                <a:gd name="T107" fmla="*/ 26 h 87"/>
                <a:gd name="T108" fmla="*/ 37 w 87"/>
                <a:gd name="T109"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7" h="87">
                  <a:moveTo>
                    <a:pt x="0" y="44"/>
                  </a:moveTo>
                  <a:lnTo>
                    <a:pt x="0" y="44"/>
                  </a:lnTo>
                  <a:lnTo>
                    <a:pt x="2" y="35"/>
                  </a:lnTo>
                  <a:lnTo>
                    <a:pt x="4" y="27"/>
                  </a:lnTo>
                  <a:lnTo>
                    <a:pt x="8" y="19"/>
                  </a:lnTo>
                  <a:lnTo>
                    <a:pt x="14" y="12"/>
                  </a:lnTo>
                  <a:lnTo>
                    <a:pt x="20" y="7"/>
                  </a:lnTo>
                  <a:lnTo>
                    <a:pt x="27" y="4"/>
                  </a:lnTo>
                  <a:lnTo>
                    <a:pt x="35" y="0"/>
                  </a:lnTo>
                  <a:lnTo>
                    <a:pt x="44" y="0"/>
                  </a:lnTo>
                  <a:lnTo>
                    <a:pt x="44" y="0"/>
                  </a:lnTo>
                  <a:lnTo>
                    <a:pt x="52" y="0"/>
                  </a:lnTo>
                  <a:lnTo>
                    <a:pt x="61" y="4"/>
                  </a:lnTo>
                  <a:lnTo>
                    <a:pt x="68" y="7"/>
                  </a:lnTo>
                  <a:lnTo>
                    <a:pt x="75" y="12"/>
                  </a:lnTo>
                  <a:lnTo>
                    <a:pt x="80" y="19"/>
                  </a:lnTo>
                  <a:lnTo>
                    <a:pt x="84" y="27"/>
                  </a:lnTo>
                  <a:lnTo>
                    <a:pt x="86" y="35"/>
                  </a:lnTo>
                  <a:lnTo>
                    <a:pt x="87" y="44"/>
                  </a:lnTo>
                  <a:lnTo>
                    <a:pt x="87" y="44"/>
                  </a:lnTo>
                  <a:lnTo>
                    <a:pt x="86" y="52"/>
                  </a:lnTo>
                  <a:lnTo>
                    <a:pt x="84" y="61"/>
                  </a:lnTo>
                  <a:lnTo>
                    <a:pt x="80" y="68"/>
                  </a:lnTo>
                  <a:lnTo>
                    <a:pt x="75" y="74"/>
                  </a:lnTo>
                  <a:lnTo>
                    <a:pt x="68" y="80"/>
                  </a:lnTo>
                  <a:lnTo>
                    <a:pt x="61" y="83"/>
                  </a:lnTo>
                  <a:lnTo>
                    <a:pt x="52" y="86"/>
                  </a:lnTo>
                  <a:lnTo>
                    <a:pt x="44" y="87"/>
                  </a:lnTo>
                  <a:lnTo>
                    <a:pt x="44" y="87"/>
                  </a:lnTo>
                  <a:lnTo>
                    <a:pt x="35" y="86"/>
                  </a:lnTo>
                  <a:lnTo>
                    <a:pt x="27" y="83"/>
                  </a:lnTo>
                  <a:lnTo>
                    <a:pt x="20" y="80"/>
                  </a:lnTo>
                  <a:lnTo>
                    <a:pt x="14" y="74"/>
                  </a:lnTo>
                  <a:lnTo>
                    <a:pt x="8" y="68"/>
                  </a:lnTo>
                  <a:lnTo>
                    <a:pt x="4" y="61"/>
                  </a:lnTo>
                  <a:lnTo>
                    <a:pt x="2" y="52"/>
                  </a:lnTo>
                  <a:lnTo>
                    <a:pt x="0" y="44"/>
                  </a:lnTo>
                  <a:lnTo>
                    <a:pt x="0" y="44"/>
                  </a:lnTo>
                  <a:close/>
                  <a:moveTo>
                    <a:pt x="76" y="44"/>
                  </a:moveTo>
                  <a:lnTo>
                    <a:pt x="76" y="44"/>
                  </a:lnTo>
                  <a:lnTo>
                    <a:pt x="76" y="36"/>
                  </a:lnTo>
                  <a:lnTo>
                    <a:pt x="74" y="29"/>
                  </a:lnTo>
                  <a:lnTo>
                    <a:pt x="72" y="23"/>
                  </a:lnTo>
                  <a:lnTo>
                    <a:pt x="67" y="18"/>
                  </a:lnTo>
                  <a:lnTo>
                    <a:pt x="62" y="13"/>
                  </a:lnTo>
                  <a:lnTo>
                    <a:pt x="57" y="11"/>
                  </a:lnTo>
                  <a:lnTo>
                    <a:pt x="51" y="9"/>
                  </a:lnTo>
                  <a:lnTo>
                    <a:pt x="44" y="9"/>
                  </a:lnTo>
                  <a:lnTo>
                    <a:pt x="44" y="9"/>
                  </a:lnTo>
                  <a:lnTo>
                    <a:pt x="38" y="9"/>
                  </a:lnTo>
                  <a:lnTo>
                    <a:pt x="31" y="11"/>
                  </a:lnTo>
                  <a:lnTo>
                    <a:pt x="26" y="13"/>
                  </a:lnTo>
                  <a:lnTo>
                    <a:pt x="21" y="18"/>
                  </a:lnTo>
                  <a:lnTo>
                    <a:pt x="16" y="23"/>
                  </a:lnTo>
                  <a:lnTo>
                    <a:pt x="14" y="29"/>
                  </a:lnTo>
                  <a:lnTo>
                    <a:pt x="11" y="36"/>
                  </a:lnTo>
                  <a:lnTo>
                    <a:pt x="11" y="44"/>
                  </a:lnTo>
                  <a:lnTo>
                    <a:pt x="11" y="44"/>
                  </a:lnTo>
                  <a:lnTo>
                    <a:pt x="11" y="51"/>
                  </a:lnTo>
                  <a:lnTo>
                    <a:pt x="14" y="57"/>
                  </a:lnTo>
                  <a:lnTo>
                    <a:pt x="16" y="63"/>
                  </a:lnTo>
                  <a:lnTo>
                    <a:pt x="21" y="69"/>
                  </a:lnTo>
                  <a:lnTo>
                    <a:pt x="26" y="73"/>
                  </a:lnTo>
                  <a:lnTo>
                    <a:pt x="31" y="76"/>
                  </a:lnTo>
                  <a:lnTo>
                    <a:pt x="38" y="77"/>
                  </a:lnTo>
                  <a:lnTo>
                    <a:pt x="44" y="79"/>
                  </a:lnTo>
                  <a:lnTo>
                    <a:pt x="44" y="79"/>
                  </a:lnTo>
                  <a:lnTo>
                    <a:pt x="51" y="77"/>
                  </a:lnTo>
                  <a:lnTo>
                    <a:pt x="57" y="76"/>
                  </a:lnTo>
                  <a:lnTo>
                    <a:pt x="62" y="73"/>
                  </a:lnTo>
                  <a:lnTo>
                    <a:pt x="67" y="69"/>
                  </a:lnTo>
                  <a:lnTo>
                    <a:pt x="72" y="63"/>
                  </a:lnTo>
                  <a:lnTo>
                    <a:pt x="74" y="57"/>
                  </a:lnTo>
                  <a:lnTo>
                    <a:pt x="76" y="51"/>
                  </a:lnTo>
                  <a:lnTo>
                    <a:pt x="76" y="44"/>
                  </a:lnTo>
                  <a:lnTo>
                    <a:pt x="76" y="44"/>
                  </a:lnTo>
                  <a:close/>
                  <a:moveTo>
                    <a:pt x="27" y="18"/>
                  </a:moveTo>
                  <a:lnTo>
                    <a:pt x="45" y="18"/>
                  </a:lnTo>
                  <a:lnTo>
                    <a:pt x="45" y="18"/>
                  </a:lnTo>
                  <a:lnTo>
                    <a:pt x="53" y="19"/>
                  </a:lnTo>
                  <a:lnTo>
                    <a:pt x="60" y="22"/>
                  </a:lnTo>
                  <a:lnTo>
                    <a:pt x="61" y="24"/>
                  </a:lnTo>
                  <a:lnTo>
                    <a:pt x="62" y="27"/>
                  </a:lnTo>
                  <a:lnTo>
                    <a:pt x="63" y="33"/>
                  </a:lnTo>
                  <a:lnTo>
                    <a:pt x="63" y="33"/>
                  </a:lnTo>
                  <a:lnTo>
                    <a:pt x="63" y="39"/>
                  </a:lnTo>
                  <a:lnTo>
                    <a:pt x="61" y="42"/>
                  </a:lnTo>
                  <a:lnTo>
                    <a:pt x="56" y="45"/>
                  </a:lnTo>
                  <a:lnTo>
                    <a:pt x="51" y="46"/>
                  </a:lnTo>
                  <a:lnTo>
                    <a:pt x="64" y="68"/>
                  </a:lnTo>
                  <a:lnTo>
                    <a:pt x="55" y="68"/>
                  </a:lnTo>
                  <a:lnTo>
                    <a:pt x="41" y="47"/>
                  </a:lnTo>
                  <a:lnTo>
                    <a:pt x="37" y="47"/>
                  </a:lnTo>
                  <a:lnTo>
                    <a:pt x="37" y="68"/>
                  </a:lnTo>
                  <a:lnTo>
                    <a:pt x="27" y="68"/>
                  </a:lnTo>
                  <a:lnTo>
                    <a:pt x="27" y="18"/>
                  </a:lnTo>
                  <a:close/>
                  <a:moveTo>
                    <a:pt x="37" y="40"/>
                  </a:moveTo>
                  <a:lnTo>
                    <a:pt x="44" y="40"/>
                  </a:lnTo>
                  <a:lnTo>
                    <a:pt x="44" y="40"/>
                  </a:lnTo>
                  <a:lnTo>
                    <a:pt x="49" y="40"/>
                  </a:lnTo>
                  <a:lnTo>
                    <a:pt x="51" y="39"/>
                  </a:lnTo>
                  <a:lnTo>
                    <a:pt x="53" y="36"/>
                  </a:lnTo>
                  <a:lnTo>
                    <a:pt x="55" y="33"/>
                  </a:lnTo>
                  <a:lnTo>
                    <a:pt x="55" y="33"/>
                  </a:lnTo>
                  <a:lnTo>
                    <a:pt x="53" y="29"/>
                  </a:lnTo>
                  <a:lnTo>
                    <a:pt x="51" y="27"/>
                  </a:lnTo>
                  <a:lnTo>
                    <a:pt x="49" y="26"/>
                  </a:lnTo>
                  <a:lnTo>
                    <a:pt x="45" y="26"/>
                  </a:lnTo>
                  <a:lnTo>
                    <a:pt x="37" y="26"/>
                  </a:lnTo>
                  <a:lnTo>
                    <a:pt x="3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1374446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e black">
    <p:bg>
      <p:bgPr>
        <a:solidFill>
          <a:schemeClr val="tx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36EEB7A-660B-2849-8784-03277EB4E374}"/>
              </a:ext>
            </a:extLst>
          </p:cNvPr>
          <p:cNvSpPr>
            <a:spLocks noGrp="1"/>
          </p:cNvSpPr>
          <p:nvPr>
            <p:ph type="dt" sz="half" idx="10"/>
          </p:nvPr>
        </p:nvSpPr>
        <p:spPr/>
        <p:txBody>
          <a:bodyPr/>
          <a:lstStyle>
            <a:lvl1pPr>
              <a:defRPr>
                <a:solidFill>
                  <a:schemeClr val="tx1"/>
                </a:solidFill>
              </a:defRPr>
            </a:lvl1pPr>
          </a:lstStyle>
          <a:p>
            <a:fld id="{B8FDEC20-994C-6747-9500-226CB0C467E7}" type="datetime4">
              <a:rPr lang="en-US" smtClean="0"/>
              <a:pPr/>
              <a:t>June 9, 2023</a:t>
            </a:fld>
            <a:endParaRPr lang="en-US" dirty="0"/>
          </a:p>
        </p:txBody>
      </p:sp>
      <p:sp>
        <p:nvSpPr>
          <p:cNvPr id="4" name="Footer Placeholder 3">
            <a:extLst>
              <a:ext uri="{FF2B5EF4-FFF2-40B4-BE49-F238E27FC236}">
                <a16:creationId xmlns:a16="http://schemas.microsoft.com/office/drawing/2014/main" id="{6668D113-2F65-3E46-BA2C-CF80CA12A67E}"/>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B22B4456-3C67-D24A-BA0A-BF1D03932040}"/>
              </a:ext>
            </a:extLst>
          </p:cNvPr>
          <p:cNvSpPr>
            <a:spLocks noGrp="1"/>
          </p:cNvSpPr>
          <p:nvPr>
            <p:ph type="sldNum" sz="quarter" idx="12"/>
          </p:nvPr>
        </p:nvSpPr>
        <p:spPr/>
        <p:txBody>
          <a:bodyPr/>
          <a:lstStyle>
            <a:lvl1pPr>
              <a:defRPr>
                <a:solidFill>
                  <a:schemeClr val="tx1"/>
                </a:solidFill>
              </a:defRPr>
            </a:lvl1pPr>
          </a:lstStyle>
          <a:p>
            <a:fld id="{B7E7695C-FCF1-4AA0-9B93-7941FED13DC4}" type="slidenum">
              <a:rPr lang="en-US" smtClean="0"/>
              <a:pPr/>
              <a:t>‹#›</a:t>
            </a:fld>
            <a:endParaRPr lang="en-US" dirty="0"/>
          </a:p>
        </p:txBody>
      </p:sp>
      <p:grpSp>
        <p:nvGrpSpPr>
          <p:cNvPr id="16" name="Group 15">
            <a:extLst>
              <a:ext uri="{FF2B5EF4-FFF2-40B4-BE49-F238E27FC236}">
                <a16:creationId xmlns:a16="http://schemas.microsoft.com/office/drawing/2014/main" id="{8DC4FCCB-CCBE-7E4B-A589-0FC338EFFA64}"/>
              </a:ext>
            </a:extLst>
          </p:cNvPr>
          <p:cNvGrpSpPr/>
          <p:nvPr userDrawn="1"/>
        </p:nvGrpSpPr>
        <p:grpSpPr>
          <a:xfrm>
            <a:off x="3556774" y="2736865"/>
            <a:ext cx="5078452" cy="1384271"/>
            <a:chOff x="1233488" y="677863"/>
            <a:chExt cx="2882900" cy="785813"/>
          </a:xfrm>
          <a:solidFill>
            <a:schemeClr val="bg1"/>
          </a:solidFill>
        </p:grpSpPr>
        <p:sp>
          <p:nvSpPr>
            <p:cNvPr id="17" name="Freeform 35">
              <a:extLst>
                <a:ext uri="{FF2B5EF4-FFF2-40B4-BE49-F238E27FC236}">
                  <a16:creationId xmlns:a16="http://schemas.microsoft.com/office/drawing/2014/main" id="{433A1FF5-AF6D-124A-ACAF-A3575D9C6CA4}"/>
                </a:ext>
              </a:extLst>
            </p:cNvPr>
            <p:cNvSpPr>
              <a:spLocks/>
            </p:cNvSpPr>
            <p:nvPr/>
          </p:nvSpPr>
          <p:spPr bwMode="auto">
            <a:xfrm>
              <a:off x="2346326" y="944563"/>
              <a:ext cx="417513" cy="354013"/>
            </a:xfrm>
            <a:custGeom>
              <a:avLst/>
              <a:gdLst>
                <a:gd name="T0" fmla="*/ 310 w 525"/>
                <a:gd name="T1" fmla="*/ 445 h 445"/>
                <a:gd name="T2" fmla="*/ 250 w 525"/>
                <a:gd name="T3" fmla="*/ 440 h 445"/>
                <a:gd name="T4" fmla="*/ 193 w 525"/>
                <a:gd name="T5" fmla="*/ 428 h 445"/>
                <a:gd name="T6" fmla="*/ 140 w 525"/>
                <a:gd name="T7" fmla="*/ 409 h 445"/>
                <a:gd name="T8" fmla="*/ 94 w 525"/>
                <a:gd name="T9" fmla="*/ 383 h 445"/>
                <a:gd name="T10" fmla="*/ 55 w 525"/>
                <a:gd name="T11" fmla="*/ 350 h 445"/>
                <a:gd name="T12" fmla="*/ 25 w 525"/>
                <a:gd name="T13" fmla="*/ 313 h 445"/>
                <a:gd name="T14" fmla="*/ 14 w 525"/>
                <a:gd name="T15" fmla="*/ 291 h 445"/>
                <a:gd name="T16" fmla="*/ 7 w 525"/>
                <a:gd name="T17" fmla="*/ 269 h 445"/>
                <a:gd name="T18" fmla="*/ 1 w 525"/>
                <a:gd name="T19" fmla="*/ 246 h 445"/>
                <a:gd name="T20" fmla="*/ 0 w 525"/>
                <a:gd name="T21" fmla="*/ 222 h 445"/>
                <a:gd name="T22" fmla="*/ 0 w 525"/>
                <a:gd name="T23" fmla="*/ 210 h 445"/>
                <a:gd name="T24" fmla="*/ 3 w 525"/>
                <a:gd name="T25" fmla="*/ 187 h 445"/>
                <a:gd name="T26" fmla="*/ 11 w 525"/>
                <a:gd name="T27" fmla="*/ 164 h 445"/>
                <a:gd name="T28" fmla="*/ 19 w 525"/>
                <a:gd name="T29" fmla="*/ 143 h 445"/>
                <a:gd name="T30" fmla="*/ 38 w 525"/>
                <a:gd name="T31" fmla="*/ 113 h 445"/>
                <a:gd name="T32" fmla="*/ 73 w 525"/>
                <a:gd name="T33" fmla="*/ 78 h 445"/>
                <a:gd name="T34" fmla="*/ 116 w 525"/>
                <a:gd name="T35" fmla="*/ 48 h 445"/>
                <a:gd name="T36" fmla="*/ 166 w 525"/>
                <a:gd name="T37" fmla="*/ 25 h 445"/>
                <a:gd name="T38" fmla="*/ 221 w 525"/>
                <a:gd name="T39" fmla="*/ 9 h 445"/>
                <a:gd name="T40" fmla="*/ 281 w 525"/>
                <a:gd name="T41" fmla="*/ 1 h 445"/>
                <a:gd name="T42" fmla="*/ 311 w 525"/>
                <a:gd name="T43" fmla="*/ 0 h 445"/>
                <a:gd name="T44" fmla="*/ 364 w 525"/>
                <a:gd name="T45" fmla="*/ 3 h 445"/>
                <a:gd name="T46" fmla="*/ 416 w 525"/>
                <a:gd name="T47" fmla="*/ 14 h 445"/>
                <a:gd name="T48" fmla="*/ 468 w 525"/>
                <a:gd name="T49" fmla="*/ 32 h 445"/>
                <a:gd name="T50" fmla="*/ 523 w 525"/>
                <a:gd name="T51" fmla="*/ 58 h 445"/>
                <a:gd name="T52" fmla="*/ 471 w 525"/>
                <a:gd name="T53" fmla="*/ 124 h 445"/>
                <a:gd name="T54" fmla="*/ 434 w 525"/>
                <a:gd name="T55" fmla="*/ 108 h 445"/>
                <a:gd name="T56" fmla="*/ 396 w 525"/>
                <a:gd name="T57" fmla="*/ 98 h 445"/>
                <a:gd name="T58" fmla="*/ 355 w 525"/>
                <a:gd name="T59" fmla="*/ 90 h 445"/>
                <a:gd name="T60" fmla="*/ 311 w 525"/>
                <a:gd name="T61" fmla="*/ 88 h 445"/>
                <a:gd name="T62" fmla="*/ 298 w 525"/>
                <a:gd name="T63" fmla="*/ 89 h 445"/>
                <a:gd name="T64" fmla="*/ 271 w 525"/>
                <a:gd name="T65" fmla="*/ 93 h 445"/>
                <a:gd name="T66" fmla="*/ 246 w 525"/>
                <a:gd name="T67" fmla="*/ 100 h 445"/>
                <a:gd name="T68" fmla="*/ 222 w 525"/>
                <a:gd name="T69" fmla="*/ 112 h 445"/>
                <a:gd name="T70" fmla="*/ 200 w 525"/>
                <a:gd name="T71" fmla="*/ 128 h 445"/>
                <a:gd name="T72" fmla="*/ 182 w 525"/>
                <a:gd name="T73" fmla="*/ 150 h 445"/>
                <a:gd name="T74" fmla="*/ 170 w 525"/>
                <a:gd name="T75" fmla="*/ 175 h 445"/>
                <a:gd name="T76" fmla="*/ 163 w 525"/>
                <a:gd name="T77" fmla="*/ 205 h 445"/>
                <a:gd name="T78" fmla="*/ 162 w 525"/>
                <a:gd name="T79" fmla="*/ 222 h 445"/>
                <a:gd name="T80" fmla="*/ 165 w 525"/>
                <a:gd name="T81" fmla="*/ 256 h 445"/>
                <a:gd name="T82" fmla="*/ 175 w 525"/>
                <a:gd name="T83" fmla="*/ 284 h 445"/>
                <a:gd name="T84" fmla="*/ 191 w 525"/>
                <a:gd name="T85" fmla="*/ 306 h 445"/>
                <a:gd name="T86" fmla="*/ 210 w 525"/>
                <a:gd name="T87" fmla="*/ 326 h 445"/>
                <a:gd name="T88" fmla="*/ 233 w 525"/>
                <a:gd name="T89" fmla="*/ 339 h 445"/>
                <a:gd name="T90" fmla="*/ 258 w 525"/>
                <a:gd name="T91" fmla="*/ 349 h 445"/>
                <a:gd name="T92" fmla="*/ 285 w 525"/>
                <a:gd name="T93" fmla="*/ 355 h 445"/>
                <a:gd name="T94" fmla="*/ 311 w 525"/>
                <a:gd name="T95" fmla="*/ 357 h 445"/>
                <a:gd name="T96" fmla="*/ 333 w 525"/>
                <a:gd name="T97" fmla="*/ 356 h 445"/>
                <a:gd name="T98" fmla="*/ 375 w 525"/>
                <a:gd name="T99" fmla="*/ 352 h 445"/>
                <a:gd name="T100" fmla="*/ 416 w 525"/>
                <a:gd name="T101" fmla="*/ 344 h 445"/>
                <a:gd name="T102" fmla="*/ 455 w 525"/>
                <a:gd name="T103" fmla="*/ 332 h 445"/>
                <a:gd name="T104" fmla="*/ 525 w 525"/>
                <a:gd name="T105" fmla="*/ 393 h 445"/>
                <a:gd name="T106" fmla="*/ 501 w 525"/>
                <a:gd name="T107" fmla="*/ 405 h 445"/>
                <a:gd name="T108" fmla="*/ 451 w 525"/>
                <a:gd name="T109" fmla="*/ 425 h 445"/>
                <a:gd name="T110" fmla="*/ 397 w 525"/>
                <a:gd name="T111" fmla="*/ 438 h 445"/>
                <a:gd name="T112" fmla="*/ 340 w 525"/>
                <a:gd name="T113" fmla="*/ 444 h 445"/>
                <a:gd name="T114" fmla="*/ 310 w 525"/>
                <a:gd name="T115"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5" h="445">
                  <a:moveTo>
                    <a:pt x="310" y="445"/>
                  </a:moveTo>
                  <a:lnTo>
                    <a:pt x="310" y="445"/>
                  </a:lnTo>
                  <a:lnTo>
                    <a:pt x="280" y="444"/>
                  </a:lnTo>
                  <a:lnTo>
                    <a:pt x="250" y="440"/>
                  </a:lnTo>
                  <a:lnTo>
                    <a:pt x="221" y="436"/>
                  </a:lnTo>
                  <a:lnTo>
                    <a:pt x="193" y="428"/>
                  </a:lnTo>
                  <a:lnTo>
                    <a:pt x="165" y="420"/>
                  </a:lnTo>
                  <a:lnTo>
                    <a:pt x="140" y="409"/>
                  </a:lnTo>
                  <a:lnTo>
                    <a:pt x="116" y="397"/>
                  </a:lnTo>
                  <a:lnTo>
                    <a:pt x="94" y="383"/>
                  </a:lnTo>
                  <a:lnTo>
                    <a:pt x="73" y="367"/>
                  </a:lnTo>
                  <a:lnTo>
                    <a:pt x="55" y="350"/>
                  </a:lnTo>
                  <a:lnTo>
                    <a:pt x="38" y="332"/>
                  </a:lnTo>
                  <a:lnTo>
                    <a:pt x="25" y="313"/>
                  </a:lnTo>
                  <a:lnTo>
                    <a:pt x="19" y="302"/>
                  </a:lnTo>
                  <a:lnTo>
                    <a:pt x="14" y="291"/>
                  </a:lnTo>
                  <a:lnTo>
                    <a:pt x="11" y="280"/>
                  </a:lnTo>
                  <a:lnTo>
                    <a:pt x="7" y="269"/>
                  </a:lnTo>
                  <a:lnTo>
                    <a:pt x="3" y="258"/>
                  </a:lnTo>
                  <a:lnTo>
                    <a:pt x="1" y="246"/>
                  </a:lnTo>
                  <a:lnTo>
                    <a:pt x="0" y="234"/>
                  </a:lnTo>
                  <a:lnTo>
                    <a:pt x="0" y="222"/>
                  </a:lnTo>
                  <a:lnTo>
                    <a:pt x="0" y="222"/>
                  </a:lnTo>
                  <a:lnTo>
                    <a:pt x="0" y="210"/>
                  </a:lnTo>
                  <a:lnTo>
                    <a:pt x="1" y="199"/>
                  </a:lnTo>
                  <a:lnTo>
                    <a:pt x="3" y="187"/>
                  </a:lnTo>
                  <a:lnTo>
                    <a:pt x="7" y="176"/>
                  </a:lnTo>
                  <a:lnTo>
                    <a:pt x="11" y="164"/>
                  </a:lnTo>
                  <a:lnTo>
                    <a:pt x="14" y="153"/>
                  </a:lnTo>
                  <a:lnTo>
                    <a:pt x="19" y="143"/>
                  </a:lnTo>
                  <a:lnTo>
                    <a:pt x="25" y="133"/>
                  </a:lnTo>
                  <a:lnTo>
                    <a:pt x="38" y="113"/>
                  </a:lnTo>
                  <a:lnTo>
                    <a:pt x="55" y="95"/>
                  </a:lnTo>
                  <a:lnTo>
                    <a:pt x="73" y="78"/>
                  </a:lnTo>
                  <a:lnTo>
                    <a:pt x="94" y="63"/>
                  </a:lnTo>
                  <a:lnTo>
                    <a:pt x="116" y="48"/>
                  </a:lnTo>
                  <a:lnTo>
                    <a:pt x="140" y="36"/>
                  </a:lnTo>
                  <a:lnTo>
                    <a:pt x="166" y="25"/>
                  </a:lnTo>
                  <a:lnTo>
                    <a:pt x="193" y="17"/>
                  </a:lnTo>
                  <a:lnTo>
                    <a:pt x="221" y="9"/>
                  </a:lnTo>
                  <a:lnTo>
                    <a:pt x="251" y="3"/>
                  </a:lnTo>
                  <a:lnTo>
                    <a:pt x="281" y="1"/>
                  </a:lnTo>
                  <a:lnTo>
                    <a:pt x="311" y="0"/>
                  </a:lnTo>
                  <a:lnTo>
                    <a:pt x="311" y="0"/>
                  </a:lnTo>
                  <a:lnTo>
                    <a:pt x="338" y="1"/>
                  </a:lnTo>
                  <a:lnTo>
                    <a:pt x="364" y="3"/>
                  </a:lnTo>
                  <a:lnTo>
                    <a:pt x="390" y="7"/>
                  </a:lnTo>
                  <a:lnTo>
                    <a:pt x="416" y="14"/>
                  </a:lnTo>
                  <a:lnTo>
                    <a:pt x="443" y="22"/>
                  </a:lnTo>
                  <a:lnTo>
                    <a:pt x="468" y="32"/>
                  </a:lnTo>
                  <a:lnTo>
                    <a:pt x="495" y="44"/>
                  </a:lnTo>
                  <a:lnTo>
                    <a:pt x="523" y="58"/>
                  </a:lnTo>
                  <a:lnTo>
                    <a:pt x="471" y="124"/>
                  </a:lnTo>
                  <a:lnTo>
                    <a:pt x="471" y="124"/>
                  </a:lnTo>
                  <a:lnTo>
                    <a:pt x="454" y="116"/>
                  </a:lnTo>
                  <a:lnTo>
                    <a:pt x="434" y="108"/>
                  </a:lnTo>
                  <a:lnTo>
                    <a:pt x="415" y="102"/>
                  </a:lnTo>
                  <a:lnTo>
                    <a:pt x="396" y="98"/>
                  </a:lnTo>
                  <a:lnTo>
                    <a:pt x="375" y="94"/>
                  </a:lnTo>
                  <a:lnTo>
                    <a:pt x="355" y="90"/>
                  </a:lnTo>
                  <a:lnTo>
                    <a:pt x="333" y="89"/>
                  </a:lnTo>
                  <a:lnTo>
                    <a:pt x="311" y="88"/>
                  </a:lnTo>
                  <a:lnTo>
                    <a:pt x="311" y="88"/>
                  </a:lnTo>
                  <a:lnTo>
                    <a:pt x="298" y="89"/>
                  </a:lnTo>
                  <a:lnTo>
                    <a:pt x="285" y="90"/>
                  </a:lnTo>
                  <a:lnTo>
                    <a:pt x="271" y="93"/>
                  </a:lnTo>
                  <a:lnTo>
                    <a:pt x="258" y="95"/>
                  </a:lnTo>
                  <a:lnTo>
                    <a:pt x="246" y="100"/>
                  </a:lnTo>
                  <a:lnTo>
                    <a:pt x="234" y="105"/>
                  </a:lnTo>
                  <a:lnTo>
                    <a:pt x="222" y="112"/>
                  </a:lnTo>
                  <a:lnTo>
                    <a:pt x="211" y="119"/>
                  </a:lnTo>
                  <a:lnTo>
                    <a:pt x="200" y="128"/>
                  </a:lnTo>
                  <a:lnTo>
                    <a:pt x="191" y="137"/>
                  </a:lnTo>
                  <a:lnTo>
                    <a:pt x="182" y="150"/>
                  </a:lnTo>
                  <a:lnTo>
                    <a:pt x="176" y="162"/>
                  </a:lnTo>
                  <a:lnTo>
                    <a:pt x="170" y="175"/>
                  </a:lnTo>
                  <a:lnTo>
                    <a:pt x="165" y="189"/>
                  </a:lnTo>
                  <a:lnTo>
                    <a:pt x="163" y="205"/>
                  </a:lnTo>
                  <a:lnTo>
                    <a:pt x="162" y="222"/>
                  </a:lnTo>
                  <a:lnTo>
                    <a:pt x="162" y="222"/>
                  </a:lnTo>
                  <a:lnTo>
                    <a:pt x="163" y="240"/>
                  </a:lnTo>
                  <a:lnTo>
                    <a:pt x="165" y="256"/>
                  </a:lnTo>
                  <a:lnTo>
                    <a:pt x="170" y="270"/>
                  </a:lnTo>
                  <a:lnTo>
                    <a:pt x="175" y="284"/>
                  </a:lnTo>
                  <a:lnTo>
                    <a:pt x="182" y="296"/>
                  </a:lnTo>
                  <a:lnTo>
                    <a:pt x="191" y="306"/>
                  </a:lnTo>
                  <a:lnTo>
                    <a:pt x="200" y="317"/>
                  </a:lnTo>
                  <a:lnTo>
                    <a:pt x="210" y="326"/>
                  </a:lnTo>
                  <a:lnTo>
                    <a:pt x="221" y="333"/>
                  </a:lnTo>
                  <a:lnTo>
                    <a:pt x="233" y="339"/>
                  </a:lnTo>
                  <a:lnTo>
                    <a:pt x="245" y="345"/>
                  </a:lnTo>
                  <a:lnTo>
                    <a:pt x="258" y="349"/>
                  </a:lnTo>
                  <a:lnTo>
                    <a:pt x="271" y="352"/>
                  </a:lnTo>
                  <a:lnTo>
                    <a:pt x="285" y="355"/>
                  </a:lnTo>
                  <a:lnTo>
                    <a:pt x="298" y="356"/>
                  </a:lnTo>
                  <a:lnTo>
                    <a:pt x="311" y="357"/>
                  </a:lnTo>
                  <a:lnTo>
                    <a:pt x="311" y="357"/>
                  </a:lnTo>
                  <a:lnTo>
                    <a:pt x="333" y="356"/>
                  </a:lnTo>
                  <a:lnTo>
                    <a:pt x="355" y="355"/>
                  </a:lnTo>
                  <a:lnTo>
                    <a:pt x="375" y="352"/>
                  </a:lnTo>
                  <a:lnTo>
                    <a:pt x="396" y="349"/>
                  </a:lnTo>
                  <a:lnTo>
                    <a:pt x="416" y="344"/>
                  </a:lnTo>
                  <a:lnTo>
                    <a:pt x="436" y="338"/>
                  </a:lnTo>
                  <a:lnTo>
                    <a:pt x="455" y="332"/>
                  </a:lnTo>
                  <a:lnTo>
                    <a:pt x="473" y="325"/>
                  </a:lnTo>
                  <a:lnTo>
                    <a:pt x="525" y="393"/>
                  </a:lnTo>
                  <a:lnTo>
                    <a:pt x="525" y="393"/>
                  </a:lnTo>
                  <a:lnTo>
                    <a:pt x="501" y="405"/>
                  </a:lnTo>
                  <a:lnTo>
                    <a:pt x="477" y="415"/>
                  </a:lnTo>
                  <a:lnTo>
                    <a:pt x="451" y="425"/>
                  </a:lnTo>
                  <a:lnTo>
                    <a:pt x="425" y="432"/>
                  </a:lnTo>
                  <a:lnTo>
                    <a:pt x="397" y="438"/>
                  </a:lnTo>
                  <a:lnTo>
                    <a:pt x="369" y="442"/>
                  </a:lnTo>
                  <a:lnTo>
                    <a:pt x="340" y="444"/>
                  </a:lnTo>
                  <a:lnTo>
                    <a:pt x="310" y="445"/>
                  </a:lnTo>
                  <a:lnTo>
                    <a:pt x="310" y="4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8" name="Freeform 36">
              <a:extLst>
                <a:ext uri="{FF2B5EF4-FFF2-40B4-BE49-F238E27FC236}">
                  <a16:creationId xmlns:a16="http://schemas.microsoft.com/office/drawing/2014/main" id="{7CB889FE-2D70-0A49-B056-1C7476B8F792}"/>
                </a:ext>
              </a:extLst>
            </p:cNvPr>
            <p:cNvSpPr>
              <a:spLocks noEditPoints="1"/>
            </p:cNvSpPr>
            <p:nvPr/>
          </p:nvSpPr>
          <p:spPr bwMode="auto">
            <a:xfrm>
              <a:off x="3087688" y="942976"/>
              <a:ext cx="493713" cy="355600"/>
            </a:xfrm>
            <a:custGeom>
              <a:avLst/>
              <a:gdLst>
                <a:gd name="T0" fmla="*/ 459 w 622"/>
                <a:gd name="T1" fmla="*/ 241 h 447"/>
                <a:gd name="T2" fmla="*/ 447 w 622"/>
                <a:gd name="T3" fmla="*/ 285 h 447"/>
                <a:gd name="T4" fmla="*/ 421 w 622"/>
                <a:gd name="T5" fmla="*/ 318 h 447"/>
                <a:gd name="T6" fmla="*/ 389 w 622"/>
                <a:gd name="T7" fmla="*/ 341 h 447"/>
                <a:gd name="T8" fmla="*/ 350 w 622"/>
                <a:gd name="T9" fmla="*/ 354 h 447"/>
                <a:gd name="T10" fmla="*/ 310 w 622"/>
                <a:gd name="T11" fmla="*/ 358 h 447"/>
                <a:gd name="T12" fmla="*/ 285 w 622"/>
                <a:gd name="T13" fmla="*/ 357 h 447"/>
                <a:gd name="T14" fmla="*/ 245 w 622"/>
                <a:gd name="T15" fmla="*/ 346 h 447"/>
                <a:gd name="T16" fmla="*/ 210 w 622"/>
                <a:gd name="T17" fmla="*/ 326 h 447"/>
                <a:gd name="T18" fmla="*/ 182 w 622"/>
                <a:gd name="T19" fmla="*/ 297 h 447"/>
                <a:gd name="T20" fmla="*/ 165 w 622"/>
                <a:gd name="T21" fmla="*/ 258 h 447"/>
                <a:gd name="T22" fmla="*/ 162 w 622"/>
                <a:gd name="T23" fmla="*/ 224 h 447"/>
                <a:gd name="T24" fmla="*/ 169 w 622"/>
                <a:gd name="T25" fmla="*/ 175 h 447"/>
                <a:gd name="T26" fmla="*/ 191 w 622"/>
                <a:gd name="T27" fmla="*/ 139 h 447"/>
                <a:gd name="T28" fmla="*/ 221 w 622"/>
                <a:gd name="T29" fmla="*/ 113 h 447"/>
                <a:gd name="T30" fmla="*/ 258 w 622"/>
                <a:gd name="T31" fmla="*/ 97 h 447"/>
                <a:gd name="T32" fmla="*/ 298 w 622"/>
                <a:gd name="T33" fmla="*/ 90 h 447"/>
                <a:gd name="T34" fmla="*/ 323 w 622"/>
                <a:gd name="T35" fmla="*/ 90 h 447"/>
                <a:gd name="T36" fmla="*/ 363 w 622"/>
                <a:gd name="T37" fmla="*/ 97 h 447"/>
                <a:gd name="T38" fmla="*/ 400 w 622"/>
                <a:gd name="T39" fmla="*/ 113 h 447"/>
                <a:gd name="T40" fmla="*/ 431 w 622"/>
                <a:gd name="T41" fmla="*/ 139 h 447"/>
                <a:gd name="T42" fmla="*/ 451 w 622"/>
                <a:gd name="T43" fmla="*/ 175 h 447"/>
                <a:gd name="T44" fmla="*/ 460 w 622"/>
                <a:gd name="T45" fmla="*/ 224 h 447"/>
                <a:gd name="T46" fmla="*/ 310 w 622"/>
                <a:gd name="T47" fmla="*/ 447 h 447"/>
                <a:gd name="T48" fmla="*/ 401 w 622"/>
                <a:gd name="T49" fmla="*/ 437 h 447"/>
                <a:gd name="T50" fmla="*/ 482 w 622"/>
                <a:gd name="T51" fmla="*/ 411 h 447"/>
                <a:gd name="T52" fmla="*/ 548 w 622"/>
                <a:gd name="T53" fmla="*/ 369 h 447"/>
                <a:gd name="T54" fmla="*/ 596 w 622"/>
                <a:gd name="T55" fmla="*/ 313 h 447"/>
                <a:gd name="T56" fmla="*/ 612 w 622"/>
                <a:gd name="T57" fmla="*/ 282 h 447"/>
                <a:gd name="T58" fmla="*/ 620 w 622"/>
                <a:gd name="T59" fmla="*/ 248 h 447"/>
                <a:gd name="T60" fmla="*/ 622 w 622"/>
                <a:gd name="T61" fmla="*/ 224 h 447"/>
                <a:gd name="T62" fmla="*/ 618 w 622"/>
                <a:gd name="T63" fmla="*/ 189 h 447"/>
                <a:gd name="T64" fmla="*/ 607 w 622"/>
                <a:gd name="T65" fmla="*/ 155 h 447"/>
                <a:gd name="T66" fmla="*/ 583 w 622"/>
                <a:gd name="T67" fmla="*/ 115 h 447"/>
                <a:gd name="T68" fmla="*/ 529 w 622"/>
                <a:gd name="T69" fmla="*/ 63 h 447"/>
                <a:gd name="T70" fmla="*/ 456 w 622"/>
                <a:gd name="T71" fmla="*/ 27 h 447"/>
                <a:gd name="T72" fmla="*/ 372 w 622"/>
                <a:gd name="T73" fmla="*/ 5 h 447"/>
                <a:gd name="T74" fmla="*/ 310 w 622"/>
                <a:gd name="T75" fmla="*/ 0 h 447"/>
                <a:gd name="T76" fmla="*/ 221 w 622"/>
                <a:gd name="T77" fmla="*/ 10 h 447"/>
                <a:gd name="T78" fmla="*/ 140 w 622"/>
                <a:gd name="T79" fmla="*/ 38 h 447"/>
                <a:gd name="T80" fmla="*/ 72 w 622"/>
                <a:gd name="T81" fmla="*/ 79 h 447"/>
                <a:gd name="T82" fmla="*/ 25 w 622"/>
                <a:gd name="T83" fmla="*/ 134 h 447"/>
                <a:gd name="T84" fmla="*/ 10 w 622"/>
                <a:gd name="T85" fmla="*/ 166 h 447"/>
                <a:gd name="T86" fmla="*/ 1 w 622"/>
                <a:gd name="T87" fmla="*/ 200 h 447"/>
                <a:gd name="T88" fmla="*/ 0 w 622"/>
                <a:gd name="T89" fmla="*/ 224 h 447"/>
                <a:gd name="T90" fmla="*/ 4 w 622"/>
                <a:gd name="T91" fmla="*/ 259 h 447"/>
                <a:gd name="T92" fmla="*/ 14 w 622"/>
                <a:gd name="T93" fmla="*/ 293 h 447"/>
                <a:gd name="T94" fmla="*/ 39 w 622"/>
                <a:gd name="T95" fmla="*/ 332 h 447"/>
                <a:gd name="T96" fmla="*/ 93 w 622"/>
                <a:gd name="T97" fmla="*/ 384 h 447"/>
                <a:gd name="T98" fmla="*/ 165 w 622"/>
                <a:gd name="T99" fmla="*/ 421 h 447"/>
                <a:gd name="T100" fmla="*/ 250 w 622"/>
                <a:gd name="T101" fmla="*/ 442 h 447"/>
                <a:gd name="T102" fmla="*/ 310 w 622"/>
                <a:gd name="T103" fmla="*/ 447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22" h="447">
                  <a:moveTo>
                    <a:pt x="460" y="224"/>
                  </a:moveTo>
                  <a:lnTo>
                    <a:pt x="460" y="224"/>
                  </a:lnTo>
                  <a:lnTo>
                    <a:pt x="459" y="241"/>
                  </a:lnTo>
                  <a:lnTo>
                    <a:pt x="456" y="258"/>
                  </a:lnTo>
                  <a:lnTo>
                    <a:pt x="451" y="272"/>
                  </a:lnTo>
                  <a:lnTo>
                    <a:pt x="447" y="285"/>
                  </a:lnTo>
                  <a:lnTo>
                    <a:pt x="439" y="297"/>
                  </a:lnTo>
                  <a:lnTo>
                    <a:pt x="431" y="308"/>
                  </a:lnTo>
                  <a:lnTo>
                    <a:pt x="421" y="318"/>
                  </a:lnTo>
                  <a:lnTo>
                    <a:pt x="412" y="326"/>
                  </a:lnTo>
                  <a:lnTo>
                    <a:pt x="400" y="335"/>
                  </a:lnTo>
                  <a:lnTo>
                    <a:pt x="389" y="341"/>
                  </a:lnTo>
                  <a:lnTo>
                    <a:pt x="375" y="346"/>
                  </a:lnTo>
                  <a:lnTo>
                    <a:pt x="363" y="351"/>
                  </a:lnTo>
                  <a:lnTo>
                    <a:pt x="350" y="354"/>
                  </a:lnTo>
                  <a:lnTo>
                    <a:pt x="337" y="357"/>
                  </a:lnTo>
                  <a:lnTo>
                    <a:pt x="323" y="358"/>
                  </a:lnTo>
                  <a:lnTo>
                    <a:pt x="310" y="358"/>
                  </a:lnTo>
                  <a:lnTo>
                    <a:pt x="310" y="358"/>
                  </a:lnTo>
                  <a:lnTo>
                    <a:pt x="298" y="358"/>
                  </a:lnTo>
                  <a:lnTo>
                    <a:pt x="285" y="357"/>
                  </a:lnTo>
                  <a:lnTo>
                    <a:pt x="272" y="354"/>
                  </a:lnTo>
                  <a:lnTo>
                    <a:pt x="258" y="351"/>
                  </a:lnTo>
                  <a:lnTo>
                    <a:pt x="245" y="346"/>
                  </a:lnTo>
                  <a:lnTo>
                    <a:pt x="233" y="341"/>
                  </a:lnTo>
                  <a:lnTo>
                    <a:pt x="221" y="335"/>
                  </a:lnTo>
                  <a:lnTo>
                    <a:pt x="210" y="326"/>
                  </a:lnTo>
                  <a:lnTo>
                    <a:pt x="200" y="318"/>
                  </a:lnTo>
                  <a:lnTo>
                    <a:pt x="191" y="308"/>
                  </a:lnTo>
                  <a:lnTo>
                    <a:pt x="182" y="297"/>
                  </a:lnTo>
                  <a:lnTo>
                    <a:pt x="175" y="285"/>
                  </a:lnTo>
                  <a:lnTo>
                    <a:pt x="169" y="272"/>
                  </a:lnTo>
                  <a:lnTo>
                    <a:pt x="165" y="258"/>
                  </a:lnTo>
                  <a:lnTo>
                    <a:pt x="163" y="241"/>
                  </a:lnTo>
                  <a:lnTo>
                    <a:pt x="162" y="224"/>
                  </a:lnTo>
                  <a:lnTo>
                    <a:pt x="162" y="224"/>
                  </a:lnTo>
                  <a:lnTo>
                    <a:pt x="163" y="207"/>
                  </a:lnTo>
                  <a:lnTo>
                    <a:pt x="165" y="191"/>
                  </a:lnTo>
                  <a:lnTo>
                    <a:pt x="169" y="175"/>
                  </a:lnTo>
                  <a:lnTo>
                    <a:pt x="175" y="162"/>
                  </a:lnTo>
                  <a:lnTo>
                    <a:pt x="182" y="150"/>
                  </a:lnTo>
                  <a:lnTo>
                    <a:pt x="191" y="139"/>
                  </a:lnTo>
                  <a:lnTo>
                    <a:pt x="200" y="130"/>
                  </a:lnTo>
                  <a:lnTo>
                    <a:pt x="210" y="121"/>
                  </a:lnTo>
                  <a:lnTo>
                    <a:pt x="221" y="113"/>
                  </a:lnTo>
                  <a:lnTo>
                    <a:pt x="233" y="107"/>
                  </a:lnTo>
                  <a:lnTo>
                    <a:pt x="245" y="102"/>
                  </a:lnTo>
                  <a:lnTo>
                    <a:pt x="258" y="97"/>
                  </a:lnTo>
                  <a:lnTo>
                    <a:pt x="272" y="93"/>
                  </a:lnTo>
                  <a:lnTo>
                    <a:pt x="285" y="91"/>
                  </a:lnTo>
                  <a:lnTo>
                    <a:pt x="298" y="90"/>
                  </a:lnTo>
                  <a:lnTo>
                    <a:pt x="310" y="90"/>
                  </a:lnTo>
                  <a:lnTo>
                    <a:pt x="310" y="90"/>
                  </a:lnTo>
                  <a:lnTo>
                    <a:pt x="323" y="90"/>
                  </a:lnTo>
                  <a:lnTo>
                    <a:pt x="337" y="91"/>
                  </a:lnTo>
                  <a:lnTo>
                    <a:pt x="350" y="93"/>
                  </a:lnTo>
                  <a:lnTo>
                    <a:pt x="363" y="97"/>
                  </a:lnTo>
                  <a:lnTo>
                    <a:pt x="375" y="102"/>
                  </a:lnTo>
                  <a:lnTo>
                    <a:pt x="389" y="107"/>
                  </a:lnTo>
                  <a:lnTo>
                    <a:pt x="400" y="113"/>
                  </a:lnTo>
                  <a:lnTo>
                    <a:pt x="412" y="121"/>
                  </a:lnTo>
                  <a:lnTo>
                    <a:pt x="421" y="130"/>
                  </a:lnTo>
                  <a:lnTo>
                    <a:pt x="431" y="139"/>
                  </a:lnTo>
                  <a:lnTo>
                    <a:pt x="439" y="150"/>
                  </a:lnTo>
                  <a:lnTo>
                    <a:pt x="447" y="162"/>
                  </a:lnTo>
                  <a:lnTo>
                    <a:pt x="451" y="175"/>
                  </a:lnTo>
                  <a:lnTo>
                    <a:pt x="456" y="191"/>
                  </a:lnTo>
                  <a:lnTo>
                    <a:pt x="459" y="207"/>
                  </a:lnTo>
                  <a:lnTo>
                    <a:pt x="460" y="224"/>
                  </a:lnTo>
                  <a:lnTo>
                    <a:pt x="460" y="224"/>
                  </a:lnTo>
                  <a:close/>
                  <a:moveTo>
                    <a:pt x="310" y="447"/>
                  </a:moveTo>
                  <a:lnTo>
                    <a:pt x="310" y="447"/>
                  </a:lnTo>
                  <a:lnTo>
                    <a:pt x="342" y="446"/>
                  </a:lnTo>
                  <a:lnTo>
                    <a:pt x="372" y="442"/>
                  </a:lnTo>
                  <a:lnTo>
                    <a:pt x="401" y="437"/>
                  </a:lnTo>
                  <a:lnTo>
                    <a:pt x="429" y="430"/>
                  </a:lnTo>
                  <a:lnTo>
                    <a:pt x="456" y="421"/>
                  </a:lnTo>
                  <a:lnTo>
                    <a:pt x="482" y="411"/>
                  </a:lnTo>
                  <a:lnTo>
                    <a:pt x="506" y="398"/>
                  </a:lnTo>
                  <a:lnTo>
                    <a:pt x="529" y="384"/>
                  </a:lnTo>
                  <a:lnTo>
                    <a:pt x="548" y="369"/>
                  </a:lnTo>
                  <a:lnTo>
                    <a:pt x="567" y="352"/>
                  </a:lnTo>
                  <a:lnTo>
                    <a:pt x="583" y="332"/>
                  </a:lnTo>
                  <a:lnTo>
                    <a:pt x="596" y="313"/>
                  </a:lnTo>
                  <a:lnTo>
                    <a:pt x="602" y="303"/>
                  </a:lnTo>
                  <a:lnTo>
                    <a:pt x="607" y="293"/>
                  </a:lnTo>
                  <a:lnTo>
                    <a:pt x="612" y="282"/>
                  </a:lnTo>
                  <a:lnTo>
                    <a:pt x="616" y="271"/>
                  </a:lnTo>
                  <a:lnTo>
                    <a:pt x="618" y="259"/>
                  </a:lnTo>
                  <a:lnTo>
                    <a:pt x="620" y="248"/>
                  </a:lnTo>
                  <a:lnTo>
                    <a:pt x="622" y="236"/>
                  </a:lnTo>
                  <a:lnTo>
                    <a:pt x="622" y="224"/>
                  </a:lnTo>
                  <a:lnTo>
                    <a:pt x="622" y="224"/>
                  </a:lnTo>
                  <a:lnTo>
                    <a:pt x="622" y="212"/>
                  </a:lnTo>
                  <a:lnTo>
                    <a:pt x="620" y="200"/>
                  </a:lnTo>
                  <a:lnTo>
                    <a:pt x="618" y="189"/>
                  </a:lnTo>
                  <a:lnTo>
                    <a:pt x="616" y="177"/>
                  </a:lnTo>
                  <a:lnTo>
                    <a:pt x="612" y="166"/>
                  </a:lnTo>
                  <a:lnTo>
                    <a:pt x="607" y="155"/>
                  </a:lnTo>
                  <a:lnTo>
                    <a:pt x="602" y="144"/>
                  </a:lnTo>
                  <a:lnTo>
                    <a:pt x="596" y="134"/>
                  </a:lnTo>
                  <a:lnTo>
                    <a:pt x="583" y="115"/>
                  </a:lnTo>
                  <a:lnTo>
                    <a:pt x="567" y="96"/>
                  </a:lnTo>
                  <a:lnTo>
                    <a:pt x="548" y="79"/>
                  </a:lnTo>
                  <a:lnTo>
                    <a:pt x="529" y="63"/>
                  </a:lnTo>
                  <a:lnTo>
                    <a:pt x="506" y="50"/>
                  </a:lnTo>
                  <a:lnTo>
                    <a:pt x="482" y="38"/>
                  </a:lnTo>
                  <a:lnTo>
                    <a:pt x="456" y="27"/>
                  </a:lnTo>
                  <a:lnTo>
                    <a:pt x="429" y="17"/>
                  </a:lnTo>
                  <a:lnTo>
                    <a:pt x="401" y="10"/>
                  </a:lnTo>
                  <a:lnTo>
                    <a:pt x="372" y="5"/>
                  </a:lnTo>
                  <a:lnTo>
                    <a:pt x="342" y="2"/>
                  </a:lnTo>
                  <a:lnTo>
                    <a:pt x="310" y="0"/>
                  </a:lnTo>
                  <a:lnTo>
                    <a:pt x="310" y="0"/>
                  </a:lnTo>
                  <a:lnTo>
                    <a:pt x="280" y="2"/>
                  </a:lnTo>
                  <a:lnTo>
                    <a:pt x="250" y="5"/>
                  </a:lnTo>
                  <a:lnTo>
                    <a:pt x="221" y="10"/>
                  </a:lnTo>
                  <a:lnTo>
                    <a:pt x="193" y="17"/>
                  </a:lnTo>
                  <a:lnTo>
                    <a:pt x="165" y="27"/>
                  </a:lnTo>
                  <a:lnTo>
                    <a:pt x="140" y="38"/>
                  </a:lnTo>
                  <a:lnTo>
                    <a:pt x="116" y="50"/>
                  </a:lnTo>
                  <a:lnTo>
                    <a:pt x="93" y="63"/>
                  </a:lnTo>
                  <a:lnTo>
                    <a:pt x="72" y="79"/>
                  </a:lnTo>
                  <a:lnTo>
                    <a:pt x="54" y="96"/>
                  </a:lnTo>
                  <a:lnTo>
                    <a:pt x="39" y="115"/>
                  </a:lnTo>
                  <a:lnTo>
                    <a:pt x="25" y="134"/>
                  </a:lnTo>
                  <a:lnTo>
                    <a:pt x="19" y="144"/>
                  </a:lnTo>
                  <a:lnTo>
                    <a:pt x="14" y="155"/>
                  </a:lnTo>
                  <a:lnTo>
                    <a:pt x="10" y="166"/>
                  </a:lnTo>
                  <a:lnTo>
                    <a:pt x="6" y="177"/>
                  </a:lnTo>
                  <a:lnTo>
                    <a:pt x="4" y="189"/>
                  </a:lnTo>
                  <a:lnTo>
                    <a:pt x="1" y="200"/>
                  </a:lnTo>
                  <a:lnTo>
                    <a:pt x="0" y="212"/>
                  </a:lnTo>
                  <a:lnTo>
                    <a:pt x="0" y="224"/>
                  </a:lnTo>
                  <a:lnTo>
                    <a:pt x="0" y="224"/>
                  </a:lnTo>
                  <a:lnTo>
                    <a:pt x="0" y="236"/>
                  </a:lnTo>
                  <a:lnTo>
                    <a:pt x="1" y="248"/>
                  </a:lnTo>
                  <a:lnTo>
                    <a:pt x="4" y="259"/>
                  </a:lnTo>
                  <a:lnTo>
                    <a:pt x="6" y="271"/>
                  </a:lnTo>
                  <a:lnTo>
                    <a:pt x="10" y="282"/>
                  </a:lnTo>
                  <a:lnTo>
                    <a:pt x="14" y="293"/>
                  </a:lnTo>
                  <a:lnTo>
                    <a:pt x="19" y="303"/>
                  </a:lnTo>
                  <a:lnTo>
                    <a:pt x="25" y="313"/>
                  </a:lnTo>
                  <a:lnTo>
                    <a:pt x="39" y="332"/>
                  </a:lnTo>
                  <a:lnTo>
                    <a:pt x="54" y="352"/>
                  </a:lnTo>
                  <a:lnTo>
                    <a:pt x="72" y="369"/>
                  </a:lnTo>
                  <a:lnTo>
                    <a:pt x="93" y="384"/>
                  </a:lnTo>
                  <a:lnTo>
                    <a:pt x="116" y="398"/>
                  </a:lnTo>
                  <a:lnTo>
                    <a:pt x="140" y="411"/>
                  </a:lnTo>
                  <a:lnTo>
                    <a:pt x="165" y="421"/>
                  </a:lnTo>
                  <a:lnTo>
                    <a:pt x="193" y="430"/>
                  </a:lnTo>
                  <a:lnTo>
                    <a:pt x="221" y="437"/>
                  </a:lnTo>
                  <a:lnTo>
                    <a:pt x="250" y="442"/>
                  </a:lnTo>
                  <a:lnTo>
                    <a:pt x="280" y="446"/>
                  </a:lnTo>
                  <a:lnTo>
                    <a:pt x="310" y="447"/>
                  </a:lnTo>
                  <a:lnTo>
                    <a:pt x="310" y="4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19" name="Freeform 37">
              <a:extLst>
                <a:ext uri="{FF2B5EF4-FFF2-40B4-BE49-F238E27FC236}">
                  <a16:creationId xmlns:a16="http://schemas.microsoft.com/office/drawing/2014/main" id="{9ACEE2A6-AE3F-F143-9CD3-1095B2E3AB0A}"/>
                </a:ext>
              </a:extLst>
            </p:cNvPr>
            <p:cNvSpPr>
              <a:spLocks/>
            </p:cNvSpPr>
            <p:nvPr/>
          </p:nvSpPr>
          <p:spPr bwMode="auto">
            <a:xfrm>
              <a:off x="3633788" y="938213"/>
              <a:ext cx="360363" cy="350838"/>
            </a:xfrm>
            <a:custGeom>
              <a:avLst/>
              <a:gdLst>
                <a:gd name="T0" fmla="*/ 155 w 454"/>
                <a:gd name="T1" fmla="*/ 442 h 442"/>
                <a:gd name="T2" fmla="*/ 155 w 454"/>
                <a:gd name="T3" fmla="*/ 177 h 442"/>
                <a:gd name="T4" fmla="*/ 159 w 454"/>
                <a:gd name="T5" fmla="*/ 149 h 442"/>
                <a:gd name="T6" fmla="*/ 174 w 454"/>
                <a:gd name="T7" fmla="*/ 125 h 442"/>
                <a:gd name="T8" fmla="*/ 185 w 454"/>
                <a:gd name="T9" fmla="*/ 114 h 442"/>
                <a:gd name="T10" fmla="*/ 198 w 454"/>
                <a:gd name="T11" fmla="*/ 105 h 442"/>
                <a:gd name="T12" fmla="*/ 214 w 454"/>
                <a:gd name="T13" fmla="*/ 101 h 442"/>
                <a:gd name="T14" fmla="*/ 232 w 454"/>
                <a:gd name="T15" fmla="*/ 98 h 442"/>
                <a:gd name="T16" fmla="*/ 245 w 454"/>
                <a:gd name="T17" fmla="*/ 99 h 442"/>
                <a:gd name="T18" fmla="*/ 268 w 454"/>
                <a:gd name="T19" fmla="*/ 108 h 442"/>
                <a:gd name="T20" fmla="*/ 287 w 454"/>
                <a:gd name="T21" fmla="*/ 122 h 442"/>
                <a:gd name="T22" fmla="*/ 298 w 454"/>
                <a:gd name="T23" fmla="*/ 142 h 442"/>
                <a:gd name="T24" fmla="*/ 299 w 454"/>
                <a:gd name="T25" fmla="*/ 152 h 442"/>
                <a:gd name="T26" fmla="*/ 454 w 454"/>
                <a:gd name="T27" fmla="*/ 442 h 442"/>
                <a:gd name="T28" fmla="*/ 454 w 454"/>
                <a:gd name="T29" fmla="*/ 144 h 442"/>
                <a:gd name="T30" fmla="*/ 450 w 454"/>
                <a:gd name="T31" fmla="*/ 116 h 442"/>
                <a:gd name="T32" fmla="*/ 439 w 454"/>
                <a:gd name="T33" fmla="*/ 89 h 442"/>
                <a:gd name="T34" fmla="*/ 421 w 454"/>
                <a:gd name="T35" fmla="*/ 64 h 442"/>
                <a:gd name="T36" fmla="*/ 400 w 454"/>
                <a:gd name="T37" fmla="*/ 43 h 442"/>
                <a:gd name="T38" fmla="*/ 372 w 454"/>
                <a:gd name="T39" fmla="*/ 26 h 442"/>
                <a:gd name="T40" fmla="*/ 341 w 454"/>
                <a:gd name="T41" fmla="*/ 12 h 442"/>
                <a:gd name="T42" fmla="*/ 307 w 454"/>
                <a:gd name="T43" fmla="*/ 4 h 442"/>
                <a:gd name="T44" fmla="*/ 269 w 454"/>
                <a:gd name="T45" fmla="*/ 0 h 442"/>
                <a:gd name="T46" fmla="*/ 267 w 454"/>
                <a:gd name="T47" fmla="*/ 0 h 442"/>
                <a:gd name="T48" fmla="*/ 263 w 454"/>
                <a:gd name="T49" fmla="*/ 0 h 442"/>
                <a:gd name="T50" fmla="*/ 249 w 454"/>
                <a:gd name="T51" fmla="*/ 2 h 442"/>
                <a:gd name="T52" fmla="*/ 219 w 454"/>
                <a:gd name="T53" fmla="*/ 5 h 442"/>
                <a:gd name="T54" fmla="*/ 190 w 454"/>
                <a:gd name="T55" fmla="*/ 14 h 442"/>
                <a:gd name="T56" fmla="*/ 163 w 454"/>
                <a:gd name="T57" fmla="*/ 26 h 442"/>
                <a:gd name="T58" fmla="*/ 151 w 454"/>
                <a:gd name="T59" fmla="*/ 33 h 442"/>
                <a:gd name="T60" fmla="*/ 147 w 454"/>
                <a:gd name="T61" fmla="*/ 28 h 442"/>
                <a:gd name="T62" fmla="*/ 129 w 454"/>
                <a:gd name="T63" fmla="*/ 17 h 442"/>
                <a:gd name="T64" fmla="*/ 83 w 454"/>
                <a:gd name="T65" fmla="*/ 8 h 442"/>
                <a:gd name="T66" fmla="*/ 0 w 454"/>
                <a:gd name="T67" fmla="*/ 4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4" h="442">
                  <a:moveTo>
                    <a:pt x="0" y="442"/>
                  </a:moveTo>
                  <a:lnTo>
                    <a:pt x="155" y="442"/>
                  </a:lnTo>
                  <a:lnTo>
                    <a:pt x="155" y="177"/>
                  </a:lnTo>
                  <a:lnTo>
                    <a:pt x="155" y="177"/>
                  </a:lnTo>
                  <a:lnTo>
                    <a:pt x="156" y="163"/>
                  </a:lnTo>
                  <a:lnTo>
                    <a:pt x="159" y="149"/>
                  </a:lnTo>
                  <a:lnTo>
                    <a:pt x="165" y="136"/>
                  </a:lnTo>
                  <a:lnTo>
                    <a:pt x="174" y="125"/>
                  </a:lnTo>
                  <a:lnTo>
                    <a:pt x="180" y="119"/>
                  </a:lnTo>
                  <a:lnTo>
                    <a:pt x="185" y="114"/>
                  </a:lnTo>
                  <a:lnTo>
                    <a:pt x="192" y="109"/>
                  </a:lnTo>
                  <a:lnTo>
                    <a:pt x="198" y="105"/>
                  </a:lnTo>
                  <a:lnTo>
                    <a:pt x="207" y="103"/>
                  </a:lnTo>
                  <a:lnTo>
                    <a:pt x="214" y="101"/>
                  </a:lnTo>
                  <a:lnTo>
                    <a:pt x="222" y="99"/>
                  </a:lnTo>
                  <a:lnTo>
                    <a:pt x="232" y="98"/>
                  </a:lnTo>
                  <a:lnTo>
                    <a:pt x="232" y="98"/>
                  </a:lnTo>
                  <a:lnTo>
                    <a:pt x="245" y="99"/>
                  </a:lnTo>
                  <a:lnTo>
                    <a:pt x="257" y="103"/>
                  </a:lnTo>
                  <a:lnTo>
                    <a:pt x="268" y="108"/>
                  </a:lnTo>
                  <a:lnTo>
                    <a:pt x="279" y="114"/>
                  </a:lnTo>
                  <a:lnTo>
                    <a:pt x="287" y="122"/>
                  </a:lnTo>
                  <a:lnTo>
                    <a:pt x="295" y="132"/>
                  </a:lnTo>
                  <a:lnTo>
                    <a:pt x="298" y="142"/>
                  </a:lnTo>
                  <a:lnTo>
                    <a:pt x="299" y="146"/>
                  </a:lnTo>
                  <a:lnTo>
                    <a:pt x="299" y="152"/>
                  </a:lnTo>
                  <a:lnTo>
                    <a:pt x="299" y="442"/>
                  </a:lnTo>
                  <a:lnTo>
                    <a:pt x="454" y="442"/>
                  </a:lnTo>
                  <a:lnTo>
                    <a:pt x="454" y="144"/>
                  </a:lnTo>
                  <a:lnTo>
                    <a:pt x="454" y="144"/>
                  </a:lnTo>
                  <a:lnTo>
                    <a:pt x="453" y="130"/>
                  </a:lnTo>
                  <a:lnTo>
                    <a:pt x="450" y="116"/>
                  </a:lnTo>
                  <a:lnTo>
                    <a:pt x="446" y="102"/>
                  </a:lnTo>
                  <a:lnTo>
                    <a:pt x="439" y="89"/>
                  </a:lnTo>
                  <a:lnTo>
                    <a:pt x="431" y="76"/>
                  </a:lnTo>
                  <a:lnTo>
                    <a:pt x="421" y="64"/>
                  </a:lnTo>
                  <a:lnTo>
                    <a:pt x="411" y="53"/>
                  </a:lnTo>
                  <a:lnTo>
                    <a:pt x="400" y="43"/>
                  </a:lnTo>
                  <a:lnTo>
                    <a:pt x="386" y="34"/>
                  </a:lnTo>
                  <a:lnTo>
                    <a:pt x="372" y="26"/>
                  </a:lnTo>
                  <a:lnTo>
                    <a:pt x="356" y="18"/>
                  </a:lnTo>
                  <a:lnTo>
                    <a:pt x="341" y="12"/>
                  </a:lnTo>
                  <a:lnTo>
                    <a:pt x="324" y="8"/>
                  </a:lnTo>
                  <a:lnTo>
                    <a:pt x="307" y="4"/>
                  </a:lnTo>
                  <a:lnTo>
                    <a:pt x="289" y="2"/>
                  </a:lnTo>
                  <a:lnTo>
                    <a:pt x="269" y="0"/>
                  </a:lnTo>
                  <a:lnTo>
                    <a:pt x="269" y="0"/>
                  </a:lnTo>
                  <a:lnTo>
                    <a:pt x="267" y="0"/>
                  </a:lnTo>
                  <a:lnTo>
                    <a:pt x="267" y="0"/>
                  </a:lnTo>
                  <a:lnTo>
                    <a:pt x="263" y="0"/>
                  </a:lnTo>
                  <a:lnTo>
                    <a:pt x="263" y="0"/>
                  </a:lnTo>
                  <a:lnTo>
                    <a:pt x="249" y="2"/>
                  </a:lnTo>
                  <a:lnTo>
                    <a:pt x="233" y="3"/>
                  </a:lnTo>
                  <a:lnTo>
                    <a:pt x="219" y="5"/>
                  </a:lnTo>
                  <a:lnTo>
                    <a:pt x="204" y="9"/>
                  </a:lnTo>
                  <a:lnTo>
                    <a:pt x="190" y="14"/>
                  </a:lnTo>
                  <a:lnTo>
                    <a:pt x="176" y="20"/>
                  </a:lnTo>
                  <a:lnTo>
                    <a:pt x="163" y="26"/>
                  </a:lnTo>
                  <a:lnTo>
                    <a:pt x="151" y="33"/>
                  </a:lnTo>
                  <a:lnTo>
                    <a:pt x="151" y="33"/>
                  </a:lnTo>
                  <a:lnTo>
                    <a:pt x="150" y="32"/>
                  </a:lnTo>
                  <a:lnTo>
                    <a:pt x="147" y="28"/>
                  </a:lnTo>
                  <a:lnTo>
                    <a:pt x="140" y="23"/>
                  </a:lnTo>
                  <a:lnTo>
                    <a:pt x="129" y="17"/>
                  </a:lnTo>
                  <a:lnTo>
                    <a:pt x="110" y="12"/>
                  </a:lnTo>
                  <a:lnTo>
                    <a:pt x="83" y="8"/>
                  </a:lnTo>
                  <a:lnTo>
                    <a:pt x="47" y="5"/>
                  </a:lnTo>
                  <a:lnTo>
                    <a:pt x="0" y="4"/>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0" name="Rectangle 38">
              <a:extLst>
                <a:ext uri="{FF2B5EF4-FFF2-40B4-BE49-F238E27FC236}">
                  <a16:creationId xmlns:a16="http://schemas.microsoft.com/office/drawing/2014/main" id="{C1C36DB5-919E-E848-851D-2F5763A28D2A}"/>
                </a:ext>
              </a:extLst>
            </p:cNvPr>
            <p:cNvSpPr>
              <a:spLocks noChangeArrowheads="1"/>
            </p:cNvSpPr>
            <p:nvPr/>
          </p:nvSpPr>
          <p:spPr bwMode="auto">
            <a:xfrm>
              <a:off x="2168526" y="952501"/>
              <a:ext cx="120650" cy="336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1" name="Freeform 39">
              <a:extLst>
                <a:ext uri="{FF2B5EF4-FFF2-40B4-BE49-F238E27FC236}">
                  <a16:creationId xmlns:a16="http://schemas.microsoft.com/office/drawing/2014/main" id="{811E474A-E647-AE4A-B519-971C7D685AD6}"/>
                </a:ext>
              </a:extLst>
            </p:cNvPr>
            <p:cNvSpPr>
              <a:spLocks/>
            </p:cNvSpPr>
            <p:nvPr/>
          </p:nvSpPr>
          <p:spPr bwMode="auto">
            <a:xfrm>
              <a:off x="2820988" y="946151"/>
              <a:ext cx="252413" cy="342900"/>
            </a:xfrm>
            <a:custGeom>
              <a:avLst/>
              <a:gdLst>
                <a:gd name="T0" fmla="*/ 0 w 319"/>
                <a:gd name="T1" fmla="*/ 432 h 432"/>
                <a:gd name="T2" fmla="*/ 151 w 319"/>
                <a:gd name="T3" fmla="*/ 432 h 432"/>
                <a:gd name="T4" fmla="*/ 151 w 319"/>
                <a:gd name="T5" fmla="*/ 175 h 432"/>
                <a:gd name="T6" fmla="*/ 151 w 319"/>
                <a:gd name="T7" fmla="*/ 175 h 432"/>
                <a:gd name="T8" fmla="*/ 152 w 319"/>
                <a:gd name="T9" fmla="*/ 167 h 432"/>
                <a:gd name="T10" fmla="*/ 153 w 319"/>
                <a:gd name="T11" fmla="*/ 159 h 432"/>
                <a:gd name="T12" fmla="*/ 156 w 319"/>
                <a:gd name="T13" fmla="*/ 153 h 432"/>
                <a:gd name="T14" fmla="*/ 159 w 319"/>
                <a:gd name="T15" fmla="*/ 146 h 432"/>
                <a:gd name="T16" fmla="*/ 164 w 319"/>
                <a:gd name="T17" fmla="*/ 140 h 432"/>
                <a:gd name="T18" fmla="*/ 169 w 319"/>
                <a:gd name="T19" fmla="*/ 134 h 432"/>
                <a:gd name="T20" fmla="*/ 175 w 319"/>
                <a:gd name="T21" fmla="*/ 128 h 432"/>
                <a:gd name="T22" fmla="*/ 181 w 319"/>
                <a:gd name="T23" fmla="*/ 123 h 432"/>
                <a:gd name="T24" fmla="*/ 196 w 319"/>
                <a:gd name="T25" fmla="*/ 114 h 432"/>
                <a:gd name="T26" fmla="*/ 213 w 319"/>
                <a:gd name="T27" fmla="*/ 107 h 432"/>
                <a:gd name="T28" fmla="*/ 231 w 319"/>
                <a:gd name="T29" fmla="*/ 103 h 432"/>
                <a:gd name="T30" fmla="*/ 240 w 319"/>
                <a:gd name="T31" fmla="*/ 101 h 432"/>
                <a:gd name="T32" fmla="*/ 250 w 319"/>
                <a:gd name="T33" fmla="*/ 101 h 432"/>
                <a:gd name="T34" fmla="*/ 250 w 319"/>
                <a:gd name="T35" fmla="*/ 101 h 432"/>
                <a:gd name="T36" fmla="*/ 268 w 319"/>
                <a:gd name="T37" fmla="*/ 103 h 432"/>
                <a:gd name="T38" fmla="*/ 286 w 319"/>
                <a:gd name="T39" fmla="*/ 105 h 432"/>
                <a:gd name="T40" fmla="*/ 303 w 319"/>
                <a:gd name="T41" fmla="*/ 110 h 432"/>
                <a:gd name="T42" fmla="*/ 319 w 319"/>
                <a:gd name="T43" fmla="*/ 116 h 432"/>
                <a:gd name="T44" fmla="*/ 319 w 319"/>
                <a:gd name="T45" fmla="*/ 116 h 432"/>
                <a:gd name="T46" fmla="*/ 319 w 319"/>
                <a:gd name="T47" fmla="*/ 4 h 432"/>
                <a:gd name="T48" fmla="*/ 319 w 319"/>
                <a:gd name="T49" fmla="*/ 4 h 432"/>
                <a:gd name="T50" fmla="*/ 291 w 319"/>
                <a:gd name="T51" fmla="*/ 1 h 432"/>
                <a:gd name="T52" fmla="*/ 265 w 319"/>
                <a:gd name="T53" fmla="*/ 0 h 432"/>
                <a:gd name="T54" fmla="*/ 265 w 319"/>
                <a:gd name="T55" fmla="*/ 0 h 432"/>
                <a:gd name="T56" fmla="*/ 250 w 319"/>
                <a:gd name="T57" fmla="*/ 0 h 432"/>
                <a:gd name="T58" fmla="*/ 234 w 319"/>
                <a:gd name="T59" fmla="*/ 2 h 432"/>
                <a:gd name="T60" fmla="*/ 220 w 319"/>
                <a:gd name="T61" fmla="*/ 5 h 432"/>
                <a:gd name="T62" fmla="*/ 205 w 319"/>
                <a:gd name="T63" fmla="*/ 8 h 432"/>
                <a:gd name="T64" fmla="*/ 191 w 319"/>
                <a:gd name="T65" fmla="*/ 12 h 432"/>
                <a:gd name="T66" fmla="*/ 176 w 319"/>
                <a:gd name="T67" fmla="*/ 18 h 432"/>
                <a:gd name="T68" fmla="*/ 163 w 319"/>
                <a:gd name="T69" fmla="*/ 24 h 432"/>
                <a:gd name="T70" fmla="*/ 151 w 319"/>
                <a:gd name="T71" fmla="*/ 31 h 432"/>
                <a:gd name="T72" fmla="*/ 151 w 319"/>
                <a:gd name="T73" fmla="*/ 31 h 432"/>
                <a:gd name="T74" fmla="*/ 149 w 319"/>
                <a:gd name="T75" fmla="*/ 29 h 432"/>
                <a:gd name="T76" fmla="*/ 144 w 319"/>
                <a:gd name="T77" fmla="*/ 24 h 432"/>
                <a:gd name="T78" fmla="*/ 137 w 319"/>
                <a:gd name="T79" fmla="*/ 19 h 432"/>
                <a:gd name="T80" fmla="*/ 123 w 319"/>
                <a:gd name="T81" fmla="*/ 15 h 432"/>
                <a:gd name="T82" fmla="*/ 104 w 319"/>
                <a:gd name="T83" fmla="*/ 10 h 432"/>
                <a:gd name="T84" fmla="*/ 79 w 319"/>
                <a:gd name="T85" fmla="*/ 6 h 432"/>
                <a:gd name="T86" fmla="*/ 44 w 319"/>
                <a:gd name="T87" fmla="*/ 4 h 432"/>
                <a:gd name="T88" fmla="*/ 0 w 319"/>
                <a:gd name="T89" fmla="*/ 2 h 432"/>
                <a:gd name="T90" fmla="*/ 0 w 319"/>
                <a:gd name="T91" fmla="*/ 43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9" h="432">
                  <a:moveTo>
                    <a:pt x="0" y="432"/>
                  </a:moveTo>
                  <a:lnTo>
                    <a:pt x="151" y="432"/>
                  </a:lnTo>
                  <a:lnTo>
                    <a:pt x="151" y="175"/>
                  </a:lnTo>
                  <a:lnTo>
                    <a:pt x="151" y="175"/>
                  </a:lnTo>
                  <a:lnTo>
                    <a:pt x="152" y="167"/>
                  </a:lnTo>
                  <a:lnTo>
                    <a:pt x="153" y="159"/>
                  </a:lnTo>
                  <a:lnTo>
                    <a:pt x="156" y="153"/>
                  </a:lnTo>
                  <a:lnTo>
                    <a:pt x="159" y="146"/>
                  </a:lnTo>
                  <a:lnTo>
                    <a:pt x="164" y="140"/>
                  </a:lnTo>
                  <a:lnTo>
                    <a:pt x="169" y="134"/>
                  </a:lnTo>
                  <a:lnTo>
                    <a:pt x="175" y="128"/>
                  </a:lnTo>
                  <a:lnTo>
                    <a:pt x="181" y="123"/>
                  </a:lnTo>
                  <a:lnTo>
                    <a:pt x="196" y="114"/>
                  </a:lnTo>
                  <a:lnTo>
                    <a:pt x="213" y="107"/>
                  </a:lnTo>
                  <a:lnTo>
                    <a:pt x="231" y="103"/>
                  </a:lnTo>
                  <a:lnTo>
                    <a:pt x="240" y="101"/>
                  </a:lnTo>
                  <a:lnTo>
                    <a:pt x="250" y="101"/>
                  </a:lnTo>
                  <a:lnTo>
                    <a:pt x="250" y="101"/>
                  </a:lnTo>
                  <a:lnTo>
                    <a:pt x="268" y="103"/>
                  </a:lnTo>
                  <a:lnTo>
                    <a:pt x="286" y="105"/>
                  </a:lnTo>
                  <a:lnTo>
                    <a:pt x="303" y="110"/>
                  </a:lnTo>
                  <a:lnTo>
                    <a:pt x="319" y="116"/>
                  </a:lnTo>
                  <a:lnTo>
                    <a:pt x="319" y="116"/>
                  </a:lnTo>
                  <a:lnTo>
                    <a:pt x="319" y="4"/>
                  </a:lnTo>
                  <a:lnTo>
                    <a:pt x="319" y="4"/>
                  </a:lnTo>
                  <a:lnTo>
                    <a:pt x="291" y="1"/>
                  </a:lnTo>
                  <a:lnTo>
                    <a:pt x="265" y="0"/>
                  </a:lnTo>
                  <a:lnTo>
                    <a:pt x="265" y="0"/>
                  </a:lnTo>
                  <a:lnTo>
                    <a:pt x="250" y="0"/>
                  </a:lnTo>
                  <a:lnTo>
                    <a:pt x="234" y="2"/>
                  </a:lnTo>
                  <a:lnTo>
                    <a:pt x="220" y="5"/>
                  </a:lnTo>
                  <a:lnTo>
                    <a:pt x="205" y="8"/>
                  </a:lnTo>
                  <a:lnTo>
                    <a:pt x="191" y="12"/>
                  </a:lnTo>
                  <a:lnTo>
                    <a:pt x="176" y="18"/>
                  </a:lnTo>
                  <a:lnTo>
                    <a:pt x="163" y="24"/>
                  </a:lnTo>
                  <a:lnTo>
                    <a:pt x="151" y="31"/>
                  </a:lnTo>
                  <a:lnTo>
                    <a:pt x="151" y="31"/>
                  </a:lnTo>
                  <a:lnTo>
                    <a:pt x="149" y="29"/>
                  </a:lnTo>
                  <a:lnTo>
                    <a:pt x="144" y="24"/>
                  </a:lnTo>
                  <a:lnTo>
                    <a:pt x="137" y="19"/>
                  </a:lnTo>
                  <a:lnTo>
                    <a:pt x="123" y="15"/>
                  </a:lnTo>
                  <a:lnTo>
                    <a:pt x="104" y="10"/>
                  </a:lnTo>
                  <a:lnTo>
                    <a:pt x="79" y="6"/>
                  </a:lnTo>
                  <a:lnTo>
                    <a:pt x="44" y="4"/>
                  </a:lnTo>
                  <a:lnTo>
                    <a:pt x="0" y="2"/>
                  </a:lnTo>
                  <a:lnTo>
                    <a:pt x="0" y="4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2" name="Freeform 40">
              <a:extLst>
                <a:ext uri="{FF2B5EF4-FFF2-40B4-BE49-F238E27FC236}">
                  <a16:creationId xmlns:a16="http://schemas.microsoft.com/office/drawing/2014/main" id="{FABAFA95-CC38-A146-A011-3F8E98911E8B}"/>
                </a:ext>
              </a:extLst>
            </p:cNvPr>
            <p:cNvSpPr>
              <a:spLocks/>
            </p:cNvSpPr>
            <p:nvPr/>
          </p:nvSpPr>
          <p:spPr bwMode="auto">
            <a:xfrm>
              <a:off x="1701801" y="677863"/>
              <a:ext cx="522288" cy="635000"/>
            </a:xfrm>
            <a:custGeom>
              <a:avLst/>
              <a:gdLst>
                <a:gd name="T0" fmla="*/ 635 w 658"/>
                <a:gd name="T1" fmla="*/ 37 h 800"/>
                <a:gd name="T2" fmla="*/ 614 w 658"/>
                <a:gd name="T3" fmla="*/ 19 h 800"/>
                <a:gd name="T4" fmla="*/ 587 w 658"/>
                <a:gd name="T5" fmla="*/ 7 h 800"/>
                <a:gd name="T6" fmla="*/ 529 w 658"/>
                <a:gd name="T7" fmla="*/ 0 h 800"/>
                <a:gd name="T8" fmla="*/ 442 w 658"/>
                <a:gd name="T9" fmla="*/ 11 h 800"/>
                <a:gd name="T10" fmla="*/ 337 w 658"/>
                <a:gd name="T11" fmla="*/ 43 h 800"/>
                <a:gd name="T12" fmla="*/ 218 w 658"/>
                <a:gd name="T13" fmla="*/ 95 h 800"/>
                <a:gd name="T14" fmla="*/ 161 w 658"/>
                <a:gd name="T15" fmla="*/ 126 h 800"/>
                <a:gd name="T16" fmla="*/ 146 w 658"/>
                <a:gd name="T17" fmla="*/ 135 h 800"/>
                <a:gd name="T18" fmla="*/ 144 w 658"/>
                <a:gd name="T19" fmla="*/ 142 h 800"/>
                <a:gd name="T20" fmla="*/ 152 w 658"/>
                <a:gd name="T21" fmla="*/ 142 h 800"/>
                <a:gd name="T22" fmla="*/ 181 w 658"/>
                <a:gd name="T23" fmla="*/ 132 h 800"/>
                <a:gd name="T24" fmla="*/ 244 w 658"/>
                <a:gd name="T25" fmla="*/ 104 h 800"/>
                <a:gd name="T26" fmla="*/ 331 w 658"/>
                <a:gd name="T27" fmla="*/ 74 h 800"/>
                <a:gd name="T28" fmla="*/ 407 w 658"/>
                <a:gd name="T29" fmla="*/ 59 h 800"/>
                <a:gd name="T30" fmla="*/ 470 w 658"/>
                <a:gd name="T31" fmla="*/ 59 h 800"/>
                <a:gd name="T32" fmla="*/ 518 w 658"/>
                <a:gd name="T33" fmla="*/ 74 h 800"/>
                <a:gd name="T34" fmla="*/ 541 w 658"/>
                <a:gd name="T35" fmla="*/ 92 h 800"/>
                <a:gd name="T36" fmla="*/ 558 w 658"/>
                <a:gd name="T37" fmla="*/ 121 h 800"/>
                <a:gd name="T38" fmla="*/ 562 w 658"/>
                <a:gd name="T39" fmla="*/ 159 h 800"/>
                <a:gd name="T40" fmla="*/ 554 w 658"/>
                <a:gd name="T41" fmla="*/ 206 h 800"/>
                <a:gd name="T42" fmla="*/ 535 w 658"/>
                <a:gd name="T43" fmla="*/ 258 h 800"/>
                <a:gd name="T44" fmla="*/ 506 w 658"/>
                <a:gd name="T45" fmla="*/ 316 h 800"/>
                <a:gd name="T46" fmla="*/ 436 w 658"/>
                <a:gd name="T47" fmla="*/ 420 h 800"/>
                <a:gd name="T48" fmla="*/ 320 w 658"/>
                <a:gd name="T49" fmla="*/ 551 h 800"/>
                <a:gd name="T50" fmla="*/ 225 w 658"/>
                <a:gd name="T51" fmla="*/ 634 h 800"/>
                <a:gd name="T52" fmla="*/ 173 w 658"/>
                <a:gd name="T53" fmla="*/ 675 h 800"/>
                <a:gd name="T54" fmla="*/ 39 w 658"/>
                <a:gd name="T55" fmla="*/ 767 h 800"/>
                <a:gd name="T56" fmla="*/ 31 w 658"/>
                <a:gd name="T57" fmla="*/ 771 h 800"/>
                <a:gd name="T58" fmla="*/ 2 w 658"/>
                <a:gd name="T59" fmla="*/ 794 h 800"/>
                <a:gd name="T60" fmla="*/ 3 w 658"/>
                <a:gd name="T61" fmla="*/ 799 h 800"/>
                <a:gd name="T62" fmla="*/ 11 w 658"/>
                <a:gd name="T63" fmla="*/ 798 h 800"/>
                <a:gd name="T64" fmla="*/ 38 w 658"/>
                <a:gd name="T65" fmla="*/ 785 h 800"/>
                <a:gd name="T66" fmla="*/ 45 w 658"/>
                <a:gd name="T67" fmla="*/ 780 h 800"/>
                <a:gd name="T68" fmla="*/ 195 w 658"/>
                <a:gd name="T69" fmla="*/ 680 h 800"/>
                <a:gd name="T70" fmla="*/ 301 w 658"/>
                <a:gd name="T71" fmla="*/ 601 h 800"/>
                <a:gd name="T72" fmla="*/ 455 w 658"/>
                <a:gd name="T73" fmla="*/ 461 h 800"/>
                <a:gd name="T74" fmla="*/ 515 w 658"/>
                <a:gd name="T75" fmla="*/ 396 h 800"/>
                <a:gd name="T76" fmla="*/ 585 w 658"/>
                <a:gd name="T77" fmla="*/ 303 h 800"/>
                <a:gd name="T78" fmla="*/ 632 w 658"/>
                <a:gd name="T79" fmla="*/ 216 h 800"/>
                <a:gd name="T80" fmla="*/ 656 w 658"/>
                <a:gd name="T81" fmla="*/ 141 h 800"/>
                <a:gd name="T82" fmla="*/ 657 w 658"/>
                <a:gd name="T83" fmla="*/ 87 h 800"/>
                <a:gd name="T84" fmla="*/ 650 w 658"/>
                <a:gd name="T85" fmla="*/ 60 h 800"/>
                <a:gd name="T86" fmla="*/ 640 w 658"/>
                <a:gd name="T87" fmla="*/ 45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8" h="800">
                  <a:moveTo>
                    <a:pt x="640" y="45"/>
                  </a:moveTo>
                  <a:lnTo>
                    <a:pt x="640" y="45"/>
                  </a:lnTo>
                  <a:lnTo>
                    <a:pt x="635" y="37"/>
                  </a:lnTo>
                  <a:lnTo>
                    <a:pt x="628" y="30"/>
                  </a:lnTo>
                  <a:lnTo>
                    <a:pt x="621" y="24"/>
                  </a:lnTo>
                  <a:lnTo>
                    <a:pt x="614" y="19"/>
                  </a:lnTo>
                  <a:lnTo>
                    <a:pt x="605" y="14"/>
                  </a:lnTo>
                  <a:lnTo>
                    <a:pt x="597" y="11"/>
                  </a:lnTo>
                  <a:lnTo>
                    <a:pt x="587" y="7"/>
                  </a:lnTo>
                  <a:lnTo>
                    <a:pt x="576" y="5"/>
                  </a:lnTo>
                  <a:lnTo>
                    <a:pt x="553" y="1"/>
                  </a:lnTo>
                  <a:lnTo>
                    <a:pt x="529" y="0"/>
                  </a:lnTo>
                  <a:lnTo>
                    <a:pt x="503" y="1"/>
                  </a:lnTo>
                  <a:lnTo>
                    <a:pt x="474" y="5"/>
                  </a:lnTo>
                  <a:lnTo>
                    <a:pt x="442" y="11"/>
                  </a:lnTo>
                  <a:lnTo>
                    <a:pt x="408" y="19"/>
                  </a:lnTo>
                  <a:lnTo>
                    <a:pt x="373" y="30"/>
                  </a:lnTo>
                  <a:lnTo>
                    <a:pt x="337" y="43"/>
                  </a:lnTo>
                  <a:lnTo>
                    <a:pt x="299" y="59"/>
                  </a:lnTo>
                  <a:lnTo>
                    <a:pt x="260" y="76"/>
                  </a:lnTo>
                  <a:lnTo>
                    <a:pt x="218" y="95"/>
                  </a:lnTo>
                  <a:lnTo>
                    <a:pt x="175" y="117"/>
                  </a:lnTo>
                  <a:lnTo>
                    <a:pt x="175" y="117"/>
                  </a:lnTo>
                  <a:lnTo>
                    <a:pt x="161" y="126"/>
                  </a:lnTo>
                  <a:lnTo>
                    <a:pt x="150" y="133"/>
                  </a:lnTo>
                  <a:lnTo>
                    <a:pt x="150" y="133"/>
                  </a:lnTo>
                  <a:lnTo>
                    <a:pt x="146" y="135"/>
                  </a:lnTo>
                  <a:lnTo>
                    <a:pt x="144" y="138"/>
                  </a:lnTo>
                  <a:lnTo>
                    <a:pt x="144" y="140"/>
                  </a:lnTo>
                  <a:lnTo>
                    <a:pt x="144" y="142"/>
                  </a:lnTo>
                  <a:lnTo>
                    <a:pt x="145" y="144"/>
                  </a:lnTo>
                  <a:lnTo>
                    <a:pt x="148" y="144"/>
                  </a:lnTo>
                  <a:lnTo>
                    <a:pt x="152" y="142"/>
                  </a:lnTo>
                  <a:lnTo>
                    <a:pt x="152" y="142"/>
                  </a:lnTo>
                  <a:lnTo>
                    <a:pt x="167" y="138"/>
                  </a:lnTo>
                  <a:lnTo>
                    <a:pt x="181" y="132"/>
                  </a:lnTo>
                  <a:lnTo>
                    <a:pt x="181" y="132"/>
                  </a:lnTo>
                  <a:lnTo>
                    <a:pt x="214" y="116"/>
                  </a:lnTo>
                  <a:lnTo>
                    <a:pt x="244" y="104"/>
                  </a:lnTo>
                  <a:lnTo>
                    <a:pt x="274" y="92"/>
                  </a:lnTo>
                  <a:lnTo>
                    <a:pt x="303" y="82"/>
                  </a:lnTo>
                  <a:lnTo>
                    <a:pt x="331" y="74"/>
                  </a:lnTo>
                  <a:lnTo>
                    <a:pt x="358" y="68"/>
                  </a:lnTo>
                  <a:lnTo>
                    <a:pt x="383" y="63"/>
                  </a:lnTo>
                  <a:lnTo>
                    <a:pt x="407" y="59"/>
                  </a:lnTo>
                  <a:lnTo>
                    <a:pt x="429" y="58"/>
                  </a:lnTo>
                  <a:lnTo>
                    <a:pt x="451" y="58"/>
                  </a:lnTo>
                  <a:lnTo>
                    <a:pt x="470" y="59"/>
                  </a:lnTo>
                  <a:lnTo>
                    <a:pt x="488" y="62"/>
                  </a:lnTo>
                  <a:lnTo>
                    <a:pt x="504" y="66"/>
                  </a:lnTo>
                  <a:lnTo>
                    <a:pt x="518" y="74"/>
                  </a:lnTo>
                  <a:lnTo>
                    <a:pt x="530" y="82"/>
                  </a:lnTo>
                  <a:lnTo>
                    <a:pt x="541" y="92"/>
                  </a:lnTo>
                  <a:lnTo>
                    <a:pt x="541" y="92"/>
                  </a:lnTo>
                  <a:lnTo>
                    <a:pt x="548" y="100"/>
                  </a:lnTo>
                  <a:lnTo>
                    <a:pt x="554" y="110"/>
                  </a:lnTo>
                  <a:lnTo>
                    <a:pt x="558" y="121"/>
                  </a:lnTo>
                  <a:lnTo>
                    <a:pt x="560" y="133"/>
                  </a:lnTo>
                  <a:lnTo>
                    <a:pt x="562" y="146"/>
                  </a:lnTo>
                  <a:lnTo>
                    <a:pt x="562" y="159"/>
                  </a:lnTo>
                  <a:lnTo>
                    <a:pt x="560" y="174"/>
                  </a:lnTo>
                  <a:lnTo>
                    <a:pt x="558" y="190"/>
                  </a:lnTo>
                  <a:lnTo>
                    <a:pt x="554" y="206"/>
                  </a:lnTo>
                  <a:lnTo>
                    <a:pt x="548" y="223"/>
                  </a:lnTo>
                  <a:lnTo>
                    <a:pt x="542" y="240"/>
                  </a:lnTo>
                  <a:lnTo>
                    <a:pt x="535" y="258"/>
                  </a:lnTo>
                  <a:lnTo>
                    <a:pt x="527" y="278"/>
                  </a:lnTo>
                  <a:lnTo>
                    <a:pt x="517" y="297"/>
                  </a:lnTo>
                  <a:lnTo>
                    <a:pt x="506" y="316"/>
                  </a:lnTo>
                  <a:lnTo>
                    <a:pt x="494" y="337"/>
                  </a:lnTo>
                  <a:lnTo>
                    <a:pt x="468" y="378"/>
                  </a:lnTo>
                  <a:lnTo>
                    <a:pt x="436" y="420"/>
                  </a:lnTo>
                  <a:lnTo>
                    <a:pt x="401" y="464"/>
                  </a:lnTo>
                  <a:lnTo>
                    <a:pt x="362" y="507"/>
                  </a:lnTo>
                  <a:lnTo>
                    <a:pt x="320" y="551"/>
                  </a:lnTo>
                  <a:lnTo>
                    <a:pt x="274" y="593"/>
                  </a:lnTo>
                  <a:lnTo>
                    <a:pt x="250" y="613"/>
                  </a:lnTo>
                  <a:lnTo>
                    <a:pt x="225" y="634"/>
                  </a:lnTo>
                  <a:lnTo>
                    <a:pt x="200" y="654"/>
                  </a:lnTo>
                  <a:lnTo>
                    <a:pt x="173" y="675"/>
                  </a:lnTo>
                  <a:lnTo>
                    <a:pt x="173" y="675"/>
                  </a:lnTo>
                  <a:lnTo>
                    <a:pt x="107" y="723"/>
                  </a:lnTo>
                  <a:lnTo>
                    <a:pt x="70" y="747"/>
                  </a:lnTo>
                  <a:lnTo>
                    <a:pt x="39" y="767"/>
                  </a:lnTo>
                  <a:lnTo>
                    <a:pt x="39" y="767"/>
                  </a:lnTo>
                  <a:lnTo>
                    <a:pt x="31" y="771"/>
                  </a:lnTo>
                  <a:lnTo>
                    <a:pt x="31" y="771"/>
                  </a:lnTo>
                  <a:lnTo>
                    <a:pt x="5" y="790"/>
                  </a:lnTo>
                  <a:lnTo>
                    <a:pt x="5" y="790"/>
                  </a:lnTo>
                  <a:lnTo>
                    <a:pt x="2" y="794"/>
                  </a:lnTo>
                  <a:lnTo>
                    <a:pt x="0" y="797"/>
                  </a:lnTo>
                  <a:lnTo>
                    <a:pt x="2" y="798"/>
                  </a:lnTo>
                  <a:lnTo>
                    <a:pt x="3" y="799"/>
                  </a:lnTo>
                  <a:lnTo>
                    <a:pt x="4" y="800"/>
                  </a:lnTo>
                  <a:lnTo>
                    <a:pt x="8" y="800"/>
                  </a:lnTo>
                  <a:lnTo>
                    <a:pt x="11" y="798"/>
                  </a:lnTo>
                  <a:lnTo>
                    <a:pt x="11" y="798"/>
                  </a:lnTo>
                  <a:lnTo>
                    <a:pt x="24" y="792"/>
                  </a:lnTo>
                  <a:lnTo>
                    <a:pt x="38" y="785"/>
                  </a:lnTo>
                  <a:lnTo>
                    <a:pt x="38" y="785"/>
                  </a:lnTo>
                  <a:lnTo>
                    <a:pt x="45" y="780"/>
                  </a:lnTo>
                  <a:lnTo>
                    <a:pt x="45" y="780"/>
                  </a:lnTo>
                  <a:lnTo>
                    <a:pt x="80" y="758"/>
                  </a:lnTo>
                  <a:lnTo>
                    <a:pt x="120" y="732"/>
                  </a:lnTo>
                  <a:lnTo>
                    <a:pt x="195" y="680"/>
                  </a:lnTo>
                  <a:lnTo>
                    <a:pt x="195" y="680"/>
                  </a:lnTo>
                  <a:lnTo>
                    <a:pt x="249" y="641"/>
                  </a:lnTo>
                  <a:lnTo>
                    <a:pt x="301" y="601"/>
                  </a:lnTo>
                  <a:lnTo>
                    <a:pt x="301" y="770"/>
                  </a:lnTo>
                  <a:lnTo>
                    <a:pt x="455" y="770"/>
                  </a:lnTo>
                  <a:lnTo>
                    <a:pt x="455" y="461"/>
                  </a:lnTo>
                  <a:lnTo>
                    <a:pt x="455" y="461"/>
                  </a:lnTo>
                  <a:lnTo>
                    <a:pt x="486" y="429"/>
                  </a:lnTo>
                  <a:lnTo>
                    <a:pt x="515" y="396"/>
                  </a:lnTo>
                  <a:lnTo>
                    <a:pt x="540" y="365"/>
                  </a:lnTo>
                  <a:lnTo>
                    <a:pt x="563" y="333"/>
                  </a:lnTo>
                  <a:lnTo>
                    <a:pt x="585" y="303"/>
                  </a:lnTo>
                  <a:lnTo>
                    <a:pt x="603" y="273"/>
                  </a:lnTo>
                  <a:lnTo>
                    <a:pt x="618" y="244"/>
                  </a:lnTo>
                  <a:lnTo>
                    <a:pt x="632" y="216"/>
                  </a:lnTo>
                  <a:lnTo>
                    <a:pt x="643" y="190"/>
                  </a:lnTo>
                  <a:lnTo>
                    <a:pt x="651" y="164"/>
                  </a:lnTo>
                  <a:lnTo>
                    <a:pt x="656" y="141"/>
                  </a:lnTo>
                  <a:lnTo>
                    <a:pt x="658" y="118"/>
                  </a:lnTo>
                  <a:lnTo>
                    <a:pt x="658" y="98"/>
                  </a:lnTo>
                  <a:lnTo>
                    <a:pt x="657" y="87"/>
                  </a:lnTo>
                  <a:lnTo>
                    <a:pt x="656" y="78"/>
                  </a:lnTo>
                  <a:lnTo>
                    <a:pt x="652" y="69"/>
                  </a:lnTo>
                  <a:lnTo>
                    <a:pt x="650" y="60"/>
                  </a:lnTo>
                  <a:lnTo>
                    <a:pt x="645" y="52"/>
                  </a:lnTo>
                  <a:lnTo>
                    <a:pt x="640" y="45"/>
                  </a:lnTo>
                  <a:lnTo>
                    <a:pt x="64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3" name="Freeform 41">
              <a:extLst>
                <a:ext uri="{FF2B5EF4-FFF2-40B4-BE49-F238E27FC236}">
                  <a16:creationId xmlns:a16="http://schemas.microsoft.com/office/drawing/2014/main" id="{440278FE-D342-0247-8DFC-E3FD4498C7C1}"/>
                </a:ext>
              </a:extLst>
            </p:cNvPr>
            <p:cNvSpPr>
              <a:spLocks/>
            </p:cNvSpPr>
            <p:nvPr/>
          </p:nvSpPr>
          <p:spPr bwMode="auto">
            <a:xfrm>
              <a:off x="1233488" y="814388"/>
              <a:ext cx="819150" cy="649288"/>
            </a:xfrm>
            <a:custGeom>
              <a:avLst/>
              <a:gdLst>
                <a:gd name="T0" fmla="*/ 442 w 1032"/>
                <a:gd name="T1" fmla="*/ 660 h 819"/>
                <a:gd name="T2" fmla="*/ 582 w 1032"/>
                <a:gd name="T3" fmla="*/ 569 h 819"/>
                <a:gd name="T4" fmla="*/ 598 w 1032"/>
                <a:gd name="T5" fmla="*/ 553 h 819"/>
                <a:gd name="T6" fmla="*/ 594 w 1032"/>
                <a:gd name="T7" fmla="*/ 549 h 819"/>
                <a:gd name="T8" fmla="*/ 560 w 1032"/>
                <a:gd name="T9" fmla="*/ 567 h 819"/>
                <a:gd name="T10" fmla="*/ 397 w 1032"/>
                <a:gd name="T11" fmla="*/ 661 h 819"/>
                <a:gd name="T12" fmla="*/ 264 w 1032"/>
                <a:gd name="T13" fmla="*/ 713 h 819"/>
                <a:gd name="T14" fmla="*/ 175 w 1032"/>
                <a:gd name="T15" fmla="*/ 722 h 819"/>
                <a:gd name="T16" fmla="*/ 138 w 1032"/>
                <a:gd name="T17" fmla="*/ 713 h 819"/>
                <a:gd name="T18" fmla="*/ 107 w 1032"/>
                <a:gd name="T19" fmla="*/ 692 h 819"/>
                <a:gd name="T20" fmla="*/ 94 w 1032"/>
                <a:gd name="T21" fmla="*/ 670 h 819"/>
                <a:gd name="T22" fmla="*/ 87 w 1032"/>
                <a:gd name="T23" fmla="*/ 639 h 819"/>
                <a:gd name="T24" fmla="*/ 106 w 1032"/>
                <a:gd name="T25" fmla="*/ 559 h 819"/>
                <a:gd name="T26" fmla="*/ 167 w 1032"/>
                <a:gd name="T27" fmla="*/ 463 h 819"/>
                <a:gd name="T28" fmla="*/ 260 w 1032"/>
                <a:gd name="T29" fmla="*/ 354 h 819"/>
                <a:gd name="T30" fmla="*/ 322 w 1032"/>
                <a:gd name="T31" fmla="*/ 668 h 819"/>
                <a:gd name="T32" fmla="*/ 442 w 1032"/>
                <a:gd name="T33" fmla="*/ 281 h 819"/>
                <a:gd name="T34" fmla="*/ 491 w 1032"/>
                <a:gd name="T35" fmla="*/ 381 h 819"/>
                <a:gd name="T36" fmla="*/ 530 w 1032"/>
                <a:gd name="T37" fmla="*/ 428 h 819"/>
                <a:gd name="T38" fmla="*/ 578 w 1032"/>
                <a:gd name="T39" fmla="*/ 460 h 819"/>
                <a:gd name="T40" fmla="*/ 635 w 1032"/>
                <a:gd name="T41" fmla="*/ 479 h 819"/>
                <a:gd name="T42" fmla="*/ 682 w 1032"/>
                <a:gd name="T43" fmla="*/ 480 h 819"/>
                <a:gd name="T44" fmla="*/ 741 w 1032"/>
                <a:gd name="T45" fmla="*/ 466 h 819"/>
                <a:gd name="T46" fmla="*/ 792 w 1032"/>
                <a:gd name="T47" fmla="*/ 437 h 819"/>
                <a:gd name="T48" fmla="*/ 833 w 1032"/>
                <a:gd name="T49" fmla="*/ 394 h 819"/>
                <a:gd name="T50" fmla="*/ 891 w 1032"/>
                <a:gd name="T51" fmla="*/ 281 h 819"/>
                <a:gd name="T52" fmla="*/ 967 w 1032"/>
                <a:gd name="T53" fmla="*/ 284 h 819"/>
                <a:gd name="T54" fmla="*/ 1029 w 1032"/>
                <a:gd name="T55" fmla="*/ 206 h 819"/>
                <a:gd name="T56" fmla="*/ 1031 w 1032"/>
                <a:gd name="T57" fmla="*/ 188 h 819"/>
                <a:gd name="T58" fmla="*/ 994 w 1032"/>
                <a:gd name="T59" fmla="*/ 139 h 819"/>
                <a:gd name="T60" fmla="*/ 939 w 1032"/>
                <a:gd name="T61" fmla="*/ 110 h 819"/>
                <a:gd name="T62" fmla="*/ 897 w 1032"/>
                <a:gd name="T63" fmla="*/ 104 h 819"/>
                <a:gd name="T64" fmla="*/ 866 w 1032"/>
                <a:gd name="T65" fmla="*/ 108 h 819"/>
                <a:gd name="T66" fmla="*/ 818 w 1032"/>
                <a:gd name="T67" fmla="*/ 127 h 819"/>
                <a:gd name="T68" fmla="*/ 764 w 1032"/>
                <a:gd name="T69" fmla="*/ 186 h 819"/>
                <a:gd name="T70" fmla="*/ 694 w 1032"/>
                <a:gd name="T71" fmla="*/ 332 h 819"/>
                <a:gd name="T72" fmla="*/ 666 w 1032"/>
                <a:gd name="T73" fmla="*/ 344 h 819"/>
                <a:gd name="T74" fmla="*/ 643 w 1032"/>
                <a:gd name="T75" fmla="*/ 336 h 819"/>
                <a:gd name="T76" fmla="*/ 569 w 1032"/>
                <a:gd name="T77" fmla="*/ 186 h 819"/>
                <a:gd name="T78" fmla="*/ 546 w 1032"/>
                <a:gd name="T79" fmla="*/ 153 h 819"/>
                <a:gd name="T80" fmla="*/ 549 w 1032"/>
                <a:gd name="T81" fmla="*/ 99 h 819"/>
                <a:gd name="T82" fmla="*/ 652 w 1032"/>
                <a:gd name="T83" fmla="*/ 28 h 819"/>
                <a:gd name="T84" fmla="*/ 682 w 1032"/>
                <a:gd name="T85" fmla="*/ 6 h 819"/>
                <a:gd name="T86" fmla="*/ 678 w 1032"/>
                <a:gd name="T87" fmla="*/ 0 h 819"/>
                <a:gd name="T88" fmla="*/ 658 w 1032"/>
                <a:gd name="T89" fmla="*/ 8 h 819"/>
                <a:gd name="T90" fmla="*/ 540 w 1032"/>
                <a:gd name="T91" fmla="*/ 80 h 819"/>
                <a:gd name="T92" fmla="*/ 489 w 1032"/>
                <a:gd name="T93" fmla="*/ 114 h 819"/>
                <a:gd name="T94" fmla="*/ 436 w 1032"/>
                <a:gd name="T95" fmla="*/ 104 h 819"/>
                <a:gd name="T96" fmla="*/ 391 w 1032"/>
                <a:gd name="T97" fmla="*/ 111 h 819"/>
                <a:gd name="T98" fmla="*/ 342 w 1032"/>
                <a:gd name="T99" fmla="*/ 138 h 819"/>
                <a:gd name="T100" fmla="*/ 305 w 1032"/>
                <a:gd name="T101" fmla="*/ 182 h 819"/>
                <a:gd name="T102" fmla="*/ 289 w 1032"/>
                <a:gd name="T103" fmla="*/ 237 h 819"/>
                <a:gd name="T104" fmla="*/ 249 w 1032"/>
                <a:gd name="T105" fmla="*/ 308 h 819"/>
                <a:gd name="T106" fmla="*/ 116 w 1032"/>
                <a:gd name="T107" fmla="*/ 451 h 819"/>
                <a:gd name="T108" fmla="*/ 31 w 1032"/>
                <a:gd name="T109" fmla="*/ 580 h 819"/>
                <a:gd name="T110" fmla="*/ 2 w 1032"/>
                <a:gd name="T111" fmla="*/ 662 h 819"/>
                <a:gd name="T112" fmla="*/ 1 w 1032"/>
                <a:gd name="T113" fmla="*/ 708 h 819"/>
                <a:gd name="T114" fmla="*/ 16 w 1032"/>
                <a:gd name="T115" fmla="*/ 745 h 819"/>
                <a:gd name="T116" fmla="*/ 46 w 1032"/>
                <a:gd name="T117" fmla="*/ 772 h 819"/>
                <a:gd name="T118" fmla="*/ 104 w 1032"/>
                <a:gd name="T119" fmla="*/ 786 h 819"/>
                <a:gd name="T120" fmla="*/ 179 w 1032"/>
                <a:gd name="T121" fmla="*/ 777 h 819"/>
                <a:gd name="T122" fmla="*/ 289 w 1032"/>
                <a:gd name="T123" fmla="*/ 739 h 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2" h="819">
                  <a:moveTo>
                    <a:pt x="289" y="819"/>
                  </a:moveTo>
                  <a:lnTo>
                    <a:pt x="442" y="819"/>
                  </a:lnTo>
                  <a:lnTo>
                    <a:pt x="442" y="660"/>
                  </a:lnTo>
                  <a:lnTo>
                    <a:pt x="442" y="660"/>
                  </a:lnTo>
                  <a:lnTo>
                    <a:pt x="506" y="620"/>
                  </a:lnTo>
                  <a:lnTo>
                    <a:pt x="569" y="579"/>
                  </a:lnTo>
                  <a:lnTo>
                    <a:pt x="569" y="579"/>
                  </a:lnTo>
                  <a:lnTo>
                    <a:pt x="582" y="569"/>
                  </a:lnTo>
                  <a:lnTo>
                    <a:pt x="593" y="559"/>
                  </a:lnTo>
                  <a:lnTo>
                    <a:pt x="593" y="559"/>
                  </a:lnTo>
                  <a:lnTo>
                    <a:pt x="596" y="557"/>
                  </a:lnTo>
                  <a:lnTo>
                    <a:pt x="598" y="553"/>
                  </a:lnTo>
                  <a:lnTo>
                    <a:pt x="598" y="551"/>
                  </a:lnTo>
                  <a:lnTo>
                    <a:pt x="598" y="550"/>
                  </a:lnTo>
                  <a:lnTo>
                    <a:pt x="595" y="549"/>
                  </a:lnTo>
                  <a:lnTo>
                    <a:pt x="594" y="549"/>
                  </a:lnTo>
                  <a:lnTo>
                    <a:pt x="588" y="550"/>
                  </a:lnTo>
                  <a:lnTo>
                    <a:pt x="588" y="550"/>
                  </a:lnTo>
                  <a:lnTo>
                    <a:pt x="560" y="567"/>
                  </a:lnTo>
                  <a:lnTo>
                    <a:pt x="560" y="567"/>
                  </a:lnTo>
                  <a:lnTo>
                    <a:pt x="517" y="593"/>
                  </a:lnTo>
                  <a:lnTo>
                    <a:pt x="474" y="619"/>
                  </a:lnTo>
                  <a:lnTo>
                    <a:pt x="435" y="640"/>
                  </a:lnTo>
                  <a:lnTo>
                    <a:pt x="397" y="661"/>
                  </a:lnTo>
                  <a:lnTo>
                    <a:pt x="361" y="678"/>
                  </a:lnTo>
                  <a:lnTo>
                    <a:pt x="326" y="692"/>
                  </a:lnTo>
                  <a:lnTo>
                    <a:pt x="295" y="703"/>
                  </a:lnTo>
                  <a:lnTo>
                    <a:pt x="264" y="713"/>
                  </a:lnTo>
                  <a:lnTo>
                    <a:pt x="237" y="719"/>
                  </a:lnTo>
                  <a:lnTo>
                    <a:pt x="210" y="722"/>
                  </a:lnTo>
                  <a:lnTo>
                    <a:pt x="187" y="724"/>
                  </a:lnTo>
                  <a:lnTo>
                    <a:pt x="175" y="722"/>
                  </a:lnTo>
                  <a:lnTo>
                    <a:pt x="165" y="721"/>
                  </a:lnTo>
                  <a:lnTo>
                    <a:pt x="156" y="720"/>
                  </a:lnTo>
                  <a:lnTo>
                    <a:pt x="146" y="716"/>
                  </a:lnTo>
                  <a:lnTo>
                    <a:pt x="138" y="713"/>
                  </a:lnTo>
                  <a:lnTo>
                    <a:pt x="129" y="709"/>
                  </a:lnTo>
                  <a:lnTo>
                    <a:pt x="121" y="704"/>
                  </a:lnTo>
                  <a:lnTo>
                    <a:pt x="115" y="698"/>
                  </a:lnTo>
                  <a:lnTo>
                    <a:pt x="107" y="692"/>
                  </a:lnTo>
                  <a:lnTo>
                    <a:pt x="101" y="685"/>
                  </a:lnTo>
                  <a:lnTo>
                    <a:pt x="101" y="685"/>
                  </a:lnTo>
                  <a:lnTo>
                    <a:pt x="98" y="678"/>
                  </a:lnTo>
                  <a:lnTo>
                    <a:pt x="94" y="670"/>
                  </a:lnTo>
                  <a:lnTo>
                    <a:pt x="91" y="663"/>
                  </a:lnTo>
                  <a:lnTo>
                    <a:pt x="89" y="655"/>
                  </a:lnTo>
                  <a:lnTo>
                    <a:pt x="87" y="648"/>
                  </a:lnTo>
                  <a:lnTo>
                    <a:pt x="87" y="639"/>
                  </a:lnTo>
                  <a:lnTo>
                    <a:pt x="88" y="621"/>
                  </a:lnTo>
                  <a:lnTo>
                    <a:pt x="92" y="602"/>
                  </a:lnTo>
                  <a:lnTo>
                    <a:pt x="98" y="581"/>
                  </a:lnTo>
                  <a:lnTo>
                    <a:pt x="106" y="559"/>
                  </a:lnTo>
                  <a:lnTo>
                    <a:pt x="118" y="536"/>
                  </a:lnTo>
                  <a:lnTo>
                    <a:pt x="132" y="512"/>
                  </a:lnTo>
                  <a:lnTo>
                    <a:pt x="148" y="488"/>
                  </a:lnTo>
                  <a:lnTo>
                    <a:pt x="167" y="463"/>
                  </a:lnTo>
                  <a:lnTo>
                    <a:pt x="187" y="436"/>
                  </a:lnTo>
                  <a:lnTo>
                    <a:pt x="210" y="410"/>
                  </a:lnTo>
                  <a:lnTo>
                    <a:pt x="234" y="383"/>
                  </a:lnTo>
                  <a:lnTo>
                    <a:pt x="260" y="354"/>
                  </a:lnTo>
                  <a:lnTo>
                    <a:pt x="289" y="326"/>
                  </a:lnTo>
                  <a:lnTo>
                    <a:pt x="289" y="681"/>
                  </a:lnTo>
                  <a:lnTo>
                    <a:pt x="289" y="681"/>
                  </a:lnTo>
                  <a:lnTo>
                    <a:pt x="322" y="668"/>
                  </a:lnTo>
                  <a:lnTo>
                    <a:pt x="359" y="652"/>
                  </a:lnTo>
                  <a:lnTo>
                    <a:pt x="400" y="633"/>
                  </a:lnTo>
                  <a:lnTo>
                    <a:pt x="442" y="610"/>
                  </a:lnTo>
                  <a:lnTo>
                    <a:pt x="442" y="281"/>
                  </a:lnTo>
                  <a:lnTo>
                    <a:pt x="476" y="353"/>
                  </a:lnTo>
                  <a:lnTo>
                    <a:pt x="476" y="353"/>
                  </a:lnTo>
                  <a:lnTo>
                    <a:pt x="483" y="367"/>
                  </a:lnTo>
                  <a:lnTo>
                    <a:pt x="491" y="381"/>
                  </a:lnTo>
                  <a:lnTo>
                    <a:pt x="500" y="394"/>
                  </a:lnTo>
                  <a:lnTo>
                    <a:pt x="509" y="406"/>
                  </a:lnTo>
                  <a:lnTo>
                    <a:pt x="519" y="418"/>
                  </a:lnTo>
                  <a:lnTo>
                    <a:pt x="530" y="428"/>
                  </a:lnTo>
                  <a:lnTo>
                    <a:pt x="541" y="437"/>
                  </a:lnTo>
                  <a:lnTo>
                    <a:pt x="553" y="446"/>
                  </a:lnTo>
                  <a:lnTo>
                    <a:pt x="565" y="454"/>
                  </a:lnTo>
                  <a:lnTo>
                    <a:pt x="578" y="460"/>
                  </a:lnTo>
                  <a:lnTo>
                    <a:pt x="592" y="466"/>
                  </a:lnTo>
                  <a:lnTo>
                    <a:pt x="606" y="471"/>
                  </a:lnTo>
                  <a:lnTo>
                    <a:pt x="621" y="475"/>
                  </a:lnTo>
                  <a:lnTo>
                    <a:pt x="635" y="479"/>
                  </a:lnTo>
                  <a:lnTo>
                    <a:pt x="651" y="480"/>
                  </a:lnTo>
                  <a:lnTo>
                    <a:pt x="666" y="480"/>
                  </a:lnTo>
                  <a:lnTo>
                    <a:pt x="666" y="480"/>
                  </a:lnTo>
                  <a:lnTo>
                    <a:pt x="682" y="480"/>
                  </a:lnTo>
                  <a:lnTo>
                    <a:pt x="698" y="479"/>
                  </a:lnTo>
                  <a:lnTo>
                    <a:pt x="712" y="475"/>
                  </a:lnTo>
                  <a:lnTo>
                    <a:pt x="727" y="471"/>
                  </a:lnTo>
                  <a:lnTo>
                    <a:pt x="741" y="466"/>
                  </a:lnTo>
                  <a:lnTo>
                    <a:pt x="755" y="460"/>
                  </a:lnTo>
                  <a:lnTo>
                    <a:pt x="768" y="454"/>
                  </a:lnTo>
                  <a:lnTo>
                    <a:pt x="780" y="446"/>
                  </a:lnTo>
                  <a:lnTo>
                    <a:pt x="792" y="437"/>
                  </a:lnTo>
                  <a:lnTo>
                    <a:pt x="803" y="428"/>
                  </a:lnTo>
                  <a:lnTo>
                    <a:pt x="814" y="418"/>
                  </a:lnTo>
                  <a:lnTo>
                    <a:pt x="823" y="406"/>
                  </a:lnTo>
                  <a:lnTo>
                    <a:pt x="833" y="394"/>
                  </a:lnTo>
                  <a:lnTo>
                    <a:pt x="841" y="381"/>
                  </a:lnTo>
                  <a:lnTo>
                    <a:pt x="850" y="367"/>
                  </a:lnTo>
                  <a:lnTo>
                    <a:pt x="857" y="353"/>
                  </a:lnTo>
                  <a:lnTo>
                    <a:pt x="891" y="281"/>
                  </a:lnTo>
                  <a:lnTo>
                    <a:pt x="891" y="365"/>
                  </a:lnTo>
                  <a:lnTo>
                    <a:pt x="891" y="365"/>
                  </a:lnTo>
                  <a:lnTo>
                    <a:pt x="931" y="324"/>
                  </a:lnTo>
                  <a:lnTo>
                    <a:pt x="967" y="284"/>
                  </a:lnTo>
                  <a:lnTo>
                    <a:pt x="1000" y="246"/>
                  </a:lnTo>
                  <a:lnTo>
                    <a:pt x="1015" y="225"/>
                  </a:lnTo>
                  <a:lnTo>
                    <a:pt x="1029" y="206"/>
                  </a:lnTo>
                  <a:lnTo>
                    <a:pt x="1029" y="206"/>
                  </a:lnTo>
                  <a:lnTo>
                    <a:pt x="1031" y="201"/>
                  </a:lnTo>
                  <a:lnTo>
                    <a:pt x="1032" y="197"/>
                  </a:lnTo>
                  <a:lnTo>
                    <a:pt x="1032" y="192"/>
                  </a:lnTo>
                  <a:lnTo>
                    <a:pt x="1031" y="188"/>
                  </a:lnTo>
                  <a:lnTo>
                    <a:pt x="1031" y="188"/>
                  </a:lnTo>
                  <a:lnTo>
                    <a:pt x="1020" y="171"/>
                  </a:lnTo>
                  <a:lnTo>
                    <a:pt x="1008" y="154"/>
                  </a:lnTo>
                  <a:lnTo>
                    <a:pt x="994" y="139"/>
                  </a:lnTo>
                  <a:lnTo>
                    <a:pt x="977" y="127"/>
                  </a:lnTo>
                  <a:lnTo>
                    <a:pt x="959" y="118"/>
                  </a:lnTo>
                  <a:lnTo>
                    <a:pt x="950" y="114"/>
                  </a:lnTo>
                  <a:lnTo>
                    <a:pt x="939" y="110"/>
                  </a:lnTo>
                  <a:lnTo>
                    <a:pt x="930" y="108"/>
                  </a:lnTo>
                  <a:lnTo>
                    <a:pt x="919" y="105"/>
                  </a:lnTo>
                  <a:lnTo>
                    <a:pt x="908" y="104"/>
                  </a:lnTo>
                  <a:lnTo>
                    <a:pt x="897" y="104"/>
                  </a:lnTo>
                  <a:lnTo>
                    <a:pt x="897" y="104"/>
                  </a:lnTo>
                  <a:lnTo>
                    <a:pt x="886" y="104"/>
                  </a:lnTo>
                  <a:lnTo>
                    <a:pt x="876" y="105"/>
                  </a:lnTo>
                  <a:lnTo>
                    <a:pt x="866" y="108"/>
                  </a:lnTo>
                  <a:lnTo>
                    <a:pt x="856" y="110"/>
                  </a:lnTo>
                  <a:lnTo>
                    <a:pt x="845" y="114"/>
                  </a:lnTo>
                  <a:lnTo>
                    <a:pt x="837" y="118"/>
                  </a:lnTo>
                  <a:lnTo>
                    <a:pt x="818" y="127"/>
                  </a:lnTo>
                  <a:lnTo>
                    <a:pt x="802" y="139"/>
                  </a:lnTo>
                  <a:lnTo>
                    <a:pt x="787" y="154"/>
                  </a:lnTo>
                  <a:lnTo>
                    <a:pt x="775" y="169"/>
                  </a:lnTo>
                  <a:lnTo>
                    <a:pt x="764" y="186"/>
                  </a:lnTo>
                  <a:lnTo>
                    <a:pt x="700" y="324"/>
                  </a:lnTo>
                  <a:lnTo>
                    <a:pt x="700" y="324"/>
                  </a:lnTo>
                  <a:lnTo>
                    <a:pt x="697" y="329"/>
                  </a:lnTo>
                  <a:lnTo>
                    <a:pt x="694" y="332"/>
                  </a:lnTo>
                  <a:lnTo>
                    <a:pt x="691" y="336"/>
                  </a:lnTo>
                  <a:lnTo>
                    <a:pt x="686" y="340"/>
                  </a:lnTo>
                  <a:lnTo>
                    <a:pt x="677" y="343"/>
                  </a:lnTo>
                  <a:lnTo>
                    <a:pt x="666" y="344"/>
                  </a:lnTo>
                  <a:lnTo>
                    <a:pt x="666" y="344"/>
                  </a:lnTo>
                  <a:lnTo>
                    <a:pt x="657" y="343"/>
                  </a:lnTo>
                  <a:lnTo>
                    <a:pt x="647" y="340"/>
                  </a:lnTo>
                  <a:lnTo>
                    <a:pt x="643" y="336"/>
                  </a:lnTo>
                  <a:lnTo>
                    <a:pt x="639" y="332"/>
                  </a:lnTo>
                  <a:lnTo>
                    <a:pt x="636" y="329"/>
                  </a:lnTo>
                  <a:lnTo>
                    <a:pt x="634" y="324"/>
                  </a:lnTo>
                  <a:lnTo>
                    <a:pt x="569" y="186"/>
                  </a:lnTo>
                  <a:lnTo>
                    <a:pt x="569" y="186"/>
                  </a:lnTo>
                  <a:lnTo>
                    <a:pt x="564" y="178"/>
                  </a:lnTo>
                  <a:lnTo>
                    <a:pt x="558" y="169"/>
                  </a:lnTo>
                  <a:lnTo>
                    <a:pt x="546" y="153"/>
                  </a:lnTo>
                  <a:lnTo>
                    <a:pt x="530" y="139"/>
                  </a:lnTo>
                  <a:lnTo>
                    <a:pt x="514" y="127"/>
                  </a:lnTo>
                  <a:lnTo>
                    <a:pt x="514" y="127"/>
                  </a:lnTo>
                  <a:lnTo>
                    <a:pt x="549" y="99"/>
                  </a:lnTo>
                  <a:lnTo>
                    <a:pt x="583" y="74"/>
                  </a:lnTo>
                  <a:lnTo>
                    <a:pt x="618" y="50"/>
                  </a:lnTo>
                  <a:lnTo>
                    <a:pt x="652" y="28"/>
                  </a:lnTo>
                  <a:lnTo>
                    <a:pt x="652" y="28"/>
                  </a:lnTo>
                  <a:lnTo>
                    <a:pt x="666" y="19"/>
                  </a:lnTo>
                  <a:lnTo>
                    <a:pt x="678" y="10"/>
                  </a:lnTo>
                  <a:lnTo>
                    <a:pt x="678" y="10"/>
                  </a:lnTo>
                  <a:lnTo>
                    <a:pt x="682" y="6"/>
                  </a:lnTo>
                  <a:lnTo>
                    <a:pt x="682" y="4"/>
                  </a:lnTo>
                  <a:lnTo>
                    <a:pt x="682" y="2"/>
                  </a:lnTo>
                  <a:lnTo>
                    <a:pt x="681" y="0"/>
                  </a:lnTo>
                  <a:lnTo>
                    <a:pt x="678" y="0"/>
                  </a:lnTo>
                  <a:lnTo>
                    <a:pt x="675" y="0"/>
                  </a:lnTo>
                  <a:lnTo>
                    <a:pt x="671" y="2"/>
                  </a:lnTo>
                  <a:lnTo>
                    <a:pt x="671" y="2"/>
                  </a:lnTo>
                  <a:lnTo>
                    <a:pt x="658" y="8"/>
                  </a:lnTo>
                  <a:lnTo>
                    <a:pt x="643" y="16"/>
                  </a:lnTo>
                  <a:lnTo>
                    <a:pt x="643" y="16"/>
                  </a:lnTo>
                  <a:lnTo>
                    <a:pt x="575" y="58"/>
                  </a:lnTo>
                  <a:lnTo>
                    <a:pt x="540" y="80"/>
                  </a:lnTo>
                  <a:lnTo>
                    <a:pt x="506" y="103"/>
                  </a:lnTo>
                  <a:lnTo>
                    <a:pt x="506" y="103"/>
                  </a:lnTo>
                  <a:lnTo>
                    <a:pt x="489" y="114"/>
                  </a:lnTo>
                  <a:lnTo>
                    <a:pt x="489" y="114"/>
                  </a:lnTo>
                  <a:lnTo>
                    <a:pt x="477" y="110"/>
                  </a:lnTo>
                  <a:lnTo>
                    <a:pt x="464" y="107"/>
                  </a:lnTo>
                  <a:lnTo>
                    <a:pt x="450" y="105"/>
                  </a:lnTo>
                  <a:lnTo>
                    <a:pt x="436" y="104"/>
                  </a:lnTo>
                  <a:lnTo>
                    <a:pt x="436" y="104"/>
                  </a:lnTo>
                  <a:lnTo>
                    <a:pt x="420" y="105"/>
                  </a:lnTo>
                  <a:lnTo>
                    <a:pt x="406" y="108"/>
                  </a:lnTo>
                  <a:lnTo>
                    <a:pt x="391" y="111"/>
                  </a:lnTo>
                  <a:lnTo>
                    <a:pt x="378" y="116"/>
                  </a:lnTo>
                  <a:lnTo>
                    <a:pt x="366" y="122"/>
                  </a:lnTo>
                  <a:lnTo>
                    <a:pt x="353" y="130"/>
                  </a:lnTo>
                  <a:lnTo>
                    <a:pt x="342" y="138"/>
                  </a:lnTo>
                  <a:lnTo>
                    <a:pt x="331" y="148"/>
                  </a:lnTo>
                  <a:lnTo>
                    <a:pt x="321" y="159"/>
                  </a:lnTo>
                  <a:lnTo>
                    <a:pt x="313" y="169"/>
                  </a:lnTo>
                  <a:lnTo>
                    <a:pt x="305" y="182"/>
                  </a:lnTo>
                  <a:lnTo>
                    <a:pt x="299" y="195"/>
                  </a:lnTo>
                  <a:lnTo>
                    <a:pt x="295" y="208"/>
                  </a:lnTo>
                  <a:lnTo>
                    <a:pt x="291" y="223"/>
                  </a:lnTo>
                  <a:lnTo>
                    <a:pt x="289" y="237"/>
                  </a:lnTo>
                  <a:lnTo>
                    <a:pt x="289" y="252"/>
                  </a:lnTo>
                  <a:lnTo>
                    <a:pt x="289" y="272"/>
                  </a:lnTo>
                  <a:lnTo>
                    <a:pt x="289" y="272"/>
                  </a:lnTo>
                  <a:lnTo>
                    <a:pt x="249" y="308"/>
                  </a:lnTo>
                  <a:lnTo>
                    <a:pt x="211" y="344"/>
                  </a:lnTo>
                  <a:lnTo>
                    <a:pt x="176" y="381"/>
                  </a:lnTo>
                  <a:lnTo>
                    <a:pt x="145" y="416"/>
                  </a:lnTo>
                  <a:lnTo>
                    <a:pt x="116" y="451"/>
                  </a:lnTo>
                  <a:lnTo>
                    <a:pt x="91" y="485"/>
                  </a:lnTo>
                  <a:lnTo>
                    <a:pt x="68" y="517"/>
                  </a:lnTo>
                  <a:lnTo>
                    <a:pt x="47" y="550"/>
                  </a:lnTo>
                  <a:lnTo>
                    <a:pt x="31" y="580"/>
                  </a:lnTo>
                  <a:lnTo>
                    <a:pt x="18" y="609"/>
                  </a:lnTo>
                  <a:lnTo>
                    <a:pt x="8" y="637"/>
                  </a:lnTo>
                  <a:lnTo>
                    <a:pt x="5" y="650"/>
                  </a:lnTo>
                  <a:lnTo>
                    <a:pt x="2" y="662"/>
                  </a:lnTo>
                  <a:lnTo>
                    <a:pt x="0" y="674"/>
                  </a:lnTo>
                  <a:lnTo>
                    <a:pt x="0" y="686"/>
                  </a:lnTo>
                  <a:lnTo>
                    <a:pt x="0" y="697"/>
                  </a:lnTo>
                  <a:lnTo>
                    <a:pt x="1" y="708"/>
                  </a:lnTo>
                  <a:lnTo>
                    <a:pt x="4" y="718"/>
                  </a:lnTo>
                  <a:lnTo>
                    <a:pt x="6" y="727"/>
                  </a:lnTo>
                  <a:lnTo>
                    <a:pt x="11" y="737"/>
                  </a:lnTo>
                  <a:lnTo>
                    <a:pt x="16" y="745"/>
                  </a:lnTo>
                  <a:lnTo>
                    <a:pt x="16" y="745"/>
                  </a:lnTo>
                  <a:lnTo>
                    <a:pt x="24" y="756"/>
                  </a:lnTo>
                  <a:lnTo>
                    <a:pt x="35" y="765"/>
                  </a:lnTo>
                  <a:lnTo>
                    <a:pt x="46" y="772"/>
                  </a:lnTo>
                  <a:lnTo>
                    <a:pt x="59" y="778"/>
                  </a:lnTo>
                  <a:lnTo>
                    <a:pt x="72" y="783"/>
                  </a:lnTo>
                  <a:lnTo>
                    <a:pt x="88" y="785"/>
                  </a:lnTo>
                  <a:lnTo>
                    <a:pt x="104" y="786"/>
                  </a:lnTo>
                  <a:lnTo>
                    <a:pt x="122" y="786"/>
                  </a:lnTo>
                  <a:lnTo>
                    <a:pt x="140" y="784"/>
                  </a:lnTo>
                  <a:lnTo>
                    <a:pt x="158" y="782"/>
                  </a:lnTo>
                  <a:lnTo>
                    <a:pt x="179" y="777"/>
                  </a:lnTo>
                  <a:lnTo>
                    <a:pt x="199" y="772"/>
                  </a:lnTo>
                  <a:lnTo>
                    <a:pt x="220" y="765"/>
                  </a:lnTo>
                  <a:lnTo>
                    <a:pt x="243" y="757"/>
                  </a:lnTo>
                  <a:lnTo>
                    <a:pt x="289" y="739"/>
                  </a:lnTo>
                  <a:lnTo>
                    <a:pt x="289" y="8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4" name="Freeform 42">
              <a:extLst>
                <a:ext uri="{FF2B5EF4-FFF2-40B4-BE49-F238E27FC236}">
                  <a16:creationId xmlns:a16="http://schemas.microsoft.com/office/drawing/2014/main" id="{2BF1A0E8-A187-7C40-B895-3F4FF6B4888B}"/>
                </a:ext>
              </a:extLst>
            </p:cNvPr>
            <p:cNvSpPr>
              <a:spLocks noEditPoints="1"/>
            </p:cNvSpPr>
            <p:nvPr/>
          </p:nvSpPr>
          <p:spPr bwMode="auto">
            <a:xfrm>
              <a:off x="4046538" y="938213"/>
              <a:ext cx="69850" cy="68263"/>
            </a:xfrm>
            <a:custGeom>
              <a:avLst/>
              <a:gdLst>
                <a:gd name="T0" fmla="*/ 0 w 87"/>
                <a:gd name="T1" fmla="*/ 44 h 87"/>
                <a:gd name="T2" fmla="*/ 4 w 87"/>
                <a:gd name="T3" fmla="*/ 27 h 87"/>
                <a:gd name="T4" fmla="*/ 14 w 87"/>
                <a:gd name="T5" fmla="*/ 12 h 87"/>
                <a:gd name="T6" fmla="*/ 27 w 87"/>
                <a:gd name="T7" fmla="*/ 4 h 87"/>
                <a:gd name="T8" fmla="*/ 44 w 87"/>
                <a:gd name="T9" fmla="*/ 0 h 87"/>
                <a:gd name="T10" fmla="*/ 52 w 87"/>
                <a:gd name="T11" fmla="*/ 0 h 87"/>
                <a:gd name="T12" fmla="*/ 68 w 87"/>
                <a:gd name="T13" fmla="*/ 7 h 87"/>
                <a:gd name="T14" fmla="*/ 80 w 87"/>
                <a:gd name="T15" fmla="*/ 19 h 87"/>
                <a:gd name="T16" fmla="*/ 86 w 87"/>
                <a:gd name="T17" fmla="*/ 35 h 87"/>
                <a:gd name="T18" fmla="*/ 87 w 87"/>
                <a:gd name="T19" fmla="*/ 44 h 87"/>
                <a:gd name="T20" fmla="*/ 84 w 87"/>
                <a:gd name="T21" fmla="*/ 61 h 87"/>
                <a:gd name="T22" fmla="*/ 75 w 87"/>
                <a:gd name="T23" fmla="*/ 74 h 87"/>
                <a:gd name="T24" fmla="*/ 61 w 87"/>
                <a:gd name="T25" fmla="*/ 83 h 87"/>
                <a:gd name="T26" fmla="*/ 44 w 87"/>
                <a:gd name="T27" fmla="*/ 87 h 87"/>
                <a:gd name="T28" fmla="*/ 35 w 87"/>
                <a:gd name="T29" fmla="*/ 86 h 87"/>
                <a:gd name="T30" fmla="*/ 20 w 87"/>
                <a:gd name="T31" fmla="*/ 80 h 87"/>
                <a:gd name="T32" fmla="*/ 8 w 87"/>
                <a:gd name="T33" fmla="*/ 68 h 87"/>
                <a:gd name="T34" fmla="*/ 2 w 87"/>
                <a:gd name="T35" fmla="*/ 52 h 87"/>
                <a:gd name="T36" fmla="*/ 0 w 87"/>
                <a:gd name="T37" fmla="*/ 44 h 87"/>
                <a:gd name="T38" fmla="*/ 76 w 87"/>
                <a:gd name="T39" fmla="*/ 44 h 87"/>
                <a:gd name="T40" fmla="*/ 74 w 87"/>
                <a:gd name="T41" fmla="*/ 29 h 87"/>
                <a:gd name="T42" fmla="*/ 67 w 87"/>
                <a:gd name="T43" fmla="*/ 18 h 87"/>
                <a:gd name="T44" fmla="*/ 57 w 87"/>
                <a:gd name="T45" fmla="*/ 11 h 87"/>
                <a:gd name="T46" fmla="*/ 44 w 87"/>
                <a:gd name="T47" fmla="*/ 9 h 87"/>
                <a:gd name="T48" fmla="*/ 38 w 87"/>
                <a:gd name="T49" fmla="*/ 9 h 87"/>
                <a:gd name="T50" fmla="*/ 26 w 87"/>
                <a:gd name="T51" fmla="*/ 13 h 87"/>
                <a:gd name="T52" fmla="*/ 16 w 87"/>
                <a:gd name="T53" fmla="*/ 23 h 87"/>
                <a:gd name="T54" fmla="*/ 11 w 87"/>
                <a:gd name="T55" fmla="*/ 36 h 87"/>
                <a:gd name="T56" fmla="*/ 11 w 87"/>
                <a:gd name="T57" fmla="*/ 44 h 87"/>
                <a:gd name="T58" fmla="*/ 14 w 87"/>
                <a:gd name="T59" fmla="*/ 57 h 87"/>
                <a:gd name="T60" fmla="*/ 21 w 87"/>
                <a:gd name="T61" fmla="*/ 69 h 87"/>
                <a:gd name="T62" fmla="*/ 31 w 87"/>
                <a:gd name="T63" fmla="*/ 76 h 87"/>
                <a:gd name="T64" fmla="*/ 44 w 87"/>
                <a:gd name="T65" fmla="*/ 79 h 87"/>
                <a:gd name="T66" fmla="*/ 51 w 87"/>
                <a:gd name="T67" fmla="*/ 77 h 87"/>
                <a:gd name="T68" fmla="*/ 62 w 87"/>
                <a:gd name="T69" fmla="*/ 73 h 87"/>
                <a:gd name="T70" fmla="*/ 72 w 87"/>
                <a:gd name="T71" fmla="*/ 63 h 87"/>
                <a:gd name="T72" fmla="*/ 76 w 87"/>
                <a:gd name="T73" fmla="*/ 51 h 87"/>
                <a:gd name="T74" fmla="*/ 76 w 87"/>
                <a:gd name="T75" fmla="*/ 44 h 87"/>
                <a:gd name="T76" fmla="*/ 45 w 87"/>
                <a:gd name="T77" fmla="*/ 18 h 87"/>
                <a:gd name="T78" fmla="*/ 53 w 87"/>
                <a:gd name="T79" fmla="*/ 19 h 87"/>
                <a:gd name="T80" fmla="*/ 61 w 87"/>
                <a:gd name="T81" fmla="*/ 24 h 87"/>
                <a:gd name="T82" fmla="*/ 63 w 87"/>
                <a:gd name="T83" fmla="*/ 33 h 87"/>
                <a:gd name="T84" fmla="*/ 63 w 87"/>
                <a:gd name="T85" fmla="*/ 39 h 87"/>
                <a:gd name="T86" fmla="*/ 56 w 87"/>
                <a:gd name="T87" fmla="*/ 45 h 87"/>
                <a:gd name="T88" fmla="*/ 64 w 87"/>
                <a:gd name="T89" fmla="*/ 68 h 87"/>
                <a:gd name="T90" fmla="*/ 41 w 87"/>
                <a:gd name="T91" fmla="*/ 47 h 87"/>
                <a:gd name="T92" fmla="*/ 37 w 87"/>
                <a:gd name="T93" fmla="*/ 68 h 87"/>
                <a:gd name="T94" fmla="*/ 27 w 87"/>
                <a:gd name="T95" fmla="*/ 18 h 87"/>
                <a:gd name="T96" fmla="*/ 44 w 87"/>
                <a:gd name="T97" fmla="*/ 40 h 87"/>
                <a:gd name="T98" fmla="*/ 49 w 87"/>
                <a:gd name="T99" fmla="*/ 40 h 87"/>
                <a:gd name="T100" fmla="*/ 53 w 87"/>
                <a:gd name="T101" fmla="*/ 36 h 87"/>
                <a:gd name="T102" fmla="*/ 55 w 87"/>
                <a:gd name="T103" fmla="*/ 33 h 87"/>
                <a:gd name="T104" fmla="*/ 51 w 87"/>
                <a:gd name="T105" fmla="*/ 27 h 87"/>
                <a:gd name="T106" fmla="*/ 45 w 87"/>
                <a:gd name="T107" fmla="*/ 26 h 87"/>
                <a:gd name="T108" fmla="*/ 37 w 87"/>
                <a:gd name="T109"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7" h="87">
                  <a:moveTo>
                    <a:pt x="0" y="44"/>
                  </a:moveTo>
                  <a:lnTo>
                    <a:pt x="0" y="44"/>
                  </a:lnTo>
                  <a:lnTo>
                    <a:pt x="2" y="35"/>
                  </a:lnTo>
                  <a:lnTo>
                    <a:pt x="4" y="27"/>
                  </a:lnTo>
                  <a:lnTo>
                    <a:pt x="8" y="19"/>
                  </a:lnTo>
                  <a:lnTo>
                    <a:pt x="14" y="12"/>
                  </a:lnTo>
                  <a:lnTo>
                    <a:pt x="20" y="7"/>
                  </a:lnTo>
                  <a:lnTo>
                    <a:pt x="27" y="4"/>
                  </a:lnTo>
                  <a:lnTo>
                    <a:pt x="35" y="0"/>
                  </a:lnTo>
                  <a:lnTo>
                    <a:pt x="44" y="0"/>
                  </a:lnTo>
                  <a:lnTo>
                    <a:pt x="44" y="0"/>
                  </a:lnTo>
                  <a:lnTo>
                    <a:pt x="52" y="0"/>
                  </a:lnTo>
                  <a:lnTo>
                    <a:pt x="61" y="4"/>
                  </a:lnTo>
                  <a:lnTo>
                    <a:pt x="68" y="7"/>
                  </a:lnTo>
                  <a:lnTo>
                    <a:pt x="75" y="12"/>
                  </a:lnTo>
                  <a:lnTo>
                    <a:pt x="80" y="19"/>
                  </a:lnTo>
                  <a:lnTo>
                    <a:pt x="84" y="27"/>
                  </a:lnTo>
                  <a:lnTo>
                    <a:pt x="86" y="35"/>
                  </a:lnTo>
                  <a:lnTo>
                    <a:pt x="87" y="44"/>
                  </a:lnTo>
                  <a:lnTo>
                    <a:pt x="87" y="44"/>
                  </a:lnTo>
                  <a:lnTo>
                    <a:pt x="86" y="52"/>
                  </a:lnTo>
                  <a:lnTo>
                    <a:pt x="84" y="61"/>
                  </a:lnTo>
                  <a:lnTo>
                    <a:pt x="80" y="68"/>
                  </a:lnTo>
                  <a:lnTo>
                    <a:pt x="75" y="74"/>
                  </a:lnTo>
                  <a:lnTo>
                    <a:pt x="68" y="80"/>
                  </a:lnTo>
                  <a:lnTo>
                    <a:pt x="61" y="83"/>
                  </a:lnTo>
                  <a:lnTo>
                    <a:pt x="52" y="86"/>
                  </a:lnTo>
                  <a:lnTo>
                    <a:pt x="44" y="87"/>
                  </a:lnTo>
                  <a:lnTo>
                    <a:pt x="44" y="87"/>
                  </a:lnTo>
                  <a:lnTo>
                    <a:pt x="35" y="86"/>
                  </a:lnTo>
                  <a:lnTo>
                    <a:pt x="27" y="83"/>
                  </a:lnTo>
                  <a:lnTo>
                    <a:pt x="20" y="80"/>
                  </a:lnTo>
                  <a:lnTo>
                    <a:pt x="14" y="74"/>
                  </a:lnTo>
                  <a:lnTo>
                    <a:pt x="8" y="68"/>
                  </a:lnTo>
                  <a:lnTo>
                    <a:pt x="4" y="61"/>
                  </a:lnTo>
                  <a:lnTo>
                    <a:pt x="2" y="52"/>
                  </a:lnTo>
                  <a:lnTo>
                    <a:pt x="0" y="44"/>
                  </a:lnTo>
                  <a:lnTo>
                    <a:pt x="0" y="44"/>
                  </a:lnTo>
                  <a:close/>
                  <a:moveTo>
                    <a:pt x="76" y="44"/>
                  </a:moveTo>
                  <a:lnTo>
                    <a:pt x="76" y="44"/>
                  </a:lnTo>
                  <a:lnTo>
                    <a:pt x="76" y="36"/>
                  </a:lnTo>
                  <a:lnTo>
                    <a:pt x="74" y="29"/>
                  </a:lnTo>
                  <a:lnTo>
                    <a:pt x="72" y="23"/>
                  </a:lnTo>
                  <a:lnTo>
                    <a:pt x="67" y="18"/>
                  </a:lnTo>
                  <a:lnTo>
                    <a:pt x="62" y="13"/>
                  </a:lnTo>
                  <a:lnTo>
                    <a:pt x="57" y="11"/>
                  </a:lnTo>
                  <a:lnTo>
                    <a:pt x="51" y="9"/>
                  </a:lnTo>
                  <a:lnTo>
                    <a:pt x="44" y="9"/>
                  </a:lnTo>
                  <a:lnTo>
                    <a:pt x="44" y="9"/>
                  </a:lnTo>
                  <a:lnTo>
                    <a:pt x="38" y="9"/>
                  </a:lnTo>
                  <a:lnTo>
                    <a:pt x="31" y="11"/>
                  </a:lnTo>
                  <a:lnTo>
                    <a:pt x="26" y="13"/>
                  </a:lnTo>
                  <a:lnTo>
                    <a:pt x="21" y="18"/>
                  </a:lnTo>
                  <a:lnTo>
                    <a:pt x="16" y="23"/>
                  </a:lnTo>
                  <a:lnTo>
                    <a:pt x="14" y="29"/>
                  </a:lnTo>
                  <a:lnTo>
                    <a:pt x="11" y="36"/>
                  </a:lnTo>
                  <a:lnTo>
                    <a:pt x="11" y="44"/>
                  </a:lnTo>
                  <a:lnTo>
                    <a:pt x="11" y="44"/>
                  </a:lnTo>
                  <a:lnTo>
                    <a:pt x="11" y="51"/>
                  </a:lnTo>
                  <a:lnTo>
                    <a:pt x="14" y="57"/>
                  </a:lnTo>
                  <a:lnTo>
                    <a:pt x="16" y="63"/>
                  </a:lnTo>
                  <a:lnTo>
                    <a:pt x="21" y="69"/>
                  </a:lnTo>
                  <a:lnTo>
                    <a:pt x="26" y="73"/>
                  </a:lnTo>
                  <a:lnTo>
                    <a:pt x="31" y="76"/>
                  </a:lnTo>
                  <a:lnTo>
                    <a:pt x="38" y="77"/>
                  </a:lnTo>
                  <a:lnTo>
                    <a:pt x="44" y="79"/>
                  </a:lnTo>
                  <a:lnTo>
                    <a:pt x="44" y="79"/>
                  </a:lnTo>
                  <a:lnTo>
                    <a:pt x="51" y="77"/>
                  </a:lnTo>
                  <a:lnTo>
                    <a:pt x="57" y="76"/>
                  </a:lnTo>
                  <a:lnTo>
                    <a:pt x="62" y="73"/>
                  </a:lnTo>
                  <a:lnTo>
                    <a:pt x="67" y="69"/>
                  </a:lnTo>
                  <a:lnTo>
                    <a:pt x="72" y="63"/>
                  </a:lnTo>
                  <a:lnTo>
                    <a:pt x="74" y="57"/>
                  </a:lnTo>
                  <a:lnTo>
                    <a:pt x="76" y="51"/>
                  </a:lnTo>
                  <a:lnTo>
                    <a:pt x="76" y="44"/>
                  </a:lnTo>
                  <a:lnTo>
                    <a:pt x="76" y="44"/>
                  </a:lnTo>
                  <a:close/>
                  <a:moveTo>
                    <a:pt x="27" y="18"/>
                  </a:moveTo>
                  <a:lnTo>
                    <a:pt x="45" y="18"/>
                  </a:lnTo>
                  <a:lnTo>
                    <a:pt x="45" y="18"/>
                  </a:lnTo>
                  <a:lnTo>
                    <a:pt x="53" y="19"/>
                  </a:lnTo>
                  <a:lnTo>
                    <a:pt x="60" y="22"/>
                  </a:lnTo>
                  <a:lnTo>
                    <a:pt x="61" y="24"/>
                  </a:lnTo>
                  <a:lnTo>
                    <a:pt x="62" y="27"/>
                  </a:lnTo>
                  <a:lnTo>
                    <a:pt x="63" y="33"/>
                  </a:lnTo>
                  <a:lnTo>
                    <a:pt x="63" y="33"/>
                  </a:lnTo>
                  <a:lnTo>
                    <a:pt x="63" y="39"/>
                  </a:lnTo>
                  <a:lnTo>
                    <a:pt x="61" y="42"/>
                  </a:lnTo>
                  <a:lnTo>
                    <a:pt x="56" y="45"/>
                  </a:lnTo>
                  <a:lnTo>
                    <a:pt x="51" y="46"/>
                  </a:lnTo>
                  <a:lnTo>
                    <a:pt x="64" y="68"/>
                  </a:lnTo>
                  <a:lnTo>
                    <a:pt x="55" y="68"/>
                  </a:lnTo>
                  <a:lnTo>
                    <a:pt x="41" y="47"/>
                  </a:lnTo>
                  <a:lnTo>
                    <a:pt x="37" y="47"/>
                  </a:lnTo>
                  <a:lnTo>
                    <a:pt x="37" y="68"/>
                  </a:lnTo>
                  <a:lnTo>
                    <a:pt x="27" y="68"/>
                  </a:lnTo>
                  <a:lnTo>
                    <a:pt x="27" y="18"/>
                  </a:lnTo>
                  <a:close/>
                  <a:moveTo>
                    <a:pt x="37" y="40"/>
                  </a:moveTo>
                  <a:lnTo>
                    <a:pt x="44" y="40"/>
                  </a:lnTo>
                  <a:lnTo>
                    <a:pt x="44" y="40"/>
                  </a:lnTo>
                  <a:lnTo>
                    <a:pt x="49" y="40"/>
                  </a:lnTo>
                  <a:lnTo>
                    <a:pt x="51" y="39"/>
                  </a:lnTo>
                  <a:lnTo>
                    <a:pt x="53" y="36"/>
                  </a:lnTo>
                  <a:lnTo>
                    <a:pt x="55" y="33"/>
                  </a:lnTo>
                  <a:lnTo>
                    <a:pt x="55" y="33"/>
                  </a:lnTo>
                  <a:lnTo>
                    <a:pt x="53" y="29"/>
                  </a:lnTo>
                  <a:lnTo>
                    <a:pt x="51" y="27"/>
                  </a:lnTo>
                  <a:lnTo>
                    <a:pt x="49" y="26"/>
                  </a:lnTo>
                  <a:lnTo>
                    <a:pt x="45" y="26"/>
                  </a:lnTo>
                  <a:lnTo>
                    <a:pt x="37" y="26"/>
                  </a:lnTo>
                  <a:lnTo>
                    <a:pt x="3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5410744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icron colors">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1E80F5F-186E-C342-A492-262AAB8E20C8}"/>
              </a:ext>
            </a:extLst>
          </p:cNvPr>
          <p:cNvSpPr txBox="1"/>
          <p:nvPr userDrawn="1"/>
        </p:nvSpPr>
        <p:spPr>
          <a:xfrm>
            <a:off x="342900" y="633241"/>
            <a:ext cx="5288973" cy="1421928"/>
          </a:xfrm>
          <a:prstGeom prst="rect">
            <a:avLst/>
          </a:prstGeom>
          <a:noFill/>
        </p:spPr>
        <p:txBody>
          <a:bodyPr wrap="square" rtlCol="0">
            <a:spAutoFit/>
          </a:bodyPr>
          <a:lstStyle/>
          <a:p>
            <a:pPr>
              <a:lnSpc>
                <a:spcPct val="90000"/>
              </a:lnSpc>
            </a:pPr>
            <a:r>
              <a:rPr lang="en-US" sz="4800" b="1" spc="-300" dirty="0">
                <a:latin typeface="+mj-lt"/>
              </a:rPr>
              <a:t>Micron brand </a:t>
            </a:r>
            <a:br>
              <a:rPr lang="en-US" sz="4800" b="1" spc="-300" dirty="0">
                <a:latin typeface="+mj-lt"/>
              </a:rPr>
            </a:br>
            <a:r>
              <a:rPr lang="en-US" sz="4800" b="1" spc="-300" dirty="0">
                <a:latin typeface="+mj-lt"/>
              </a:rPr>
              <a:t>3.1 colors (RGB)</a:t>
            </a:r>
          </a:p>
        </p:txBody>
      </p:sp>
      <p:sp>
        <p:nvSpPr>
          <p:cNvPr id="8" name="Rectangle 7">
            <a:extLst>
              <a:ext uri="{FF2B5EF4-FFF2-40B4-BE49-F238E27FC236}">
                <a16:creationId xmlns:a16="http://schemas.microsoft.com/office/drawing/2014/main" id="{A327DB11-7E08-DC4E-A5E6-A58949ECBF88}"/>
              </a:ext>
            </a:extLst>
          </p:cNvPr>
          <p:cNvSpPr/>
          <p:nvPr userDrawn="1"/>
        </p:nvSpPr>
        <p:spPr>
          <a:xfrm>
            <a:off x="457200" y="2835387"/>
            <a:ext cx="1612317" cy="32931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Micron blue</a:t>
            </a:r>
          </a:p>
          <a:p>
            <a:pPr algn="ctr"/>
            <a:r>
              <a:rPr lang="en-US" sz="1400" b="1" dirty="0">
                <a:latin typeface="+mn-lt"/>
                <a:ea typeface="Segoe UI" panose="020B0502040204020203" pitchFamily="34" charset="0"/>
                <a:cs typeface="Segoe UI" panose="020B0502040204020203" pitchFamily="34" charset="0"/>
              </a:rPr>
              <a:t>0-144-218</a:t>
            </a:r>
          </a:p>
        </p:txBody>
      </p:sp>
      <p:sp>
        <p:nvSpPr>
          <p:cNvPr id="9" name="Rectangle 8">
            <a:extLst>
              <a:ext uri="{FF2B5EF4-FFF2-40B4-BE49-F238E27FC236}">
                <a16:creationId xmlns:a16="http://schemas.microsoft.com/office/drawing/2014/main" id="{FF37BF19-3B79-4243-A59D-0C5EE0883FA7}"/>
              </a:ext>
            </a:extLst>
          </p:cNvPr>
          <p:cNvSpPr/>
          <p:nvPr userDrawn="1"/>
        </p:nvSpPr>
        <p:spPr>
          <a:xfrm>
            <a:off x="2175804" y="2835389"/>
            <a:ext cx="1612317" cy="32931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Black</a:t>
            </a:r>
            <a:br>
              <a:rPr lang="en-US" sz="1400" dirty="0">
                <a:latin typeface="+mn-lt"/>
                <a:ea typeface="Segoe UI" panose="020B0502040204020203" pitchFamily="34" charset="0"/>
                <a:cs typeface="Segoe UI" panose="020B0502040204020203" pitchFamily="34" charset="0"/>
              </a:rPr>
            </a:br>
            <a:r>
              <a:rPr lang="en-US" sz="1400" b="1" dirty="0">
                <a:latin typeface="+mn-lt"/>
                <a:ea typeface="Segoe UI" panose="020B0502040204020203" pitchFamily="34" charset="0"/>
                <a:cs typeface="Segoe UI" panose="020B0502040204020203" pitchFamily="34" charset="0"/>
              </a:rPr>
              <a:t>0-0-0</a:t>
            </a:r>
          </a:p>
        </p:txBody>
      </p:sp>
      <p:sp>
        <p:nvSpPr>
          <p:cNvPr id="10" name="TextBox 9">
            <a:extLst>
              <a:ext uri="{FF2B5EF4-FFF2-40B4-BE49-F238E27FC236}">
                <a16:creationId xmlns:a16="http://schemas.microsoft.com/office/drawing/2014/main" id="{7A049427-3AFC-1745-94D5-5AE94C0480F9}"/>
              </a:ext>
            </a:extLst>
          </p:cNvPr>
          <p:cNvSpPr txBox="1"/>
          <p:nvPr userDrawn="1"/>
        </p:nvSpPr>
        <p:spPr>
          <a:xfrm>
            <a:off x="342900" y="2234214"/>
            <a:ext cx="5288973" cy="523220"/>
          </a:xfrm>
          <a:prstGeom prst="rect">
            <a:avLst/>
          </a:prstGeom>
          <a:noFill/>
        </p:spPr>
        <p:txBody>
          <a:bodyPr wrap="square" lIns="91440" rtlCol="0">
            <a:spAutoFit/>
          </a:bodyPr>
          <a:lstStyle/>
          <a:p>
            <a:pPr algn="l"/>
            <a:r>
              <a:rPr lang="en-US" sz="2800" b="1" spc="-100" baseline="0" dirty="0">
                <a:latin typeface="+mn-lt"/>
              </a:rPr>
              <a:t>Primary colors</a:t>
            </a:r>
          </a:p>
        </p:txBody>
      </p:sp>
      <p:sp>
        <p:nvSpPr>
          <p:cNvPr id="11" name="Rectangle 10">
            <a:extLst>
              <a:ext uri="{FF2B5EF4-FFF2-40B4-BE49-F238E27FC236}">
                <a16:creationId xmlns:a16="http://schemas.microsoft.com/office/drawing/2014/main" id="{719383F5-A486-AE4D-91DC-3480624921BC}"/>
              </a:ext>
            </a:extLst>
          </p:cNvPr>
          <p:cNvSpPr/>
          <p:nvPr userDrawn="1"/>
        </p:nvSpPr>
        <p:spPr>
          <a:xfrm>
            <a:off x="3894408" y="2835389"/>
            <a:ext cx="1612317" cy="329318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n-lt"/>
                <a:ea typeface="Segoe UI" panose="020B0502040204020203" pitchFamily="34" charset="0"/>
                <a:cs typeface="Segoe UI" panose="020B0502040204020203" pitchFamily="34" charset="0"/>
              </a:rPr>
              <a:t>White</a:t>
            </a:r>
            <a:br>
              <a:rPr lang="en-US" sz="1400" dirty="0">
                <a:solidFill>
                  <a:schemeClr val="tx1"/>
                </a:solidFill>
                <a:latin typeface="+mn-lt"/>
                <a:ea typeface="Segoe UI" panose="020B0502040204020203" pitchFamily="34" charset="0"/>
                <a:cs typeface="Segoe UI" panose="020B0502040204020203" pitchFamily="34" charset="0"/>
              </a:rPr>
            </a:br>
            <a:r>
              <a:rPr lang="en-US" sz="1400" b="1" dirty="0">
                <a:solidFill>
                  <a:schemeClr val="tx1"/>
                </a:solidFill>
                <a:latin typeface="+mn-lt"/>
                <a:ea typeface="Segoe UI" panose="020B0502040204020203" pitchFamily="34" charset="0"/>
                <a:cs typeface="Segoe UI" panose="020B0502040204020203" pitchFamily="34" charset="0"/>
              </a:rPr>
              <a:t>255-255-255</a:t>
            </a:r>
          </a:p>
        </p:txBody>
      </p:sp>
      <p:sp>
        <p:nvSpPr>
          <p:cNvPr id="12" name="Rectangle 11">
            <a:extLst>
              <a:ext uri="{FF2B5EF4-FFF2-40B4-BE49-F238E27FC236}">
                <a16:creationId xmlns:a16="http://schemas.microsoft.com/office/drawing/2014/main" id="{45A42E86-2BA4-224D-857C-D0A4AC2857B5}"/>
              </a:ext>
            </a:extLst>
          </p:cNvPr>
          <p:cNvSpPr/>
          <p:nvPr userDrawn="1"/>
        </p:nvSpPr>
        <p:spPr>
          <a:xfrm>
            <a:off x="5994276" y="1002940"/>
            <a:ext cx="3859105" cy="276999"/>
          </a:xfrm>
          <a:prstGeom prst="rect">
            <a:avLst/>
          </a:prstGeom>
        </p:spPr>
        <p:txBody>
          <a:bodyPr wrap="square">
            <a:spAutoFit/>
          </a:bodyPr>
          <a:lstStyle/>
          <a:p>
            <a:pPr algn="l"/>
            <a:r>
              <a:rPr lang="en-US" sz="1200" dirty="0">
                <a:latin typeface="Arial" panose="020B0604020202020204" pitchFamily="34" charset="0"/>
                <a:cs typeface="Arial" panose="020B0604020202020204" pitchFamily="34" charset="0"/>
              </a:rPr>
              <a:t>Colors only to be used in charts and graphs.</a:t>
            </a:r>
          </a:p>
        </p:txBody>
      </p:sp>
      <p:sp>
        <p:nvSpPr>
          <p:cNvPr id="13" name="TextBox 12">
            <a:extLst>
              <a:ext uri="{FF2B5EF4-FFF2-40B4-BE49-F238E27FC236}">
                <a16:creationId xmlns:a16="http://schemas.microsoft.com/office/drawing/2014/main" id="{19AD1EC9-D556-3841-8302-63D48DECDC3A}"/>
              </a:ext>
            </a:extLst>
          </p:cNvPr>
          <p:cNvSpPr txBox="1"/>
          <p:nvPr userDrawn="1"/>
        </p:nvSpPr>
        <p:spPr>
          <a:xfrm>
            <a:off x="5994276" y="633241"/>
            <a:ext cx="3859105" cy="461664"/>
          </a:xfrm>
          <a:prstGeom prst="rect">
            <a:avLst/>
          </a:prstGeom>
          <a:noFill/>
        </p:spPr>
        <p:txBody>
          <a:bodyPr wrap="square" rtlCol="0">
            <a:spAutoFit/>
          </a:bodyPr>
          <a:lstStyle/>
          <a:p>
            <a:pPr algn="l"/>
            <a:r>
              <a:rPr lang="en-US" sz="2400" b="1" spc="-100" baseline="0" dirty="0">
                <a:latin typeface="+mn-lt"/>
              </a:rPr>
              <a:t>Charts &amp; graphs colors</a:t>
            </a:r>
          </a:p>
        </p:txBody>
      </p:sp>
      <p:sp>
        <p:nvSpPr>
          <p:cNvPr id="15" name="Rectangle 14">
            <a:extLst>
              <a:ext uri="{FF2B5EF4-FFF2-40B4-BE49-F238E27FC236}">
                <a16:creationId xmlns:a16="http://schemas.microsoft.com/office/drawing/2014/main" id="{3A862750-839C-E347-A88F-97EE969A4107}"/>
              </a:ext>
            </a:extLst>
          </p:cNvPr>
          <p:cNvSpPr/>
          <p:nvPr userDrawn="1"/>
        </p:nvSpPr>
        <p:spPr>
          <a:xfrm>
            <a:off x="6100385" y="5397058"/>
            <a:ext cx="1801368" cy="731520"/>
          </a:xfrm>
          <a:prstGeom prst="rect">
            <a:avLst/>
          </a:prstGeom>
          <a:solidFill>
            <a:srgbClr val="64A7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Green SI</a:t>
            </a:r>
          </a:p>
          <a:p>
            <a:pPr algn="ctr"/>
            <a:r>
              <a:rPr lang="en-US" sz="1400" b="1" dirty="0">
                <a:latin typeface="+mn-lt"/>
                <a:ea typeface="Segoe UI" panose="020B0502040204020203" pitchFamily="34" charset="0"/>
                <a:cs typeface="Segoe UI" panose="020B0502040204020203" pitchFamily="34" charset="0"/>
              </a:rPr>
              <a:t>100-167-11</a:t>
            </a:r>
          </a:p>
        </p:txBody>
      </p:sp>
      <p:sp>
        <p:nvSpPr>
          <p:cNvPr id="16" name="Rectangle 15">
            <a:extLst>
              <a:ext uri="{FF2B5EF4-FFF2-40B4-BE49-F238E27FC236}">
                <a16:creationId xmlns:a16="http://schemas.microsoft.com/office/drawing/2014/main" id="{3221230B-3722-374E-AFCC-9295FCFBF233}"/>
              </a:ext>
            </a:extLst>
          </p:cNvPr>
          <p:cNvSpPr/>
          <p:nvPr userDrawn="1"/>
        </p:nvSpPr>
        <p:spPr>
          <a:xfrm>
            <a:off x="8015837" y="5397058"/>
            <a:ext cx="1801368" cy="731520"/>
          </a:xfrm>
          <a:prstGeom prst="rect">
            <a:avLst/>
          </a:prstGeom>
          <a:solidFill>
            <a:srgbClr val="FFD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Yellow SI</a:t>
            </a:r>
          </a:p>
          <a:p>
            <a:pPr algn="ctr"/>
            <a:r>
              <a:rPr lang="en-US" sz="1400" b="1" dirty="0">
                <a:latin typeface="+mn-lt"/>
                <a:ea typeface="Segoe UI" panose="020B0502040204020203" pitchFamily="34" charset="0"/>
                <a:cs typeface="Segoe UI" panose="020B0502040204020203" pitchFamily="34" charset="0"/>
              </a:rPr>
              <a:t>255-209-0</a:t>
            </a:r>
          </a:p>
        </p:txBody>
      </p:sp>
      <p:sp>
        <p:nvSpPr>
          <p:cNvPr id="17" name="Rectangle 16">
            <a:extLst>
              <a:ext uri="{FF2B5EF4-FFF2-40B4-BE49-F238E27FC236}">
                <a16:creationId xmlns:a16="http://schemas.microsoft.com/office/drawing/2014/main" id="{AD640990-C40E-8A4E-BF38-6F8A7F117F62}"/>
              </a:ext>
            </a:extLst>
          </p:cNvPr>
          <p:cNvSpPr/>
          <p:nvPr userDrawn="1"/>
        </p:nvSpPr>
        <p:spPr>
          <a:xfrm>
            <a:off x="9931289" y="5397058"/>
            <a:ext cx="1801368" cy="731520"/>
          </a:xfrm>
          <a:prstGeom prst="rect">
            <a:avLst/>
          </a:prstGeom>
          <a:solidFill>
            <a:srgbClr val="C0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Red SI</a:t>
            </a:r>
          </a:p>
          <a:p>
            <a:pPr algn="ctr"/>
            <a:r>
              <a:rPr lang="en-US" sz="1400" b="1" dirty="0">
                <a:latin typeface="+mn-lt"/>
                <a:ea typeface="Segoe UI" panose="020B0502040204020203" pitchFamily="34" charset="0"/>
                <a:cs typeface="Segoe UI" panose="020B0502040204020203" pitchFamily="34" charset="0"/>
              </a:rPr>
              <a:t>192-13-30</a:t>
            </a:r>
          </a:p>
        </p:txBody>
      </p:sp>
      <p:sp>
        <p:nvSpPr>
          <p:cNvPr id="18" name="TextBox 17">
            <a:extLst>
              <a:ext uri="{FF2B5EF4-FFF2-40B4-BE49-F238E27FC236}">
                <a16:creationId xmlns:a16="http://schemas.microsoft.com/office/drawing/2014/main" id="{05A56250-F616-5C40-BA39-50BA3ABCF557}"/>
              </a:ext>
            </a:extLst>
          </p:cNvPr>
          <p:cNvSpPr txBox="1"/>
          <p:nvPr userDrawn="1"/>
        </p:nvSpPr>
        <p:spPr>
          <a:xfrm>
            <a:off x="5994276" y="4695791"/>
            <a:ext cx="3830531" cy="461665"/>
          </a:xfrm>
          <a:prstGeom prst="rect">
            <a:avLst/>
          </a:prstGeom>
          <a:noFill/>
        </p:spPr>
        <p:txBody>
          <a:bodyPr wrap="square" rtlCol="0">
            <a:spAutoFit/>
          </a:bodyPr>
          <a:lstStyle/>
          <a:p>
            <a:pPr algn="l"/>
            <a:r>
              <a:rPr lang="en-US" sz="2400" b="1" spc="-100" baseline="0" dirty="0">
                <a:latin typeface="+mn-lt"/>
              </a:rPr>
              <a:t>Status colors</a:t>
            </a:r>
          </a:p>
        </p:txBody>
      </p:sp>
      <p:sp>
        <p:nvSpPr>
          <p:cNvPr id="19" name="Rectangle 18">
            <a:extLst>
              <a:ext uri="{FF2B5EF4-FFF2-40B4-BE49-F238E27FC236}">
                <a16:creationId xmlns:a16="http://schemas.microsoft.com/office/drawing/2014/main" id="{A601D4E9-F15D-B844-BADA-3277DF0DB203}"/>
              </a:ext>
            </a:extLst>
          </p:cNvPr>
          <p:cNvSpPr/>
          <p:nvPr userDrawn="1"/>
        </p:nvSpPr>
        <p:spPr>
          <a:xfrm>
            <a:off x="5994276" y="5055162"/>
            <a:ext cx="3830530" cy="276999"/>
          </a:xfrm>
          <a:prstGeom prst="rect">
            <a:avLst/>
          </a:prstGeom>
        </p:spPr>
        <p:txBody>
          <a:bodyPr wrap="square">
            <a:spAutoFit/>
          </a:bodyPr>
          <a:lstStyle/>
          <a:p>
            <a:pPr algn="l"/>
            <a:r>
              <a:rPr lang="en-US" sz="1200" dirty="0">
                <a:latin typeface="Arial" panose="020B0604020202020204" pitchFamily="34" charset="0"/>
                <a:cs typeface="Arial" panose="020B0604020202020204" pitchFamily="34" charset="0"/>
              </a:rPr>
              <a:t>Colors to be used only as status indicators. </a:t>
            </a:r>
          </a:p>
        </p:txBody>
      </p:sp>
      <p:sp>
        <p:nvSpPr>
          <p:cNvPr id="21" name="Rectangle 20">
            <a:extLst>
              <a:ext uri="{FF2B5EF4-FFF2-40B4-BE49-F238E27FC236}">
                <a16:creationId xmlns:a16="http://schemas.microsoft.com/office/drawing/2014/main" id="{3E963FA0-9C76-D24C-ACE5-A2EC1321100A}"/>
              </a:ext>
            </a:extLst>
          </p:cNvPr>
          <p:cNvSpPr/>
          <p:nvPr userDrawn="1"/>
        </p:nvSpPr>
        <p:spPr>
          <a:xfrm>
            <a:off x="6100385" y="1354898"/>
            <a:ext cx="1801530" cy="14974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Green A1</a:t>
            </a:r>
          </a:p>
          <a:p>
            <a:pPr algn="ctr"/>
            <a:r>
              <a:rPr lang="en-US" sz="1400" b="1" dirty="0">
                <a:latin typeface="+mn-lt"/>
                <a:ea typeface="Segoe UI" panose="020B0502040204020203" pitchFamily="34" charset="0"/>
                <a:cs typeface="Segoe UI" panose="020B0502040204020203" pitchFamily="34" charset="0"/>
              </a:rPr>
              <a:t>0-157-133</a:t>
            </a:r>
          </a:p>
        </p:txBody>
      </p:sp>
      <p:sp>
        <p:nvSpPr>
          <p:cNvPr id="22" name="Rectangle 21">
            <a:extLst>
              <a:ext uri="{FF2B5EF4-FFF2-40B4-BE49-F238E27FC236}">
                <a16:creationId xmlns:a16="http://schemas.microsoft.com/office/drawing/2014/main" id="{50212067-9B44-5C44-AADE-9BB3A386A2A7}"/>
              </a:ext>
            </a:extLst>
          </p:cNvPr>
          <p:cNvSpPr/>
          <p:nvPr userDrawn="1"/>
        </p:nvSpPr>
        <p:spPr>
          <a:xfrm>
            <a:off x="8015796" y="1354903"/>
            <a:ext cx="1801530" cy="14974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Purple A2</a:t>
            </a:r>
          </a:p>
          <a:p>
            <a:pPr algn="ctr"/>
            <a:r>
              <a:rPr lang="en-US" sz="1400" b="1" dirty="0">
                <a:latin typeface="+mn-lt"/>
                <a:ea typeface="Segoe UI" panose="020B0502040204020203" pitchFamily="34" charset="0"/>
                <a:cs typeface="Segoe UI" panose="020B0502040204020203" pitchFamily="34" charset="0"/>
              </a:rPr>
              <a:t>95-37-159</a:t>
            </a:r>
          </a:p>
        </p:txBody>
      </p:sp>
      <p:sp>
        <p:nvSpPr>
          <p:cNvPr id="23" name="Rectangle 22">
            <a:extLst>
              <a:ext uri="{FF2B5EF4-FFF2-40B4-BE49-F238E27FC236}">
                <a16:creationId xmlns:a16="http://schemas.microsoft.com/office/drawing/2014/main" id="{886B9642-9846-0B47-AE50-6EBC0D6EBB67}"/>
              </a:ext>
            </a:extLst>
          </p:cNvPr>
          <p:cNvSpPr/>
          <p:nvPr userDrawn="1"/>
        </p:nvSpPr>
        <p:spPr>
          <a:xfrm>
            <a:off x="9931208" y="1354897"/>
            <a:ext cx="1801530" cy="14974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Blue A3</a:t>
            </a:r>
          </a:p>
          <a:p>
            <a:pPr algn="ctr"/>
            <a:r>
              <a:rPr lang="en-US" sz="1400" b="1" dirty="0">
                <a:latin typeface="+mn-lt"/>
                <a:ea typeface="Segoe UI" panose="020B0502040204020203" pitchFamily="34" charset="0"/>
                <a:cs typeface="Segoe UI" panose="020B0502040204020203" pitchFamily="34" charset="0"/>
              </a:rPr>
              <a:t>113-197-232</a:t>
            </a:r>
          </a:p>
        </p:txBody>
      </p:sp>
      <p:sp>
        <p:nvSpPr>
          <p:cNvPr id="24" name="Rectangle 23">
            <a:extLst>
              <a:ext uri="{FF2B5EF4-FFF2-40B4-BE49-F238E27FC236}">
                <a16:creationId xmlns:a16="http://schemas.microsoft.com/office/drawing/2014/main" id="{A22B26A9-ACCD-BE4B-A9E5-6DD1BC3E544D}"/>
              </a:ext>
            </a:extLst>
          </p:cNvPr>
          <p:cNvSpPr/>
          <p:nvPr userDrawn="1"/>
        </p:nvSpPr>
        <p:spPr>
          <a:xfrm>
            <a:off x="6100385" y="2967338"/>
            <a:ext cx="1801530" cy="14974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Orange A4</a:t>
            </a:r>
          </a:p>
          <a:p>
            <a:pPr algn="ctr"/>
            <a:r>
              <a:rPr lang="en-US" sz="1400" b="1" dirty="0">
                <a:latin typeface="+mn-lt"/>
                <a:ea typeface="Segoe UI" panose="020B0502040204020203" pitchFamily="34" charset="0"/>
                <a:cs typeface="Segoe UI" panose="020B0502040204020203" pitchFamily="34" charset="0"/>
              </a:rPr>
              <a:t>255-143-28</a:t>
            </a:r>
          </a:p>
        </p:txBody>
      </p:sp>
      <p:sp>
        <p:nvSpPr>
          <p:cNvPr id="25" name="Rectangle 24">
            <a:extLst>
              <a:ext uri="{FF2B5EF4-FFF2-40B4-BE49-F238E27FC236}">
                <a16:creationId xmlns:a16="http://schemas.microsoft.com/office/drawing/2014/main" id="{7FDD356E-6C0F-F64A-AE77-E9D33C93DAEF}"/>
              </a:ext>
            </a:extLst>
          </p:cNvPr>
          <p:cNvSpPr/>
          <p:nvPr userDrawn="1"/>
        </p:nvSpPr>
        <p:spPr>
          <a:xfrm>
            <a:off x="8015796" y="2962906"/>
            <a:ext cx="1801530" cy="149742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Purple A5</a:t>
            </a:r>
          </a:p>
          <a:p>
            <a:pPr algn="ctr"/>
            <a:r>
              <a:rPr lang="en-US" sz="1400" b="1" dirty="0">
                <a:latin typeface="+mn-lt"/>
                <a:ea typeface="Segoe UI" panose="020B0502040204020203" pitchFamily="34" charset="0"/>
                <a:cs typeface="Segoe UI" panose="020B0502040204020203" pitchFamily="34" charset="0"/>
              </a:rPr>
              <a:t>187-41-187</a:t>
            </a:r>
          </a:p>
        </p:txBody>
      </p:sp>
      <p:sp>
        <p:nvSpPr>
          <p:cNvPr id="26" name="Rectangle 25">
            <a:extLst>
              <a:ext uri="{FF2B5EF4-FFF2-40B4-BE49-F238E27FC236}">
                <a16:creationId xmlns:a16="http://schemas.microsoft.com/office/drawing/2014/main" id="{FE60C1DC-37CC-8341-8FFE-11E230C8593C}"/>
              </a:ext>
            </a:extLst>
          </p:cNvPr>
          <p:cNvSpPr/>
          <p:nvPr userDrawn="1"/>
        </p:nvSpPr>
        <p:spPr>
          <a:xfrm>
            <a:off x="9931208" y="2962906"/>
            <a:ext cx="1801530" cy="149742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n-lt"/>
                <a:ea typeface="Segoe UI" panose="020B0502040204020203" pitchFamily="34" charset="0"/>
                <a:cs typeface="Segoe UI" panose="020B0502040204020203" pitchFamily="34" charset="0"/>
              </a:rPr>
              <a:t>Gray A6</a:t>
            </a:r>
          </a:p>
          <a:p>
            <a:pPr algn="ctr"/>
            <a:r>
              <a:rPr lang="en-US" sz="1400" b="1" dirty="0">
                <a:latin typeface="+mn-lt"/>
                <a:ea typeface="Segoe UI" panose="020B0502040204020203" pitchFamily="34" charset="0"/>
                <a:cs typeface="Segoe UI" panose="020B0502040204020203" pitchFamily="34" charset="0"/>
              </a:rPr>
              <a:t>127-127-127</a:t>
            </a:r>
          </a:p>
        </p:txBody>
      </p:sp>
      <p:sp>
        <p:nvSpPr>
          <p:cNvPr id="28" name="Slide Number Placeholder 4">
            <a:extLst>
              <a:ext uri="{FF2B5EF4-FFF2-40B4-BE49-F238E27FC236}">
                <a16:creationId xmlns:a16="http://schemas.microsoft.com/office/drawing/2014/main" id="{8B8CBA5A-A22E-1B4D-A097-6836568C000E}"/>
              </a:ext>
            </a:extLst>
          </p:cNvPr>
          <p:cNvSpPr>
            <a:spLocks noGrp="1"/>
          </p:cNvSpPr>
          <p:nvPr>
            <p:ph type="sldNum" sz="quarter" idx="12"/>
          </p:nvPr>
        </p:nvSpPr>
        <p:spPr>
          <a:xfrm>
            <a:off x="11255731" y="221540"/>
            <a:ext cx="587019" cy="230832"/>
          </a:xfrm>
        </p:spPr>
        <p:txBody>
          <a:bodyPr/>
          <a:lstStyle/>
          <a:p>
            <a:fld id="{B7E7695C-FCF1-4AA0-9B93-7941FED13DC4}" type="slidenum">
              <a:rPr lang="en-US" smtClean="0"/>
              <a:pPr/>
              <a:t>‹#›</a:t>
            </a:fld>
            <a:endParaRPr lang="en-US" dirty="0"/>
          </a:p>
        </p:txBody>
      </p:sp>
      <p:sp>
        <p:nvSpPr>
          <p:cNvPr id="27" name="Date Placeholder 2">
            <a:extLst>
              <a:ext uri="{FF2B5EF4-FFF2-40B4-BE49-F238E27FC236}">
                <a16:creationId xmlns:a16="http://schemas.microsoft.com/office/drawing/2014/main" id="{C76EC60E-F928-EF48-A3B5-753D859A70F0}"/>
              </a:ext>
            </a:extLst>
          </p:cNvPr>
          <p:cNvSpPr>
            <a:spLocks noGrp="1"/>
          </p:cNvSpPr>
          <p:nvPr>
            <p:ph type="dt" sz="half" idx="10"/>
          </p:nvPr>
        </p:nvSpPr>
        <p:spPr>
          <a:xfrm>
            <a:off x="342900" y="6404030"/>
            <a:ext cx="1710155" cy="230832"/>
          </a:xfrm>
        </p:spPr>
        <p:txBody>
          <a:bodyPr/>
          <a:lstStyle/>
          <a:p>
            <a:fld id="{B8FDEC20-994C-6747-9500-226CB0C467E7}" type="datetime4">
              <a:rPr lang="en-US" smtClean="0"/>
              <a:t>June 9, 2023</a:t>
            </a:fld>
            <a:endParaRPr lang="en-US" dirty="0"/>
          </a:p>
        </p:txBody>
      </p:sp>
      <p:sp>
        <p:nvSpPr>
          <p:cNvPr id="29" name="Footer Placeholder 3">
            <a:extLst>
              <a:ext uri="{FF2B5EF4-FFF2-40B4-BE49-F238E27FC236}">
                <a16:creationId xmlns:a16="http://schemas.microsoft.com/office/drawing/2014/main" id="{E51DD0BF-1185-8F42-9983-3F4F34D47DF6}"/>
              </a:ext>
            </a:extLst>
          </p:cNvPr>
          <p:cNvSpPr>
            <a:spLocks noGrp="1"/>
          </p:cNvSpPr>
          <p:nvPr>
            <p:ph type="ftr" sz="quarter" idx="11"/>
          </p:nvPr>
        </p:nvSpPr>
        <p:spPr>
          <a:xfrm>
            <a:off x="3326675" y="6404030"/>
            <a:ext cx="5538650" cy="230832"/>
          </a:xfrm>
        </p:spPr>
        <p:txBody>
          <a:bodyPr/>
          <a:lstStyle/>
          <a:p>
            <a:r>
              <a:rPr lang="en-US"/>
              <a:t>Presentation Title</a:t>
            </a:r>
            <a:endParaRPr lang="en-US" dirty="0"/>
          </a:p>
        </p:txBody>
      </p:sp>
    </p:spTree>
    <p:extLst>
      <p:ext uri="{BB962C8B-B14F-4D97-AF65-F5344CB8AC3E}">
        <p14:creationId xmlns:p14="http://schemas.microsoft.com/office/powerpoint/2010/main" val="15934053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rts and graphs color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94ED323-23F3-C347-A954-40D2F68ED0BE}"/>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2B67D7D0-5308-F44E-9A40-7C751BF26C7B}"/>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BEE8D7B-0265-EC42-B3BA-48B7E6626152}"/>
              </a:ext>
            </a:extLst>
          </p:cNvPr>
          <p:cNvSpPr>
            <a:spLocks noGrp="1"/>
          </p:cNvSpPr>
          <p:nvPr>
            <p:ph type="sldNum" sz="quarter" idx="12"/>
          </p:nvPr>
        </p:nvSpPr>
        <p:spPr/>
        <p:txBody>
          <a:bodyPr/>
          <a:lstStyle/>
          <a:p>
            <a:fld id="{B7E7695C-FCF1-4AA0-9B93-7941FED13DC4}" type="slidenum">
              <a:rPr lang="en-US" smtClean="0"/>
              <a:pPr/>
              <a:t>‹#›</a:t>
            </a:fld>
            <a:endParaRPr lang="en-US" dirty="0"/>
          </a:p>
        </p:txBody>
      </p:sp>
      <p:graphicFrame>
        <p:nvGraphicFramePr>
          <p:cNvPr id="6" name="Chart 5">
            <a:extLst>
              <a:ext uri="{FF2B5EF4-FFF2-40B4-BE49-F238E27FC236}">
                <a16:creationId xmlns:a16="http://schemas.microsoft.com/office/drawing/2014/main" id="{41F7B4CE-64FD-FF42-8E92-0655F28D71CF}"/>
              </a:ext>
            </a:extLst>
          </p:cNvPr>
          <p:cNvGraphicFramePr/>
          <p:nvPr userDrawn="1">
            <p:extLst>
              <p:ext uri="{D42A27DB-BD31-4B8C-83A1-F6EECF244321}">
                <p14:modId xmlns:p14="http://schemas.microsoft.com/office/powerpoint/2010/main" val="146818602"/>
              </p:ext>
            </p:extLst>
          </p:nvPr>
        </p:nvGraphicFramePr>
        <p:xfrm>
          <a:off x="6200430" y="2471219"/>
          <a:ext cx="2627654" cy="276951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6BC5CC92-2E50-2644-9565-4A7886198D40}"/>
              </a:ext>
            </a:extLst>
          </p:cNvPr>
          <p:cNvGraphicFramePr/>
          <p:nvPr userDrawn="1">
            <p:extLst>
              <p:ext uri="{D42A27DB-BD31-4B8C-83A1-F6EECF244321}">
                <p14:modId xmlns:p14="http://schemas.microsoft.com/office/powerpoint/2010/main" val="1215010865"/>
              </p:ext>
            </p:extLst>
          </p:nvPr>
        </p:nvGraphicFramePr>
        <p:xfrm>
          <a:off x="9113074" y="1462215"/>
          <a:ext cx="2621726" cy="3794996"/>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551DE137-FD5D-F344-BC6C-5F5BB7942722}"/>
              </a:ext>
            </a:extLst>
          </p:cNvPr>
          <p:cNvSpPr/>
          <p:nvPr userDrawn="1"/>
        </p:nvSpPr>
        <p:spPr>
          <a:xfrm>
            <a:off x="457200" y="5613437"/>
            <a:ext cx="1763980" cy="539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mn-lt"/>
                <a:ea typeface="Segoe UI" panose="020B0502040204020203" pitchFamily="34" charset="0"/>
                <a:cs typeface="Segoe UI" panose="020B0502040204020203" pitchFamily="34" charset="0"/>
              </a:rPr>
              <a:t>Green A1</a:t>
            </a:r>
          </a:p>
          <a:p>
            <a:pPr algn="ctr"/>
            <a:r>
              <a:rPr lang="en-US" sz="1100" b="1" dirty="0">
                <a:latin typeface="+mn-lt"/>
                <a:ea typeface="Segoe UI" panose="020B0502040204020203" pitchFamily="34" charset="0"/>
                <a:cs typeface="Segoe UI" panose="020B0502040204020203" pitchFamily="34" charset="0"/>
              </a:rPr>
              <a:t>0-157-133</a:t>
            </a:r>
          </a:p>
        </p:txBody>
      </p:sp>
      <p:sp>
        <p:nvSpPr>
          <p:cNvPr id="10" name="Rectangle 9">
            <a:extLst>
              <a:ext uri="{FF2B5EF4-FFF2-40B4-BE49-F238E27FC236}">
                <a16:creationId xmlns:a16="http://schemas.microsoft.com/office/drawing/2014/main" id="{D6E746A0-11FA-F346-A793-312899D6DE4C}"/>
              </a:ext>
            </a:extLst>
          </p:cNvPr>
          <p:cNvSpPr/>
          <p:nvPr userDrawn="1"/>
        </p:nvSpPr>
        <p:spPr>
          <a:xfrm>
            <a:off x="2358906" y="5613437"/>
            <a:ext cx="1763980" cy="5399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mn-lt"/>
                <a:ea typeface="Segoe UI" panose="020B0502040204020203" pitchFamily="34" charset="0"/>
                <a:cs typeface="Segoe UI" panose="020B0502040204020203" pitchFamily="34" charset="0"/>
              </a:rPr>
              <a:t>Purple A2</a:t>
            </a:r>
          </a:p>
          <a:p>
            <a:pPr algn="ctr"/>
            <a:r>
              <a:rPr lang="en-US" sz="1100" b="1" dirty="0">
                <a:latin typeface="+mn-lt"/>
                <a:ea typeface="Segoe UI" panose="020B0502040204020203" pitchFamily="34" charset="0"/>
                <a:cs typeface="Segoe UI" panose="020B0502040204020203" pitchFamily="34" charset="0"/>
              </a:rPr>
              <a:t>95-37-159</a:t>
            </a:r>
          </a:p>
        </p:txBody>
      </p:sp>
      <p:sp>
        <p:nvSpPr>
          <p:cNvPr id="11" name="Rectangle 10">
            <a:extLst>
              <a:ext uri="{FF2B5EF4-FFF2-40B4-BE49-F238E27FC236}">
                <a16:creationId xmlns:a16="http://schemas.microsoft.com/office/drawing/2014/main" id="{AF895D75-D7B4-2B4D-89D5-7E589AE916A1}"/>
              </a:ext>
            </a:extLst>
          </p:cNvPr>
          <p:cNvSpPr/>
          <p:nvPr userDrawn="1"/>
        </p:nvSpPr>
        <p:spPr>
          <a:xfrm>
            <a:off x="4260612" y="5613437"/>
            <a:ext cx="1763980" cy="53999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mn-lt"/>
                <a:ea typeface="Segoe UI" panose="020B0502040204020203" pitchFamily="34" charset="0"/>
                <a:cs typeface="Segoe UI" panose="020B0502040204020203" pitchFamily="34" charset="0"/>
              </a:rPr>
              <a:t>Blue A3</a:t>
            </a:r>
          </a:p>
          <a:p>
            <a:pPr algn="ctr"/>
            <a:r>
              <a:rPr lang="en-US" sz="1100" b="1" dirty="0">
                <a:latin typeface="+mn-lt"/>
                <a:ea typeface="Segoe UI" panose="020B0502040204020203" pitchFamily="34" charset="0"/>
                <a:cs typeface="Segoe UI" panose="020B0502040204020203" pitchFamily="34" charset="0"/>
              </a:rPr>
              <a:t>113-197-232</a:t>
            </a:r>
          </a:p>
        </p:txBody>
      </p:sp>
      <p:sp>
        <p:nvSpPr>
          <p:cNvPr id="12" name="Rectangle 11">
            <a:extLst>
              <a:ext uri="{FF2B5EF4-FFF2-40B4-BE49-F238E27FC236}">
                <a16:creationId xmlns:a16="http://schemas.microsoft.com/office/drawing/2014/main" id="{FB4DCCDD-E3CB-6E45-BFCF-48856D01594B}"/>
              </a:ext>
            </a:extLst>
          </p:cNvPr>
          <p:cNvSpPr/>
          <p:nvPr userDrawn="1"/>
        </p:nvSpPr>
        <p:spPr>
          <a:xfrm>
            <a:off x="6162318" y="5613437"/>
            <a:ext cx="1763980" cy="53999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mn-lt"/>
                <a:ea typeface="Segoe UI" panose="020B0502040204020203" pitchFamily="34" charset="0"/>
                <a:cs typeface="Segoe UI" panose="020B0502040204020203" pitchFamily="34" charset="0"/>
              </a:rPr>
              <a:t>Orange A4</a:t>
            </a:r>
          </a:p>
          <a:p>
            <a:pPr algn="ctr"/>
            <a:r>
              <a:rPr lang="en-US" sz="1100" b="1" dirty="0">
                <a:latin typeface="+mn-lt"/>
                <a:ea typeface="Segoe UI" panose="020B0502040204020203" pitchFamily="34" charset="0"/>
                <a:cs typeface="Segoe UI" panose="020B0502040204020203" pitchFamily="34" charset="0"/>
              </a:rPr>
              <a:t>255-143-28</a:t>
            </a:r>
          </a:p>
        </p:txBody>
      </p:sp>
      <p:sp>
        <p:nvSpPr>
          <p:cNvPr id="13" name="Rectangle 12">
            <a:extLst>
              <a:ext uri="{FF2B5EF4-FFF2-40B4-BE49-F238E27FC236}">
                <a16:creationId xmlns:a16="http://schemas.microsoft.com/office/drawing/2014/main" id="{9C5C7968-C36A-344E-A8EF-8831AC8BFC99}"/>
              </a:ext>
            </a:extLst>
          </p:cNvPr>
          <p:cNvSpPr/>
          <p:nvPr userDrawn="1"/>
        </p:nvSpPr>
        <p:spPr>
          <a:xfrm>
            <a:off x="8064024" y="5613437"/>
            <a:ext cx="1763980" cy="5399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mn-lt"/>
                <a:ea typeface="Segoe UI" panose="020B0502040204020203" pitchFamily="34" charset="0"/>
                <a:cs typeface="Segoe UI" panose="020B0502040204020203" pitchFamily="34" charset="0"/>
              </a:rPr>
              <a:t>Purple A5</a:t>
            </a:r>
          </a:p>
          <a:p>
            <a:pPr algn="ctr"/>
            <a:r>
              <a:rPr lang="en-US" sz="1100" b="1" dirty="0">
                <a:latin typeface="+mn-lt"/>
                <a:ea typeface="Segoe UI" panose="020B0502040204020203" pitchFamily="34" charset="0"/>
                <a:cs typeface="Segoe UI" panose="020B0502040204020203" pitchFamily="34" charset="0"/>
              </a:rPr>
              <a:t>187-41-187</a:t>
            </a:r>
          </a:p>
        </p:txBody>
      </p:sp>
      <p:sp>
        <p:nvSpPr>
          <p:cNvPr id="14" name="Rectangle 13">
            <a:extLst>
              <a:ext uri="{FF2B5EF4-FFF2-40B4-BE49-F238E27FC236}">
                <a16:creationId xmlns:a16="http://schemas.microsoft.com/office/drawing/2014/main" id="{1EF8CD26-935E-A448-940E-68155E22CD27}"/>
              </a:ext>
            </a:extLst>
          </p:cNvPr>
          <p:cNvSpPr/>
          <p:nvPr userDrawn="1"/>
        </p:nvSpPr>
        <p:spPr>
          <a:xfrm>
            <a:off x="9965732" y="5613437"/>
            <a:ext cx="1763980" cy="53999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mn-lt"/>
                <a:ea typeface="Segoe UI" panose="020B0502040204020203" pitchFamily="34" charset="0"/>
                <a:cs typeface="Segoe UI" panose="020B0502040204020203" pitchFamily="34" charset="0"/>
              </a:rPr>
              <a:t>Gray A6</a:t>
            </a:r>
          </a:p>
          <a:p>
            <a:pPr algn="ctr"/>
            <a:r>
              <a:rPr lang="en-US" sz="1100" b="1" dirty="0">
                <a:latin typeface="+mn-lt"/>
                <a:ea typeface="Segoe UI" panose="020B0502040204020203" pitchFamily="34" charset="0"/>
                <a:cs typeface="Segoe UI" panose="020B0502040204020203" pitchFamily="34" charset="0"/>
              </a:rPr>
              <a:t>127-127-127</a:t>
            </a:r>
          </a:p>
        </p:txBody>
      </p:sp>
      <p:sp>
        <p:nvSpPr>
          <p:cNvPr id="19" name="TextBox 18">
            <a:extLst>
              <a:ext uri="{FF2B5EF4-FFF2-40B4-BE49-F238E27FC236}">
                <a16:creationId xmlns:a16="http://schemas.microsoft.com/office/drawing/2014/main" id="{FE9A44FA-7D60-B647-AAD8-E73AC6D4B681}"/>
              </a:ext>
            </a:extLst>
          </p:cNvPr>
          <p:cNvSpPr txBox="1"/>
          <p:nvPr userDrawn="1"/>
        </p:nvSpPr>
        <p:spPr>
          <a:xfrm>
            <a:off x="342901" y="1410437"/>
            <a:ext cx="5456538" cy="3529171"/>
          </a:xfrm>
          <a:prstGeom prst="rect">
            <a:avLst/>
          </a:prstGeom>
          <a:noFill/>
        </p:spPr>
        <p:txBody>
          <a:bodyPr wrap="square" rtlCol="0">
            <a:spAutoFit/>
          </a:bodyPr>
          <a:lstStyle/>
          <a:p>
            <a:pPr marL="182880" indent="-182880">
              <a:spcAft>
                <a:spcPts val="800"/>
              </a:spcAft>
              <a:buSzPct val="75000"/>
              <a:buFont typeface="Wingdings" pitchFamily="2" charset="2"/>
              <a:buChar char="§"/>
            </a:pPr>
            <a:r>
              <a:rPr lang="en-US" sz="1600" dirty="0"/>
              <a:t>All charts and graphs will be filled with the brand approved charts and graphs colors</a:t>
            </a:r>
          </a:p>
          <a:p>
            <a:pPr marL="182880" indent="-182880">
              <a:spcAft>
                <a:spcPts val="800"/>
              </a:spcAft>
              <a:buSzPct val="75000"/>
              <a:buFont typeface="Wingdings" pitchFamily="2" charset="2"/>
              <a:buChar char="§"/>
            </a:pPr>
            <a:r>
              <a:rPr lang="en-US" sz="1600" dirty="0"/>
              <a:t>Select “Use Destination Theme” when copying charts from Excel into PowerPoint</a:t>
            </a:r>
          </a:p>
          <a:p>
            <a:pPr marL="182880" indent="-182880">
              <a:spcAft>
                <a:spcPts val="0"/>
              </a:spcAft>
              <a:buSzPct val="75000"/>
              <a:buFont typeface="Wingdings" pitchFamily="2" charset="2"/>
              <a:buChar char="§"/>
            </a:pPr>
            <a:r>
              <a:rPr lang="en-US" sz="1600" dirty="0"/>
              <a:t>Importing the Micron theme into Excel:</a:t>
            </a:r>
          </a:p>
          <a:p>
            <a:pPr marL="365760" marR="0" lvl="1" indent="-182880" algn="l" defTabSz="914400" rtl="0" eaLnBrk="1" fontAlgn="auto" latinLnBrk="0" hangingPunct="1">
              <a:lnSpc>
                <a:spcPct val="100000"/>
              </a:lnSpc>
              <a:spcBef>
                <a:spcPts val="0"/>
              </a:spcBef>
              <a:spcAft>
                <a:spcPts val="0"/>
              </a:spcAft>
              <a:buClrTx/>
              <a:buSzPct val="100000"/>
              <a:buFont typeface="System Font Regular"/>
              <a:buChar char="‒"/>
              <a:tabLst/>
              <a:defRPr/>
            </a:pPr>
            <a:r>
              <a:rPr lang="en-US" sz="1400" dirty="0"/>
              <a:t>Choose File | Save as and select "Office Theme (*.THMX)" from the save as type dropdown</a:t>
            </a:r>
          </a:p>
          <a:p>
            <a:pPr marL="365760" marR="0" lvl="1" indent="-182880" algn="l" defTabSz="914400" rtl="0" eaLnBrk="1" fontAlgn="auto" latinLnBrk="0" hangingPunct="1">
              <a:lnSpc>
                <a:spcPct val="100000"/>
              </a:lnSpc>
              <a:spcBef>
                <a:spcPts val="0"/>
              </a:spcBef>
              <a:spcAft>
                <a:spcPts val="0"/>
              </a:spcAft>
              <a:buClrTx/>
              <a:buSzPct val="100000"/>
              <a:buFont typeface="System Font Regular"/>
              <a:buChar char="‒"/>
              <a:tabLst/>
              <a:defRPr/>
            </a:pPr>
            <a:r>
              <a:rPr lang="en-US" sz="1400" dirty="0"/>
              <a:t>PPT should take you to the appropriate folder. If it doesn't, then save the file here: C:\Documents and Settings\</a:t>
            </a:r>
            <a:r>
              <a:rPr lang="en-US" sz="1400" dirty="0" err="1"/>
              <a:t>UserName</a:t>
            </a:r>
            <a:r>
              <a:rPr lang="en-US" sz="1400" dirty="0"/>
              <a:t>\</a:t>
            </a:r>
            <a:r>
              <a:rPr lang="en-US" sz="1400" dirty="0" err="1"/>
              <a:t>ApplicationData</a:t>
            </a:r>
            <a:r>
              <a:rPr lang="en-US" sz="1400" dirty="0"/>
              <a:t>\Microsoft\Templates\Document Themes</a:t>
            </a:r>
          </a:p>
          <a:p>
            <a:pPr marL="365760" marR="0" lvl="1" indent="-182880" algn="l" defTabSz="914400" rtl="0" eaLnBrk="1" fontAlgn="auto" latinLnBrk="0" hangingPunct="1">
              <a:lnSpc>
                <a:spcPct val="100000"/>
              </a:lnSpc>
              <a:spcBef>
                <a:spcPts val="0"/>
              </a:spcBef>
              <a:spcAft>
                <a:spcPts val="0"/>
              </a:spcAft>
              <a:buClrTx/>
              <a:buSzPct val="100000"/>
              <a:buFont typeface="System Font Regular"/>
              <a:buChar char="‒"/>
              <a:tabLst/>
              <a:defRPr/>
            </a:pPr>
            <a:r>
              <a:rPr lang="en-US" sz="1400" dirty="0"/>
              <a:t>In Excel, go to Page Layout and click the Themes button. Your theme will show up there</a:t>
            </a:r>
          </a:p>
          <a:p>
            <a:pPr marL="182880" indent="-182880">
              <a:spcAft>
                <a:spcPts val="1200"/>
              </a:spcAft>
              <a:buSzPct val="75000"/>
              <a:buFont typeface="Wingdings" pitchFamily="2" charset="2"/>
              <a:buChar char="§"/>
            </a:pPr>
            <a:endParaRPr lang="en-US" dirty="0"/>
          </a:p>
        </p:txBody>
      </p:sp>
      <p:sp>
        <p:nvSpPr>
          <p:cNvPr id="20" name="TextBox 19">
            <a:extLst>
              <a:ext uri="{FF2B5EF4-FFF2-40B4-BE49-F238E27FC236}">
                <a16:creationId xmlns:a16="http://schemas.microsoft.com/office/drawing/2014/main" id="{94F42A57-723C-B44E-9834-4E6F448509BF}"/>
              </a:ext>
            </a:extLst>
          </p:cNvPr>
          <p:cNvSpPr txBox="1"/>
          <p:nvPr userDrawn="1"/>
        </p:nvSpPr>
        <p:spPr>
          <a:xfrm>
            <a:off x="6189414" y="1468007"/>
            <a:ext cx="2627654" cy="353943"/>
          </a:xfrm>
          <a:prstGeom prst="rect">
            <a:avLst/>
          </a:prstGeom>
          <a:solidFill>
            <a:schemeClr val="accent6">
              <a:lumMod val="20000"/>
              <a:lumOff val="80000"/>
            </a:schemeClr>
          </a:solidFill>
        </p:spPr>
        <p:txBody>
          <a:bodyPr wrap="square" lIns="91440" tIns="91440" rIns="91440" bIns="91440" rtlCol="0">
            <a:spAutoFit/>
          </a:bodyPr>
          <a:lstStyle/>
          <a:p>
            <a:r>
              <a:rPr lang="en-US" sz="1100" b="1" dirty="0"/>
              <a:t>Sample 1</a:t>
            </a:r>
          </a:p>
        </p:txBody>
      </p:sp>
      <p:sp>
        <p:nvSpPr>
          <p:cNvPr id="22" name="Title 1">
            <a:extLst>
              <a:ext uri="{FF2B5EF4-FFF2-40B4-BE49-F238E27FC236}">
                <a16:creationId xmlns:a16="http://schemas.microsoft.com/office/drawing/2014/main" id="{B7F2ADE7-3CB9-D948-8553-96BF73DD4503}"/>
              </a:ext>
            </a:extLst>
          </p:cNvPr>
          <p:cNvSpPr txBox="1">
            <a:spLocks/>
          </p:cNvSpPr>
          <p:nvPr userDrawn="1"/>
        </p:nvSpPr>
        <p:spPr>
          <a:xfrm>
            <a:off x="342900" y="457200"/>
            <a:ext cx="11506200" cy="590931"/>
          </a:xfrm>
          <a:prstGeom prst="rect">
            <a:avLst/>
          </a:prstGeom>
        </p:spPr>
        <p:txBody>
          <a:bodyPr vert="horz"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Using charts &amp; graphs colors</a:t>
            </a:r>
          </a:p>
        </p:txBody>
      </p:sp>
      <p:sp>
        <p:nvSpPr>
          <p:cNvPr id="18" name="TextBox 17">
            <a:extLst>
              <a:ext uri="{FF2B5EF4-FFF2-40B4-BE49-F238E27FC236}">
                <a16:creationId xmlns:a16="http://schemas.microsoft.com/office/drawing/2014/main" id="{9FCC44C4-47E6-3D45-BC04-58541724DB5B}"/>
              </a:ext>
            </a:extLst>
          </p:cNvPr>
          <p:cNvSpPr txBox="1"/>
          <p:nvPr userDrawn="1"/>
        </p:nvSpPr>
        <p:spPr>
          <a:xfrm>
            <a:off x="9102058" y="1468007"/>
            <a:ext cx="2627654" cy="353943"/>
          </a:xfrm>
          <a:prstGeom prst="rect">
            <a:avLst/>
          </a:prstGeom>
          <a:solidFill>
            <a:schemeClr val="accent6">
              <a:lumMod val="20000"/>
              <a:lumOff val="80000"/>
            </a:schemeClr>
          </a:solidFill>
        </p:spPr>
        <p:txBody>
          <a:bodyPr wrap="square" lIns="91440" tIns="91440" rIns="91440" bIns="91440" rtlCol="0">
            <a:spAutoFit/>
          </a:bodyPr>
          <a:lstStyle/>
          <a:p>
            <a:r>
              <a:rPr lang="en-US" sz="1100" b="1" dirty="0"/>
              <a:t>Sample 2</a:t>
            </a:r>
          </a:p>
        </p:txBody>
      </p:sp>
    </p:spTree>
    <p:extLst>
      <p:ext uri="{BB962C8B-B14F-4D97-AF65-F5344CB8AC3E}">
        <p14:creationId xmlns:p14="http://schemas.microsoft.com/office/powerpoint/2010/main" val="3407682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orizontal blue bar with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7513A1A-4369-F343-B99B-DF97DCD6FDCD}"/>
              </a:ext>
            </a:extLst>
          </p:cNvPr>
          <p:cNvSpPr/>
          <p:nvPr userDrawn="1"/>
        </p:nvSpPr>
        <p:spPr>
          <a:xfrm>
            <a:off x="0" y="0"/>
            <a:ext cx="12192000" cy="1729563"/>
          </a:xfrm>
          <a:prstGeom prst="rect">
            <a:avLst/>
          </a:prstGeom>
          <a:solidFill>
            <a:schemeClr val="tx2"/>
          </a:solidFill>
          <a:ln>
            <a:noFill/>
          </a:ln>
          <a:effectLst>
            <a:outerShdw blurRad="38100" dist="127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E4D16C-2748-A948-B110-E0CDA971C089}"/>
              </a:ext>
            </a:extLst>
          </p:cNvPr>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BCD73EAD-0668-0F4C-9B46-AF2D1C89376F}"/>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6E78CC5C-F9EB-0C45-82B1-1F7E21771718}"/>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8F63BDC-C4F9-CD42-919B-A578B576E2A6}"/>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
        <p:nvSpPr>
          <p:cNvPr id="6" name="Text Placeholder 6">
            <a:extLst>
              <a:ext uri="{FF2B5EF4-FFF2-40B4-BE49-F238E27FC236}">
                <a16:creationId xmlns:a16="http://schemas.microsoft.com/office/drawing/2014/main" id="{2E24E6A9-31BE-DE41-9030-1FDC7222F6B1}"/>
              </a:ext>
            </a:extLst>
          </p:cNvPr>
          <p:cNvSpPr>
            <a:spLocks noGrp="1"/>
          </p:cNvSpPr>
          <p:nvPr>
            <p:ph type="body" sz="quarter" idx="13" hasCustomPrompt="1"/>
          </p:nvPr>
        </p:nvSpPr>
        <p:spPr>
          <a:xfrm>
            <a:off x="344424" y="1061615"/>
            <a:ext cx="11503152" cy="400110"/>
          </a:xfrm>
          <a:prstGeom prst="rect">
            <a:avLst/>
          </a:prstGeom>
        </p:spPr>
        <p:txBody>
          <a:bodyPr>
            <a:spAutoFit/>
          </a:bodyPr>
          <a:lstStyle>
            <a:lvl1pPr marL="0" indent="0">
              <a:buNone/>
              <a:defRPr sz="2000" b="0" spc="0" baseline="0">
                <a:solidFill>
                  <a:schemeClr val="bg1"/>
                </a:solidFill>
              </a:defRPr>
            </a:lvl1pPr>
          </a:lstStyle>
          <a:p>
            <a:pPr lvl="0"/>
            <a:r>
              <a:rPr lang="en-US" dirty="0"/>
              <a:t>Click to add subtitle</a:t>
            </a:r>
          </a:p>
        </p:txBody>
      </p:sp>
      <p:sp>
        <p:nvSpPr>
          <p:cNvPr id="8" name="Content Placeholder 14">
            <a:extLst>
              <a:ext uri="{FF2B5EF4-FFF2-40B4-BE49-F238E27FC236}">
                <a16:creationId xmlns:a16="http://schemas.microsoft.com/office/drawing/2014/main" id="{46F7DDA2-3D83-3941-8ED7-50083666B1C6}"/>
              </a:ext>
            </a:extLst>
          </p:cNvPr>
          <p:cNvSpPr>
            <a:spLocks noGrp="1"/>
          </p:cNvSpPr>
          <p:nvPr>
            <p:ph sz="quarter" idx="29"/>
          </p:nvPr>
        </p:nvSpPr>
        <p:spPr>
          <a:xfrm>
            <a:off x="342900" y="1884969"/>
            <a:ext cx="11506200" cy="40514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a:extLst>
              <a:ext uri="{FF2B5EF4-FFF2-40B4-BE49-F238E27FC236}">
                <a16:creationId xmlns:a16="http://schemas.microsoft.com/office/drawing/2014/main" id="{DC5DEE7D-0C2D-E944-9FDE-14C13E92B949}"/>
              </a:ext>
            </a:extLst>
          </p:cNvPr>
          <p:cNvSpPr>
            <a:spLocks noGrp="1"/>
          </p:cNvSpPr>
          <p:nvPr>
            <p:ph type="body" sz="quarter" idx="27" hasCustomPrompt="1"/>
          </p:nvPr>
        </p:nvSpPr>
        <p:spPr>
          <a:xfrm>
            <a:off x="344424" y="6091779"/>
            <a:ext cx="11503152"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Tree>
    <p:extLst>
      <p:ext uri="{BB962C8B-B14F-4D97-AF65-F5344CB8AC3E}">
        <p14:creationId xmlns:p14="http://schemas.microsoft.com/office/powerpoint/2010/main" val="2878594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orizontal blue bar with 2 column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7513A1A-4369-F343-B99B-DF97DCD6FDCD}"/>
              </a:ext>
            </a:extLst>
          </p:cNvPr>
          <p:cNvSpPr/>
          <p:nvPr userDrawn="1"/>
        </p:nvSpPr>
        <p:spPr>
          <a:xfrm>
            <a:off x="0" y="0"/>
            <a:ext cx="12192000" cy="1729563"/>
          </a:xfrm>
          <a:prstGeom prst="rect">
            <a:avLst/>
          </a:prstGeom>
          <a:solidFill>
            <a:schemeClr val="tx2"/>
          </a:solidFill>
          <a:ln>
            <a:noFill/>
          </a:ln>
          <a:effectLst>
            <a:outerShdw blurRad="38100" dist="127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E4D16C-2748-A948-B110-E0CDA971C089}"/>
              </a:ext>
            </a:extLst>
          </p:cNvPr>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BCD73EAD-0668-0F4C-9B46-AF2D1C89376F}"/>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6E78CC5C-F9EB-0C45-82B1-1F7E21771718}"/>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8F63BDC-C4F9-CD42-919B-A578B576E2A6}"/>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
        <p:nvSpPr>
          <p:cNvPr id="6" name="Text Placeholder 6">
            <a:extLst>
              <a:ext uri="{FF2B5EF4-FFF2-40B4-BE49-F238E27FC236}">
                <a16:creationId xmlns:a16="http://schemas.microsoft.com/office/drawing/2014/main" id="{2E24E6A9-31BE-DE41-9030-1FDC7222F6B1}"/>
              </a:ext>
            </a:extLst>
          </p:cNvPr>
          <p:cNvSpPr>
            <a:spLocks noGrp="1"/>
          </p:cNvSpPr>
          <p:nvPr>
            <p:ph type="body" sz="quarter" idx="13" hasCustomPrompt="1"/>
          </p:nvPr>
        </p:nvSpPr>
        <p:spPr>
          <a:xfrm>
            <a:off x="344424" y="1061615"/>
            <a:ext cx="11503152" cy="400110"/>
          </a:xfrm>
          <a:prstGeom prst="rect">
            <a:avLst/>
          </a:prstGeom>
        </p:spPr>
        <p:txBody>
          <a:bodyPr>
            <a:spAutoFit/>
          </a:bodyPr>
          <a:lstStyle>
            <a:lvl1pPr marL="0" indent="0">
              <a:buNone/>
              <a:defRPr sz="2000" b="0" spc="0" baseline="0">
                <a:solidFill>
                  <a:schemeClr val="bg1"/>
                </a:solidFill>
              </a:defRPr>
            </a:lvl1pPr>
          </a:lstStyle>
          <a:p>
            <a:pPr lvl="0"/>
            <a:r>
              <a:rPr lang="en-US" dirty="0"/>
              <a:t>Click to add subtitle</a:t>
            </a:r>
          </a:p>
        </p:txBody>
      </p:sp>
      <p:sp>
        <p:nvSpPr>
          <p:cNvPr id="11" name="Content Placeholder 14">
            <a:extLst>
              <a:ext uri="{FF2B5EF4-FFF2-40B4-BE49-F238E27FC236}">
                <a16:creationId xmlns:a16="http://schemas.microsoft.com/office/drawing/2014/main" id="{E446D9BF-1A95-E345-80B0-56400F463FD2}"/>
              </a:ext>
            </a:extLst>
          </p:cNvPr>
          <p:cNvSpPr>
            <a:spLocks noGrp="1"/>
          </p:cNvSpPr>
          <p:nvPr>
            <p:ph sz="quarter" idx="29"/>
          </p:nvPr>
        </p:nvSpPr>
        <p:spPr>
          <a:xfrm>
            <a:off x="342900" y="1884969"/>
            <a:ext cx="5681726" cy="40514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4">
            <a:extLst>
              <a:ext uri="{FF2B5EF4-FFF2-40B4-BE49-F238E27FC236}">
                <a16:creationId xmlns:a16="http://schemas.microsoft.com/office/drawing/2014/main" id="{EB94839D-7A84-0943-99A0-766CCE48B89F}"/>
              </a:ext>
            </a:extLst>
          </p:cNvPr>
          <p:cNvSpPr>
            <a:spLocks noGrp="1"/>
          </p:cNvSpPr>
          <p:nvPr>
            <p:ph sz="quarter" idx="30"/>
          </p:nvPr>
        </p:nvSpPr>
        <p:spPr>
          <a:xfrm>
            <a:off x="6167376" y="1884969"/>
            <a:ext cx="5681726" cy="40514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
            <a:extLst>
              <a:ext uri="{FF2B5EF4-FFF2-40B4-BE49-F238E27FC236}">
                <a16:creationId xmlns:a16="http://schemas.microsoft.com/office/drawing/2014/main" id="{EADC15C4-E1A0-894F-BBFC-BA939F703096}"/>
              </a:ext>
            </a:extLst>
          </p:cNvPr>
          <p:cNvSpPr>
            <a:spLocks noGrp="1"/>
          </p:cNvSpPr>
          <p:nvPr>
            <p:ph type="body" sz="quarter" idx="27" hasCustomPrompt="1"/>
          </p:nvPr>
        </p:nvSpPr>
        <p:spPr>
          <a:xfrm>
            <a:off x="344424" y="6091779"/>
            <a:ext cx="11503152"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Tree>
    <p:extLst>
      <p:ext uri="{BB962C8B-B14F-4D97-AF65-F5344CB8AC3E}">
        <p14:creationId xmlns:p14="http://schemas.microsoft.com/office/powerpoint/2010/main" val="2269610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orizontal bar with 3 column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7513A1A-4369-F343-B99B-DF97DCD6FDCD}"/>
              </a:ext>
            </a:extLst>
          </p:cNvPr>
          <p:cNvSpPr/>
          <p:nvPr userDrawn="1"/>
        </p:nvSpPr>
        <p:spPr>
          <a:xfrm>
            <a:off x="0" y="0"/>
            <a:ext cx="12192000" cy="1729563"/>
          </a:xfrm>
          <a:prstGeom prst="rect">
            <a:avLst/>
          </a:prstGeom>
          <a:solidFill>
            <a:schemeClr val="tx2"/>
          </a:solidFill>
          <a:ln>
            <a:noFill/>
          </a:ln>
          <a:effectLst>
            <a:outerShdw blurRad="38100" dist="127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E4D16C-2748-A948-B110-E0CDA971C089}"/>
              </a:ext>
            </a:extLst>
          </p:cNvPr>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BCD73EAD-0668-0F4C-9B46-AF2D1C89376F}"/>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6E78CC5C-F9EB-0C45-82B1-1F7E21771718}"/>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8F63BDC-C4F9-CD42-919B-A578B576E2A6}"/>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
        <p:nvSpPr>
          <p:cNvPr id="6" name="Text Placeholder 6">
            <a:extLst>
              <a:ext uri="{FF2B5EF4-FFF2-40B4-BE49-F238E27FC236}">
                <a16:creationId xmlns:a16="http://schemas.microsoft.com/office/drawing/2014/main" id="{2E24E6A9-31BE-DE41-9030-1FDC7222F6B1}"/>
              </a:ext>
            </a:extLst>
          </p:cNvPr>
          <p:cNvSpPr>
            <a:spLocks noGrp="1"/>
          </p:cNvSpPr>
          <p:nvPr>
            <p:ph type="body" sz="quarter" idx="13" hasCustomPrompt="1"/>
          </p:nvPr>
        </p:nvSpPr>
        <p:spPr>
          <a:xfrm>
            <a:off x="344424" y="1061615"/>
            <a:ext cx="11503152" cy="400110"/>
          </a:xfrm>
          <a:prstGeom prst="rect">
            <a:avLst/>
          </a:prstGeom>
        </p:spPr>
        <p:txBody>
          <a:bodyPr>
            <a:spAutoFit/>
          </a:bodyPr>
          <a:lstStyle>
            <a:lvl1pPr marL="0" indent="0">
              <a:buNone/>
              <a:defRPr sz="2000" b="0" spc="0" baseline="0">
                <a:solidFill>
                  <a:schemeClr val="bg1"/>
                </a:solidFill>
              </a:defRPr>
            </a:lvl1pPr>
          </a:lstStyle>
          <a:p>
            <a:pPr lvl="0"/>
            <a:r>
              <a:rPr lang="en-US" dirty="0"/>
              <a:t>Click to add subtitle</a:t>
            </a:r>
          </a:p>
        </p:txBody>
      </p:sp>
      <p:sp>
        <p:nvSpPr>
          <p:cNvPr id="13" name="Content Placeholder 3">
            <a:extLst>
              <a:ext uri="{FF2B5EF4-FFF2-40B4-BE49-F238E27FC236}">
                <a16:creationId xmlns:a16="http://schemas.microsoft.com/office/drawing/2014/main" id="{C6B78DE0-3D27-534E-8945-9E8F66F3672F}"/>
              </a:ext>
            </a:extLst>
          </p:cNvPr>
          <p:cNvSpPr>
            <a:spLocks noGrp="1"/>
          </p:cNvSpPr>
          <p:nvPr>
            <p:ph sz="quarter" idx="33"/>
          </p:nvPr>
        </p:nvSpPr>
        <p:spPr>
          <a:xfrm>
            <a:off x="342899" y="1884969"/>
            <a:ext cx="3712464" cy="40514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7C265DF6-4533-E844-BE8D-9714FA8BC454}"/>
              </a:ext>
            </a:extLst>
          </p:cNvPr>
          <p:cNvSpPr>
            <a:spLocks noGrp="1"/>
          </p:cNvSpPr>
          <p:nvPr>
            <p:ph sz="quarter" idx="34"/>
          </p:nvPr>
        </p:nvSpPr>
        <p:spPr>
          <a:xfrm>
            <a:off x="4238376" y="1884969"/>
            <a:ext cx="3715247" cy="40514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3">
            <a:extLst>
              <a:ext uri="{FF2B5EF4-FFF2-40B4-BE49-F238E27FC236}">
                <a16:creationId xmlns:a16="http://schemas.microsoft.com/office/drawing/2014/main" id="{5B4E003E-7AC8-3947-A08C-DB78D7E0D955}"/>
              </a:ext>
            </a:extLst>
          </p:cNvPr>
          <p:cNvSpPr>
            <a:spLocks noGrp="1"/>
          </p:cNvSpPr>
          <p:nvPr>
            <p:ph sz="quarter" idx="35"/>
          </p:nvPr>
        </p:nvSpPr>
        <p:spPr>
          <a:xfrm>
            <a:off x="8133853" y="1884969"/>
            <a:ext cx="3715247" cy="40514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
            <a:extLst>
              <a:ext uri="{FF2B5EF4-FFF2-40B4-BE49-F238E27FC236}">
                <a16:creationId xmlns:a16="http://schemas.microsoft.com/office/drawing/2014/main" id="{1CA5D5FA-5A3F-8C4E-A310-221DBCBF9E2F}"/>
              </a:ext>
            </a:extLst>
          </p:cNvPr>
          <p:cNvSpPr>
            <a:spLocks noGrp="1"/>
          </p:cNvSpPr>
          <p:nvPr>
            <p:ph type="body" sz="quarter" idx="27" hasCustomPrompt="1"/>
          </p:nvPr>
        </p:nvSpPr>
        <p:spPr>
          <a:xfrm>
            <a:off x="344424" y="6091779"/>
            <a:ext cx="11503152"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Tree>
    <p:extLst>
      <p:ext uri="{BB962C8B-B14F-4D97-AF65-F5344CB8AC3E}">
        <p14:creationId xmlns:p14="http://schemas.microsoft.com/office/powerpoint/2010/main" val="3719809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3 photo with content">
    <p:spTree>
      <p:nvGrpSpPr>
        <p:cNvPr id="1" name=""/>
        <p:cNvGrpSpPr/>
        <p:nvPr/>
      </p:nvGrpSpPr>
      <p:grpSpPr>
        <a:xfrm>
          <a:off x="0" y="0"/>
          <a:ext cx="0" cy="0"/>
          <a:chOff x="0" y="0"/>
          <a:chExt cx="0" cy="0"/>
        </a:xfrm>
      </p:grpSpPr>
      <p:sp>
        <p:nvSpPr>
          <p:cNvPr id="12" name="Picture Placeholder 7">
            <a:extLst>
              <a:ext uri="{FF2B5EF4-FFF2-40B4-BE49-F238E27FC236}">
                <a16:creationId xmlns:a16="http://schemas.microsoft.com/office/drawing/2014/main" id="{858B3986-0F52-964A-A3CD-AAFA09FAE971}"/>
              </a:ext>
            </a:extLst>
          </p:cNvPr>
          <p:cNvSpPr>
            <a:spLocks noGrp="1"/>
          </p:cNvSpPr>
          <p:nvPr>
            <p:ph type="pic" sz="quarter" idx="15" hasCustomPrompt="1"/>
          </p:nvPr>
        </p:nvSpPr>
        <p:spPr>
          <a:xfrm>
            <a:off x="7620001" y="0"/>
            <a:ext cx="4571999" cy="6858000"/>
          </a:xfrm>
          <a:prstGeom prst="rect">
            <a:avLst/>
          </a:prstGeom>
          <a:solidFill>
            <a:schemeClr val="bg1"/>
          </a:solidFill>
          <a:effectLst>
            <a:outerShdw blurRad="38100" dist="12700" dir="5400000" algn="ctr" rotWithShape="0">
              <a:srgbClr val="000000">
                <a:alpha val="10000"/>
              </a:srgbClr>
            </a:outerShdw>
          </a:effectLst>
        </p:spPr>
        <p:txBody>
          <a:bodyPr>
            <a:normAutofit/>
          </a:bodyPr>
          <a:lstStyle>
            <a:lvl1pPr marL="0" indent="0">
              <a:buNone/>
              <a:defRPr sz="2800" b="1" spc="-150"/>
            </a:lvl1pPr>
          </a:lstStyle>
          <a:p>
            <a:r>
              <a:rPr lang="en-US" dirty="0"/>
              <a:t>Click icon to add picture, then send to back</a:t>
            </a:r>
          </a:p>
        </p:txBody>
      </p:sp>
      <p:sp>
        <p:nvSpPr>
          <p:cNvPr id="2" name="Title 1">
            <a:extLst>
              <a:ext uri="{FF2B5EF4-FFF2-40B4-BE49-F238E27FC236}">
                <a16:creationId xmlns:a16="http://schemas.microsoft.com/office/drawing/2014/main" id="{201B7393-B8C5-EB47-A4BA-DB9D5A44C229}"/>
              </a:ext>
            </a:extLst>
          </p:cNvPr>
          <p:cNvSpPr>
            <a:spLocks noGrp="1"/>
          </p:cNvSpPr>
          <p:nvPr>
            <p:ph type="title"/>
          </p:nvPr>
        </p:nvSpPr>
        <p:spPr>
          <a:xfrm>
            <a:off x="342900" y="461528"/>
            <a:ext cx="6993636" cy="590931"/>
          </a:xfrm>
        </p:spPr>
        <p:txBody>
          <a:bodyPr/>
          <a:lstStyle/>
          <a:p>
            <a:r>
              <a:rPr lang="en-US"/>
              <a:t>Click to edit Master title style</a:t>
            </a:r>
          </a:p>
        </p:txBody>
      </p:sp>
      <p:sp>
        <p:nvSpPr>
          <p:cNvPr id="3" name="Date Placeholder 2">
            <a:extLst>
              <a:ext uri="{FF2B5EF4-FFF2-40B4-BE49-F238E27FC236}">
                <a16:creationId xmlns:a16="http://schemas.microsoft.com/office/drawing/2014/main" id="{64DC94AC-9941-C141-B16C-9851F8F416B1}"/>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5" name="Slide Number Placeholder 4">
            <a:extLst>
              <a:ext uri="{FF2B5EF4-FFF2-40B4-BE49-F238E27FC236}">
                <a16:creationId xmlns:a16="http://schemas.microsoft.com/office/drawing/2014/main" id="{BBEEA1CB-F316-4948-BA9A-F21539EA43E7}"/>
              </a:ext>
            </a:extLst>
          </p:cNvPr>
          <p:cNvSpPr>
            <a:spLocks noGrp="1"/>
          </p:cNvSpPr>
          <p:nvPr>
            <p:ph type="sldNum" sz="quarter" idx="12"/>
          </p:nvPr>
        </p:nvSpPr>
        <p:spPr/>
        <p:txBody>
          <a:bodyPr/>
          <a:lstStyle>
            <a:lvl1pPr>
              <a:defRPr>
                <a:solidFill>
                  <a:schemeClr val="bg1"/>
                </a:solidFill>
              </a:defRPr>
            </a:lvl1pPr>
          </a:lstStyle>
          <a:p>
            <a:fld id="{B7E7695C-FCF1-4AA0-9B93-7941FED13DC4}" type="slidenum">
              <a:rPr lang="en-US" smtClean="0"/>
              <a:pPr/>
              <a:t>‹#›</a:t>
            </a:fld>
            <a:endParaRPr lang="en-US" dirty="0"/>
          </a:p>
        </p:txBody>
      </p:sp>
      <p:sp>
        <p:nvSpPr>
          <p:cNvPr id="10" name="Content Placeholder 2">
            <a:extLst>
              <a:ext uri="{FF2B5EF4-FFF2-40B4-BE49-F238E27FC236}">
                <a16:creationId xmlns:a16="http://schemas.microsoft.com/office/drawing/2014/main" id="{02C90460-46FD-D549-BF6D-4E46CB3BF8F6}"/>
              </a:ext>
            </a:extLst>
          </p:cNvPr>
          <p:cNvSpPr>
            <a:spLocks noGrp="1"/>
          </p:cNvSpPr>
          <p:nvPr>
            <p:ph sz="quarter" idx="25"/>
          </p:nvPr>
        </p:nvSpPr>
        <p:spPr>
          <a:xfrm>
            <a:off x="342900" y="1220613"/>
            <a:ext cx="6995160" cy="4715759"/>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
            <a:extLst>
              <a:ext uri="{FF2B5EF4-FFF2-40B4-BE49-F238E27FC236}">
                <a16:creationId xmlns:a16="http://schemas.microsoft.com/office/drawing/2014/main" id="{3B42142A-808E-4442-A554-339C73FE29F2}"/>
              </a:ext>
            </a:extLst>
          </p:cNvPr>
          <p:cNvSpPr>
            <a:spLocks noGrp="1"/>
          </p:cNvSpPr>
          <p:nvPr>
            <p:ph type="body" sz="quarter" idx="27" hasCustomPrompt="1"/>
          </p:nvPr>
        </p:nvSpPr>
        <p:spPr>
          <a:xfrm>
            <a:off x="344424" y="6091779"/>
            <a:ext cx="6993636"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
        <p:nvSpPr>
          <p:cNvPr id="13" name="Text Placeholder 15">
            <a:extLst>
              <a:ext uri="{FF2B5EF4-FFF2-40B4-BE49-F238E27FC236}">
                <a16:creationId xmlns:a16="http://schemas.microsoft.com/office/drawing/2014/main" id="{6BAFDDF3-70ED-AE4F-A098-D443A0C4594A}"/>
              </a:ext>
            </a:extLst>
          </p:cNvPr>
          <p:cNvSpPr>
            <a:spLocks noGrp="1"/>
          </p:cNvSpPr>
          <p:nvPr>
            <p:ph type="body" sz="quarter" idx="29" hasCustomPrompt="1"/>
          </p:nvPr>
        </p:nvSpPr>
        <p:spPr>
          <a:xfrm>
            <a:off x="10754834" y="6360333"/>
            <a:ext cx="1041990" cy="309782"/>
          </a:xfrm>
          <a:blipFill dpi="0" rotWithShape="1">
            <a:blip r:embed="rId2"/>
            <a:srcRect/>
            <a:stretch>
              <a:fillRect/>
            </a:stretch>
          </a:blipFill>
        </p:spPr>
        <p:txBody>
          <a:bodyPr/>
          <a:lstStyle>
            <a:lvl1pPr marL="0" indent="0">
              <a:buNone/>
              <a:defRPr/>
            </a:lvl1pPr>
          </a:lstStyle>
          <a:p>
            <a:pPr lvl="0"/>
            <a:r>
              <a:rPr lang="en-US" dirty="0"/>
              <a:t>  </a:t>
            </a:r>
          </a:p>
        </p:txBody>
      </p:sp>
      <p:sp>
        <p:nvSpPr>
          <p:cNvPr id="4" name="Footer Placeholder 3">
            <a:extLst>
              <a:ext uri="{FF2B5EF4-FFF2-40B4-BE49-F238E27FC236}">
                <a16:creationId xmlns:a16="http://schemas.microsoft.com/office/drawing/2014/main" id="{0C28820E-A2D4-A64E-A0E9-CA9783234159}"/>
              </a:ext>
            </a:extLst>
          </p:cNvPr>
          <p:cNvSpPr>
            <a:spLocks noGrp="1"/>
          </p:cNvSpPr>
          <p:nvPr>
            <p:ph type="ftr" sz="quarter" idx="11"/>
          </p:nvPr>
        </p:nvSpPr>
        <p:spPr/>
        <p:txBody>
          <a:bodyPr/>
          <a:lstStyle/>
          <a:p>
            <a:r>
              <a:rPr lang="en-US"/>
              <a:t>Presentation Title</a:t>
            </a:r>
            <a:endParaRPr lang="en-US" dirty="0"/>
          </a:p>
        </p:txBody>
      </p:sp>
    </p:spTree>
    <p:extLst>
      <p:ext uri="{BB962C8B-B14F-4D97-AF65-F5344CB8AC3E}">
        <p14:creationId xmlns:p14="http://schemas.microsoft.com/office/powerpoint/2010/main" val="2387013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left with stacked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120A4-4726-E141-87C9-20CD1E9F81C9}"/>
              </a:ext>
            </a:extLst>
          </p:cNvPr>
          <p:cNvSpPr>
            <a:spLocks noGrp="1"/>
          </p:cNvSpPr>
          <p:nvPr>
            <p:ph type="title"/>
          </p:nvPr>
        </p:nvSpPr>
        <p:spPr>
          <a:xfrm>
            <a:off x="342900" y="457200"/>
            <a:ext cx="4241293" cy="5783324"/>
          </a:xfrm>
        </p:spPr>
        <p:txBody>
          <a:bodyPr anchor="ct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5F671D15-6CDF-1B40-B92B-0BF42BD1EBA7}"/>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B1A51A9E-0FFE-1F43-B7D2-E0095297D266}"/>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9AD7278B-69D6-554A-BA9D-C9BA4CEA5F7E}"/>
              </a:ext>
            </a:extLst>
          </p:cNvPr>
          <p:cNvSpPr>
            <a:spLocks noGrp="1"/>
          </p:cNvSpPr>
          <p:nvPr>
            <p:ph type="sldNum" sz="quarter" idx="12"/>
          </p:nvPr>
        </p:nvSpPr>
        <p:spPr/>
        <p:txBody>
          <a:bodyPr/>
          <a:lstStyle/>
          <a:p>
            <a:fld id="{B7E7695C-FCF1-4AA0-9B93-7941FED13DC4}" type="slidenum">
              <a:rPr lang="en-US" smtClean="0"/>
              <a:pPr/>
              <a:t>‹#›</a:t>
            </a:fld>
            <a:endParaRPr lang="en-US" dirty="0"/>
          </a:p>
        </p:txBody>
      </p:sp>
      <p:sp>
        <p:nvSpPr>
          <p:cNvPr id="8" name="Text Placeholder 3">
            <a:extLst>
              <a:ext uri="{FF2B5EF4-FFF2-40B4-BE49-F238E27FC236}">
                <a16:creationId xmlns:a16="http://schemas.microsoft.com/office/drawing/2014/main" id="{C7A7F717-A72F-5E4C-8A70-D28C47B985A8}"/>
              </a:ext>
            </a:extLst>
          </p:cNvPr>
          <p:cNvSpPr>
            <a:spLocks noGrp="1"/>
          </p:cNvSpPr>
          <p:nvPr>
            <p:ph type="body" sz="quarter" idx="33"/>
          </p:nvPr>
        </p:nvSpPr>
        <p:spPr>
          <a:xfrm>
            <a:off x="4739640" y="457200"/>
            <a:ext cx="7109459" cy="1847088"/>
          </a:xfrm>
          <a:solidFill>
            <a:schemeClr val="tx2"/>
          </a:solidFill>
        </p:spPr>
        <p:txBody>
          <a:bodyPr lIns="182880" tIns="182880" rIns="182880" bIns="182880" anchor="ctr"/>
          <a:lstStyle>
            <a:lvl1pPr>
              <a:defRPr>
                <a:solidFill>
                  <a:schemeClr val="bg1"/>
                </a:solidFill>
                <a:effectLst>
                  <a:outerShdw blurRad="38100" dist="12700" dir="2700000" algn="tl" rotWithShape="0">
                    <a:prstClr val="black">
                      <a:alpha val="10000"/>
                    </a:prstClr>
                  </a:outerShdw>
                </a:effectLst>
              </a:defRPr>
            </a:lvl1pPr>
            <a:lvl2pPr>
              <a:defRPr>
                <a:solidFill>
                  <a:schemeClr val="bg1"/>
                </a:solidFill>
                <a:effectLst>
                  <a:outerShdw blurRad="38100" dist="12700" dir="2700000" algn="tl" rotWithShape="0">
                    <a:prstClr val="black">
                      <a:alpha val="10000"/>
                    </a:prstClr>
                  </a:outerShdw>
                </a:effectLst>
              </a:defRPr>
            </a:lvl2pPr>
            <a:lvl3pPr>
              <a:defRPr>
                <a:solidFill>
                  <a:schemeClr val="bg1"/>
                </a:solidFill>
                <a:effectLst>
                  <a:outerShdw blurRad="38100" dist="12700" dir="2700000" algn="tl" rotWithShape="0">
                    <a:prstClr val="black">
                      <a:alpha val="10000"/>
                    </a:prstClr>
                  </a:outerShdw>
                </a:effectLst>
              </a:defRPr>
            </a:lvl3pPr>
            <a:lvl4pPr>
              <a:defRPr>
                <a:solidFill>
                  <a:schemeClr val="bg1"/>
                </a:solidFill>
                <a:effectLst>
                  <a:outerShdw blurRad="38100" dist="12700" dir="2700000" algn="tl" rotWithShape="0">
                    <a:prstClr val="black">
                      <a:alpha val="10000"/>
                    </a:prstClr>
                  </a:outerShdw>
                </a:effectLst>
              </a:defRPr>
            </a:lvl4pPr>
            <a:lvl5pPr>
              <a:defRPr>
                <a:solidFill>
                  <a:schemeClr val="bg1"/>
                </a:solidFill>
                <a:effectLst>
                  <a:outerShdw blurRad="38100" dist="12700" dir="2700000" algn="tl" rotWithShape="0">
                    <a:prstClr val="black">
                      <a:alpha val="10000"/>
                    </a:prstClr>
                  </a:outerShd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3">
            <a:extLst>
              <a:ext uri="{FF2B5EF4-FFF2-40B4-BE49-F238E27FC236}">
                <a16:creationId xmlns:a16="http://schemas.microsoft.com/office/drawing/2014/main" id="{25E05AAC-3FB1-134B-BF83-183E7A865D9C}"/>
              </a:ext>
            </a:extLst>
          </p:cNvPr>
          <p:cNvSpPr>
            <a:spLocks noGrp="1"/>
          </p:cNvSpPr>
          <p:nvPr>
            <p:ph type="body" sz="quarter" idx="34"/>
          </p:nvPr>
        </p:nvSpPr>
        <p:spPr>
          <a:xfrm>
            <a:off x="4739640" y="2425318"/>
            <a:ext cx="7109459" cy="1847088"/>
          </a:xfrm>
          <a:solidFill>
            <a:schemeClr val="tx2"/>
          </a:solidFill>
        </p:spPr>
        <p:txBody>
          <a:bodyPr lIns="182880" tIns="182880" rIns="182880" bIns="182880" anchor="ctr"/>
          <a:lstStyle>
            <a:lvl1pPr>
              <a:defRPr>
                <a:solidFill>
                  <a:schemeClr val="bg1"/>
                </a:solidFill>
                <a:effectLst>
                  <a:outerShdw blurRad="38100" dist="12700" dir="2700000" algn="tl" rotWithShape="0">
                    <a:prstClr val="black">
                      <a:alpha val="10000"/>
                    </a:prstClr>
                  </a:outerShdw>
                </a:effectLst>
              </a:defRPr>
            </a:lvl1pPr>
            <a:lvl2pPr>
              <a:defRPr>
                <a:solidFill>
                  <a:schemeClr val="bg1"/>
                </a:solidFill>
                <a:effectLst>
                  <a:outerShdw blurRad="38100" dist="12700" dir="2700000" algn="tl" rotWithShape="0">
                    <a:prstClr val="black">
                      <a:alpha val="10000"/>
                    </a:prstClr>
                  </a:outerShdw>
                </a:effectLst>
              </a:defRPr>
            </a:lvl2pPr>
            <a:lvl3pPr>
              <a:defRPr>
                <a:solidFill>
                  <a:schemeClr val="bg1"/>
                </a:solidFill>
                <a:effectLst>
                  <a:outerShdw blurRad="38100" dist="12700" dir="2700000" algn="tl" rotWithShape="0">
                    <a:prstClr val="black">
                      <a:alpha val="10000"/>
                    </a:prstClr>
                  </a:outerShdw>
                </a:effectLst>
              </a:defRPr>
            </a:lvl3pPr>
            <a:lvl4pPr>
              <a:defRPr>
                <a:solidFill>
                  <a:schemeClr val="bg1"/>
                </a:solidFill>
                <a:effectLst>
                  <a:outerShdw blurRad="38100" dist="12700" dir="2700000" algn="tl" rotWithShape="0">
                    <a:prstClr val="black">
                      <a:alpha val="10000"/>
                    </a:prstClr>
                  </a:outerShdw>
                </a:effectLst>
              </a:defRPr>
            </a:lvl4pPr>
            <a:lvl5pPr>
              <a:defRPr>
                <a:solidFill>
                  <a:schemeClr val="bg1"/>
                </a:solidFill>
                <a:effectLst>
                  <a:outerShdw blurRad="38100" dist="12700" dir="2700000" algn="tl" rotWithShape="0">
                    <a:prstClr val="black">
                      <a:alpha val="10000"/>
                    </a:prstClr>
                  </a:outerShd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a:extLst>
              <a:ext uri="{FF2B5EF4-FFF2-40B4-BE49-F238E27FC236}">
                <a16:creationId xmlns:a16="http://schemas.microsoft.com/office/drawing/2014/main" id="{E2724E14-62F8-8B4C-8106-830DD17A108C}"/>
              </a:ext>
            </a:extLst>
          </p:cNvPr>
          <p:cNvSpPr>
            <a:spLocks noGrp="1"/>
          </p:cNvSpPr>
          <p:nvPr>
            <p:ph type="body" sz="quarter" idx="35"/>
          </p:nvPr>
        </p:nvSpPr>
        <p:spPr>
          <a:xfrm>
            <a:off x="4739640" y="4393436"/>
            <a:ext cx="7109459" cy="1847088"/>
          </a:xfrm>
          <a:solidFill>
            <a:schemeClr val="tx2"/>
          </a:solidFill>
        </p:spPr>
        <p:txBody>
          <a:bodyPr lIns="182880" tIns="182880" rIns="182880" bIns="182880" anchor="ctr"/>
          <a:lstStyle>
            <a:lvl1pPr>
              <a:defRPr>
                <a:solidFill>
                  <a:schemeClr val="bg1"/>
                </a:solidFill>
                <a:effectLst>
                  <a:outerShdw blurRad="38100" dist="12700" dir="2700000" algn="tl" rotWithShape="0">
                    <a:prstClr val="black">
                      <a:alpha val="10000"/>
                    </a:prstClr>
                  </a:outerShdw>
                </a:effectLst>
              </a:defRPr>
            </a:lvl1pPr>
            <a:lvl2pPr>
              <a:defRPr>
                <a:solidFill>
                  <a:schemeClr val="bg1"/>
                </a:solidFill>
                <a:effectLst>
                  <a:outerShdw blurRad="38100" dist="12700" dir="2700000" algn="tl" rotWithShape="0">
                    <a:prstClr val="black">
                      <a:alpha val="10000"/>
                    </a:prstClr>
                  </a:outerShdw>
                </a:effectLst>
              </a:defRPr>
            </a:lvl2pPr>
            <a:lvl3pPr>
              <a:defRPr>
                <a:solidFill>
                  <a:schemeClr val="bg1"/>
                </a:solidFill>
                <a:effectLst>
                  <a:outerShdw blurRad="38100" dist="12700" dir="2700000" algn="tl" rotWithShape="0">
                    <a:prstClr val="black">
                      <a:alpha val="10000"/>
                    </a:prstClr>
                  </a:outerShdw>
                </a:effectLst>
              </a:defRPr>
            </a:lvl3pPr>
            <a:lvl4pPr>
              <a:defRPr>
                <a:solidFill>
                  <a:schemeClr val="bg1"/>
                </a:solidFill>
                <a:effectLst>
                  <a:outerShdw blurRad="38100" dist="12700" dir="2700000" algn="tl" rotWithShape="0">
                    <a:prstClr val="black">
                      <a:alpha val="10000"/>
                    </a:prstClr>
                  </a:outerShdw>
                </a:effectLst>
              </a:defRPr>
            </a:lvl4pPr>
            <a:lvl5pPr>
              <a:defRPr>
                <a:solidFill>
                  <a:schemeClr val="bg1"/>
                </a:solidFill>
                <a:effectLst>
                  <a:outerShdw blurRad="38100" dist="12700" dir="2700000" algn="tl" rotWithShape="0">
                    <a:prstClr val="black">
                      <a:alpha val="10000"/>
                    </a:prstClr>
                  </a:outerShd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708176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with 3 blue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BF1F1-947D-5B40-83A0-7419C6D8F1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3F6C9E-F9EC-104A-9220-B38456ECE940}"/>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C49CE672-30E4-5C46-8C47-A901BF9C8BCC}"/>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4E8D342-FA01-C14B-AEDC-8DC2761AAEA8}"/>
              </a:ext>
            </a:extLst>
          </p:cNvPr>
          <p:cNvSpPr>
            <a:spLocks noGrp="1"/>
          </p:cNvSpPr>
          <p:nvPr>
            <p:ph type="sldNum" sz="quarter" idx="12"/>
          </p:nvPr>
        </p:nvSpPr>
        <p:spPr/>
        <p:txBody>
          <a:bodyPr/>
          <a:lstStyle/>
          <a:p>
            <a:fld id="{B7E7695C-FCF1-4AA0-9B93-7941FED13DC4}" type="slidenum">
              <a:rPr lang="en-US" smtClean="0"/>
              <a:pPr/>
              <a:t>‹#›</a:t>
            </a:fld>
            <a:endParaRPr lang="en-US" dirty="0"/>
          </a:p>
        </p:txBody>
      </p:sp>
      <p:sp>
        <p:nvSpPr>
          <p:cNvPr id="11" name="Text Placeholder 3">
            <a:extLst>
              <a:ext uri="{FF2B5EF4-FFF2-40B4-BE49-F238E27FC236}">
                <a16:creationId xmlns:a16="http://schemas.microsoft.com/office/drawing/2014/main" id="{ECAB8F4D-5769-6646-ACF7-EFBDB6D0C32E}"/>
              </a:ext>
            </a:extLst>
          </p:cNvPr>
          <p:cNvSpPr>
            <a:spLocks noGrp="1"/>
          </p:cNvSpPr>
          <p:nvPr>
            <p:ph type="body" sz="quarter" idx="25"/>
          </p:nvPr>
        </p:nvSpPr>
        <p:spPr>
          <a:xfrm>
            <a:off x="457200" y="1214259"/>
            <a:ext cx="3649218" cy="4722113"/>
          </a:xfrm>
          <a:solidFill>
            <a:schemeClr val="tx2"/>
          </a:solidFill>
        </p:spPr>
        <p:txBody>
          <a:bodyPr lIns="182880" tIns="182880" rIns="182880" bIns="182880"/>
          <a:lstStyle>
            <a:lvl1pPr>
              <a:defRPr>
                <a:solidFill>
                  <a:schemeClr val="bg1"/>
                </a:solidFill>
                <a:effectLst>
                  <a:outerShdw blurRad="38100" dist="12700" dir="2700000" algn="tl" rotWithShape="0">
                    <a:prstClr val="black">
                      <a:alpha val="10000"/>
                    </a:prstClr>
                  </a:outerShdw>
                </a:effectLst>
              </a:defRPr>
            </a:lvl1pPr>
            <a:lvl2pPr>
              <a:defRPr>
                <a:solidFill>
                  <a:schemeClr val="bg1"/>
                </a:solidFill>
                <a:effectLst>
                  <a:outerShdw blurRad="38100" dist="12700" dir="2700000" algn="tl" rotWithShape="0">
                    <a:prstClr val="black">
                      <a:alpha val="10000"/>
                    </a:prstClr>
                  </a:outerShdw>
                </a:effectLst>
              </a:defRPr>
            </a:lvl2pPr>
            <a:lvl3pPr>
              <a:defRPr>
                <a:solidFill>
                  <a:schemeClr val="bg1"/>
                </a:solidFill>
                <a:effectLst>
                  <a:outerShdw blurRad="38100" dist="12700" dir="2700000" algn="tl" rotWithShape="0">
                    <a:prstClr val="black">
                      <a:alpha val="10000"/>
                    </a:prstClr>
                  </a:outerShdw>
                </a:effectLst>
              </a:defRPr>
            </a:lvl3pPr>
            <a:lvl4pPr>
              <a:defRPr>
                <a:solidFill>
                  <a:schemeClr val="bg1"/>
                </a:solidFill>
                <a:effectLst>
                  <a:outerShdw blurRad="38100" dist="12700" dir="2700000" algn="tl" rotWithShape="0">
                    <a:prstClr val="black">
                      <a:alpha val="10000"/>
                    </a:prstClr>
                  </a:outerShdw>
                </a:effectLst>
              </a:defRPr>
            </a:lvl4pPr>
            <a:lvl5pPr>
              <a:defRPr>
                <a:solidFill>
                  <a:schemeClr val="bg1"/>
                </a:solidFill>
                <a:effectLst>
                  <a:outerShdw blurRad="38100" dist="12700" dir="2700000" algn="tl" rotWithShape="0">
                    <a:prstClr val="black">
                      <a:alpha val="10000"/>
                    </a:prstClr>
                  </a:outerShd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3">
            <a:extLst>
              <a:ext uri="{FF2B5EF4-FFF2-40B4-BE49-F238E27FC236}">
                <a16:creationId xmlns:a16="http://schemas.microsoft.com/office/drawing/2014/main" id="{AA1BAC56-BBDC-AC48-A52D-ED2BA151C4C4}"/>
              </a:ext>
            </a:extLst>
          </p:cNvPr>
          <p:cNvSpPr>
            <a:spLocks noGrp="1"/>
          </p:cNvSpPr>
          <p:nvPr>
            <p:ph type="body" sz="quarter" idx="26"/>
          </p:nvPr>
        </p:nvSpPr>
        <p:spPr>
          <a:xfrm>
            <a:off x="4271772" y="1214259"/>
            <a:ext cx="3648456" cy="4722113"/>
          </a:xfrm>
          <a:solidFill>
            <a:schemeClr val="tx2"/>
          </a:solidFill>
        </p:spPr>
        <p:txBody>
          <a:bodyPr lIns="182880" tIns="182880" rIns="182880" bIns="182880"/>
          <a:lstStyle>
            <a:lvl1pPr>
              <a:defRPr>
                <a:solidFill>
                  <a:schemeClr val="bg1"/>
                </a:solidFill>
                <a:effectLst>
                  <a:outerShdw blurRad="38100" dist="12700" dir="2700000" algn="tl" rotWithShape="0">
                    <a:prstClr val="black">
                      <a:alpha val="10000"/>
                    </a:prstClr>
                  </a:outerShdw>
                </a:effectLst>
              </a:defRPr>
            </a:lvl1pPr>
            <a:lvl2pPr>
              <a:defRPr>
                <a:solidFill>
                  <a:schemeClr val="bg1"/>
                </a:solidFill>
                <a:effectLst>
                  <a:outerShdw blurRad="38100" dist="12700" dir="2700000" algn="tl" rotWithShape="0">
                    <a:prstClr val="black">
                      <a:alpha val="10000"/>
                    </a:prstClr>
                  </a:outerShdw>
                </a:effectLst>
              </a:defRPr>
            </a:lvl2pPr>
            <a:lvl3pPr>
              <a:defRPr>
                <a:solidFill>
                  <a:schemeClr val="bg1"/>
                </a:solidFill>
                <a:effectLst>
                  <a:outerShdw blurRad="38100" dist="12700" dir="2700000" algn="tl" rotWithShape="0">
                    <a:prstClr val="black">
                      <a:alpha val="10000"/>
                    </a:prstClr>
                  </a:outerShdw>
                </a:effectLst>
              </a:defRPr>
            </a:lvl3pPr>
            <a:lvl4pPr>
              <a:defRPr>
                <a:solidFill>
                  <a:schemeClr val="bg1"/>
                </a:solidFill>
                <a:effectLst>
                  <a:outerShdw blurRad="38100" dist="12700" dir="2700000" algn="tl" rotWithShape="0">
                    <a:prstClr val="black">
                      <a:alpha val="10000"/>
                    </a:prstClr>
                  </a:outerShdw>
                </a:effectLst>
              </a:defRPr>
            </a:lvl4pPr>
            <a:lvl5pPr>
              <a:defRPr>
                <a:solidFill>
                  <a:schemeClr val="bg1"/>
                </a:solidFill>
                <a:effectLst>
                  <a:outerShdw blurRad="38100" dist="12700" dir="2700000" algn="tl" rotWithShape="0">
                    <a:prstClr val="black">
                      <a:alpha val="10000"/>
                    </a:prstClr>
                  </a:outerShd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3">
            <a:extLst>
              <a:ext uri="{FF2B5EF4-FFF2-40B4-BE49-F238E27FC236}">
                <a16:creationId xmlns:a16="http://schemas.microsoft.com/office/drawing/2014/main" id="{59D37046-0572-0449-B705-3EED467B4B82}"/>
              </a:ext>
            </a:extLst>
          </p:cNvPr>
          <p:cNvSpPr>
            <a:spLocks noGrp="1"/>
          </p:cNvSpPr>
          <p:nvPr>
            <p:ph type="body" sz="quarter" idx="27"/>
          </p:nvPr>
        </p:nvSpPr>
        <p:spPr>
          <a:xfrm>
            <a:off x="8085582" y="1214259"/>
            <a:ext cx="3649218" cy="4722113"/>
          </a:xfrm>
          <a:solidFill>
            <a:schemeClr val="tx2"/>
          </a:solidFill>
        </p:spPr>
        <p:txBody>
          <a:bodyPr lIns="182880" tIns="182880" rIns="182880" bIns="182880"/>
          <a:lstStyle>
            <a:lvl1pPr>
              <a:defRPr>
                <a:solidFill>
                  <a:schemeClr val="bg1"/>
                </a:solidFill>
                <a:effectLst>
                  <a:outerShdw blurRad="38100" dist="12700" dir="2700000" algn="tl" rotWithShape="0">
                    <a:prstClr val="black">
                      <a:alpha val="10000"/>
                    </a:prstClr>
                  </a:outerShdw>
                </a:effectLst>
              </a:defRPr>
            </a:lvl1pPr>
            <a:lvl2pPr>
              <a:defRPr>
                <a:solidFill>
                  <a:schemeClr val="bg1"/>
                </a:solidFill>
                <a:effectLst>
                  <a:outerShdw blurRad="38100" dist="12700" dir="2700000" algn="tl" rotWithShape="0">
                    <a:prstClr val="black">
                      <a:alpha val="10000"/>
                    </a:prstClr>
                  </a:outerShdw>
                </a:effectLst>
              </a:defRPr>
            </a:lvl2pPr>
            <a:lvl3pPr>
              <a:defRPr>
                <a:solidFill>
                  <a:schemeClr val="bg1"/>
                </a:solidFill>
                <a:effectLst>
                  <a:outerShdw blurRad="38100" dist="12700" dir="2700000" algn="tl" rotWithShape="0">
                    <a:prstClr val="black">
                      <a:alpha val="10000"/>
                    </a:prstClr>
                  </a:outerShdw>
                </a:effectLst>
              </a:defRPr>
            </a:lvl3pPr>
            <a:lvl4pPr>
              <a:defRPr>
                <a:solidFill>
                  <a:schemeClr val="bg1"/>
                </a:solidFill>
                <a:effectLst>
                  <a:outerShdw blurRad="38100" dist="12700" dir="2700000" algn="tl" rotWithShape="0">
                    <a:prstClr val="black">
                      <a:alpha val="10000"/>
                    </a:prstClr>
                  </a:outerShdw>
                </a:effectLst>
              </a:defRPr>
            </a:lvl4pPr>
            <a:lvl5pPr>
              <a:defRPr>
                <a:solidFill>
                  <a:schemeClr val="bg1"/>
                </a:solidFill>
                <a:effectLst>
                  <a:outerShdw blurRad="38100" dist="12700" dir="2700000" algn="tl" rotWithShape="0">
                    <a:prstClr val="black">
                      <a:alpha val="10000"/>
                    </a:prstClr>
                  </a:outerShd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a:extLst>
              <a:ext uri="{FF2B5EF4-FFF2-40B4-BE49-F238E27FC236}">
                <a16:creationId xmlns:a16="http://schemas.microsoft.com/office/drawing/2014/main" id="{7118C5A0-B8E4-794D-8C6C-AE2AE712372A}"/>
              </a:ext>
            </a:extLst>
          </p:cNvPr>
          <p:cNvSpPr>
            <a:spLocks noGrp="1"/>
          </p:cNvSpPr>
          <p:nvPr>
            <p:ph type="body" sz="quarter" idx="28" hasCustomPrompt="1"/>
          </p:nvPr>
        </p:nvSpPr>
        <p:spPr>
          <a:xfrm>
            <a:off x="344424" y="6091779"/>
            <a:ext cx="11503152"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Tree>
    <p:extLst>
      <p:ext uri="{BB962C8B-B14F-4D97-AF65-F5344CB8AC3E}">
        <p14:creationId xmlns:p14="http://schemas.microsoft.com/office/powerpoint/2010/main" val="33057104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with 4 blue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43E6B-E3ED-5D43-A86A-AC4AFF52C9F8}"/>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89FD4F94-6B03-9241-8B78-13DD7F378230}"/>
              </a:ext>
            </a:extLst>
          </p:cNvPr>
          <p:cNvSpPr>
            <a:spLocks noGrp="1"/>
          </p:cNvSpPr>
          <p:nvPr>
            <p:ph type="dt" sz="half" idx="10"/>
          </p:nvPr>
        </p:nvSpPr>
        <p:spPr/>
        <p:txBody>
          <a:bodyPr/>
          <a:lstStyle/>
          <a:p>
            <a:fld id="{B8FDEC20-994C-6747-9500-226CB0C467E7}" type="datetime4">
              <a:rPr lang="en-US" smtClean="0"/>
              <a:t>June 9, 2023</a:t>
            </a:fld>
            <a:endParaRPr lang="en-US" dirty="0"/>
          </a:p>
        </p:txBody>
      </p:sp>
      <p:sp>
        <p:nvSpPr>
          <p:cNvPr id="4" name="Footer Placeholder 3">
            <a:extLst>
              <a:ext uri="{FF2B5EF4-FFF2-40B4-BE49-F238E27FC236}">
                <a16:creationId xmlns:a16="http://schemas.microsoft.com/office/drawing/2014/main" id="{860464A4-7B2A-2541-8383-CE99C8B9C9A1}"/>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1AF1170-CFA6-6546-B755-621F7D02B1E5}"/>
              </a:ext>
            </a:extLst>
          </p:cNvPr>
          <p:cNvSpPr>
            <a:spLocks noGrp="1"/>
          </p:cNvSpPr>
          <p:nvPr>
            <p:ph type="sldNum" sz="quarter" idx="12"/>
          </p:nvPr>
        </p:nvSpPr>
        <p:spPr/>
        <p:txBody>
          <a:bodyPr/>
          <a:lstStyle/>
          <a:p>
            <a:fld id="{B7E7695C-FCF1-4AA0-9B93-7941FED13DC4}" type="slidenum">
              <a:rPr lang="en-US" smtClean="0"/>
              <a:pPr/>
              <a:t>‹#›</a:t>
            </a:fld>
            <a:endParaRPr lang="en-US" dirty="0"/>
          </a:p>
        </p:txBody>
      </p:sp>
      <p:sp>
        <p:nvSpPr>
          <p:cNvPr id="6" name="Text Placeholder 3">
            <a:extLst>
              <a:ext uri="{FF2B5EF4-FFF2-40B4-BE49-F238E27FC236}">
                <a16:creationId xmlns:a16="http://schemas.microsoft.com/office/drawing/2014/main" id="{A5CD54CB-756C-7E4E-8D62-726E9DEE685B}"/>
              </a:ext>
            </a:extLst>
          </p:cNvPr>
          <p:cNvSpPr>
            <a:spLocks noGrp="1"/>
          </p:cNvSpPr>
          <p:nvPr>
            <p:ph type="body" sz="quarter" idx="25"/>
          </p:nvPr>
        </p:nvSpPr>
        <p:spPr>
          <a:xfrm>
            <a:off x="457200" y="1214229"/>
            <a:ext cx="2679192" cy="4726524"/>
          </a:xfrm>
          <a:solidFill>
            <a:schemeClr val="tx2"/>
          </a:solidFill>
        </p:spPr>
        <p:txBody>
          <a:bodyPr lIns="182880" tIns="182880" rIns="182880" bIns="182880"/>
          <a:lstStyle>
            <a:lvl1pPr>
              <a:defRPr>
                <a:solidFill>
                  <a:schemeClr val="bg1"/>
                </a:solidFill>
                <a:effectLst>
                  <a:outerShdw blurRad="38100" dist="12700" dir="2700000" algn="tl" rotWithShape="0">
                    <a:prstClr val="black">
                      <a:alpha val="10000"/>
                    </a:prstClr>
                  </a:outerShdw>
                </a:effectLst>
              </a:defRPr>
            </a:lvl1pPr>
            <a:lvl2pPr>
              <a:defRPr>
                <a:solidFill>
                  <a:schemeClr val="bg1"/>
                </a:solidFill>
                <a:effectLst>
                  <a:outerShdw blurRad="38100" dist="12700" dir="2700000" algn="tl" rotWithShape="0">
                    <a:prstClr val="black">
                      <a:alpha val="10000"/>
                    </a:prstClr>
                  </a:outerShdw>
                </a:effectLst>
              </a:defRPr>
            </a:lvl2pPr>
            <a:lvl3pPr>
              <a:defRPr>
                <a:solidFill>
                  <a:schemeClr val="bg1"/>
                </a:solidFill>
                <a:effectLst>
                  <a:outerShdw blurRad="38100" dist="12700" dir="2700000" algn="tl" rotWithShape="0">
                    <a:prstClr val="black">
                      <a:alpha val="10000"/>
                    </a:prstClr>
                  </a:outerShdw>
                </a:effectLst>
              </a:defRPr>
            </a:lvl3pPr>
            <a:lvl4pPr>
              <a:defRPr>
                <a:solidFill>
                  <a:schemeClr val="bg1"/>
                </a:solidFill>
                <a:effectLst>
                  <a:outerShdw blurRad="38100" dist="12700" dir="2700000" algn="tl" rotWithShape="0">
                    <a:prstClr val="black">
                      <a:alpha val="10000"/>
                    </a:prstClr>
                  </a:outerShdw>
                </a:effectLst>
              </a:defRPr>
            </a:lvl4pPr>
            <a:lvl5pPr>
              <a:defRPr>
                <a:solidFill>
                  <a:schemeClr val="bg1"/>
                </a:solidFill>
                <a:effectLst>
                  <a:outerShdw blurRad="38100" dist="12700" dir="2700000" algn="tl" rotWithShape="0">
                    <a:prstClr val="black">
                      <a:alpha val="10000"/>
                    </a:prstClr>
                  </a:outerShd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a:extLst>
              <a:ext uri="{FF2B5EF4-FFF2-40B4-BE49-F238E27FC236}">
                <a16:creationId xmlns:a16="http://schemas.microsoft.com/office/drawing/2014/main" id="{BBE40617-E663-EE43-8C1E-49FE522FC172}"/>
              </a:ext>
            </a:extLst>
          </p:cNvPr>
          <p:cNvSpPr>
            <a:spLocks noGrp="1"/>
          </p:cNvSpPr>
          <p:nvPr>
            <p:ph type="body" sz="quarter" idx="26"/>
          </p:nvPr>
        </p:nvSpPr>
        <p:spPr>
          <a:xfrm>
            <a:off x="3323336" y="1209849"/>
            <a:ext cx="2679192" cy="4726524"/>
          </a:xfrm>
          <a:solidFill>
            <a:schemeClr val="tx2"/>
          </a:solidFill>
        </p:spPr>
        <p:txBody>
          <a:bodyPr lIns="182880" tIns="182880" rIns="182880" bIns="182880"/>
          <a:lstStyle>
            <a:lvl1pPr>
              <a:defRPr>
                <a:solidFill>
                  <a:schemeClr val="bg1"/>
                </a:solidFill>
                <a:effectLst>
                  <a:outerShdw blurRad="38100" dist="12700" dir="2700000" algn="tl" rotWithShape="0">
                    <a:prstClr val="black">
                      <a:alpha val="10000"/>
                    </a:prstClr>
                  </a:outerShdw>
                </a:effectLst>
              </a:defRPr>
            </a:lvl1pPr>
            <a:lvl2pPr>
              <a:defRPr>
                <a:solidFill>
                  <a:schemeClr val="bg1"/>
                </a:solidFill>
                <a:effectLst>
                  <a:outerShdw blurRad="38100" dist="12700" dir="2700000" algn="tl" rotWithShape="0">
                    <a:prstClr val="black">
                      <a:alpha val="10000"/>
                    </a:prstClr>
                  </a:outerShdw>
                </a:effectLst>
              </a:defRPr>
            </a:lvl2pPr>
            <a:lvl3pPr>
              <a:defRPr>
                <a:solidFill>
                  <a:schemeClr val="bg1"/>
                </a:solidFill>
                <a:effectLst>
                  <a:outerShdw blurRad="38100" dist="12700" dir="2700000" algn="tl" rotWithShape="0">
                    <a:prstClr val="black">
                      <a:alpha val="10000"/>
                    </a:prstClr>
                  </a:outerShdw>
                </a:effectLst>
              </a:defRPr>
            </a:lvl3pPr>
            <a:lvl4pPr>
              <a:defRPr>
                <a:solidFill>
                  <a:schemeClr val="bg1"/>
                </a:solidFill>
                <a:effectLst>
                  <a:outerShdw blurRad="38100" dist="12700" dir="2700000" algn="tl" rotWithShape="0">
                    <a:prstClr val="black">
                      <a:alpha val="10000"/>
                    </a:prstClr>
                  </a:outerShdw>
                </a:effectLst>
              </a:defRPr>
            </a:lvl4pPr>
            <a:lvl5pPr>
              <a:defRPr>
                <a:solidFill>
                  <a:schemeClr val="bg1"/>
                </a:solidFill>
                <a:effectLst>
                  <a:outerShdw blurRad="38100" dist="12700" dir="2700000" algn="tl" rotWithShape="0">
                    <a:prstClr val="black">
                      <a:alpha val="10000"/>
                    </a:prstClr>
                  </a:outerShd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3">
            <a:extLst>
              <a:ext uri="{FF2B5EF4-FFF2-40B4-BE49-F238E27FC236}">
                <a16:creationId xmlns:a16="http://schemas.microsoft.com/office/drawing/2014/main" id="{CCDAA079-A56A-9C4C-96DC-6CDBB949BE36}"/>
              </a:ext>
            </a:extLst>
          </p:cNvPr>
          <p:cNvSpPr>
            <a:spLocks noGrp="1"/>
          </p:cNvSpPr>
          <p:nvPr>
            <p:ph type="body" sz="quarter" idx="27"/>
          </p:nvPr>
        </p:nvSpPr>
        <p:spPr>
          <a:xfrm>
            <a:off x="6189472" y="1209849"/>
            <a:ext cx="2679192" cy="4726524"/>
          </a:xfrm>
          <a:solidFill>
            <a:schemeClr val="tx2"/>
          </a:solidFill>
        </p:spPr>
        <p:txBody>
          <a:bodyPr lIns="182880" tIns="182880" rIns="182880" bIns="182880"/>
          <a:lstStyle>
            <a:lvl1pPr>
              <a:defRPr>
                <a:solidFill>
                  <a:schemeClr val="bg1"/>
                </a:solidFill>
                <a:effectLst>
                  <a:outerShdw blurRad="38100" dist="12700" dir="2700000" algn="tl" rotWithShape="0">
                    <a:prstClr val="black">
                      <a:alpha val="10000"/>
                    </a:prstClr>
                  </a:outerShdw>
                </a:effectLst>
              </a:defRPr>
            </a:lvl1pPr>
            <a:lvl2pPr>
              <a:defRPr>
                <a:solidFill>
                  <a:schemeClr val="bg1"/>
                </a:solidFill>
                <a:effectLst>
                  <a:outerShdw blurRad="38100" dist="12700" dir="2700000" algn="tl" rotWithShape="0">
                    <a:prstClr val="black">
                      <a:alpha val="10000"/>
                    </a:prstClr>
                  </a:outerShdw>
                </a:effectLst>
              </a:defRPr>
            </a:lvl2pPr>
            <a:lvl3pPr>
              <a:defRPr>
                <a:solidFill>
                  <a:schemeClr val="bg1"/>
                </a:solidFill>
                <a:effectLst>
                  <a:outerShdw blurRad="38100" dist="12700" dir="2700000" algn="tl" rotWithShape="0">
                    <a:prstClr val="black">
                      <a:alpha val="10000"/>
                    </a:prstClr>
                  </a:outerShdw>
                </a:effectLst>
              </a:defRPr>
            </a:lvl3pPr>
            <a:lvl4pPr>
              <a:defRPr>
                <a:solidFill>
                  <a:schemeClr val="bg1"/>
                </a:solidFill>
                <a:effectLst>
                  <a:outerShdw blurRad="38100" dist="12700" dir="2700000" algn="tl" rotWithShape="0">
                    <a:prstClr val="black">
                      <a:alpha val="10000"/>
                    </a:prstClr>
                  </a:outerShdw>
                </a:effectLst>
              </a:defRPr>
            </a:lvl4pPr>
            <a:lvl5pPr>
              <a:defRPr>
                <a:solidFill>
                  <a:schemeClr val="bg1"/>
                </a:solidFill>
                <a:effectLst>
                  <a:outerShdw blurRad="38100" dist="12700" dir="2700000" algn="tl" rotWithShape="0">
                    <a:prstClr val="black">
                      <a:alpha val="10000"/>
                    </a:prstClr>
                  </a:outerShd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3">
            <a:extLst>
              <a:ext uri="{FF2B5EF4-FFF2-40B4-BE49-F238E27FC236}">
                <a16:creationId xmlns:a16="http://schemas.microsoft.com/office/drawing/2014/main" id="{FD81C31C-53AA-E14C-9FE3-DB8E25D33D5E}"/>
              </a:ext>
            </a:extLst>
          </p:cNvPr>
          <p:cNvSpPr>
            <a:spLocks noGrp="1"/>
          </p:cNvSpPr>
          <p:nvPr>
            <p:ph type="body" sz="quarter" idx="28"/>
          </p:nvPr>
        </p:nvSpPr>
        <p:spPr>
          <a:xfrm>
            <a:off x="9055608" y="1209849"/>
            <a:ext cx="2679192" cy="4726524"/>
          </a:xfrm>
          <a:solidFill>
            <a:schemeClr val="tx2"/>
          </a:solidFill>
        </p:spPr>
        <p:txBody>
          <a:bodyPr lIns="182880" tIns="182880" rIns="182880" bIns="182880"/>
          <a:lstStyle>
            <a:lvl1pPr>
              <a:defRPr>
                <a:solidFill>
                  <a:schemeClr val="bg1"/>
                </a:solidFill>
                <a:effectLst>
                  <a:outerShdw blurRad="38100" dist="12700" dir="2700000" algn="tl" rotWithShape="0">
                    <a:prstClr val="black">
                      <a:alpha val="10000"/>
                    </a:prstClr>
                  </a:outerShdw>
                </a:effectLst>
              </a:defRPr>
            </a:lvl1pPr>
            <a:lvl2pPr>
              <a:defRPr>
                <a:solidFill>
                  <a:schemeClr val="bg1"/>
                </a:solidFill>
                <a:effectLst>
                  <a:outerShdw blurRad="38100" dist="12700" dir="2700000" algn="tl" rotWithShape="0">
                    <a:prstClr val="black">
                      <a:alpha val="10000"/>
                    </a:prstClr>
                  </a:outerShdw>
                </a:effectLst>
              </a:defRPr>
            </a:lvl2pPr>
            <a:lvl3pPr>
              <a:defRPr>
                <a:solidFill>
                  <a:schemeClr val="bg1"/>
                </a:solidFill>
                <a:effectLst>
                  <a:outerShdw blurRad="38100" dist="12700" dir="2700000" algn="tl" rotWithShape="0">
                    <a:prstClr val="black">
                      <a:alpha val="10000"/>
                    </a:prstClr>
                  </a:outerShdw>
                </a:effectLst>
              </a:defRPr>
            </a:lvl3pPr>
            <a:lvl4pPr>
              <a:defRPr>
                <a:solidFill>
                  <a:schemeClr val="bg1"/>
                </a:solidFill>
                <a:effectLst>
                  <a:outerShdw blurRad="38100" dist="12700" dir="2700000" algn="tl" rotWithShape="0">
                    <a:prstClr val="black">
                      <a:alpha val="10000"/>
                    </a:prstClr>
                  </a:outerShdw>
                </a:effectLst>
              </a:defRPr>
            </a:lvl4pPr>
            <a:lvl5pPr>
              <a:defRPr>
                <a:solidFill>
                  <a:schemeClr val="bg1"/>
                </a:solidFill>
                <a:effectLst>
                  <a:outerShdw blurRad="38100" dist="12700" dir="2700000" algn="tl" rotWithShape="0">
                    <a:prstClr val="black">
                      <a:alpha val="10000"/>
                    </a:prstClr>
                  </a:outerShd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a:extLst>
              <a:ext uri="{FF2B5EF4-FFF2-40B4-BE49-F238E27FC236}">
                <a16:creationId xmlns:a16="http://schemas.microsoft.com/office/drawing/2014/main" id="{4BC55B37-10A2-2241-96B3-CA848D5A0670}"/>
              </a:ext>
            </a:extLst>
          </p:cNvPr>
          <p:cNvSpPr>
            <a:spLocks noGrp="1"/>
          </p:cNvSpPr>
          <p:nvPr>
            <p:ph type="body" sz="quarter" idx="29" hasCustomPrompt="1"/>
          </p:nvPr>
        </p:nvSpPr>
        <p:spPr>
          <a:xfrm>
            <a:off x="344424" y="6091779"/>
            <a:ext cx="11503152" cy="232821"/>
          </a:xfrm>
          <a:prstGeom prst="rect">
            <a:avLst/>
          </a:prstGeom>
        </p:spPr>
        <p:txBody>
          <a:bodyPr wrap="square" anchor="b">
            <a:spAutoFit/>
          </a:bodyPr>
          <a:lstStyle>
            <a:lvl1pPr marL="0" indent="0">
              <a:lnSpc>
                <a:spcPct val="110000"/>
              </a:lnSpc>
              <a:buNone/>
              <a:defRPr sz="900" b="0" spc="0" baseline="0">
                <a:solidFill>
                  <a:schemeClr val="tx1">
                    <a:lumMod val="50000"/>
                    <a:lumOff val="50000"/>
                  </a:schemeClr>
                </a:solidFill>
              </a:defRPr>
            </a:lvl1pPr>
          </a:lstStyle>
          <a:p>
            <a:pPr lvl="0"/>
            <a:r>
              <a:rPr lang="en-US" dirty="0"/>
              <a:t>Click to add footnote</a:t>
            </a:r>
          </a:p>
        </p:txBody>
      </p:sp>
    </p:spTree>
    <p:extLst>
      <p:ext uri="{BB962C8B-B14F-4D97-AF65-F5344CB8AC3E}">
        <p14:creationId xmlns:p14="http://schemas.microsoft.com/office/powerpoint/2010/main" val="24234810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eck Brand Portal for more layouts">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750243C-9817-AF44-B94F-D54532DC23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95953" y="4922293"/>
            <a:ext cx="213355" cy="45719"/>
          </a:xfrm>
          <a:prstGeom prst="rect">
            <a:avLst/>
          </a:prstGeom>
          <a:effectLst>
            <a:outerShdw blurRad="38100" dist="12700" dir="5400000" algn="t" rotWithShape="0">
              <a:prstClr val="black">
                <a:alpha val="10000"/>
              </a:prstClr>
            </a:outerShdw>
          </a:effectLst>
        </p:spPr>
      </p:pic>
      <p:sp>
        <p:nvSpPr>
          <p:cNvPr id="19" name="Title 1">
            <a:extLst>
              <a:ext uri="{FF2B5EF4-FFF2-40B4-BE49-F238E27FC236}">
                <a16:creationId xmlns:a16="http://schemas.microsoft.com/office/drawing/2014/main" id="{CB368E05-BBF5-6C4E-87B9-8A9A339DF90A}"/>
              </a:ext>
            </a:extLst>
          </p:cNvPr>
          <p:cNvSpPr txBox="1">
            <a:spLocks/>
          </p:cNvSpPr>
          <p:nvPr userDrawn="1"/>
        </p:nvSpPr>
        <p:spPr>
          <a:xfrm>
            <a:off x="342900" y="461528"/>
            <a:ext cx="11506200" cy="590931"/>
          </a:xfrm>
          <a:prstGeom prst="rect">
            <a:avLst/>
          </a:prstGeom>
        </p:spPr>
        <p:txBody>
          <a:bodyPr vert="horz"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Extra layouts available</a:t>
            </a:r>
          </a:p>
        </p:txBody>
      </p:sp>
      <p:sp>
        <p:nvSpPr>
          <p:cNvPr id="24" name="Master Date">
            <a:extLst>
              <a:ext uri="{FF2B5EF4-FFF2-40B4-BE49-F238E27FC236}">
                <a16:creationId xmlns:a16="http://schemas.microsoft.com/office/drawing/2014/main" id="{48E352A0-69FA-0843-BABC-4A71AFA51D31}"/>
              </a:ext>
            </a:extLst>
          </p:cNvPr>
          <p:cNvSpPr>
            <a:spLocks noGrp="1"/>
          </p:cNvSpPr>
          <p:nvPr>
            <p:ph type="dt" sz="half" idx="2"/>
          </p:nvPr>
        </p:nvSpPr>
        <p:spPr>
          <a:xfrm>
            <a:off x="342900" y="6404030"/>
            <a:ext cx="1710155" cy="230832"/>
          </a:xfrm>
          <a:prstGeom prst="rect">
            <a:avLst/>
          </a:prstGeom>
        </p:spPr>
        <p:txBody>
          <a:bodyPr vert="horz" lIns="91440" tIns="45720" rIns="91440" bIns="45720" rtlCol="0" anchor="ctr">
            <a:spAutoFit/>
          </a:bodyPr>
          <a:lstStyle>
            <a:lvl1pPr algn="l">
              <a:defRPr sz="900" b="1" i="0">
                <a:solidFill>
                  <a:srgbClr val="000000"/>
                </a:solidFill>
                <a:latin typeface="Arial" panose="020B0604020202020204" pitchFamily="34" charset="0"/>
                <a:cs typeface="Arial" panose="020B0604020202020204" pitchFamily="34" charset="0"/>
              </a:defRPr>
            </a:lvl1pPr>
          </a:lstStyle>
          <a:p>
            <a:fld id="{B8FDEC20-994C-6747-9500-226CB0C467E7}" type="datetime4">
              <a:rPr lang="en-US" smtClean="0"/>
              <a:t>June 9, 2023</a:t>
            </a:fld>
            <a:endParaRPr lang="en-US" dirty="0"/>
          </a:p>
        </p:txBody>
      </p:sp>
      <p:sp>
        <p:nvSpPr>
          <p:cNvPr id="25" name="Master Footer">
            <a:extLst>
              <a:ext uri="{FF2B5EF4-FFF2-40B4-BE49-F238E27FC236}">
                <a16:creationId xmlns:a16="http://schemas.microsoft.com/office/drawing/2014/main" id="{98CBD28E-030C-934A-8FFF-BEE447805F9E}"/>
              </a:ext>
            </a:extLst>
          </p:cNvPr>
          <p:cNvSpPr>
            <a:spLocks noGrp="1"/>
          </p:cNvSpPr>
          <p:nvPr>
            <p:ph type="ftr" sz="quarter" idx="3"/>
          </p:nvPr>
        </p:nvSpPr>
        <p:spPr>
          <a:xfrm>
            <a:off x="3326675" y="6404030"/>
            <a:ext cx="5538650" cy="230832"/>
          </a:xfrm>
          <a:prstGeom prst="rect">
            <a:avLst/>
          </a:prstGeom>
        </p:spPr>
        <p:txBody>
          <a:bodyPr vert="horz" wrap="square" lIns="91440" tIns="45720" rIns="91440" bIns="45720" rtlCol="0" anchor="ctr">
            <a:spAutoFit/>
          </a:bodyPr>
          <a:lstStyle>
            <a:lvl1pPr algn="ctr">
              <a:defRPr sz="900">
                <a:solidFill>
                  <a:srgbClr val="000000"/>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26" name="Master Slide Number">
            <a:extLst>
              <a:ext uri="{FF2B5EF4-FFF2-40B4-BE49-F238E27FC236}">
                <a16:creationId xmlns:a16="http://schemas.microsoft.com/office/drawing/2014/main" id="{6505D335-2E0A-7642-A641-0A511E8996E2}"/>
              </a:ext>
            </a:extLst>
          </p:cNvPr>
          <p:cNvSpPr>
            <a:spLocks noGrp="1"/>
          </p:cNvSpPr>
          <p:nvPr>
            <p:ph type="sldNum" sz="quarter" idx="4"/>
          </p:nvPr>
        </p:nvSpPr>
        <p:spPr>
          <a:xfrm>
            <a:off x="11255731" y="221540"/>
            <a:ext cx="587019" cy="230832"/>
          </a:xfrm>
          <a:prstGeom prst="rect">
            <a:avLst/>
          </a:prstGeom>
        </p:spPr>
        <p:txBody>
          <a:bodyPr/>
          <a:lstStyle>
            <a:lvl1pPr algn="r">
              <a:defRPr sz="900" b="1"/>
            </a:lvl1pPr>
          </a:lstStyle>
          <a:p>
            <a:fld id="{B7E7695C-FCF1-4AA0-9B93-7941FED13DC4}" type="slidenum">
              <a:rPr lang="en-US" smtClean="0"/>
              <a:pPr/>
              <a:t>‹#›</a:t>
            </a:fld>
            <a:endParaRPr lang="en-US" dirty="0"/>
          </a:p>
        </p:txBody>
      </p:sp>
      <p:sp>
        <p:nvSpPr>
          <p:cNvPr id="21" name="Title 1">
            <a:extLst>
              <a:ext uri="{FF2B5EF4-FFF2-40B4-BE49-F238E27FC236}">
                <a16:creationId xmlns:a16="http://schemas.microsoft.com/office/drawing/2014/main" id="{E64C6AA6-F4F8-2D4E-985F-F216A4CA4AD8}"/>
              </a:ext>
            </a:extLst>
          </p:cNvPr>
          <p:cNvSpPr txBox="1">
            <a:spLocks/>
          </p:cNvSpPr>
          <p:nvPr userDrawn="1"/>
        </p:nvSpPr>
        <p:spPr>
          <a:xfrm>
            <a:off x="342900" y="1075109"/>
            <a:ext cx="11506200" cy="369332"/>
          </a:xfrm>
          <a:prstGeom prst="rect">
            <a:avLst/>
          </a:prstGeom>
        </p:spPr>
        <p:txBody>
          <a:bodyPr vert="horz"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sz="2000" b="0" kern="0" spc="0" baseline="0" dirty="0"/>
              <a:t>Download the Keynote template on the Brand Portal (alias: </a:t>
            </a:r>
            <a:r>
              <a:rPr lang="en-US" sz="2000" b="0" kern="0" spc="0" baseline="0" dirty="0" err="1"/>
              <a:t>brandportal</a:t>
            </a:r>
            <a:r>
              <a:rPr lang="en-US" sz="2000" b="0" kern="0" spc="0" baseline="0" dirty="0"/>
              <a:t>/)</a:t>
            </a:r>
          </a:p>
        </p:txBody>
      </p:sp>
      <p:pic>
        <p:nvPicPr>
          <p:cNvPr id="18" name="Picture 17" descr="A screenshot of a cell phone&#10;&#10;Description automatically generated">
            <a:extLst>
              <a:ext uri="{FF2B5EF4-FFF2-40B4-BE49-F238E27FC236}">
                <a16:creationId xmlns:a16="http://schemas.microsoft.com/office/drawing/2014/main" id="{98EA90CF-64E9-884C-BAC8-28A3BC81845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099937" y="1972024"/>
            <a:ext cx="2662751" cy="1496534"/>
          </a:xfrm>
          <a:prstGeom prst="rect">
            <a:avLst/>
          </a:prstGeom>
          <a:effectLst>
            <a:outerShdw blurRad="38100" dist="12700" dir="5400000" algn="t" rotWithShape="0">
              <a:prstClr val="black">
                <a:alpha val="30000"/>
              </a:prstClr>
            </a:outerShdw>
          </a:effectLst>
        </p:spPr>
      </p:pic>
      <p:pic>
        <p:nvPicPr>
          <p:cNvPr id="22" name="Picture 21" descr="A picture containing bird&#10;&#10;Description automatically generated">
            <a:extLst>
              <a:ext uri="{FF2B5EF4-FFF2-40B4-BE49-F238E27FC236}">
                <a16:creationId xmlns:a16="http://schemas.microsoft.com/office/drawing/2014/main" id="{D97B0B29-9603-B84E-8C25-B32F2947C39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6054825" y="3672377"/>
            <a:ext cx="2662751" cy="1495548"/>
          </a:xfrm>
          <a:prstGeom prst="rect">
            <a:avLst/>
          </a:prstGeom>
          <a:effectLst>
            <a:outerShdw blurRad="38100" dist="12700" dir="5400000" algn="t" rotWithShape="0">
              <a:prstClr val="black">
                <a:alpha val="30000"/>
              </a:prstClr>
            </a:outerShdw>
          </a:effectLst>
        </p:spPr>
      </p:pic>
      <p:pic>
        <p:nvPicPr>
          <p:cNvPr id="23" name="Picture 22" descr="A screenshot of a cell phone&#10;&#10;Description automatically generated">
            <a:extLst>
              <a:ext uri="{FF2B5EF4-FFF2-40B4-BE49-F238E27FC236}">
                <a16:creationId xmlns:a16="http://schemas.microsoft.com/office/drawing/2014/main" id="{3DC95F1C-FDC6-D94B-89E2-C4D0C415608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269149" y="3672377"/>
            <a:ext cx="2662751" cy="1491769"/>
          </a:xfrm>
          <a:prstGeom prst="rect">
            <a:avLst/>
          </a:prstGeom>
          <a:effectLst>
            <a:outerShdw blurRad="38100" dist="12700" dir="5400000" algn="t" rotWithShape="0">
              <a:prstClr val="black">
                <a:alpha val="30000"/>
              </a:prstClr>
            </a:outerShdw>
          </a:effectLst>
        </p:spPr>
      </p:pic>
      <p:pic>
        <p:nvPicPr>
          <p:cNvPr id="35" name="Picture 34" descr="A screenshot of a cell phone&#10;&#10;Description automatically generated">
            <a:extLst>
              <a:ext uri="{FF2B5EF4-FFF2-40B4-BE49-F238E27FC236}">
                <a16:creationId xmlns:a16="http://schemas.microsoft.com/office/drawing/2014/main" id="{8655D04A-FE32-1C45-8BB0-FA76245F8C32}"/>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3269149" y="1971041"/>
            <a:ext cx="2662751" cy="1497517"/>
          </a:xfrm>
          <a:prstGeom prst="rect">
            <a:avLst/>
          </a:prstGeom>
          <a:effectLst>
            <a:outerShdw blurRad="38100" dist="12700" dir="5400000" algn="t" rotWithShape="0">
              <a:prstClr val="black">
                <a:alpha val="30000"/>
              </a:prstClr>
            </a:outerShdw>
          </a:effectLst>
        </p:spPr>
      </p:pic>
      <p:pic>
        <p:nvPicPr>
          <p:cNvPr id="36" name="Picture 35" descr="A screenshot of a social media post&#10;&#10;Description automatically generated">
            <a:extLst>
              <a:ext uri="{FF2B5EF4-FFF2-40B4-BE49-F238E27FC236}">
                <a16:creationId xmlns:a16="http://schemas.microsoft.com/office/drawing/2014/main" id="{B45E2153-F111-0746-8EE4-428B5E9274C5}"/>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83473" y="1971041"/>
            <a:ext cx="2662751" cy="1497517"/>
          </a:xfrm>
          <a:prstGeom prst="rect">
            <a:avLst/>
          </a:prstGeom>
          <a:effectLst>
            <a:outerShdw blurRad="38100" dist="12700" dir="5400000" algn="t" rotWithShape="0">
              <a:prstClr val="black">
                <a:alpha val="30000"/>
              </a:prstClr>
            </a:outerShdw>
          </a:effectLst>
        </p:spPr>
      </p:pic>
      <p:pic>
        <p:nvPicPr>
          <p:cNvPr id="37" name="Picture 36">
            <a:extLst>
              <a:ext uri="{FF2B5EF4-FFF2-40B4-BE49-F238E27FC236}">
                <a16:creationId xmlns:a16="http://schemas.microsoft.com/office/drawing/2014/main" id="{2C466CE3-9217-4B40-86B5-0B7055014016}"/>
              </a:ext>
            </a:extLst>
          </p:cNvPr>
          <p:cNvPicPr>
            <a:picLocks noChangeAspect="1"/>
          </p:cNvPicPr>
          <p:nvPr userDrawn="1"/>
        </p:nvPicPr>
        <p:blipFill>
          <a:blip r:embed="rId8"/>
          <a:stretch>
            <a:fillRect/>
          </a:stretch>
        </p:blipFill>
        <p:spPr>
          <a:xfrm>
            <a:off x="483473" y="3670048"/>
            <a:ext cx="2662751" cy="1499262"/>
          </a:xfrm>
          <a:prstGeom prst="rect">
            <a:avLst/>
          </a:prstGeom>
          <a:effectLst>
            <a:outerShdw blurRad="38100" dist="12700" dir="5400000" algn="ctr" rotWithShape="0">
              <a:srgbClr val="000000">
                <a:alpha val="30000"/>
              </a:srgbClr>
            </a:outerShdw>
          </a:effectLst>
        </p:spPr>
      </p:pic>
    </p:spTree>
    <p:extLst>
      <p:ext uri="{BB962C8B-B14F-4D97-AF65-F5344CB8AC3E}">
        <p14:creationId xmlns:p14="http://schemas.microsoft.com/office/powerpoint/2010/main" val="4215849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aster Title Style"/>
          <p:cNvSpPr>
            <a:spLocks noGrp="1"/>
          </p:cNvSpPr>
          <p:nvPr>
            <p:ph type="title"/>
          </p:nvPr>
        </p:nvSpPr>
        <p:spPr>
          <a:xfrm>
            <a:off x="342900" y="461528"/>
            <a:ext cx="11506200" cy="590931"/>
          </a:xfrm>
          <a:prstGeom prst="rect">
            <a:avLst/>
          </a:prstGeom>
        </p:spPr>
        <p:txBody>
          <a:bodyPr vert="horz" lIns="91440" tIns="45720" rIns="91440" bIns="45720" rtlCol="0" anchor="t">
            <a:spAutoFit/>
          </a:bodyPr>
          <a:lstStyle/>
          <a:p>
            <a:r>
              <a:rPr lang="en-US"/>
              <a:t>Click to edit Master title style</a:t>
            </a:r>
            <a:endParaRPr lang="en-US" dirty="0"/>
          </a:p>
        </p:txBody>
      </p:sp>
      <p:sp>
        <p:nvSpPr>
          <p:cNvPr id="18" name="Master Date">
            <a:extLst>
              <a:ext uri="{FF2B5EF4-FFF2-40B4-BE49-F238E27FC236}">
                <a16:creationId xmlns:a16="http://schemas.microsoft.com/office/drawing/2014/main" id="{A76C45AB-F56A-4B1F-AD3A-DA3800E4E5A7}"/>
              </a:ext>
            </a:extLst>
          </p:cNvPr>
          <p:cNvSpPr>
            <a:spLocks noGrp="1"/>
          </p:cNvSpPr>
          <p:nvPr>
            <p:ph type="dt" sz="half" idx="2"/>
          </p:nvPr>
        </p:nvSpPr>
        <p:spPr>
          <a:xfrm>
            <a:off x="342900" y="6404030"/>
            <a:ext cx="1710155" cy="230832"/>
          </a:xfrm>
          <a:prstGeom prst="rect">
            <a:avLst/>
          </a:prstGeom>
        </p:spPr>
        <p:txBody>
          <a:bodyPr vert="horz" lIns="91440" tIns="45720" rIns="91440" bIns="45720" rtlCol="0" anchor="ctr">
            <a:spAutoFit/>
          </a:bodyPr>
          <a:lstStyle>
            <a:lvl1pPr algn="l">
              <a:defRPr sz="900" b="1" i="0">
                <a:solidFill>
                  <a:srgbClr val="000000"/>
                </a:solidFill>
                <a:latin typeface="Arial" panose="020B0604020202020204" pitchFamily="34" charset="0"/>
                <a:cs typeface="Arial" panose="020B0604020202020204" pitchFamily="34" charset="0"/>
              </a:defRPr>
            </a:lvl1pPr>
          </a:lstStyle>
          <a:p>
            <a:fld id="{B8FDEC20-994C-6747-9500-226CB0C467E7}" type="datetime4">
              <a:rPr lang="en-US" smtClean="0"/>
              <a:t>June 9, 2023</a:t>
            </a:fld>
            <a:endParaRPr lang="en-US" dirty="0"/>
          </a:p>
        </p:txBody>
      </p:sp>
      <p:sp>
        <p:nvSpPr>
          <p:cNvPr id="19" name="Master Footer">
            <a:extLst>
              <a:ext uri="{FF2B5EF4-FFF2-40B4-BE49-F238E27FC236}">
                <a16:creationId xmlns:a16="http://schemas.microsoft.com/office/drawing/2014/main" id="{38AC271B-3920-4F49-A88C-092CEEECCDBD}"/>
              </a:ext>
            </a:extLst>
          </p:cNvPr>
          <p:cNvSpPr>
            <a:spLocks noGrp="1"/>
          </p:cNvSpPr>
          <p:nvPr>
            <p:ph type="ftr" sz="quarter" idx="3"/>
          </p:nvPr>
        </p:nvSpPr>
        <p:spPr>
          <a:xfrm>
            <a:off x="3326675" y="6404030"/>
            <a:ext cx="5538650" cy="230832"/>
          </a:xfrm>
          <a:prstGeom prst="rect">
            <a:avLst/>
          </a:prstGeom>
        </p:spPr>
        <p:txBody>
          <a:bodyPr vert="horz" wrap="square" lIns="91440" tIns="45720" rIns="91440" bIns="45720" rtlCol="0" anchor="ctr">
            <a:spAutoFit/>
          </a:bodyPr>
          <a:lstStyle>
            <a:lvl1pPr algn="ctr">
              <a:defRPr sz="900">
                <a:solidFill>
                  <a:srgbClr val="000000"/>
                </a:solidFill>
                <a:latin typeface="Arial" panose="020B0604020202020204" pitchFamily="34" charset="0"/>
                <a:cs typeface="Arial" panose="020B0604020202020204" pitchFamily="34" charset="0"/>
              </a:defRPr>
            </a:lvl1pPr>
          </a:lstStyle>
          <a:p>
            <a:r>
              <a:rPr lang="en-US"/>
              <a:t>Presentation Title</a:t>
            </a:r>
            <a:endParaRPr lang="en-US" dirty="0"/>
          </a:p>
        </p:txBody>
      </p:sp>
      <p:grpSp>
        <p:nvGrpSpPr>
          <p:cNvPr id="21" name="Micron Logo">
            <a:extLst>
              <a:ext uri="{FF2B5EF4-FFF2-40B4-BE49-F238E27FC236}">
                <a16:creationId xmlns:a16="http://schemas.microsoft.com/office/drawing/2014/main" id="{481C5C9B-6CA7-403F-BE9B-FB36EA54C818}"/>
              </a:ext>
            </a:extLst>
          </p:cNvPr>
          <p:cNvGrpSpPr/>
          <p:nvPr userDrawn="1"/>
        </p:nvGrpSpPr>
        <p:grpSpPr>
          <a:xfrm>
            <a:off x="10762690" y="6377049"/>
            <a:ext cx="1021952" cy="278561"/>
            <a:chOff x="1233488" y="677863"/>
            <a:chExt cx="2882900" cy="785813"/>
          </a:xfrm>
          <a:solidFill>
            <a:srgbClr val="0090DA"/>
          </a:solidFill>
        </p:grpSpPr>
        <p:sp>
          <p:nvSpPr>
            <p:cNvPr id="22" name="Freeform 35">
              <a:extLst>
                <a:ext uri="{FF2B5EF4-FFF2-40B4-BE49-F238E27FC236}">
                  <a16:creationId xmlns:a16="http://schemas.microsoft.com/office/drawing/2014/main" id="{9D7935E0-E3F3-45CE-AE66-E6414B1B701E}"/>
                </a:ext>
              </a:extLst>
            </p:cNvPr>
            <p:cNvSpPr>
              <a:spLocks/>
            </p:cNvSpPr>
            <p:nvPr/>
          </p:nvSpPr>
          <p:spPr bwMode="auto">
            <a:xfrm>
              <a:off x="2346326" y="944563"/>
              <a:ext cx="417513" cy="354013"/>
            </a:xfrm>
            <a:custGeom>
              <a:avLst/>
              <a:gdLst>
                <a:gd name="T0" fmla="*/ 310 w 525"/>
                <a:gd name="T1" fmla="*/ 445 h 445"/>
                <a:gd name="T2" fmla="*/ 250 w 525"/>
                <a:gd name="T3" fmla="*/ 440 h 445"/>
                <a:gd name="T4" fmla="*/ 193 w 525"/>
                <a:gd name="T5" fmla="*/ 428 h 445"/>
                <a:gd name="T6" fmla="*/ 140 w 525"/>
                <a:gd name="T7" fmla="*/ 409 h 445"/>
                <a:gd name="T8" fmla="*/ 94 w 525"/>
                <a:gd name="T9" fmla="*/ 383 h 445"/>
                <a:gd name="T10" fmla="*/ 55 w 525"/>
                <a:gd name="T11" fmla="*/ 350 h 445"/>
                <a:gd name="T12" fmla="*/ 25 w 525"/>
                <a:gd name="T13" fmla="*/ 313 h 445"/>
                <a:gd name="T14" fmla="*/ 14 w 525"/>
                <a:gd name="T15" fmla="*/ 291 h 445"/>
                <a:gd name="T16" fmla="*/ 7 w 525"/>
                <a:gd name="T17" fmla="*/ 269 h 445"/>
                <a:gd name="T18" fmla="*/ 1 w 525"/>
                <a:gd name="T19" fmla="*/ 246 h 445"/>
                <a:gd name="T20" fmla="*/ 0 w 525"/>
                <a:gd name="T21" fmla="*/ 222 h 445"/>
                <a:gd name="T22" fmla="*/ 0 w 525"/>
                <a:gd name="T23" fmla="*/ 210 h 445"/>
                <a:gd name="T24" fmla="*/ 3 w 525"/>
                <a:gd name="T25" fmla="*/ 187 h 445"/>
                <a:gd name="T26" fmla="*/ 11 w 525"/>
                <a:gd name="T27" fmla="*/ 164 h 445"/>
                <a:gd name="T28" fmla="*/ 19 w 525"/>
                <a:gd name="T29" fmla="*/ 143 h 445"/>
                <a:gd name="T30" fmla="*/ 38 w 525"/>
                <a:gd name="T31" fmla="*/ 113 h 445"/>
                <a:gd name="T32" fmla="*/ 73 w 525"/>
                <a:gd name="T33" fmla="*/ 78 h 445"/>
                <a:gd name="T34" fmla="*/ 116 w 525"/>
                <a:gd name="T35" fmla="*/ 48 h 445"/>
                <a:gd name="T36" fmla="*/ 166 w 525"/>
                <a:gd name="T37" fmla="*/ 25 h 445"/>
                <a:gd name="T38" fmla="*/ 221 w 525"/>
                <a:gd name="T39" fmla="*/ 9 h 445"/>
                <a:gd name="T40" fmla="*/ 281 w 525"/>
                <a:gd name="T41" fmla="*/ 1 h 445"/>
                <a:gd name="T42" fmla="*/ 311 w 525"/>
                <a:gd name="T43" fmla="*/ 0 h 445"/>
                <a:gd name="T44" fmla="*/ 364 w 525"/>
                <a:gd name="T45" fmla="*/ 3 h 445"/>
                <a:gd name="T46" fmla="*/ 416 w 525"/>
                <a:gd name="T47" fmla="*/ 14 h 445"/>
                <a:gd name="T48" fmla="*/ 468 w 525"/>
                <a:gd name="T49" fmla="*/ 32 h 445"/>
                <a:gd name="T50" fmla="*/ 523 w 525"/>
                <a:gd name="T51" fmla="*/ 58 h 445"/>
                <a:gd name="T52" fmla="*/ 471 w 525"/>
                <a:gd name="T53" fmla="*/ 124 h 445"/>
                <a:gd name="T54" fmla="*/ 434 w 525"/>
                <a:gd name="T55" fmla="*/ 108 h 445"/>
                <a:gd name="T56" fmla="*/ 396 w 525"/>
                <a:gd name="T57" fmla="*/ 98 h 445"/>
                <a:gd name="T58" fmla="*/ 355 w 525"/>
                <a:gd name="T59" fmla="*/ 90 h 445"/>
                <a:gd name="T60" fmla="*/ 311 w 525"/>
                <a:gd name="T61" fmla="*/ 88 h 445"/>
                <a:gd name="T62" fmla="*/ 298 w 525"/>
                <a:gd name="T63" fmla="*/ 89 h 445"/>
                <a:gd name="T64" fmla="*/ 271 w 525"/>
                <a:gd name="T65" fmla="*/ 93 h 445"/>
                <a:gd name="T66" fmla="*/ 246 w 525"/>
                <a:gd name="T67" fmla="*/ 100 h 445"/>
                <a:gd name="T68" fmla="*/ 222 w 525"/>
                <a:gd name="T69" fmla="*/ 112 h 445"/>
                <a:gd name="T70" fmla="*/ 200 w 525"/>
                <a:gd name="T71" fmla="*/ 128 h 445"/>
                <a:gd name="T72" fmla="*/ 182 w 525"/>
                <a:gd name="T73" fmla="*/ 150 h 445"/>
                <a:gd name="T74" fmla="*/ 170 w 525"/>
                <a:gd name="T75" fmla="*/ 175 h 445"/>
                <a:gd name="T76" fmla="*/ 163 w 525"/>
                <a:gd name="T77" fmla="*/ 205 h 445"/>
                <a:gd name="T78" fmla="*/ 162 w 525"/>
                <a:gd name="T79" fmla="*/ 222 h 445"/>
                <a:gd name="T80" fmla="*/ 165 w 525"/>
                <a:gd name="T81" fmla="*/ 256 h 445"/>
                <a:gd name="T82" fmla="*/ 175 w 525"/>
                <a:gd name="T83" fmla="*/ 284 h 445"/>
                <a:gd name="T84" fmla="*/ 191 w 525"/>
                <a:gd name="T85" fmla="*/ 306 h 445"/>
                <a:gd name="T86" fmla="*/ 210 w 525"/>
                <a:gd name="T87" fmla="*/ 326 h 445"/>
                <a:gd name="T88" fmla="*/ 233 w 525"/>
                <a:gd name="T89" fmla="*/ 339 h 445"/>
                <a:gd name="T90" fmla="*/ 258 w 525"/>
                <a:gd name="T91" fmla="*/ 349 h 445"/>
                <a:gd name="T92" fmla="*/ 285 w 525"/>
                <a:gd name="T93" fmla="*/ 355 h 445"/>
                <a:gd name="T94" fmla="*/ 311 w 525"/>
                <a:gd name="T95" fmla="*/ 357 h 445"/>
                <a:gd name="T96" fmla="*/ 333 w 525"/>
                <a:gd name="T97" fmla="*/ 356 h 445"/>
                <a:gd name="T98" fmla="*/ 375 w 525"/>
                <a:gd name="T99" fmla="*/ 352 h 445"/>
                <a:gd name="T100" fmla="*/ 416 w 525"/>
                <a:gd name="T101" fmla="*/ 344 h 445"/>
                <a:gd name="T102" fmla="*/ 455 w 525"/>
                <a:gd name="T103" fmla="*/ 332 h 445"/>
                <a:gd name="T104" fmla="*/ 525 w 525"/>
                <a:gd name="T105" fmla="*/ 393 h 445"/>
                <a:gd name="T106" fmla="*/ 501 w 525"/>
                <a:gd name="T107" fmla="*/ 405 h 445"/>
                <a:gd name="T108" fmla="*/ 451 w 525"/>
                <a:gd name="T109" fmla="*/ 425 h 445"/>
                <a:gd name="T110" fmla="*/ 397 w 525"/>
                <a:gd name="T111" fmla="*/ 438 h 445"/>
                <a:gd name="T112" fmla="*/ 340 w 525"/>
                <a:gd name="T113" fmla="*/ 444 h 445"/>
                <a:gd name="T114" fmla="*/ 310 w 525"/>
                <a:gd name="T115"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5" h="445">
                  <a:moveTo>
                    <a:pt x="310" y="445"/>
                  </a:moveTo>
                  <a:lnTo>
                    <a:pt x="310" y="445"/>
                  </a:lnTo>
                  <a:lnTo>
                    <a:pt x="280" y="444"/>
                  </a:lnTo>
                  <a:lnTo>
                    <a:pt x="250" y="440"/>
                  </a:lnTo>
                  <a:lnTo>
                    <a:pt x="221" y="436"/>
                  </a:lnTo>
                  <a:lnTo>
                    <a:pt x="193" y="428"/>
                  </a:lnTo>
                  <a:lnTo>
                    <a:pt x="165" y="420"/>
                  </a:lnTo>
                  <a:lnTo>
                    <a:pt x="140" y="409"/>
                  </a:lnTo>
                  <a:lnTo>
                    <a:pt x="116" y="397"/>
                  </a:lnTo>
                  <a:lnTo>
                    <a:pt x="94" y="383"/>
                  </a:lnTo>
                  <a:lnTo>
                    <a:pt x="73" y="367"/>
                  </a:lnTo>
                  <a:lnTo>
                    <a:pt x="55" y="350"/>
                  </a:lnTo>
                  <a:lnTo>
                    <a:pt x="38" y="332"/>
                  </a:lnTo>
                  <a:lnTo>
                    <a:pt x="25" y="313"/>
                  </a:lnTo>
                  <a:lnTo>
                    <a:pt x="19" y="302"/>
                  </a:lnTo>
                  <a:lnTo>
                    <a:pt x="14" y="291"/>
                  </a:lnTo>
                  <a:lnTo>
                    <a:pt x="11" y="280"/>
                  </a:lnTo>
                  <a:lnTo>
                    <a:pt x="7" y="269"/>
                  </a:lnTo>
                  <a:lnTo>
                    <a:pt x="3" y="258"/>
                  </a:lnTo>
                  <a:lnTo>
                    <a:pt x="1" y="246"/>
                  </a:lnTo>
                  <a:lnTo>
                    <a:pt x="0" y="234"/>
                  </a:lnTo>
                  <a:lnTo>
                    <a:pt x="0" y="222"/>
                  </a:lnTo>
                  <a:lnTo>
                    <a:pt x="0" y="222"/>
                  </a:lnTo>
                  <a:lnTo>
                    <a:pt x="0" y="210"/>
                  </a:lnTo>
                  <a:lnTo>
                    <a:pt x="1" y="199"/>
                  </a:lnTo>
                  <a:lnTo>
                    <a:pt x="3" y="187"/>
                  </a:lnTo>
                  <a:lnTo>
                    <a:pt x="7" y="176"/>
                  </a:lnTo>
                  <a:lnTo>
                    <a:pt x="11" y="164"/>
                  </a:lnTo>
                  <a:lnTo>
                    <a:pt x="14" y="153"/>
                  </a:lnTo>
                  <a:lnTo>
                    <a:pt x="19" y="143"/>
                  </a:lnTo>
                  <a:lnTo>
                    <a:pt x="25" y="133"/>
                  </a:lnTo>
                  <a:lnTo>
                    <a:pt x="38" y="113"/>
                  </a:lnTo>
                  <a:lnTo>
                    <a:pt x="55" y="95"/>
                  </a:lnTo>
                  <a:lnTo>
                    <a:pt x="73" y="78"/>
                  </a:lnTo>
                  <a:lnTo>
                    <a:pt x="94" y="63"/>
                  </a:lnTo>
                  <a:lnTo>
                    <a:pt x="116" y="48"/>
                  </a:lnTo>
                  <a:lnTo>
                    <a:pt x="140" y="36"/>
                  </a:lnTo>
                  <a:lnTo>
                    <a:pt x="166" y="25"/>
                  </a:lnTo>
                  <a:lnTo>
                    <a:pt x="193" y="17"/>
                  </a:lnTo>
                  <a:lnTo>
                    <a:pt x="221" y="9"/>
                  </a:lnTo>
                  <a:lnTo>
                    <a:pt x="251" y="3"/>
                  </a:lnTo>
                  <a:lnTo>
                    <a:pt x="281" y="1"/>
                  </a:lnTo>
                  <a:lnTo>
                    <a:pt x="311" y="0"/>
                  </a:lnTo>
                  <a:lnTo>
                    <a:pt x="311" y="0"/>
                  </a:lnTo>
                  <a:lnTo>
                    <a:pt x="338" y="1"/>
                  </a:lnTo>
                  <a:lnTo>
                    <a:pt x="364" y="3"/>
                  </a:lnTo>
                  <a:lnTo>
                    <a:pt x="390" y="7"/>
                  </a:lnTo>
                  <a:lnTo>
                    <a:pt x="416" y="14"/>
                  </a:lnTo>
                  <a:lnTo>
                    <a:pt x="443" y="22"/>
                  </a:lnTo>
                  <a:lnTo>
                    <a:pt x="468" y="32"/>
                  </a:lnTo>
                  <a:lnTo>
                    <a:pt x="495" y="44"/>
                  </a:lnTo>
                  <a:lnTo>
                    <a:pt x="523" y="58"/>
                  </a:lnTo>
                  <a:lnTo>
                    <a:pt x="471" y="124"/>
                  </a:lnTo>
                  <a:lnTo>
                    <a:pt x="471" y="124"/>
                  </a:lnTo>
                  <a:lnTo>
                    <a:pt x="454" y="116"/>
                  </a:lnTo>
                  <a:lnTo>
                    <a:pt x="434" y="108"/>
                  </a:lnTo>
                  <a:lnTo>
                    <a:pt x="415" y="102"/>
                  </a:lnTo>
                  <a:lnTo>
                    <a:pt x="396" y="98"/>
                  </a:lnTo>
                  <a:lnTo>
                    <a:pt x="375" y="94"/>
                  </a:lnTo>
                  <a:lnTo>
                    <a:pt x="355" y="90"/>
                  </a:lnTo>
                  <a:lnTo>
                    <a:pt x="333" y="89"/>
                  </a:lnTo>
                  <a:lnTo>
                    <a:pt x="311" y="88"/>
                  </a:lnTo>
                  <a:lnTo>
                    <a:pt x="311" y="88"/>
                  </a:lnTo>
                  <a:lnTo>
                    <a:pt x="298" y="89"/>
                  </a:lnTo>
                  <a:lnTo>
                    <a:pt x="285" y="90"/>
                  </a:lnTo>
                  <a:lnTo>
                    <a:pt x="271" y="93"/>
                  </a:lnTo>
                  <a:lnTo>
                    <a:pt x="258" y="95"/>
                  </a:lnTo>
                  <a:lnTo>
                    <a:pt x="246" y="100"/>
                  </a:lnTo>
                  <a:lnTo>
                    <a:pt x="234" y="105"/>
                  </a:lnTo>
                  <a:lnTo>
                    <a:pt x="222" y="112"/>
                  </a:lnTo>
                  <a:lnTo>
                    <a:pt x="211" y="119"/>
                  </a:lnTo>
                  <a:lnTo>
                    <a:pt x="200" y="128"/>
                  </a:lnTo>
                  <a:lnTo>
                    <a:pt x="191" y="137"/>
                  </a:lnTo>
                  <a:lnTo>
                    <a:pt x="182" y="150"/>
                  </a:lnTo>
                  <a:lnTo>
                    <a:pt x="176" y="162"/>
                  </a:lnTo>
                  <a:lnTo>
                    <a:pt x="170" y="175"/>
                  </a:lnTo>
                  <a:lnTo>
                    <a:pt x="165" y="189"/>
                  </a:lnTo>
                  <a:lnTo>
                    <a:pt x="163" y="205"/>
                  </a:lnTo>
                  <a:lnTo>
                    <a:pt x="162" y="222"/>
                  </a:lnTo>
                  <a:lnTo>
                    <a:pt x="162" y="222"/>
                  </a:lnTo>
                  <a:lnTo>
                    <a:pt x="163" y="240"/>
                  </a:lnTo>
                  <a:lnTo>
                    <a:pt x="165" y="256"/>
                  </a:lnTo>
                  <a:lnTo>
                    <a:pt x="170" y="270"/>
                  </a:lnTo>
                  <a:lnTo>
                    <a:pt x="175" y="284"/>
                  </a:lnTo>
                  <a:lnTo>
                    <a:pt x="182" y="296"/>
                  </a:lnTo>
                  <a:lnTo>
                    <a:pt x="191" y="306"/>
                  </a:lnTo>
                  <a:lnTo>
                    <a:pt x="200" y="317"/>
                  </a:lnTo>
                  <a:lnTo>
                    <a:pt x="210" y="326"/>
                  </a:lnTo>
                  <a:lnTo>
                    <a:pt x="221" y="333"/>
                  </a:lnTo>
                  <a:lnTo>
                    <a:pt x="233" y="339"/>
                  </a:lnTo>
                  <a:lnTo>
                    <a:pt x="245" y="345"/>
                  </a:lnTo>
                  <a:lnTo>
                    <a:pt x="258" y="349"/>
                  </a:lnTo>
                  <a:lnTo>
                    <a:pt x="271" y="352"/>
                  </a:lnTo>
                  <a:lnTo>
                    <a:pt x="285" y="355"/>
                  </a:lnTo>
                  <a:lnTo>
                    <a:pt x="298" y="356"/>
                  </a:lnTo>
                  <a:lnTo>
                    <a:pt x="311" y="357"/>
                  </a:lnTo>
                  <a:lnTo>
                    <a:pt x="311" y="357"/>
                  </a:lnTo>
                  <a:lnTo>
                    <a:pt x="333" y="356"/>
                  </a:lnTo>
                  <a:lnTo>
                    <a:pt x="355" y="355"/>
                  </a:lnTo>
                  <a:lnTo>
                    <a:pt x="375" y="352"/>
                  </a:lnTo>
                  <a:lnTo>
                    <a:pt x="396" y="349"/>
                  </a:lnTo>
                  <a:lnTo>
                    <a:pt x="416" y="344"/>
                  </a:lnTo>
                  <a:lnTo>
                    <a:pt x="436" y="338"/>
                  </a:lnTo>
                  <a:lnTo>
                    <a:pt x="455" y="332"/>
                  </a:lnTo>
                  <a:lnTo>
                    <a:pt x="473" y="325"/>
                  </a:lnTo>
                  <a:lnTo>
                    <a:pt x="525" y="393"/>
                  </a:lnTo>
                  <a:lnTo>
                    <a:pt x="525" y="393"/>
                  </a:lnTo>
                  <a:lnTo>
                    <a:pt x="501" y="405"/>
                  </a:lnTo>
                  <a:lnTo>
                    <a:pt x="477" y="415"/>
                  </a:lnTo>
                  <a:lnTo>
                    <a:pt x="451" y="425"/>
                  </a:lnTo>
                  <a:lnTo>
                    <a:pt x="425" y="432"/>
                  </a:lnTo>
                  <a:lnTo>
                    <a:pt x="397" y="438"/>
                  </a:lnTo>
                  <a:lnTo>
                    <a:pt x="369" y="442"/>
                  </a:lnTo>
                  <a:lnTo>
                    <a:pt x="340" y="444"/>
                  </a:lnTo>
                  <a:lnTo>
                    <a:pt x="310" y="445"/>
                  </a:lnTo>
                  <a:lnTo>
                    <a:pt x="310" y="4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3" name="Freeform 36">
              <a:extLst>
                <a:ext uri="{FF2B5EF4-FFF2-40B4-BE49-F238E27FC236}">
                  <a16:creationId xmlns:a16="http://schemas.microsoft.com/office/drawing/2014/main" id="{74C07C8D-9A10-49B0-BEF9-C7DB3B3E4533}"/>
                </a:ext>
              </a:extLst>
            </p:cNvPr>
            <p:cNvSpPr>
              <a:spLocks noEditPoints="1"/>
            </p:cNvSpPr>
            <p:nvPr/>
          </p:nvSpPr>
          <p:spPr bwMode="auto">
            <a:xfrm>
              <a:off x="3087688" y="942976"/>
              <a:ext cx="493713" cy="355600"/>
            </a:xfrm>
            <a:custGeom>
              <a:avLst/>
              <a:gdLst>
                <a:gd name="T0" fmla="*/ 459 w 622"/>
                <a:gd name="T1" fmla="*/ 241 h 447"/>
                <a:gd name="T2" fmla="*/ 447 w 622"/>
                <a:gd name="T3" fmla="*/ 285 h 447"/>
                <a:gd name="T4" fmla="*/ 421 w 622"/>
                <a:gd name="T5" fmla="*/ 318 h 447"/>
                <a:gd name="T6" fmla="*/ 389 w 622"/>
                <a:gd name="T7" fmla="*/ 341 h 447"/>
                <a:gd name="T8" fmla="*/ 350 w 622"/>
                <a:gd name="T9" fmla="*/ 354 h 447"/>
                <a:gd name="T10" fmla="*/ 310 w 622"/>
                <a:gd name="T11" fmla="*/ 358 h 447"/>
                <a:gd name="T12" fmla="*/ 285 w 622"/>
                <a:gd name="T13" fmla="*/ 357 h 447"/>
                <a:gd name="T14" fmla="*/ 245 w 622"/>
                <a:gd name="T15" fmla="*/ 346 h 447"/>
                <a:gd name="T16" fmla="*/ 210 w 622"/>
                <a:gd name="T17" fmla="*/ 326 h 447"/>
                <a:gd name="T18" fmla="*/ 182 w 622"/>
                <a:gd name="T19" fmla="*/ 297 h 447"/>
                <a:gd name="T20" fmla="*/ 165 w 622"/>
                <a:gd name="T21" fmla="*/ 258 h 447"/>
                <a:gd name="T22" fmla="*/ 162 w 622"/>
                <a:gd name="T23" fmla="*/ 224 h 447"/>
                <a:gd name="T24" fmla="*/ 169 w 622"/>
                <a:gd name="T25" fmla="*/ 175 h 447"/>
                <a:gd name="T26" fmla="*/ 191 w 622"/>
                <a:gd name="T27" fmla="*/ 139 h 447"/>
                <a:gd name="T28" fmla="*/ 221 w 622"/>
                <a:gd name="T29" fmla="*/ 113 h 447"/>
                <a:gd name="T30" fmla="*/ 258 w 622"/>
                <a:gd name="T31" fmla="*/ 97 h 447"/>
                <a:gd name="T32" fmla="*/ 298 w 622"/>
                <a:gd name="T33" fmla="*/ 90 h 447"/>
                <a:gd name="T34" fmla="*/ 323 w 622"/>
                <a:gd name="T35" fmla="*/ 90 h 447"/>
                <a:gd name="T36" fmla="*/ 363 w 622"/>
                <a:gd name="T37" fmla="*/ 97 h 447"/>
                <a:gd name="T38" fmla="*/ 400 w 622"/>
                <a:gd name="T39" fmla="*/ 113 h 447"/>
                <a:gd name="T40" fmla="*/ 431 w 622"/>
                <a:gd name="T41" fmla="*/ 139 h 447"/>
                <a:gd name="T42" fmla="*/ 451 w 622"/>
                <a:gd name="T43" fmla="*/ 175 h 447"/>
                <a:gd name="T44" fmla="*/ 460 w 622"/>
                <a:gd name="T45" fmla="*/ 224 h 447"/>
                <a:gd name="T46" fmla="*/ 310 w 622"/>
                <a:gd name="T47" fmla="*/ 447 h 447"/>
                <a:gd name="T48" fmla="*/ 401 w 622"/>
                <a:gd name="T49" fmla="*/ 437 h 447"/>
                <a:gd name="T50" fmla="*/ 482 w 622"/>
                <a:gd name="T51" fmla="*/ 411 h 447"/>
                <a:gd name="T52" fmla="*/ 548 w 622"/>
                <a:gd name="T53" fmla="*/ 369 h 447"/>
                <a:gd name="T54" fmla="*/ 596 w 622"/>
                <a:gd name="T55" fmla="*/ 313 h 447"/>
                <a:gd name="T56" fmla="*/ 612 w 622"/>
                <a:gd name="T57" fmla="*/ 282 h 447"/>
                <a:gd name="T58" fmla="*/ 620 w 622"/>
                <a:gd name="T59" fmla="*/ 248 h 447"/>
                <a:gd name="T60" fmla="*/ 622 w 622"/>
                <a:gd name="T61" fmla="*/ 224 h 447"/>
                <a:gd name="T62" fmla="*/ 618 w 622"/>
                <a:gd name="T63" fmla="*/ 189 h 447"/>
                <a:gd name="T64" fmla="*/ 607 w 622"/>
                <a:gd name="T65" fmla="*/ 155 h 447"/>
                <a:gd name="T66" fmla="*/ 583 w 622"/>
                <a:gd name="T67" fmla="*/ 115 h 447"/>
                <a:gd name="T68" fmla="*/ 529 w 622"/>
                <a:gd name="T69" fmla="*/ 63 h 447"/>
                <a:gd name="T70" fmla="*/ 456 w 622"/>
                <a:gd name="T71" fmla="*/ 27 h 447"/>
                <a:gd name="T72" fmla="*/ 372 w 622"/>
                <a:gd name="T73" fmla="*/ 5 h 447"/>
                <a:gd name="T74" fmla="*/ 310 w 622"/>
                <a:gd name="T75" fmla="*/ 0 h 447"/>
                <a:gd name="T76" fmla="*/ 221 w 622"/>
                <a:gd name="T77" fmla="*/ 10 h 447"/>
                <a:gd name="T78" fmla="*/ 140 w 622"/>
                <a:gd name="T79" fmla="*/ 38 h 447"/>
                <a:gd name="T80" fmla="*/ 72 w 622"/>
                <a:gd name="T81" fmla="*/ 79 h 447"/>
                <a:gd name="T82" fmla="*/ 25 w 622"/>
                <a:gd name="T83" fmla="*/ 134 h 447"/>
                <a:gd name="T84" fmla="*/ 10 w 622"/>
                <a:gd name="T85" fmla="*/ 166 h 447"/>
                <a:gd name="T86" fmla="*/ 1 w 622"/>
                <a:gd name="T87" fmla="*/ 200 h 447"/>
                <a:gd name="T88" fmla="*/ 0 w 622"/>
                <a:gd name="T89" fmla="*/ 224 h 447"/>
                <a:gd name="T90" fmla="*/ 4 w 622"/>
                <a:gd name="T91" fmla="*/ 259 h 447"/>
                <a:gd name="T92" fmla="*/ 14 w 622"/>
                <a:gd name="T93" fmla="*/ 293 h 447"/>
                <a:gd name="T94" fmla="*/ 39 w 622"/>
                <a:gd name="T95" fmla="*/ 332 h 447"/>
                <a:gd name="T96" fmla="*/ 93 w 622"/>
                <a:gd name="T97" fmla="*/ 384 h 447"/>
                <a:gd name="T98" fmla="*/ 165 w 622"/>
                <a:gd name="T99" fmla="*/ 421 h 447"/>
                <a:gd name="T100" fmla="*/ 250 w 622"/>
                <a:gd name="T101" fmla="*/ 442 h 447"/>
                <a:gd name="T102" fmla="*/ 310 w 622"/>
                <a:gd name="T103" fmla="*/ 447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22" h="447">
                  <a:moveTo>
                    <a:pt x="460" y="224"/>
                  </a:moveTo>
                  <a:lnTo>
                    <a:pt x="460" y="224"/>
                  </a:lnTo>
                  <a:lnTo>
                    <a:pt x="459" y="241"/>
                  </a:lnTo>
                  <a:lnTo>
                    <a:pt x="456" y="258"/>
                  </a:lnTo>
                  <a:lnTo>
                    <a:pt x="451" y="272"/>
                  </a:lnTo>
                  <a:lnTo>
                    <a:pt x="447" y="285"/>
                  </a:lnTo>
                  <a:lnTo>
                    <a:pt x="439" y="297"/>
                  </a:lnTo>
                  <a:lnTo>
                    <a:pt x="431" y="308"/>
                  </a:lnTo>
                  <a:lnTo>
                    <a:pt x="421" y="318"/>
                  </a:lnTo>
                  <a:lnTo>
                    <a:pt x="412" y="326"/>
                  </a:lnTo>
                  <a:lnTo>
                    <a:pt x="400" y="335"/>
                  </a:lnTo>
                  <a:lnTo>
                    <a:pt x="389" y="341"/>
                  </a:lnTo>
                  <a:lnTo>
                    <a:pt x="375" y="346"/>
                  </a:lnTo>
                  <a:lnTo>
                    <a:pt x="363" y="351"/>
                  </a:lnTo>
                  <a:lnTo>
                    <a:pt x="350" y="354"/>
                  </a:lnTo>
                  <a:lnTo>
                    <a:pt x="337" y="357"/>
                  </a:lnTo>
                  <a:lnTo>
                    <a:pt x="323" y="358"/>
                  </a:lnTo>
                  <a:lnTo>
                    <a:pt x="310" y="358"/>
                  </a:lnTo>
                  <a:lnTo>
                    <a:pt x="310" y="358"/>
                  </a:lnTo>
                  <a:lnTo>
                    <a:pt x="298" y="358"/>
                  </a:lnTo>
                  <a:lnTo>
                    <a:pt x="285" y="357"/>
                  </a:lnTo>
                  <a:lnTo>
                    <a:pt x="272" y="354"/>
                  </a:lnTo>
                  <a:lnTo>
                    <a:pt x="258" y="351"/>
                  </a:lnTo>
                  <a:lnTo>
                    <a:pt x="245" y="346"/>
                  </a:lnTo>
                  <a:lnTo>
                    <a:pt x="233" y="341"/>
                  </a:lnTo>
                  <a:lnTo>
                    <a:pt x="221" y="335"/>
                  </a:lnTo>
                  <a:lnTo>
                    <a:pt x="210" y="326"/>
                  </a:lnTo>
                  <a:lnTo>
                    <a:pt x="200" y="318"/>
                  </a:lnTo>
                  <a:lnTo>
                    <a:pt x="191" y="308"/>
                  </a:lnTo>
                  <a:lnTo>
                    <a:pt x="182" y="297"/>
                  </a:lnTo>
                  <a:lnTo>
                    <a:pt x="175" y="285"/>
                  </a:lnTo>
                  <a:lnTo>
                    <a:pt x="169" y="272"/>
                  </a:lnTo>
                  <a:lnTo>
                    <a:pt x="165" y="258"/>
                  </a:lnTo>
                  <a:lnTo>
                    <a:pt x="163" y="241"/>
                  </a:lnTo>
                  <a:lnTo>
                    <a:pt x="162" y="224"/>
                  </a:lnTo>
                  <a:lnTo>
                    <a:pt x="162" y="224"/>
                  </a:lnTo>
                  <a:lnTo>
                    <a:pt x="163" y="207"/>
                  </a:lnTo>
                  <a:lnTo>
                    <a:pt x="165" y="191"/>
                  </a:lnTo>
                  <a:lnTo>
                    <a:pt x="169" y="175"/>
                  </a:lnTo>
                  <a:lnTo>
                    <a:pt x="175" y="162"/>
                  </a:lnTo>
                  <a:lnTo>
                    <a:pt x="182" y="150"/>
                  </a:lnTo>
                  <a:lnTo>
                    <a:pt x="191" y="139"/>
                  </a:lnTo>
                  <a:lnTo>
                    <a:pt x="200" y="130"/>
                  </a:lnTo>
                  <a:lnTo>
                    <a:pt x="210" y="121"/>
                  </a:lnTo>
                  <a:lnTo>
                    <a:pt x="221" y="113"/>
                  </a:lnTo>
                  <a:lnTo>
                    <a:pt x="233" y="107"/>
                  </a:lnTo>
                  <a:lnTo>
                    <a:pt x="245" y="102"/>
                  </a:lnTo>
                  <a:lnTo>
                    <a:pt x="258" y="97"/>
                  </a:lnTo>
                  <a:lnTo>
                    <a:pt x="272" y="93"/>
                  </a:lnTo>
                  <a:lnTo>
                    <a:pt x="285" y="91"/>
                  </a:lnTo>
                  <a:lnTo>
                    <a:pt x="298" y="90"/>
                  </a:lnTo>
                  <a:lnTo>
                    <a:pt x="310" y="90"/>
                  </a:lnTo>
                  <a:lnTo>
                    <a:pt x="310" y="90"/>
                  </a:lnTo>
                  <a:lnTo>
                    <a:pt x="323" y="90"/>
                  </a:lnTo>
                  <a:lnTo>
                    <a:pt x="337" y="91"/>
                  </a:lnTo>
                  <a:lnTo>
                    <a:pt x="350" y="93"/>
                  </a:lnTo>
                  <a:lnTo>
                    <a:pt x="363" y="97"/>
                  </a:lnTo>
                  <a:lnTo>
                    <a:pt x="375" y="102"/>
                  </a:lnTo>
                  <a:lnTo>
                    <a:pt x="389" y="107"/>
                  </a:lnTo>
                  <a:lnTo>
                    <a:pt x="400" y="113"/>
                  </a:lnTo>
                  <a:lnTo>
                    <a:pt x="412" y="121"/>
                  </a:lnTo>
                  <a:lnTo>
                    <a:pt x="421" y="130"/>
                  </a:lnTo>
                  <a:lnTo>
                    <a:pt x="431" y="139"/>
                  </a:lnTo>
                  <a:lnTo>
                    <a:pt x="439" y="150"/>
                  </a:lnTo>
                  <a:lnTo>
                    <a:pt x="447" y="162"/>
                  </a:lnTo>
                  <a:lnTo>
                    <a:pt x="451" y="175"/>
                  </a:lnTo>
                  <a:lnTo>
                    <a:pt x="456" y="191"/>
                  </a:lnTo>
                  <a:lnTo>
                    <a:pt x="459" y="207"/>
                  </a:lnTo>
                  <a:lnTo>
                    <a:pt x="460" y="224"/>
                  </a:lnTo>
                  <a:lnTo>
                    <a:pt x="460" y="224"/>
                  </a:lnTo>
                  <a:close/>
                  <a:moveTo>
                    <a:pt x="310" y="447"/>
                  </a:moveTo>
                  <a:lnTo>
                    <a:pt x="310" y="447"/>
                  </a:lnTo>
                  <a:lnTo>
                    <a:pt x="342" y="446"/>
                  </a:lnTo>
                  <a:lnTo>
                    <a:pt x="372" y="442"/>
                  </a:lnTo>
                  <a:lnTo>
                    <a:pt x="401" y="437"/>
                  </a:lnTo>
                  <a:lnTo>
                    <a:pt x="429" y="430"/>
                  </a:lnTo>
                  <a:lnTo>
                    <a:pt x="456" y="421"/>
                  </a:lnTo>
                  <a:lnTo>
                    <a:pt x="482" y="411"/>
                  </a:lnTo>
                  <a:lnTo>
                    <a:pt x="506" y="398"/>
                  </a:lnTo>
                  <a:lnTo>
                    <a:pt x="529" y="384"/>
                  </a:lnTo>
                  <a:lnTo>
                    <a:pt x="548" y="369"/>
                  </a:lnTo>
                  <a:lnTo>
                    <a:pt x="567" y="352"/>
                  </a:lnTo>
                  <a:lnTo>
                    <a:pt x="583" y="332"/>
                  </a:lnTo>
                  <a:lnTo>
                    <a:pt x="596" y="313"/>
                  </a:lnTo>
                  <a:lnTo>
                    <a:pt x="602" y="303"/>
                  </a:lnTo>
                  <a:lnTo>
                    <a:pt x="607" y="293"/>
                  </a:lnTo>
                  <a:lnTo>
                    <a:pt x="612" y="282"/>
                  </a:lnTo>
                  <a:lnTo>
                    <a:pt x="616" y="271"/>
                  </a:lnTo>
                  <a:lnTo>
                    <a:pt x="618" y="259"/>
                  </a:lnTo>
                  <a:lnTo>
                    <a:pt x="620" y="248"/>
                  </a:lnTo>
                  <a:lnTo>
                    <a:pt x="622" y="236"/>
                  </a:lnTo>
                  <a:lnTo>
                    <a:pt x="622" y="224"/>
                  </a:lnTo>
                  <a:lnTo>
                    <a:pt x="622" y="224"/>
                  </a:lnTo>
                  <a:lnTo>
                    <a:pt x="622" y="212"/>
                  </a:lnTo>
                  <a:lnTo>
                    <a:pt x="620" y="200"/>
                  </a:lnTo>
                  <a:lnTo>
                    <a:pt x="618" y="189"/>
                  </a:lnTo>
                  <a:lnTo>
                    <a:pt x="616" y="177"/>
                  </a:lnTo>
                  <a:lnTo>
                    <a:pt x="612" y="166"/>
                  </a:lnTo>
                  <a:lnTo>
                    <a:pt x="607" y="155"/>
                  </a:lnTo>
                  <a:lnTo>
                    <a:pt x="602" y="144"/>
                  </a:lnTo>
                  <a:lnTo>
                    <a:pt x="596" y="134"/>
                  </a:lnTo>
                  <a:lnTo>
                    <a:pt x="583" y="115"/>
                  </a:lnTo>
                  <a:lnTo>
                    <a:pt x="567" y="96"/>
                  </a:lnTo>
                  <a:lnTo>
                    <a:pt x="548" y="79"/>
                  </a:lnTo>
                  <a:lnTo>
                    <a:pt x="529" y="63"/>
                  </a:lnTo>
                  <a:lnTo>
                    <a:pt x="506" y="50"/>
                  </a:lnTo>
                  <a:lnTo>
                    <a:pt x="482" y="38"/>
                  </a:lnTo>
                  <a:lnTo>
                    <a:pt x="456" y="27"/>
                  </a:lnTo>
                  <a:lnTo>
                    <a:pt x="429" y="17"/>
                  </a:lnTo>
                  <a:lnTo>
                    <a:pt x="401" y="10"/>
                  </a:lnTo>
                  <a:lnTo>
                    <a:pt x="372" y="5"/>
                  </a:lnTo>
                  <a:lnTo>
                    <a:pt x="342" y="2"/>
                  </a:lnTo>
                  <a:lnTo>
                    <a:pt x="310" y="0"/>
                  </a:lnTo>
                  <a:lnTo>
                    <a:pt x="310" y="0"/>
                  </a:lnTo>
                  <a:lnTo>
                    <a:pt x="280" y="2"/>
                  </a:lnTo>
                  <a:lnTo>
                    <a:pt x="250" y="5"/>
                  </a:lnTo>
                  <a:lnTo>
                    <a:pt x="221" y="10"/>
                  </a:lnTo>
                  <a:lnTo>
                    <a:pt x="193" y="17"/>
                  </a:lnTo>
                  <a:lnTo>
                    <a:pt x="165" y="27"/>
                  </a:lnTo>
                  <a:lnTo>
                    <a:pt x="140" y="38"/>
                  </a:lnTo>
                  <a:lnTo>
                    <a:pt x="116" y="50"/>
                  </a:lnTo>
                  <a:lnTo>
                    <a:pt x="93" y="63"/>
                  </a:lnTo>
                  <a:lnTo>
                    <a:pt x="72" y="79"/>
                  </a:lnTo>
                  <a:lnTo>
                    <a:pt x="54" y="96"/>
                  </a:lnTo>
                  <a:lnTo>
                    <a:pt x="39" y="115"/>
                  </a:lnTo>
                  <a:lnTo>
                    <a:pt x="25" y="134"/>
                  </a:lnTo>
                  <a:lnTo>
                    <a:pt x="19" y="144"/>
                  </a:lnTo>
                  <a:lnTo>
                    <a:pt x="14" y="155"/>
                  </a:lnTo>
                  <a:lnTo>
                    <a:pt x="10" y="166"/>
                  </a:lnTo>
                  <a:lnTo>
                    <a:pt x="6" y="177"/>
                  </a:lnTo>
                  <a:lnTo>
                    <a:pt x="4" y="189"/>
                  </a:lnTo>
                  <a:lnTo>
                    <a:pt x="1" y="200"/>
                  </a:lnTo>
                  <a:lnTo>
                    <a:pt x="0" y="212"/>
                  </a:lnTo>
                  <a:lnTo>
                    <a:pt x="0" y="224"/>
                  </a:lnTo>
                  <a:lnTo>
                    <a:pt x="0" y="224"/>
                  </a:lnTo>
                  <a:lnTo>
                    <a:pt x="0" y="236"/>
                  </a:lnTo>
                  <a:lnTo>
                    <a:pt x="1" y="248"/>
                  </a:lnTo>
                  <a:lnTo>
                    <a:pt x="4" y="259"/>
                  </a:lnTo>
                  <a:lnTo>
                    <a:pt x="6" y="271"/>
                  </a:lnTo>
                  <a:lnTo>
                    <a:pt x="10" y="282"/>
                  </a:lnTo>
                  <a:lnTo>
                    <a:pt x="14" y="293"/>
                  </a:lnTo>
                  <a:lnTo>
                    <a:pt x="19" y="303"/>
                  </a:lnTo>
                  <a:lnTo>
                    <a:pt x="25" y="313"/>
                  </a:lnTo>
                  <a:lnTo>
                    <a:pt x="39" y="332"/>
                  </a:lnTo>
                  <a:lnTo>
                    <a:pt x="54" y="352"/>
                  </a:lnTo>
                  <a:lnTo>
                    <a:pt x="72" y="369"/>
                  </a:lnTo>
                  <a:lnTo>
                    <a:pt x="93" y="384"/>
                  </a:lnTo>
                  <a:lnTo>
                    <a:pt x="116" y="398"/>
                  </a:lnTo>
                  <a:lnTo>
                    <a:pt x="140" y="411"/>
                  </a:lnTo>
                  <a:lnTo>
                    <a:pt x="165" y="421"/>
                  </a:lnTo>
                  <a:lnTo>
                    <a:pt x="193" y="430"/>
                  </a:lnTo>
                  <a:lnTo>
                    <a:pt x="221" y="437"/>
                  </a:lnTo>
                  <a:lnTo>
                    <a:pt x="250" y="442"/>
                  </a:lnTo>
                  <a:lnTo>
                    <a:pt x="280" y="446"/>
                  </a:lnTo>
                  <a:lnTo>
                    <a:pt x="310" y="447"/>
                  </a:lnTo>
                  <a:lnTo>
                    <a:pt x="310" y="4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4" name="Freeform 37">
              <a:extLst>
                <a:ext uri="{FF2B5EF4-FFF2-40B4-BE49-F238E27FC236}">
                  <a16:creationId xmlns:a16="http://schemas.microsoft.com/office/drawing/2014/main" id="{16DC68CB-303A-4F2F-8B45-892DBBA9520A}"/>
                </a:ext>
              </a:extLst>
            </p:cNvPr>
            <p:cNvSpPr>
              <a:spLocks/>
            </p:cNvSpPr>
            <p:nvPr/>
          </p:nvSpPr>
          <p:spPr bwMode="auto">
            <a:xfrm>
              <a:off x="3633788" y="938213"/>
              <a:ext cx="360363" cy="350838"/>
            </a:xfrm>
            <a:custGeom>
              <a:avLst/>
              <a:gdLst>
                <a:gd name="T0" fmla="*/ 155 w 454"/>
                <a:gd name="T1" fmla="*/ 442 h 442"/>
                <a:gd name="T2" fmla="*/ 155 w 454"/>
                <a:gd name="T3" fmla="*/ 177 h 442"/>
                <a:gd name="T4" fmla="*/ 159 w 454"/>
                <a:gd name="T5" fmla="*/ 149 h 442"/>
                <a:gd name="T6" fmla="*/ 174 w 454"/>
                <a:gd name="T7" fmla="*/ 125 h 442"/>
                <a:gd name="T8" fmla="*/ 185 w 454"/>
                <a:gd name="T9" fmla="*/ 114 h 442"/>
                <a:gd name="T10" fmla="*/ 198 w 454"/>
                <a:gd name="T11" fmla="*/ 105 h 442"/>
                <a:gd name="T12" fmla="*/ 214 w 454"/>
                <a:gd name="T13" fmla="*/ 101 h 442"/>
                <a:gd name="T14" fmla="*/ 232 w 454"/>
                <a:gd name="T15" fmla="*/ 98 h 442"/>
                <a:gd name="T16" fmla="*/ 245 w 454"/>
                <a:gd name="T17" fmla="*/ 99 h 442"/>
                <a:gd name="T18" fmla="*/ 268 w 454"/>
                <a:gd name="T19" fmla="*/ 108 h 442"/>
                <a:gd name="T20" fmla="*/ 287 w 454"/>
                <a:gd name="T21" fmla="*/ 122 h 442"/>
                <a:gd name="T22" fmla="*/ 298 w 454"/>
                <a:gd name="T23" fmla="*/ 142 h 442"/>
                <a:gd name="T24" fmla="*/ 299 w 454"/>
                <a:gd name="T25" fmla="*/ 152 h 442"/>
                <a:gd name="T26" fmla="*/ 454 w 454"/>
                <a:gd name="T27" fmla="*/ 442 h 442"/>
                <a:gd name="T28" fmla="*/ 454 w 454"/>
                <a:gd name="T29" fmla="*/ 144 h 442"/>
                <a:gd name="T30" fmla="*/ 450 w 454"/>
                <a:gd name="T31" fmla="*/ 116 h 442"/>
                <a:gd name="T32" fmla="*/ 439 w 454"/>
                <a:gd name="T33" fmla="*/ 89 h 442"/>
                <a:gd name="T34" fmla="*/ 421 w 454"/>
                <a:gd name="T35" fmla="*/ 64 h 442"/>
                <a:gd name="T36" fmla="*/ 400 w 454"/>
                <a:gd name="T37" fmla="*/ 43 h 442"/>
                <a:gd name="T38" fmla="*/ 372 w 454"/>
                <a:gd name="T39" fmla="*/ 26 h 442"/>
                <a:gd name="T40" fmla="*/ 341 w 454"/>
                <a:gd name="T41" fmla="*/ 12 h 442"/>
                <a:gd name="T42" fmla="*/ 307 w 454"/>
                <a:gd name="T43" fmla="*/ 4 h 442"/>
                <a:gd name="T44" fmla="*/ 269 w 454"/>
                <a:gd name="T45" fmla="*/ 0 h 442"/>
                <a:gd name="T46" fmla="*/ 267 w 454"/>
                <a:gd name="T47" fmla="*/ 0 h 442"/>
                <a:gd name="T48" fmla="*/ 263 w 454"/>
                <a:gd name="T49" fmla="*/ 0 h 442"/>
                <a:gd name="T50" fmla="*/ 249 w 454"/>
                <a:gd name="T51" fmla="*/ 2 h 442"/>
                <a:gd name="T52" fmla="*/ 219 w 454"/>
                <a:gd name="T53" fmla="*/ 5 h 442"/>
                <a:gd name="T54" fmla="*/ 190 w 454"/>
                <a:gd name="T55" fmla="*/ 14 h 442"/>
                <a:gd name="T56" fmla="*/ 163 w 454"/>
                <a:gd name="T57" fmla="*/ 26 h 442"/>
                <a:gd name="T58" fmla="*/ 151 w 454"/>
                <a:gd name="T59" fmla="*/ 33 h 442"/>
                <a:gd name="T60" fmla="*/ 147 w 454"/>
                <a:gd name="T61" fmla="*/ 28 h 442"/>
                <a:gd name="T62" fmla="*/ 129 w 454"/>
                <a:gd name="T63" fmla="*/ 17 h 442"/>
                <a:gd name="T64" fmla="*/ 83 w 454"/>
                <a:gd name="T65" fmla="*/ 8 h 442"/>
                <a:gd name="T66" fmla="*/ 0 w 454"/>
                <a:gd name="T67" fmla="*/ 4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4" h="442">
                  <a:moveTo>
                    <a:pt x="0" y="442"/>
                  </a:moveTo>
                  <a:lnTo>
                    <a:pt x="155" y="442"/>
                  </a:lnTo>
                  <a:lnTo>
                    <a:pt x="155" y="177"/>
                  </a:lnTo>
                  <a:lnTo>
                    <a:pt x="155" y="177"/>
                  </a:lnTo>
                  <a:lnTo>
                    <a:pt x="156" y="163"/>
                  </a:lnTo>
                  <a:lnTo>
                    <a:pt x="159" y="149"/>
                  </a:lnTo>
                  <a:lnTo>
                    <a:pt x="165" y="136"/>
                  </a:lnTo>
                  <a:lnTo>
                    <a:pt x="174" y="125"/>
                  </a:lnTo>
                  <a:lnTo>
                    <a:pt x="180" y="119"/>
                  </a:lnTo>
                  <a:lnTo>
                    <a:pt x="185" y="114"/>
                  </a:lnTo>
                  <a:lnTo>
                    <a:pt x="192" y="109"/>
                  </a:lnTo>
                  <a:lnTo>
                    <a:pt x="198" y="105"/>
                  </a:lnTo>
                  <a:lnTo>
                    <a:pt x="207" y="103"/>
                  </a:lnTo>
                  <a:lnTo>
                    <a:pt x="214" y="101"/>
                  </a:lnTo>
                  <a:lnTo>
                    <a:pt x="222" y="99"/>
                  </a:lnTo>
                  <a:lnTo>
                    <a:pt x="232" y="98"/>
                  </a:lnTo>
                  <a:lnTo>
                    <a:pt x="232" y="98"/>
                  </a:lnTo>
                  <a:lnTo>
                    <a:pt x="245" y="99"/>
                  </a:lnTo>
                  <a:lnTo>
                    <a:pt x="257" y="103"/>
                  </a:lnTo>
                  <a:lnTo>
                    <a:pt x="268" y="108"/>
                  </a:lnTo>
                  <a:lnTo>
                    <a:pt x="279" y="114"/>
                  </a:lnTo>
                  <a:lnTo>
                    <a:pt x="287" y="122"/>
                  </a:lnTo>
                  <a:lnTo>
                    <a:pt x="295" y="132"/>
                  </a:lnTo>
                  <a:lnTo>
                    <a:pt x="298" y="142"/>
                  </a:lnTo>
                  <a:lnTo>
                    <a:pt x="299" y="146"/>
                  </a:lnTo>
                  <a:lnTo>
                    <a:pt x="299" y="152"/>
                  </a:lnTo>
                  <a:lnTo>
                    <a:pt x="299" y="442"/>
                  </a:lnTo>
                  <a:lnTo>
                    <a:pt x="454" y="442"/>
                  </a:lnTo>
                  <a:lnTo>
                    <a:pt x="454" y="144"/>
                  </a:lnTo>
                  <a:lnTo>
                    <a:pt x="454" y="144"/>
                  </a:lnTo>
                  <a:lnTo>
                    <a:pt x="453" y="130"/>
                  </a:lnTo>
                  <a:lnTo>
                    <a:pt x="450" y="116"/>
                  </a:lnTo>
                  <a:lnTo>
                    <a:pt x="446" y="102"/>
                  </a:lnTo>
                  <a:lnTo>
                    <a:pt x="439" y="89"/>
                  </a:lnTo>
                  <a:lnTo>
                    <a:pt x="431" y="76"/>
                  </a:lnTo>
                  <a:lnTo>
                    <a:pt x="421" y="64"/>
                  </a:lnTo>
                  <a:lnTo>
                    <a:pt x="411" y="53"/>
                  </a:lnTo>
                  <a:lnTo>
                    <a:pt x="400" y="43"/>
                  </a:lnTo>
                  <a:lnTo>
                    <a:pt x="386" y="34"/>
                  </a:lnTo>
                  <a:lnTo>
                    <a:pt x="372" y="26"/>
                  </a:lnTo>
                  <a:lnTo>
                    <a:pt x="356" y="18"/>
                  </a:lnTo>
                  <a:lnTo>
                    <a:pt x="341" y="12"/>
                  </a:lnTo>
                  <a:lnTo>
                    <a:pt x="324" y="8"/>
                  </a:lnTo>
                  <a:lnTo>
                    <a:pt x="307" y="4"/>
                  </a:lnTo>
                  <a:lnTo>
                    <a:pt x="289" y="2"/>
                  </a:lnTo>
                  <a:lnTo>
                    <a:pt x="269" y="0"/>
                  </a:lnTo>
                  <a:lnTo>
                    <a:pt x="269" y="0"/>
                  </a:lnTo>
                  <a:lnTo>
                    <a:pt x="267" y="0"/>
                  </a:lnTo>
                  <a:lnTo>
                    <a:pt x="267" y="0"/>
                  </a:lnTo>
                  <a:lnTo>
                    <a:pt x="263" y="0"/>
                  </a:lnTo>
                  <a:lnTo>
                    <a:pt x="263" y="0"/>
                  </a:lnTo>
                  <a:lnTo>
                    <a:pt x="249" y="2"/>
                  </a:lnTo>
                  <a:lnTo>
                    <a:pt x="233" y="3"/>
                  </a:lnTo>
                  <a:lnTo>
                    <a:pt x="219" y="5"/>
                  </a:lnTo>
                  <a:lnTo>
                    <a:pt x="204" y="9"/>
                  </a:lnTo>
                  <a:lnTo>
                    <a:pt x="190" y="14"/>
                  </a:lnTo>
                  <a:lnTo>
                    <a:pt x="176" y="20"/>
                  </a:lnTo>
                  <a:lnTo>
                    <a:pt x="163" y="26"/>
                  </a:lnTo>
                  <a:lnTo>
                    <a:pt x="151" y="33"/>
                  </a:lnTo>
                  <a:lnTo>
                    <a:pt x="151" y="33"/>
                  </a:lnTo>
                  <a:lnTo>
                    <a:pt x="150" y="32"/>
                  </a:lnTo>
                  <a:lnTo>
                    <a:pt x="147" y="28"/>
                  </a:lnTo>
                  <a:lnTo>
                    <a:pt x="140" y="23"/>
                  </a:lnTo>
                  <a:lnTo>
                    <a:pt x="129" y="17"/>
                  </a:lnTo>
                  <a:lnTo>
                    <a:pt x="110" y="12"/>
                  </a:lnTo>
                  <a:lnTo>
                    <a:pt x="83" y="8"/>
                  </a:lnTo>
                  <a:lnTo>
                    <a:pt x="47" y="5"/>
                  </a:lnTo>
                  <a:lnTo>
                    <a:pt x="0" y="4"/>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5" name="Rectangle 38">
              <a:extLst>
                <a:ext uri="{FF2B5EF4-FFF2-40B4-BE49-F238E27FC236}">
                  <a16:creationId xmlns:a16="http://schemas.microsoft.com/office/drawing/2014/main" id="{14D01C02-09E8-45E4-A768-7D1CAF85806E}"/>
                </a:ext>
              </a:extLst>
            </p:cNvPr>
            <p:cNvSpPr>
              <a:spLocks noChangeArrowheads="1"/>
            </p:cNvSpPr>
            <p:nvPr/>
          </p:nvSpPr>
          <p:spPr bwMode="auto">
            <a:xfrm>
              <a:off x="2168526" y="952501"/>
              <a:ext cx="120650" cy="336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6" name="Freeform 39">
              <a:extLst>
                <a:ext uri="{FF2B5EF4-FFF2-40B4-BE49-F238E27FC236}">
                  <a16:creationId xmlns:a16="http://schemas.microsoft.com/office/drawing/2014/main" id="{B3889485-AAE4-44B4-A000-4F05BA21A4AE}"/>
                </a:ext>
              </a:extLst>
            </p:cNvPr>
            <p:cNvSpPr>
              <a:spLocks/>
            </p:cNvSpPr>
            <p:nvPr/>
          </p:nvSpPr>
          <p:spPr bwMode="auto">
            <a:xfrm>
              <a:off x="2820988" y="946151"/>
              <a:ext cx="252413" cy="342900"/>
            </a:xfrm>
            <a:custGeom>
              <a:avLst/>
              <a:gdLst>
                <a:gd name="T0" fmla="*/ 0 w 319"/>
                <a:gd name="T1" fmla="*/ 432 h 432"/>
                <a:gd name="T2" fmla="*/ 151 w 319"/>
                <a:gd name="T3" fmla="*/ 432 h 432"/>
                <a:gd name="T4" fmla="*/ 151 w 319"/>
                <a:gd name="T5" fmla="*/ 175 h 432"/>
                <a:gd name="T6" fmla="*/ 151 w 319"/>
                <a:gd name="T7" fmla="*/ 175 h 432"/>
                <a:gd name="T8" fmla="*/ 152 w 319"/>
                <a:gd name="T9" fmla="*/ 167 h 432"/>
                <a:gd name="T10" fmla="*/ 153 w 319"/>
                <a:gd name="T11" fmla="*/ 159 h 432"/>
                <a:gd name="T12" fmla="*/ 156 w 319"/>
                <a:gd name="T13" fmla="*/ 153 h 432"/>
                <a:gd name="T14" fmla="*/ 159 w 319"/>
                <a:gd name="T15" fmla="*/ 146 h 432"/>
                <a:gd name="T16" fmla="*/ 164 w 319"/>
                <a:gd name="T17" fmla="*/ 140 h 432"/>
                <a:gd name="T18" fmla="*/ 169 w 319"/>
                <a:gd name="T19" fmla="*/ 134 h 432"/>
                <a:gd name="T20" fmla="*/ 175 w 319"/>
                <a:gd name="T21" fmla="*/ 128 h 432"/>
                <a:gd name="T22" fmla="*/ 181 w 319"/>
                <a:gd name="T23" fmla="*/ 123 h 432"/>
                <a:gd name="T24" fmla="*/ 196 w 319"/>
                <a:gd name="T25" fmla="*/ 114 h 432"/>
                <a:gd name="T26" fmla="*/ 213 w 319"/>
                <a:gd name="T27" fmla="*/ 107 h 432"/>
                <a:gd name="T28" fmla="*/ 231 w 319"/>
                <a:gd name="T29" fmla="*/ 103 h 432"/>
                <a:gd name="T30" fmla="*/ 240 w 319"/>
                <a:gd name="T31" fmla="*/ 101 h 432"/>
                <a:gd name="T32" fmla="*/ 250 w 319"/>
                <a:gd name="T33" fmla="*/ 101 h 432"/>
                <a:gd name="T34" fmla="*/ 250 w 319"/>
                <a:gd name="T35" fmla="*/ 101 h 432"/>
                <a:gd name="T36" fmla="*/ 268 w 319"/>
                <a:gd name="T37" fmla="*/ 103 h 432"/>
                <a:gd name="T38" fmla="*/ 286 w 319"/>
                <a:gd name="T39" fmla="*/ 105 h 432"/>
                <a:gd name="T40" fmla="*/ 303 w 319"/>
                <a:gd name="T41" fmla="*/ 110 h 432"/>
                <a:gd name="T42" fmla="*/ 319 w 319"/>
                <a:gd name="T43" fmla="*/ 116 h 432"/>
                <a:gd name="T44" fmla="*/ 319 w 319"/>
                <a:gd name="T45" fmla="*/ 116 h 432"/>
                <a:gd name="T46" fmla="*/ 319 w 319"/>
                <a:gd name="T47" fmla="*/ 4 h 432"/>
                <a:gd name="T48" fmla="*/ 319 w 319"/>
                <a:gd name="T49" fmla="*/ 4 h 432"/>
                <a:gd name="T50" fmla="*/ 291 w 319"/>
                <a:gd name="T51" fmla="*/ 1 h 432"/>
                <a:gd name="T52" fmla="*/ 265 w 319"/>
                <a:gd name="T53" fmla="*/ 0 h 432"/>
                <a:gd name="T54" fmla="*/ 265 w 319"/>
                <a:gd name="T55" fmla="*/ 0 h 432"/>
                <a:gd name="T56" fmla="*/ 250 w 319"/>
                <a:gd name="T57" fmla="*/ 0 h 432"/>
                <a:gd name="T58" fmla="*/ 234 w 319"/>
                <a:gd name="T59" fmla="*/ 2 h 432"/>
                <a:gd name="T60" fmla="*/ 220 w 319"/>
                <a:gd name="T61" fmla="*/ 5 h 432"/>
                <a:gd name="T62" fmla="*/ 205 w 319"/>
                <a:gd name="T63" fmla="*/ 8 h 432"/>
                <a:gd name="T64" fmla="*/ 191 w 319"/>
                <a:gd name="T65" fmla="*/ 12 h 432"/>
                <a:gd name="T66" fmla="*/ 176 w 319"/>
                <a:gd name="T67" fmla="*/ 18 h 432"/>
                <a:gd name="T68" fmla="*/ 163 w 319"/>
                <a:gd name="T69" fmla="*/ 24 h 432"/>
                <a:gd name="T70" fmla="*/ 151 w 319"/>
                <a:gd name="T71" fmla="*/ 31 h 432"/>
                <a:gd name="T72" fmla="*/ 151 w 319"/>
                <a:gd name="T73" fmla="*/ 31 h 432"/>
                <a:gd name="T74" fmla="*/ 149 w 319"/>
                <a:gd name="T75" fmla="*/ 29 h 432"/>
                <a:gd name="T76" fmla="*/ 144 w 319"/>
                <a:gd name="T77" fmla="*/ 24 h 432"/>
                <a:gd name="T78" fmla="*/ 137 w 319"/>
                <a:gd name="T79" fmla="*/ 19 h 432"/>
                <a:gd name="T80" fmla="*/ 123 w 319"/>
                <a:gd name="T81" fmla="*/ 15 h 432"/>
                <a:gd name="T82" fmla="*/ 104 w 319"/>
                <a:gd name="T83" fmla="*/ 10 h 432"/>
                <a:gd name="T84" fmla="*/ 79 w 319"/>
                <a:gd name="T85" fmla="*/ 6 h 432"/>
                <a:gd name="T86" fmla="*/ 44 w 319"/>
                <a:gd name="T87" fmla="*/ 4 h 432"/>
                <a:gd name="T88" fmla="*/ 0 w 319"/>
                <a:gd name="T89" fmla="*/ 2 h 432"/>
                <a:gd name="T90" fmla="*/ 0 w 319"/>
                <a:gd name="T91" fmla="*/ 43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9" h="432">
                  <a:moveTo>
                    <a:pt x="0" y="432"/>
                  </a:moveTo>
                  <a:lnTo>
                    <a:pt x="151" y="432"/>
                  </a:lnTo>
                  <a:lnTo>
                    <a:pt x="151" y="175"/>
                  </a:lnTo>
                  <a:lnTo>
                    <a:pt x="151" y="175"/>
                  </a:lnTo>
                  <a:lnTo>
                    <a:pt x="152" y="167"/>
                  </a:lnTo>
                  <a:lnTo>
                    <a:pt x="153" y="159"/>
                  </a:lnTo>
                  <a:lnTo>
                    <a:pt x="156" y="153"/>
                  </a:lnTo>
                  <a:lnTo>
                    <a:pt x="159" y="146"/>
                  </a:lnTo>
                  <a:lnTo>
                    <a:pt x="164" y="140"/>
                  </a:lnTo>
                  <a:lnTo>
                    <a:pt x="169" y="134"/>
                  </a:lnTo>
                  <a:lnTo>
                    <a:pt x="175" y="128"/>
                  </a:lnTo>
                  <a:lnTo>
                    <a:pt x="181" y="123"/>
                  </a:lnTo>
                  <a:lnTo>
                    <a:pt x="196" y="114"/>
                  </a:lnTo>
                  <a:lnTo>
                    <a:pt x="213" y="107"/>
                  </a:lnTo>
                  <a:lnTo>
                    <a:pt x="231" y="103"/>
                  </a:lnTo>
                  <a:lnTo>
                    <a:pt x="240" y="101"/>
                  </a:lnTo>
                  <a:lnTo>
                    <a:pt x="250" y="101"/>
                  </a:lnTo>
                  <a:lnTo>
                    <a:pt x="250" y="101"/>
                  </a:lnTo>
                  <a:lnTo>
                    <a:pt x="268" y="103"/>
                  </a:lnTo>
                  <a:lnTo>
                    <a:pt x="286" y="105"/>
                  </a:lnTo>
                  <a:lnTo>
                    <a:pt x="303" y="110"/>
                  </a:lnTo>
                  <a:lnTo>
                    <a:pt x="319" y="116"/>
                  </a:lnTo>
                  <a:lnTo>
                    <a:pt x="319" y="116"/>
                  </a:lnTo>
                  <a:lnTo>
                    <a:pt x="319" y="4"/>
                  </a:lnTo>
                  <a:lnTo>
                    <a:pt x="319" y="4"/>
                  </a:lnTo>
                  <a:lnTo>
                    <a:pt x="291" y="1"/>
                  </a:lnTo>
                  <a:lnTo>
                    <a:pt x="265" y="0"/>
                  </a:lnTo>
                  <a:lnTo>
                    <a:pt x="265" y="0"/>
                  </a:lnTo>
                  <a:lnTo>
                    <a:pt x="250" y="0"/>
                  </a:lnTo>
                  <a:lnTo>
                    <a:pt x="234" y="2"/>
                  </a:lnTo>
                  <a:lnTo>
                    <a:pt x="220" y="5"/>
                  </a:lnTo>
                  <a:lnTo>
                    <a:pt x="205" y="8"/>
                  </a:lnTo>
                  <a:lnTo>
                    <a:pt x="191" y="12"/>
                  </a:lnTo>
                  <a:lnTo>
                    <a:pt x="176" y="18"/>
                  </a:lnTo>
                  <a:lnTo>
                    <a:pt x="163" y="24"/>
                  </a:lnTo>
                  <a:lnTo>
                    <a:pt x="151" y="31"/>
                  </a:lnTo>
                  <a:lnTo>
                    <a:pt x="151" y="31"/>
                  </a:lnTo>
                  <a:lnTo>
                    <a:pt x="149" y="29"/>
                  </a:lnTo>
                  <a:lnTo>
                    <a:pt x="144" y="24"/>
                  </a:lnTo>
                  <a:lnTo>
                    <a:pt x="137" y="19"/>
                  </a:lnTo>
                  <a:lnTo>
                    <a:pt x="123" y="15"/>
                  </a:lnTo>
                  <a:lnTo>
                    <a:pt x="104" y="10"/>
                  </a:lnTo>
                  <a:lnTo>
                    <a:pt x="79" y="6"/>
                  </a:lnTo>
                  <a:lnTo>
                    <a:pt x="44" y="4"/>
                  </a:lnTo>
                  <a:lnTo>
                    <a:pt x="0" y="2"/>
                  </a:lnTo>
                  <a:lnTo>
                    <a:pt x="0" y="4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7" name="Freeform 40">
              <a:extLst>
                <a:ext uri="{FF2B5EF4-FFF2-40B4-BE49-F238E27FC236}">
                  <a16:creationId xmlns:a16="http://schemas.microsoft.com/office/drawing/2014/main" id="{AD8FF950-1BF2-4930-B1D8-0BBEAEDB4D61}"/>
                </a:ext>
              </a:extLst>
            </p:cNvPr>
            <p:cNvSpPr>
              <a:spLocks/>
            </p:cNvSpPr>
            <p:nvPr/>
          </p:nvSpPr>
          <p:spPr bwMode="auto">
            <a:xfrm>
              <a:off x="1701801" y="677863"/>
              <a:ext cx="522288" cy="635000"/>
            </a:xfrm>
            <a:custGeom>
              <a:avLst/>
              <a:gdLst>
                <a:gd name="T0" fmla="*/ 635 w 658"/>
                <a:gd name="T1" fmla="*/ 37 h 800"/>
                <a:gd name="T2" fmla="*/ 614 w 658"/>
                <a:gd name="T3" fmla="*/ 19 h 800"/>
                <a:gd name="T4" fmla="*/ 587 w 658"/>
                <a:gd name="T5" fmla="*/ 7 h 800"/>
                <a:gd name="T6" fmla="*/ 529 w 658"/>
                <a:gd name="T7" fmla="*/ 0 h 800"/>
                <a:gd name="T8" fmla="*/ 442 w 658"/>
                <a:gd name="T9" fmla="*/ 11 h 800"/>
                <a:gd name="T10" fmla="*/ 337 w 658"/>
                <a:gd name="T11" fmla="*/ 43 h 800"/>
                <a:gd name="T12" fmla="*/ 218 w 658"/>
                <a:gd name="T13" fmla="*/ 95 h 800"/>
                <a:gd name="T14" fmla="*/ 161 w 658"/>
                <a:gd name="T15" fmla="*/ 126 h 800"/>
                <a:gd name="T16" fmla="*/ 146 w 658"/>
                <a:gd name="T17" fmla="*/ 135 h 800"/>
                <a:gd name="T18" fmla="*/ 144 w 658"/>
                <a:gd name="T19" fmla="*/ 142 h 800"/>
                <a:gd name="T20" fmla="*/ 152 w 658"/>
                <a:gd name="T21" fmla="*/ 142 h 800"/>
                <a:gd name="T22" fmla="*/ 181 w 658"/>
                <a:gd name="T23" fmla="*/ 132 h 800"/>
                <a:gd name="T24" fmla="*/ 244 w 658"/>
                <a:gd name="T25" fmla="*/ 104 h 800"/>
                <a:gd name="T26" fmla="*/ 331 w 658"/>
                <a:gd name="T27" fmla="*/ 74 h 800"/>
                <a:gd name="T28" fmla="*/ 407 w 658"/>
                <a:gd name="T29" fmla="*/ 59 h 800"/>
                <a:gd name="T30" fmla="*/ 470 w 658"/>
                <a:gd name="T31" fmla="*/ 59 h 800"/>
                <a:gd name="T32" fmla="*/ 518 w 658"/>
                <a:gd name="T33" fmla="*/ 74 h 800"/>
                <a:gd name="T34" fmla="*/ 541 w 658"/>
                <a:gd name="T35" fmla="*/ 92 h 800"/>
                <a:gd name="T36" fmla="*/ 558 w 658"/>
                <a:gd name="T37" fmla="*/ 121 h 800"/>
                <a:gd name="T38" fmla="*/ 562 w 658"/>
                <a:gd name="T39" fmla="*/ 159 h 800"/>
                <a:gd name="T40" fmla="*/ 554 w 658"/>
                <a:gd name="T41" fmla="*/ 206 h 800"/>
                <a:gd name="T42" fmla="*/ 535 w 658"/>
                <a:gd name="T43" fmla="*/ 258 h 800"/>
                <a:gd name="T44" fmla="*/ 506 w 658"/>
                <a:gd name="T45" fmla="*/ 316 h 800"/>
                <a:gd name="T46" fmla="*/ 436 w 658"/>
                <a:gd name="T47" fmla="*/ 420 h 800"/>
                <a:gd name="T48" fmla="*/ 320 w 658"/>
                <a:gd name="T49" fmla="*/ 551 h 800"/>
                <a:gd name="T50" fmla="*/ 225 w 658"/>
                <a:gd name="T51" fmla="*/ 634 h 800"/>
                <a:gd name="T52" fmla="*/ 173 w 658"/>
                <a:gd name="T53" fmla="*/ 675 h 800"/>
                <a:gd name="T54" fmla="*/ 39 w 658"/>
                <a:gd name="T55" fmla="*/ 767 h 800"/>
                <a:gd name="T56" fmla="*/ 31 w 658"/>
                <a:gd name="T57" fmla="*/ 771 h 800"/>
                <a:gd name="T58" fmla="*/ 2 w 658"/>
                <a:gd name="T59" fmla="*/ 794 h 800"/>
                <a:gd name="T60" fmla="*/ 3 w 658"/>
                <a:gd name="T61" fmla="*/ 799 h 800"/>
                <a:gd name="T62" fmla="*/ 11 w 658"/>
                <a:gd name="T63" fmla="*/ 798 h 800"/>
                <a:gd name="T64" fmla="*/ 38 w 658"/>
                <a:gd name="T65" fmla="*/ 785 h 800"/>
                <a:gd name="T66" fmla="*/ 45 w 658"/>
                <a:gd name="T67" fmla="*/ 780 h 800"/>
                <a:gd name="T68" fmla="*/ 195 w 658"/>
                <a:gd name="T69" fmla="*/ 680 h 800"/>
                <a:gd name="T70" fmla="*/ 301 w 658"/>
                <a:gd name="T71" fmla="*/ 601 h 800"/>
                <a:gd name="T72" fmla="*/ 455 w 658"/>
                <a:gd name="T73" fmla="*/ 461 h 800"/>
                <a:gd name="T74" fmla="*/ 515 w 658"/>
                <a:gd name="T75" fmla="*/ 396 h 800"/>
                <a:gd name="T76" fmla="*/ 585 w 658"/>
                <a:gd name="T77" fmla="*/ 303 h 800"/>
                <a:gd name="T78" fmla="*/ 632 w 658"/>
                <a:gd name="T79" fmla="*/ 216 h 800"/>
                <a:gd name="T80" fmla="*/ 656 w 658"/>
                <a:gd name="T81" fmla="*/ 141 h 800"/>
                <a:gd name="T82" fmla="*/ 657 w 658"/>
                <a:gd name="T83" fmla="*/ 87 h 800"/>
                <a:gd name="T84" fmla="*/ 650 w 658"/>
                <a:gd name="T85" fmla="*/ 60 h 800"/>
                <a:gd name="T86" fmla="*/ 640 w 658"/>
                <a:gd name="T87" fmla="*/ 45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8" h="800">
                  <a:moveTo>
                    <a:pt x="640" y="45"/>
                  </a:moveTo>
                  <a:lnTo>
                    <a:pt x="640" y="45"/>
                  </a:lnTo>
                  <a:lnTo>
                    <a:pt x="635" y="37"/>
                  </a:lnTo>
                  <a:lnTo>
                    <a:pt x="628" y="30"/>
                  </a:lnTo>
                  <a:lnTo>
                    <a:pt x="621" y="24"/>
                  </a:lnTo>
                  <a:lnTo>
                    <a:pt x="614" y="19"/>
                  </a:lnTo>
                  <a:lnTo>
                    <a:pt x="605" y="14"/>
                  </a:lnTo>
                  <a:lnTo>
                    <a:pt x="597" y="11"/>
                  </a:lnTo>
                  <a:lnTo>
                    <a:pt x="587" y="7"/>
                  </a:lnTo>
                  <a:lnTo>
                    <a:pt x="576" y="5"/>
                  </a:lnTo>
                  <a:lnTo>
                    <a:pt x="553" y="1"/>
                  </a:lnTo>
                  <a:lnTo>
                    <a:pt x="529" y="0"/>
                  </a:lnTo>
                  <a:lnTo>
                    <a:pt x="503" y="1"/>
                  </a:lnTo>
                  <a:lnTo>
                    <a:pt x="474" y="5"/>
                  </a:lnTo>
                  <a:lnTo>
                    <a:pt x="442" y="11"/>
                  </a:lnTo>
                  <a:lnTo>
                    <a:pt x="408" y="19"/>
                  </a:lnTo>
                  <a:lnTo>
                    <a:pt x="373" y="30"/>
                  </a:lnTo>
                  <a:lnTo>
                    <a:pt x="337" y="43"/>
                  </a:lnTo>
                  <a:lnTo>
                    <a:pt x="299" y="59"/>
                  </a:lnTo>
                  <a:lnTo>
                    <a:pt x="260" y="76"/>
                  </a:lnTo>
                  <a:lnTo>
                    <a:pt x="218" y="95"/>
                  </a:lnTo>
                  <a:lnTo>
                    <a:pt x="175" y="117"/>
                  </a:lnTo>
                  <a:lnTo>
                    <a:pt x="175" y="117"/>
                  </a:lnTo>
                  <a:lnTo>
                    <a:pt x="161" y="126"/>
                  </a:lnTo>
                  <a:lnTo>
                    <a:pt x="150" y="133"/>
                  </a:lnTo>
                  <a:lnTo>
                    <a:pt x="150" y="133"/>
                  </a:lnTo>
                  <a:lnTo>
                    <a:pt x="146" y="135"/>
                  </a:lnTo>
                  <a:lnTo>
                    <a:pt x="144" y="138"/>
                  </a:lnTo>
                  <a:lnTo>
                    <a:pt x="144" y="140"/>
                  </a:lnTo>
                  <a:lnTo>
                    <a:pt x="144" y="142"/>
                  </a:lnTo>
                  <a:lnTo>
                    <a:pt x="145" y="144"/>
                  </a:lnTo>
                  <a:lnTo>
                    <a:pt x="148" y="144"/>
                  </a:lnTo>
                  <a:lnTo>
                    <a:pt x="152" y="142"/>
                  </a:lnTo>
                  <a:lnTo>
                    <a:pt x="152" y="142"/>
                  </a:lnTo>
                  <a:lnTo>
                    <a:pt x="167" y="138"/>
                  </a:lnTo>
                  <a:lnTo>
                    <a:pt x="181" y="132"/>
                  </a:lnTo>
                  <a:lnTo>
                    <a:pt x="181" y="132"/>
                  </a:lnTo>
                  <a:lnTo>
                    <a:pt x="214" y="116"/>
                  </a:lnTo>
                  <a:lnTo>
                    <a:pt x="244" y="104"/>
                  </a:lnTo>
                  <a:lnTo>
                    <a:pt x="274" y="92"/>
                  </a:lnTo>
                  <a:lnTo>
                    <a:pt x="303" y="82"/>
                  </a:lnTo>
                  <a:lnTo>
                    <a:pt x="331" y="74"/>
                  </a:lnTo>
                  <a:lnTo>
                    <a:pt x="358" y="68"/>
                  </a:lnTo>
                  <a:lnTo>
                    <a:pt x="383" y="63"/>
                  </a:lnTo>
                  <a:lnTo>
                    <a:pt x="407" y="59"/>
                  </a:lnTo>
                  <a:lnTo>
                    <a:pt x="429" y="58"/>
                  </a:lnTo>
                  <a:lnTo>
                    <a:pt x="451" y="58"/>
                  </a:lnTo>
                  <a:lnTo>
                    <a:pt x="470" y="59"/>
                  </a:lnTo>
                  <a:lnTo>
                    <a:pt x="488" y="62"/>
                  </a:lnTo>
                  <a:lnTo>
                    <a:pt x="504" y="66"/>
                  </a:lnTo>
                  <a:lnTo>
                    <a:pt x="518" y="74"/>
                  </a:lnTo>
                  <a:lnTo>
                    <a:pt x="530" y="82"/>
                  </a:lnTo>
                  <a:lnTo>
                    <a:pt x="541" y="92"/>
                  </a:lnTo>
                  <a:lnTo>
                    <a:pt x="541" y="92"/>
                  </a:lnTo>
                  <a:lnTo>
                    <a:pt x="548" y="100"/>
                  </a:lnTo>
                  <a:lnTo>
                    <a:pt x="554" y="110"/>
                  </a:lnTo>
                  <a:lnTo>
                    <a:pt x="558" y="121"/>
                  </a:lnTo>
                  <a:lnTo>
                    <a:pt x="560" y="133"/>
                  </a:lnTo>
                  <a:lnTo>
                    <a:pt x="562" y="146"/>
                  </a:lnTo>
                  <a:lnTo>
                    <a:pt x="562" y="159"/>
                  </a:lnTo>
                  <a:lnTo>
                    <a:pt x="560" y="174"/>
                  </a:lnTo>
                  <a:lnTo>
                    <a:pt x="558" y="190"/>
                  </a:lnTo>
                  <a:lnTo>
                    <a:pt x="554" y="206"/>
                  </a:lnTo>
                  <a:lnTo>
                    <a:pt x="548" y="223"/>
                  </a:lnTo>
                  <a:lnTo>
                    <a:pt x="542" y="240"/>
                  </a:lnTo>
                  <a:lnTo>
                    <a:pt x="535" y="258"/>
                  </a:lnTo>
                  <a:lnTo>
                    <a:pt x="527" y="278"/>
                  </a:lnTo>
                  <a:lnTo>
                    <a:pt x="517" y="297"/>
                  </a:lnTo>
                  <a:lnTo>
                    <a:pt x="506" y="316"/>
                  </a:lnTo>
                  <a:lnTo>
                    <a:pt x="494" y="337"/>
                  </a:lnTo>
                  <a:lnTo>
                    <a:pt x="468" y="378"/>
                  </a:lnTo>
                  <a:lnTo>
                    <a:pt x="436" y="420"/>
                  </a:lnTo>
                  <a:lnTo>
                    <a:pt x="401" y="464"/>
                  </a:lnTo>
                  <a:lnTo>
                    <a:pt x="362" y="507"/>
                  </a:lnTo>
                  <a:lnTo>
                    <a:pt x="320" y="551"/>
                  </a:lnTo>
                  <a:lnTo>
                    <a:pt x="274" y="593"/>
                  </a:lnTo>
                  <a:lnTo>
                    <a:pt x="250" y="613"/>
                  </a:lnTo>
                  <a:lnTo>
                    <a:pt x="225" y="634"/>
                  </a:lnTo>
                  <a:lnTo>
                    <a:pt x="200" y="654"/>
                  </a:lnTo>
                  <a:lnTo>
                    <a:pt x="173" y="675"/>
                  </a:lnTo>
                  <a:lnTo>
                    <a:pt x="173" y="675"/>
                  </a:lnTo>
                  <a:lnTo>
                    <a:pt x="107" y="723"/>
                  </a:lnTo>
                  <a:lnTo>
                    <a:pt x="70" y="747"/>
                  </a:lnTo>
                  <a:lnTo>
                    <a:pt x="39" y="767"/>
                  </a:lnTo>
                  <a:lnTo>
                    <a:pt x="39" y="767"/>
                  </a:lnTo>
                  <a:lnTo>
                    <a:pt x="31" y="771"/>
                  </a:lnTo>
                  <a:lnTo>
                    <a:pt x="31" y="771"/>
                  </a:lnTo>
                  <a:lnTo>
                    <a:pt x="5" y="790"/>
                  </a:lnTo>
                  <a:lnTo>
                    <a:pt x="5" y="790"/>
                  </a:lnTo>
                  <a:lnTo>
                    <a:pt x="2" y="794"/>
                  </a:lnTo>
                  <a:lnTo>
                    <a:pt x="0" y="797"/>
                  </a:lnTo>
                  <a:lnTo>
                    <a:pt x="2" y="798"/>
                  </a:lnTo>
                  <a:lnTo>
                    <a:pt x="3" y="799"/>
                  </a:lnTo>
                  <a:lnTo>
                    <a:pt x="4" y="800"/>
                  </a:lnTo>
                  <a:lnTo>
                    <a:pt x="8" y="800"/>
                  </a:lnTo>
                  <a:lnTo>
                    <a:pt x="11" y="798"/>
                  </a:lnTo>
                  <a:lnTo>
                    <a:pt x="11" y="798"/>
                  </a:lnTo>
                  <a:lnTo>
                    <a:pt x="24" y="792"/>
                  </a:lnTo>
                  <a:lnTo>
                    <a:pt x="38" y="785"/>
                  </a:lnTo>
                  <a:lnTo>
                    <a:pt x="38" y="785"/>
                  </a:lnTo>
                  <a:lnTo>
                    <a:pt x="45" y="780"/>
                  </a:lnTo>
                  <a:lnTo>
                    <a:pt x="45" y="780"/>
                  </a:lnTo>
                  <a:lnTo>
                    <a:pt x="80" y="758"/>
                  </a:lnTo>
                  <a:lnTo>
                    <a:pt x="120" y="732"/>
                  </a:lnTo>
                  <a:lnTo>
                    <a:pt x="195" y="680"/>
                  </a:lnTo>
                  <a:lnTo>
                    <a:pt x="195" y="680"/>
                  </a:lnTo>
                  <a:lnTo>
                    <a:pt x="249" y="641"/>
                  </a:lnTo>
                  <a:lnTo>
                    <a:pt x="301" y="601"/>
                  </a:lnTo>
                  <a:lnTo>
                    <a:pt x="301" y="770"/>
                  </a:lnTo>
                  <a:lnTo>
                    <a:pt x="455" y="770"/>
                  </a:lnTo>
                  <a:lnTo>
                    <a:pt x="455" y="461"/>
                  </a:lnTo>
                  <a:lnTo>
                    <a:pt x="455" y="461"/>
                  </a:lnTo>
                  <a:lnTo>
                    <a:pt x="486" y="429"/>
                  </a:lnTo>
                  <a:lnTo>
                    <a:pt x="515" y="396"/>
                  </a:lnTo>
                  <a:lnTo>
                    <a:pt x="540" y="365"/>
                  </a:lnTo>
                  <a:lnTo>
                    <a:pt x="563" y="333"/>
                  </a:lnTo>
                  <a:lnTo>
                    <a:pt x="585" y="303"/>
                  </a:lnTo>
                  <a:lnTo>
                    <a:pt x="603" y="273"/>
                  </a:lnTo>
                  <a:lnTo>
                    <a:pt x="618" y="244"/>
                  </a:lnTo>
                  <a:lnTo>
                    <a:pt x="632" y="216"/>
                  </a:lnTo>
                  <a:lnTo>
                    <a:pt x="643" y="190"/>
                  </a:lnTo>
                  <a:lnTo>
                    <a:pt x="651" y="164"/>
                  </a:lnTo>
                  <a:lnTo>
                    <a:pt x="656" y="141"/>
                  </a:lnTo>
                  <a:lnTo>
                    <a:pt x="658" y="118"/>
                  </a:lnTo>
                  <a:lnTo>
                    <a:pt x="658" y="98"/>
                  </a:lnTo>
                  <a:lnTo>
                    <a:pt x="657" y="87"/>
                  </a:lnTo>
                  <a:lnTo>
                    <a:pt x="656" y="78"/>
                  </a:lnTo>
                  <a:lnTo>
                    <a:pt x="652" y="69"/>
                  </a:lnTo>
                  <a:lnTo>
                    <a:pt x="650" y="60"/>
                  </a:lnTo>
                  <a:lnTo>
                    <a:pt x="645" y="52"/>
                  </a:lnTo>
                  <a:lnTo>
                    <a:pt x="640" y="45"/>
                  </a:lnTo>
                  <a:lnTo>
                    <a:pt x="64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8" name="Freeform 41">
              <a:extLst>
                <a:ext uri="{FF2B5EF4-FFF2-40B4-BE49-F238E27FC236}">
                  <a16:creationId xmlns:a16="http://schemas.microsoft.com/office/drawing/2014/main" id="{7AB2BF0D-4CC6-4852-B3C9-DBA71CDB2D7B}"/>
                </a:ext>
              </a:extLst>
            </p:cNvPr>
            <p:cNvSpPr>
              <a:spLocks/>
            </p:cNvSpPr>
            <p:nvPr/>
          </p:nvSpPr>
          <p:spPr bwMode="auto">
            <a:xfrm>
              <a:off x="1233488" y="814388"/>
              <a:ext cx="819150" cy="649288"/>
            </a:xfrm>
            <a:custGeom>
              <a:avLst/>
              <a:gdLst>
                <a:gd name="T0" fmla="*/ 442 w 1032"/>
                <a:gd name="T1" fmla="*/ 660 h 819"/>
                <a:gd name="T2" fmla="*/ 582 w 1032"/>
                <a:gd name="T3" fmla="*/ 569 h 819"/>
                <a:gd name="T4" fmla="*/ 598 w 1032"/>
                <a:gd name="T5" fmla="*/ 553 h 819"/>
                <a:gd name="T6" fmla="*/ 594 w 1032"/>
                <a:gd name="T7" fmla="*/ 549 h 819"/>
                <a:gd name="T8" fmla="*/ 560 w 1032"/>
                <a:gd name="T9" fmla="*/ 567 h 819"/>
                <a:gd name="T10" fmla="*/ 397 w 1032"/>
                <a:gd name="T11" fmla="*/ 661 h 819"/>
                <a:gd name="T12" fmla="*/ 264 w 1032"/>
                <a:gd name="T13" fmla="*/ 713 h 819"/>
                <a:gd name="T14" fmla="*/ 175 w 1032"/>
                <a:gd name="T15" fmla="*/ 722 h 819"/>
                <a:gd name="T16" fmla="*/ 138 w 1032"/>
                <a:gd name="T17" fmla="*/ 713 h 819"/>
                <a:gd name="T18" fmla="*/ 107 w 1032"/>
                <a:gd name="T19" fmla="*/ 692 h 819"/>
                <a:gd name="T20" fmla="*/ 94 w 1032"/>
                <a:gd name="T21" fmla="*/ 670 h 819"/>
                <a:gd name="T22" fmla="*/ 87 w 1032"/>
                <a:gd name="T23" fmla="*/ 639 h 819"/>
                <a:gd name="T24" fmla="*/ 106 w 1032"/>
                <a:gd name="T25" fmla="*/ 559 h 819"/>
                <a:gd name="T26" fmla="*/ 167 w 1032"/>
                <a:gd name="T27" fmla="*/ 463 h 819"/>
                <a:gd name="T28" fmla="*/ 260 w 1032"/>
                <a:gd name="T29" fmla="*/ 354 h 819"/>
                <a:gd name="T30" fmla="*/ 322 w 1032"/>
                <a:gd name="T31" fmla="*/ 668 h 819"/>
                <a:gd name="T32" fmla="*/ 442 w 1032"/>
                <a:gd name="T33" fmla="*/ 281 h 819"/>
                <a:gd name="T34" fmla="*/ 491 w 1032"/>
                <a:gd name="T35" fmla="*/ 381 h 819"/>
                <a:gd name="T36" fmla="*/ 530 w 1032"/>
                <a:gd name="T37" fmla="*/ 428 h 819"/>
                <a:gd name="T38" fmla="*/ 578 w 1032"/>
                <a:gd name="T39" fmla="*/ 460 h 819"/>
                <a:gd name="T40" fmla="*/ 635 w 1032"/>
                <a:gd name="T41" fmla="*/ 479 h 819"/>
                <a:gd name="T42" fmla="*/ 682 w 1032"/>
                <a:gd name="T43" fmla="*/ 480 h 819"/>
                <a:gd name="T44" fmla="*/ 741 w 1032"/>
                <a:gd name="T45" fmla="*/ 466 h 819"/>
                <a:gd name="T46" fmla="*/ 792 w 1032"/>
                <a:gd name="T47" fmla="*/ 437 h 819"/>
                <a:gd name="T48" fmla="*/ 833 w 1032"/>
                <a:gd name="T49" fmla="*/ 394 h 819"/>
                <a:gd name="T50" fmla="*/ 891 w 1032"/>
                <a:gd name="T51" fmla="*/ 281 h 819"/>
                <a:gd name="T52" fmla="*/ 967 w 1032"/>
                <a:gd name="T53" fmla="*/ 284 h 819"/>
                <a:gd name="T54" fmla="*/ 1029 w 1032"/>
                <a:gd name="T55" fmla="*/ 206 h 819"/>
                <a:gd name="T56" fmla="*/ 1031 w 1032"/>
                <a:gd name="T57" fmla="*/ 188 h 819"/>
                <a:gd name="T58" fmla="*/ 994 w 1032"/>
                <a:gd name="T59" fmla="*/ 139 h 819"/>
                <a:gd name="T60" fmla="*/ 939 w 1032"/>
                <a:gd name="T61" fmla="*/ 110 h 819"/>
                <a:gd name="T62" fmla="*/ 897 w 1032"/>
                <a:gd name="T63" fmla="*/ 104 h 819"/>
                <a:gd name="T64" fmla="*/ 866 w 1032"/>
                <a:gd name="T65" fmla="*/ 108 h 819"/>
                <a:gd name="T66" fmla="*/ 818 w 1032"/>
                <a:gd name="T67" fmla="*/ 127 h 819"/>
                <a:gd name="T68" fmla="*/ 764 w 1032"/>
                <a:gd name="T69" fmla="*/ 186 h 819"/>
                <a:gd name="T70" fmla="*/ 694 w 1032"/>
                <a:gd name="T71" fmla="*/ 332 h 819"/>
                <a:gd name="T72" fmla="*/ 666 w 1032"/>
                <a:gd name="T73" fmla="*/ 344 h 819"/>
                <a:gd name="T74" fmla="*/ 643 w 1032"/>
                <a:gd name="T75" fmla="*/ 336 h 819"/>
                <a:gd name="T76" fmla="*/ 569 w 1032"/>
                <a:gd name="T77" fmla="*/ 186 h 819"/>
                <a:gd name="T78" fmla="*/ 546 w 1032"/>
                <a:gd name="T79" fmla="*/ 153 h 819"/>
                <a:gd name="T80" fmla="*/ 549 w 1032"/>
                <a:gd name="T81" fmla="*/ 99 h 819"/>
                <a:gd name="T82" fmla="*/ 652 w 1032"/>
                <a:gd name="T83" fmla="*/ 28 h 819"/>
                <a:gd name="T84" fmla="*/ 682 w 1032"/>
                <a:gd name="T85" fmla="*/ 6 h 819"/>
                <a:gd name="T86" fmla="*/ 678 w 1032"/>
                <a:gd name="T87" fmla="*/ 0 h 819"/>
                <a:gd name="T88" fmla="*/ 658 w 1032"/>
                <a:gd name="T89" fmla="*/ 8 h 819"/>
                <a:gd name="T90" fmla="*/ 540 w 1032"/>
                <a:gd name="T91" fmla="*/ 80 h 819"/>
                <a:gd name="T92" fmla="*/ 489 w 1032"/>
                <a:gd name="T93" fmla="*/ 114 h 819"/>
                <a:gd name="T94" fmla="*/ 436 w 1032"/>
                <a:gd name="T95" fmla="*/ 104 h 819"/>
                <a:gd name="T96" fmla="*/ 391 w 1032"/>
                <a:gd name="T97" fmla="*/ 111 h 819"/>
                <a:gd name="T98" fmla="*/ 342 w 1032"/>
                <a:gd name="T99" fmla="*/ 138 h 819"/>
                <a:gd name="T100" fmla="*/ 305 w 1032"/>
                <a:gd name="T101" fmla="*/ 182 h 819"/>
                <a:gd name="T102" fmla="*/ 289 w 1032"/>
                <a:gd name="T103" fmla="*/ 237 h 819"/>
                <a:gd name="T104" fmla="*/ 249 w 1032"/>
                <a:gd name="T105" fmla="*/ 308 h 819"/>
                <a:gd name="T106" fmla="*/ 116 w 1032"/>
                <a:gd name="T107" fmla="*/ 451 h 819"/>
                <a:gd name="T108" fmla="*/ 31 w 1032"/>
                <a:gd name="T109" fmla="*/ 580 h 819"/>
                <a:gd name="T110" fmla="*/ 2 w 1032"/>
                <a:gd name="T111" fmla="*/ 662 h 819"/>
                <a:gd name="T112" fmla="*/ 1 w 1032"/>
                <a:gd name="T113" fmla="*/ 708 h 819"/>
                <a:gd name="T114" fmla="*/ 16 w 1032"/>
                <a:gd name="T115" fmla="*/ 745 h 819"/>
                <a:gd name="T116" fmla="*/ 46 w 1032"/>
                <a:gd name="T117" fmla="*/ 772 h 819"/>
                <a:gd name="T118" fmla="*/ 104 w 1032"/>
                <a:gd name="T119" fmla="*/ 786 h 819"/>
                <a:gd name="T120" fmla="*/ 179 w 1032"/>
                <a:gd name="T121" fmla="*/ 777 h 819"/>
                <a:gd name="T122" fmla="*/ 289 w 1032"/>
                <a:gd name="T123" fmla="*/ 739 h 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2" h="819">
                  <a:moveTo>
                    <a:pt x="289" y="819"/>
                  </a:moveTo>
                  <a:lnTo>
                    <a:pt x="442" y="819"/>
                  </a:lnTo>
                  <a:lnTo>
                    <a:pt x="442" y="660"/>
                  </a:lnTo>
                  <a:lnTo>
                    <a:pt x="442" y="660"/>
                  </a:lnTo>
                  <a:lnTo>
                    <a:pt x="506" y="620"/>
                  </a:lnTo>
                  <a:lnTo>
                    <a:pt x="569" y="579"/>
                  </a:lnTo>
                  <a:lnTo>
                    <a:pt x="569" y="579"/>
                  </a:lnTo>
                  <a:lnTo>
                    <a:pt x="582" y="569"/>
                  </a:lnTo>
                  <a:lnTo>
                    <a:pt x="593" y="559"/>
                  </a:lnTo>
                  <a:lnTo>
                    <a:pt x="593" y="559"/>
                  </a:lnTo>
                  <a:lnTo>
                    <a:pt x="596" y="557"/>
                  </a:lnTo>
                  <a:lnTo>
                    <a:pt x="598" y="553"/>
                  </a:lnTo>
                  <a:lnTo>
                    <a:pt x="598" y="551"/>
                  </a:lnTo>
                  <a:lnTo>
                    <a:pt x="598" y="550"/>
                  </a:lnTo>
                  <a:lnTo>
                    <a:pt x="595" y="549"/>
                  </a:lnTo>
                  <a:lnTo>
                    <a:pt x="594" y="549"/>
                  </a:lnTo>
                  <a:lnTo>
                    <a:pt x="588" y="550"/>
                  </a:lnTo>
                  <a:lnTo>
                    <a:pt x="588" y="550"/>
                  </a:lnTo>
                  <a:lnTo>
                    <a:pt x="560" y="567"/>
                  </a:lnTo>
                  <a:lnTo>
                    <a:pt x="560" y="567"/>
                  </a:lnTo>
                  <a:lnTo>
                    <a:pt x="517" y="593"/>
                  </a:lnTo>
                  <a:lnTo>
                    <a:pt x="474" y="619"/>
                  </a:lnTo>
                  <a:lnTo>
                    <a:pt x="435" y="640"/>
                  </a:lnTo>
                  <a:lnTo>
                    <a:pt x="397" y="661"/>
                  </a:lnTo>
                  <a:lnTo>
                    <a:pt x="361" y="678"/>
                  </a:lnTo>
                  <a:lnTo>
                    <a:pt x="326" y="692"/>
                  </a:lnTo>
                  <a:lnTo>
                    <a:pt x="295" y="703"/>
                  </a:lnTo>
                  <a:lnTo>
                    <a:pt x="264" y="713"/>
                  </a:lnTo>
                  <a:lnTo>
                    <a:pt x="237" y="719"/>
                  </a:lnTo>
                  <a:lnTo>
                    <a:pt x="210" y="722"/>
                  </a:lnTo>
                  <a:lnTo>
                    <a:pt x="187" y="724"/>
                  </a:lnTo>
                  <a:lnTo>
                    <a:pt x="175" y="722"/>
                  </a:lnTo>
                  <a:lnTo>
                    <a:pt x="165" y="721"/>
                  </a:lnTo>
                  <a:lnTo>
                    <a:pt x="156" y="720"/>
                  </a:lnTo>
                  <a:lnTo>
                    <a:pt x="146" y="716"/>
                  </a:lnTo>
                  <a:lnTo>
                    <a:pt x="138" y="713"/>
                  </a:lnTo>
                  <a:lnTo>
                    <a:pt x="129" y="709"/>
                  </a:lnTo>
                  <a:lnTo>
                    <a:pt x="121" y="704"/>
                  </a:lnTo>
                  <a:lnTo>
                    <a:pt x="115" y="698"/>
                  </a:lnTo>
                  <a:lnTo>
                    <a:pt x="107" y="692"/>
                  </a:lnTo>
                  <a:lnTo>
                    <a:pt x="101" y="685"/>
                  </a:lnTo>
                  <a:lnTo>
                    <a:pt x="101" y="685"/>
                  </a:lnTo>
                  <a:lnTo>
                    <a:pt x="98" y="678"/>
                  </a:lnTo>
                  <a:lnTo>
                    <a:pt x="94" y="670"/>
                  </a:lnTo>
                  <a:lnTo>
                    <a:pt x="91" y="663"/>
                  </a:lnTo>
                  <a:lnTo>
                    <a:pt x="89" y="655"/>
                  </a:lnTo>
                  <a:lnTo>
                    <a:pt x="87" y="648"/>
                  </a:lnTo>
                  <a:lnTo>
                    <a:pt x="87" y="639"/>
                  </a:lnTo>
                  <a:lnTo>
                    <a:pt x="88" y="621"/>
                  </a:lnTo>
                  <a:lnTo>
                    <a:pt x="92" y="602"/>
                  </a:lnTo>
                  <a:lnTo>
                    <a:pt x="98" y="581"/>
                  </a:lnTo>
                  <a:lnTo>
                    <a:pt x="106" y="559"/>
                  </a:lnTo>
                  <a:lnTo>
                    <a:pt x="118" y="536"/>
                  </a:lnTo>
                  <a:lnTo>
                    <a:pt x="132" y="512"/>
                  </a:lnTo>
                  <a:lnTo>
                    <a:pt x="148" y="488"/>
                  </a:lnTo>
                  <a:lnTo>
                    <a:pt x="167" y="463"/>
                  </a:lnTo>
                  <a:lnTo>
                    <a:pt x="187" y="436"/>
                  </a:lnTo>
                  <a:lnTo>
                    <a:pt x="210" y="410"/>
                  </a:lnTo>
                  <a:lnTo>
                    <a:pt x="234" y="383"/>
                  </a:lnTo>
                  <a:lnTo>
                    <a:pt x="260" y="354"/>
                  </a:lnTo>
                  <a:lnTo>
                    <a:pt x="289" y="326"/>
                  </a:lnTo>
                  <a:lnTo>
                    <a:pt x="289" y="681"/>
                  </a:lnTo>
                  <a:lnTo>
                    <a:pt x="289" y="681"/>
                  </a:lnTo>
                  <a:lnTo>
                    <a:pt x="322" y="668"/>
                  </a:lnTo>
                  <a:lnTo>
                    <a:pt x="359" y="652"/>
                  </a:lnTo>
                  <a:lnTo>
                    <a:pt x="400" y="633"/>
                  </a:lnTo>
                  <a:lnTo>
                    <a:pt x="442" y="610"/>
                  </a:lnTo>
                  <a:lnTo>
                    <a:pt x="442" y="281"/>
                  </a:lnTo>
                  <a:lnTo>
                    <a:pt x="476" y="353"/>
                  </a:lnTo>
                  <a:lnTo>
                    <a:pt x="476" y="353"/>
                  </a:lnTo>
                  <a:lnTo>
                    <a:pt x="483" y="367"/>
                  </a:lnTo>
                  <a:lnTo>
                    <a:pt x="491" y="381"/>
                  </a:lnTo>
                  <a:lnTo>
                    <a:pt x="500" y="394"/>
                  </a:lnTo>
                  <a:lnTo>
                    <a:pt x="509" y="406"/>
                  </a:lnTo>
                  <a:lnTo>
                    <a:pt x="519" y="418"/>
                  </a:lnTo>
                  <a:lnTo>
                    <a:pt x="530" y="428"/>
                  </a:lnTo>
                  <a:lnTo>
                    <a:pt x="541" y="437"/>
                  </a:lnTo>
                  <a:lnTo>
                    <a:pt x="553" y="446"/>
                  </a:lnTo>
                  <a:lnTo>
                    <a:pt x="565" y="454"/>
                  </a:lnTo>
                  <a:lnTo>
                    <a:pt x="578" y="460"/>
                  </a:lnTo>
                  <a:lnTo>
                    <a:pt x="592" y="466"/>
                  </a:lnTo>
                  <a:lnTo>
                    <a:pt x="606" y="471"/>
                  </a:lnTo>
                  <a:lnTo>
                    <a:pt x="621" y="475"/>
                  </a:lnTo>
                  <a:lnTo>
                    <a:pt x="635" y="479"/>
                  </a:lnTo>
                  <a:lnTo>
                    <a:pt x="651" y="480"/>
                  </a:lnTo>
                  <a:lnTo>
                    <a:pt x="666" y="480"/>
                  </a:lnTo>
                  <a:lnTo>
                    <a:pt x="666" y="480"/>
                  </a:lnTo>
                  <a:lnTo>
                    <a:pt x="682" y="480"/>
                  </a:lnTo>
                  <a:lnTo>
                    <a:pt x="698" y="479"/>
                  </a:lnTo>
                  <a:lnTo>
                    <a:pt x="712" y="475"/>
                  </a:lnTo>
                  <a:lnTo>
                    <a:pt x="727" y="471"/>
                  </a:lnTo>
                  <a:lnTo>
                    <a:pt x="741" y="466"/>
                  </a:lnTo>
                  <a:lnTo>
                    <a:pt x="755" y="460"/>
                  </a:lnTo>
                  <a:lnTo>
                    <a:pt x="768" y="454"/>
                  </a:lnTo>
                  <a:lnTo>
                    <a:pt x="780" y="446"/>
                  </a:lnTo>
                  <a:lnTo>
                    <a:pt x="792" y="437"/>
                  </a:lnTo>
                  <a:lnTo>
                    <a:pt x="803" y="428"/>
                  </a:lnTo>
                  <a:lnTo>
                    <a:pt x="814" y="418"/>
                  </a:lnTo>
                  <a:lnTo>
                    <a:pt x="823" y="406"/>
                  </a:lnTo>
                  <a:lnTo>
                    <a:pt x="833" y="394"/>
                  </a:lnTo>
                  <a:lnTo>
                    <a:pt x="841" y="381"/>
                  </a:lnTo>
                  <a:lnTo>
                    <a:pt x="850" y="367"/>
                  </a:lnTo>
                  <a:lnTo>
                    <a:pt x="857" y="353"/>
                  </a:lnTo>
                  <a:lnTo>
                    <a:pt x="891" y="281"/>
                  </a:lnTo>
                  <a:lnTo>
                    <a:pt x="891" y="365"/>
                  </a:lnTo>
                  <a:lnTo>
                    <a:pt x="891" y="365"/>
                  </a:lnTo>
                  <a:lnTo>
                    <a:pt x="931" y="324"/>
                  </a:lnTo>
                  <a:lnTo>
                    <a:pt x="967" y="284"/>
                  </a:lnTo>
                  <a:lnTo>
                    <a:pt x="1000" y="246"/>
                  </a:lnTo>
                  <a:lnTo>
                    <a:pt x="1015" y="225"/>
                  </a:lnTo>
                  <a:lnTo>
                    <a:pt x="1029" y="206"/>
                  </a:lnTo>
                  <a:lnTo>
                    <a:pt x="1029" y="206"/>
                  </a:lnTo>
                  <a:lnTo>
                    <a:pt x="1031" y="201"/>
                  </a:lnTo>
                  <a:lnTo>
                    <a:pt x="1032" y="197"/>
                  </a:lnTo>
                  <a:lnTo>
                    <a:pt x="1032" y="192"/>
                  </a:lnTo>
                  <a:lnTo>
                    <a:pt x="1031" y="188"/>
                  </a:lnTo>
                  <a:lnTo>
                    <a:pt x="1031" y="188"/>
                  </a:lnTo>
                  <a:lnTo>
                    <a:pt x="1020" y="171"/>
                  </a:lnTo>
                  <a:lnTo>
                    <a:pt x="1008" y="154"/>
                  </a:lnTo>
                  <a:lnTo>
                    <a:pt x="994" y="139"/>
                  </a:lnTo>
                  <a:lnTo>
                    <a:pt x="977" y="127"/>
                  </a:lnTo>
                  <a:lnTo>
                    <a:pt x="959" y="118"/>
                  </a:lnTo>
                  <a:lnTo>
                    <a:pt x="950" y="114"/>
                  </a:lnTo>
                  <a:lnTo>
                    <a:pt x="939" y="110"/>
                  </a:lnTo>
                  <a:lnTo>
                    <a:pt x="930" y="108"/>
                  </a:lnTo>
                  <a:lnTo>
                    <a:pt x="919" y="105"/>
                  </a:lnTo>
                  <a:lnTo>
                    <a:pt x="908" y="104"/>
                  </a:lnTo>
                  <a:lnTo>
                    <a:pt x="897" y="104"/>
                  </a:lnTo>
                  <a:lnTo>
                    <a:pt x="897" y="104"/>
                  </a:lnTo>
                  <a:lnTo>
                    <a:pt x="886" y="104"/>
                  </a:lnTo>
                  <a:lnTo>
                    <a:pt x="876" y="105"/>
                  </a:lnTo>
                  <a:lnTo>
                    <a:pt x="866" y="108"/>
                  </a:lnTo>
                  <a:lnTo>
                    <a:pt x="856" y="110"/>
                  </a:lnTo>
                  <a:lnTo>
                    <a:pt x="845" y="114"/>
                  </a:lnTo>
                  <a:lnTo>
                    <a:pt x="837" y="118"/>
                  </a:lnTo>
                  <a:lnTo>
                    <a:pt x="818" y="127"/>
                  </a:lnTo>
                  <a:lnTo>
                    <a:pt x="802" y="139"/>
                  </a:lnTo>
                  <a:lnTo>
                    <a:pt x="787" y="154"/>
                  </a:lnTo>
                  <a:lnTo>
                    <a:pt x="775" y="169"/>
                  </a:lnTo>
                  <a:lnTo>
                    <a:pt x="764" y="186"/>
                  </a:lnTo>
                  <a:lnTo>
                    <a:pt x="700" y="324"/>
                  </a:lnTo>
                  <a:lnTo>
                    <a:pt x="700" y="324"/>
                  </a:lnTo>
                  <a:lnTo>
                    <a:pt x="697" y="329"/>
                  </a:lnTo>
                  <a:lnTo>
                    <a:pt x="694" y="332"/>
                  </a:lnTo>
                  <a:lnTo>
                    <a:pt x="691" y="336"/>
                  </a:lnTo>
                  <a:lnTo>
                    <a:pt x="686" y="340"/>
                  </a:lnTo>
                  <a:lnTo>
                    <a:pt x="677" y="343"/>
                  </a:lnTo>
                  <a:lnTo>
                    <a:pt x="666" y="344"/>
                  </a:lnTo>
                  <a:lnTo>
                    <a:pt x="666" y="344"/>
                  </a:lnTo>
                  <a:lnTo>
                    <a:pt x="657" y="343"/>
                  </a:lnTo>
                  <a:lnTo>
                    <a:pt x="647" y="340"/>
                  </a:lnTo>
                  <a:lnTo>
                    <a:pt x="643" y="336"/>
                  </a:lnTo>
                  <a:lnTo>
                    <a:pt x="639" y="332"/>
                  </a:lnTo>
                  <a:lnTo>
                    <a:pt x="636" y="329"/>
                  </a:lnTo>
                  <a:lnTo>
                    <a:pt x="634" y="324"/>
                  </a:lnTo>
                  <a:lnTo>
                    <a:pt x="569" y="186"/>
                  </a:lnTo>
                  <a:lnTo>
                    <a:pt x="569" y="186"/>
                  </a:lnTo>
                  <a:lnTo>
                    <a:pt x="564" y="178"/>
                  </a:lnTo>
                  <a:lnTo>
                    <a:pt x="558" y="169"/>
                  </a:lnTo>
                  <a:lnTo>
                    <a:pt x="546" y="153"/>
                  </a:lnTo>
                  <a:lnTo>
                    <a:pt x="530" y="139"/>
                  </a:lnTo>
                  <a:lnTo>
                    <a:pt x="514" y="127"/>
                  </a:lnTo>
                  <a:lnTo>
                    <a:pt x="514" y="127"/>
                  </a:lnTo>
                  <a:lnTo>
                    <a:pt x="549" y="99"/>
                  </a:lnTo>
                  <a:lnTo>
                    <a:pt x="583" y="74"/>
                  </a:lnTo>
                  <a:lnTo>
                    <a:pt x="618" y="50"/>
                  </a:lnTo>
                  <a:lnTo>
                    <a:pt x="652" y="28"/>
                  </a:lnTo>
                  <a:lnTo>
                    <a:pt x="652" y="28"/>
                  </a:lnTo>
                  <a:lnTo>
                    <a:pt x="666" y="19"/>
                  </a:lnTo>
                  <a:lnTo>
                    <a:pt x="678" y="10"/>
                  </a:lnTo>
                  <a:lnTo>
                    <a:pt x="678" y="10"/>
                  </a:lnTo>
                  <a:lnTo>
                    <a:pt x="682" y="6"/>
                  </a:lnTo>
                  <a:lnTo>
                    <a:pt x="682" y="4"/>
                  </a:lnTo>
                  <a:lnTo>
                    <a:pt x="682" y="2"/>
                  </a:lnTo>
                  <a:lnTo>
                    <a:pt x="681" y="0"/>
                  </a:lnTo>
                  <a:lnTo>
                    <a:pt x="678" y="0"/>
                  </a:lnTo>
                  <a:lnTo>
                    <a:pt x="675" y="0"/>
                  </a:lnTo>
                  <a:lnTo>
                    <a:pt x="671" y="2"/>
                  </a:lnTo>
                  <a:lnTo>
                    <a:pt x="671" y="2"/>
                  </a:lnTo>
                  <a:lnTo>
                    <a:pt x="658" y="8"/>
                  </a:lnTo>
                  <a:lnTo>
                    <a:pt x="643" y="16"/>
                  </a:lnTo>
                  <a:lnTo>
                    <a:pt x="643" y="16"/>
                  </a:lnTo>
                  <a:lnTo>
                    <a:pt x="575" y="58"/>
                  </a:lnTo>
                  <a:lnTo>
                    <a:pt x="540" y="80"/>
                  </a:lnTo>
                  <a:lnTo>
                    <a:pt x="506" y="103"/>
                  </a:lnTo>
                  <a:lnTo>
                    <a:pt x="506" y="103"/>
                  </a:lnTo>
                  <a:lnTo>
                    <a:pt x="489" y="114"/>
                  </a:lnTo>
                  <a:lnTo>
                    <a:pt x="489" y="114"/>
                  </a:lnTo>
                  <a:lnTo>
                    <a:pt x="477" y="110"/>
                  </a:lnTo>
                  <a:lnTo>
                    <a:pt x="464" y="107"/>
                  </a:lnTo>
                  <a:lnTo>
                    <a:pt x="450" y="105"/>
                  </a:lnTo>
                  <a:lnTo>
                    <a:pt x="436" y="104"/>
                  </a:lnTo>
                  <a:lnTo>
                    <a:pt x="436" y="104"/>
                  </a:lnTo>
                  <a:lnTo>
                    <a:pt x="420" y="105"/>
                  </a:lnTo>
                  <a:lnTo>
                    <a:pt x="406" y="108"/>
                  </a:lnTo>
                  <a:lnTo>
                    <a:pt x="391" y="111"/>
                  </a:lnTo>
                  <a:lnTo>
                    <a:pt x="378" y="116"/>
                  </a:lnTo>
                  <a:lnTo>
                    <a:pt x="366" y="122"/>
                  </a:lnTo>
                  <a:lnTo>
                    <a:pt x="353" y="130"/>
                  </a:lnTo>
                  <a:lnTo>
                    <a:pt x="342" y="138"/>
                  </a:lnTo>
                  <a:lnTo>
                    <a:pt x="331" y="148"/>
                  </a:lnTo>
                  <a:lnTo>
                    <a:pt x="321" y="159"/>
                  </a:lnTo>
                  <a:lnTo>
                    <a:pt x="313" y="169"/>
                  </a:lnTo>
                  <a:lnTo>
                    <a:pt x="305" y="182"/>
                  </a:lnTo>
                  <a:lnTo>
                    <a:pt x="299" y="195"/>
                  </a:lnTo>
                  <a:lnTo>
                    <a:pt x="295" y="208"/>
                  </a:lnTo>
                  <a:lnTo>
                    <a:pt x="291" y="223"/>
                  </a:lnTo>
                  <a:lnTo>
                    <a:pt x="289" y="237"/>
                  </a:lnTo>
                  <a:lnTo>
                    <a:pt x="289" y="252"/>
                  </a:lnTo>
                  <a:lnTo>
                    <a:pt x="289" y="272"/>
                  </a:lnTo>
                  <a:lnTo>
                    <a:pt x="289" y="272"/>
                  </a:lnTo>
                  <a:lnTo>
                    <a:pt x="249" y="308"/>
                  </a:lnTo>
                  <a:lnTo>
                    <a:pt x="211" y="344"/>
                  </a:lnTo>
                  <a:lnTo>
                    <a:pt x="176" y="381"/>
                  </a:lnTo>
                  <a:lnTo>
                    <a:pt x="145" y="416"/>
                  </a:lnTo>
                  <a:lnTo>
                    <a:pt x="116" y="451"/>
                  </a:lnTo>
                  <a:lnTo>
                    <a:pt x="91" y="485"/>
                  </a:lnTo>
                  <a:lnTo>
                    <a:pt x="68" y="517"/>
                  </a:lnTo>
                  <a:lnTo>
                    <a:pt x="47" y="550"/>
                  </a:lnTo>
                  <a:lnTo>
                    <a:pt x="31" y="580"/>
                  </a:lnTo>
                  <a:lnTo>
                    <a:pt x="18" y="609"/>
                  </a:lnTo>
                  <a:lnTo>
                    <a:pt x="8" y="637"/>
                  </a:lnTo>
                  <a:lnTo>
                    <a:pt x="5" y="650"/>
                  </a:lnTo>
                  <a:lnTo>
                    <a:pt x="2" y="662"/>
                  </a:lnTo>
                  <a:lnTo>
                    <a:pt x="0" y="674"/>
                  </a:lnTo>
                  <a:lnTo>
                    <a:pt x="0" y="686"/>
                  </a:lnTo>
                  <a:lnTo>
                    <a:pt x="0" y="697"/>
                  </a:lnTo>
                  <a:lnTo>
                    <a:pt x="1" y="708"/>
                  </a:lnTo>
                  <a:lnTo>
                    <a:pt x="4" y="718"/>
                  </a:lnTo>
                  <a:lnTo>
                    <a:pt x="6" y="727"/>
                  </a:lnTo>
                  <a:lnTo>
                    <a:pt x="11" y="737"/>
                  </a:lnTo>
                  <a:lnTo>
                    <a:pt x="16" y="745"/>
                  </a:lnTo>
                  <a:lnTo>
                    <a:pt x="16" y="745"/>
                  </a:lnTo>
                  <a:lnTo>
                    <a:pt x="24" y="756"/>
                  </a:lnTo>
                  <a:lnTo>
                    <a:pt x="35" y="765"/>
                  </a:lnTo>
                  <a:lnTo>
                    <a:pt x="46" y="772"/>
                  </a:lnTo>
                  <a:lnTo>
                    <a:pt x="59" y="778"/>
                  </a:lnTo>
                  <a:lnTo>
                    <a:pt x="72" y="783"/>
                  </a:lnTo>
                  <a:lnTo>
                    <a:pt x="88" y="785"/>
                  </a:lnTo>
                  <a:lnTo>
                    <a:pt x="104" y="786"/>
                  </a:lnTo>
                  <a:lnTo>
                    <a:pt x="122" y="786"/>
                  </a:lnTo>
                  <a:lnTo>
                    <a:pt x="140" y="784"/>
                  </a:lnTo>
                  <a:lnTo>
                    <a:pt x="158" y="782"/>
                  </a:lnTo>
                  <a:lnTo>
                    <a:pt x="179" y="777"/>
                  </a:lnTo>
                  <a:lnTo>
                    <a:pt x="199" y="772"/>
                  </a:lnTo>
                  <a:lnTo>
                    <a:pt x="220" y="765"/>
                  </a:lnTo>
                  <a:lnTo>
                    <a:pt x="243" y="757"/>
                  </a:lnTo>
                  <a:lnTo>
                    <a:pt x="289" y="739"/>
                  </a:lnTo>
                  <a:lnTo>
                    <a:pt x="289" y="8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9" name="Freeform 42">
              <a:extLst>
                <a:ext uri="{FF2B5EF4-FFF2-40B4-BE49-F238E27FC236}">
                  <a16:creationId xmlns:a16="http://schemas.microsoft.com/office/drawing/2014/main" id="{56C7A310-29E8-4B60-8472-5698069530B2}"/>
                </a:ext>
              </a:extLst>
            </p:cNvPr>
            <p:cNvSpPr>
              <a:spLocks noEditPoints="1"/>
            </p:cNvSpPr>
            <p:nvPr/>
          </p:nvSpPr>
          <p:spPr bwMode="auto">
            <a:xfrm>
              <a:off x="4046538" y="938213"/>
              <a:ext cx="69850" cy="68263"/>
            </a:xfrm>
            <a:custGeom>
              <a:avLst/>
              <a:gdLst>
                <a:gd name="T0" fmla="*/ 0 w 87"/>
                <a:gd name="T1" fmla="*/ 44 h 87"/>
                <a:gd name="T2" fmla="*/ 4 w 87"/>
                <a:gd name="T3" fmla="*/ 27 h 87"/>
                <a:gd name="T4" fmla="*/ 14 w 87"/>
                <a:gd name="T5" fmla="*/ 12 h 87"/>
                <a:gd name="T6" fmla="*/ 27 w 87"/>
                <a:gd name="T7" fmla="*/ 4 h 87"/>
                <a:gd name="T8" fmla="*/ 44 w 87"/>
                <a:gd name="T9" fmla="*/ 0 h 87"/>
                <a:gd name="T10" fmla="*/ 52 w 87"/>
                <a:gd name="T11" fmla="*/ 0 h 87"/>
                <a:gd name="T12" fmla="*/ 68 w 87"/>
                <a:gd name="T13" fmla="*/ 7 h 87"/>
                <a:gd name="T14" fmla="*/ 80 w 87"/>
                <a:gd name="T15" fmla="*/ 19 h 87"/>
                <a:gd name="T16" fmla="*/ 86 w 87"/>
                <a:gd name="T17" fmla="*/ 35 h 87"/>
                <a:gd name="T18" fmla="*/ 87 w 87"/>
                <a:gd name="T19" fmla="*/ 44 h 87"/>
                <a:gd name="T20" fmla="*/ 84 w 87"/>
                <a:gd name="T21" fmla="*/ 61 h 87"/>
                <a:gd name="T22" fmla="*/ 75 w 87"/>
                <a:gd name="T23" fmla="*/ 74 h 87"/>
                <a:gd name="T24" fmla="*/ 61 w 87"/>
                <a:gd name="T25" fmla="*/ 83 h 87"/>
                <a:gd name="T26" fmla="*/ 44 w 87"/>
                <a:gd name="T27" fmla="*/ 87 h 87"/>
                <a:gd name="T28" fmla="*/ 35 w 87"/>
                <a:gd name="T29" fmla="*/ 86 h 87"/>
                <a:gd name="T30" fmla="*/ 20 w 87"/>
                <a:gd name="T31" fmla="*/ 80 h 87"/>
                <a:gd name="T32" fmla="*/ 8 w 87"/>
                <a:gd name="T33" fmla="*/ 68 h 87"/>
                <a:gd name="T34" fmla="*/ 2 w 87"/>
                <a:gd name="T35" fmla="*/ 52 h 87"/>
                <a:gd name="T36" fmla="*/ 0 w 87"/>
                <a:gd name="T37" fmla="*/ 44 h 87"/>
                <a:gd name="T38" fmla="*/ 76 w 87"/>
                <a:gd name="T39" fmla="*/ 44 h 87"/>
                <a:gd name="T40" fmla="*/ 74 w 87"/>
                <a:gd name="T41" fmla="*/ 29 h 87"/>
                <a:gd name="T42" fmla="*/ 67 w 87"/>
                <a:gd name="T43" fmla="*/ 18 h 87"/>
                <a:gd name="T44" fmla="*/ 57 w 87"/>
                <a:gd name="T45" fmla="*/ 11 h 87"/>
                <a:gd name="T46" fmla="*/ 44 w 87"/>
                <a:gd name="T47" fmla="*/ 9 h 87"/>
                <a:gd name="T48" fmla="*/ 38 w 87"/>
                <a:gd name="T49" fmla="*/ 9 h 87"/>
                <a:gd name="T50" fmla="*/ 26 w 87"/>
                <a:gd name="T51" fmla="*/ 13 h 87"/>
                <a:gd name="T52" fmla="*/ 16 w 87"/>
                <a:gd name="T53" fmla="*/ 23 h 87"/>
                <a:gd name="T54" fmla="*/ 11 w 87"/>
                <a:gd name="T55" fmla="*/ 36 h 87"/>
                <a:gd name="T56" fmla="*/ 11 w 87"/>
                <a:gd name="T57" fmla="*/ 44 h 87"/>
                <a:gd name="T58" fmla="*/ 14 w 87"/>
                <a:gd name="T59" fmla="*/ 57 h 87"/>
                <a:gd name="T60" fmla="*/ 21 w 87"/>
                <a:gd name="T61" fmla="*/ 69 h 87"/>
                <a:gd name="T62" fmla="*/ 31 w 87"/>
                <a:gd name="T63" fmla="*/ 76 h 87"/>
                <a:gd name="T64" fmla="*/ 44 w 87"/>
                <a:gd name="T65" fmla="*/ 79 h 87"/>
                <a:gd name="T66" fmla="*/ 51 w 87"/>
                <a:gd name="T67" fmla="*/ 77 h 87"/>
                <a:gd name="T68" fmla="*/ 62 w 87"/>
                <a:gd name="T69" fmla="*/ 73 h 87"/>
                <a:gd name="T70" fmla="*/ 72 w 87"/>
                <a:gd name="T71" fmla="*/ 63 h 87"/>
                <a:gd name="T72" fmla="*/ 76 w 87"/>
                <a:gd name="T73" fmla="*/ 51 h 87"/>
                <a:gd name="T74" fmla="*/ 76 w 87"/>
                <a:gd name="T75" fmla="*/ 44 h 87"/>
                <a:gd name="T76" fmla="*/ 45 w 87"/>
                <a:gd name="T77" fmla="*/ 18 h 87"/>
                <a:gd name="T78" fmla="*/ 53 w 87"/>
                <a:gd name="T79" fmla="*/ 19 h 87"/>
                <a:gd name="T80" fmla="*/ 61 w 87"/>
                <a:gd name="T81" fmla="*/ 24 h 87"/>
                <a:gd name="T82" fmla="*/ 63 w 87"/>
                <a:gd name="T83" fmla="*/ 33 h 87"/>
                <a:gd name="T84" fmla="*/ 63 w 87"/>
                <a:gd name="T85" fmla="*/ 39 h 87"/>
                <a:gd name="T86" fmla="*/ 56 w 87"/>
                <a:gd name="T87" fmla="*/ 45 h 87"/>
                <a:gd name="T88" fmla="*/ 64 w 87"/>
                <a:gd name="T89" fmla="*/ 68 h 87"/>
                <a:gd name="T90" fmla="*/ 41 w 87"/>
                <a:gd name="T91" fmla="*/ 47 h 87"/>
                <a:gd name="T92" fmla="*/ 37 w 87"/>
                <a:gd name="T93" fmla="*/ 68 h 87"/>
                <a:gd name="T94" fmla="*/ 27 w 87"/>
                <a:gd name="T95" fmla="*/ 18 h 87"/>
                <a:gd name="T96" fmla="*/ 44 w 87"/>
                <a:gd name="T97" fmla="*/ 40 h 87"/>
                <a:gd name="T98" fmla="*/ 49 w 87"/>
                <a:gd name="T99" fmla="*/ 40 h 87"/>
                <a:gd name="T100" fmla="*/ 53 w 87"/>
                <a:gd name="T101" fmla="*/ 36 h 87"/>
                <a:gd name="T102" fmla="*/ 55 w 87"/>
                <a:gd name="T103" fmla="*/ 33 h 87"/>
                <a:gd name="T104" fmla="*/ 51 w 87"/>
                <a:gd name="T105" fmla="*/ 27 h 87"/>
                <a:gd name="T106" fmla="*/ 45 w 87"/>
                <a:gd name="T107" fmla="*/ 26 h 87"/>
                <a:gd name="T108" fmla="*/ 37 w 87"/>
                <a:gd name="T109"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7" h="87">
                  <a:moveTo>
                    <a:pt x="0" y="44"/>
                  </a:moveTo>
                  <a:lnTo>
                    <a:pt x="0" y="44"/>
                  </a:lnTo>
                  <a:lnTo>
                    <a:pt x="2" y="35"/>
                  </a:lnTo>
                  <a:lnTo>
                    <a:pt x="4" y="27"/>
                  </a:lnTo>
                  <a:lnTo>
                    <a:pt x="8" y="19"/>
                  </a:lnTo>
                  <a:lnTo>
                    <a:pt x="14" y="12"/>
                  </a:lnTo>
                  <a:lnTo>
                    <a:pt x="20" y="7"/>
                  </a:lnTo>
                  <a:lnTo>
                    <a:pt x="27" y="4"/>
                  </a:lnTo>
                  <a:lnTo>
                    <a:pt x="35" y="0"/>
                  </a:lnTo>
                  <a:lnTo>
                    <a:pt x="44" y="0"/>
                  </a:lnTo>
                  <a:lnTo>
                    <a:pt x="44" y="0"/>
                  </a:lnTo>
                  <a:lnTo>
                    <a:pt x="52" y="0"/>
                  </a:lnTo>
                  <a:lnTo>
                    <a:pt x="61" y="4"/>
                  </a:lnTo>
                  <a:lnTo>
                    <a:pt x="68" y="7"/>
                  </a:lnTo>
                  <a:lnTo>
                    <a:pt x="75" y="12"/>
                  </a:lnTo>
                  <a:lnTo>
                    <a:pt x="80" y="19"/>
                  </a:lnTo>
                  <a:lnTo>
                    <a:pt x="84" y="27"/>
                  </a:lnTo>
                  <a:lnTo>
                    <a:pt x="86" y="35"/>
                  </a:lnTo>
                  <a:lnTo>
                    <a:pt x="87" y="44"/>
                  </a:lnTo>
                  <a:lnTo>
                    <a:pt x="87" y="44"/>
                  </a:lnTo>
                  <a:lnTo>
                    <a:pt x="86" y="52"/>
                  </a:lnTo>
                  <a:lnTo>
                    <a:pt x="84" y="61"/>
                  </a:lnTo>
                  <a:lnTo>
                    <a:pt x="80" y="68"/>
                  </a:lnTo>
                  <a:lnTo>
                    <a:pt x="75" y="74"/>
                  </a:lnTo>
                  <a:lnTo>
                    <a:pt x="68" y="80"/>
                  </a:lnTo>
                  <a:lnTo>
                    <a:pt x="61" y="83"/>
                  </a:lnTo>
                  <a:lnTo>
                    <a:pt x="52" y="86"/>
                  </a:lnTo>
                  <a:lnTo>
                    <a:pt x="44" y="87"/>
                  </a:lnTo>
                  <a:lnTo>
                    <a:pt x="44" y="87"/>
                  </a:lnTo>
                  <a:lnTo>
                    <a:pt x="35" y="86"/>
                  </a:lnTo>
                  <a:lnTo>
                    <a:pt x="27" y="83"/>
                  </a:lnTo>
                  <a:lnTo>
                    <a:pt x="20" y="80"/>
                  </a:lnTo>
                  <a:lnTo>
                    <a:pt x="14" y="74"/>
                  </a:lnTo>
                  <a:lnTo>
                    <a:pt x="8" y="68"/>
                  </a:lnTo>
                  <a:lnTo>
                    <a:pt x="4" y="61"/>
                  </a:lnTo>
                  <a:lnTo>
                    <a:pt x="2" y="52"/>
                  </a:lnTo>
                  <a:lnTo>
                    <a:pt x="0" y="44"/>
                  </a:lnTo>
                  <a:lnTo>
                    <a:pt x="0" y="44"/>
                  </a:lnTo>
                  <a:close/>
                  <a:moveTo>
                    <a:pt x="76" y="44"/>
                  </a:moveTo>
                  <a:lnTo>
                    <a:pt x="76" y="44"/>
                  </a:lnTo>
                  <a:lnTo>
                    <a:pt x="76" y="36"/>
                  </a:lnTo>
                  <a:lnTo>
                    <a:pt x="74" y="29"/>
                  </a:lnTo>
                  <a:lnTo>
                    <a:pt x="72" y="23"/>
                  </a:lnTo>
                  <a:lnTo>
                    <a:pt x="67" y="18"/>
                  </a:lnTo>
                  <a:lnTo>
                    <a:pt x="62" y="13"/>
                  </a:lnTo>
                  <a:lnTo>
                    <a:pt x="57" y="11"/>
                  </a:lnTo>
                  <a:lnTo>
                    <a:pt x="51" y="9"/>
                  </a:lnTo>
                  <a:lnTo>
                    <a:pt x="44" y="9"/>
                  </a:lnTo>
                  <a:lnTo>
                    <a:pt x="44" y="9"/>
                  </a:lnTo>
                  <a:lnTo>
                    <a:pt x="38" y="9"/>
                  </a:lnTo>
                  <a:lnTo>
                    <a:pt x="31" y="11"/>
                  </a:lnTo>
                  <a:lnTo>
                    <a:pt x="26" y="13"/>
                  </a:lnTo>
                  <a:lnTo>
                    <a:pt x="21" y="18"/>
                  </a:lnTo>
                  <a:lnTo>
                    <a:pt x="16" y="23"/>
                  </a:lnTo>
                  <a:lnTo>
                    <a:pt x="14" y="29"/>
                  </a:lnTo>
                  <a:lnTo>
                    <a:pt x="11" y="36"/>
                  </a:lnTo>
                  <a:lnTo>
                    <a:pt x="11" y="44"/>
                  </a:lnTo>
                  <a:lnTo>
                    <a:pt x="11" y="44"/>
                  </a:lnTo>
                  <a:lnTo>
                    <a:pt x="11" y="51"/>
                  </a:lnTo>
                  <a:lnTo>
                    <a:pt x="14" y="57"/>
                  </a:lnTo>
                  <a:lnTo>
                    <a:pt x="16" y="63"/>
                  </a:lnTo>
                  <a:lnTo>
                    <a:pt x="21" y="69"/>
                  </a:lnTo>
                  <a:lnTo>
                    <a:pt x="26" y="73"/>
                  </a:lnTo>
                  <a:lnTo>
                    <a:pt x="31" y="76"/>
                  </a:lnTo>
                  <a:lnTo>
                    <a:pt x="38" y="77"/>
                  </a:lnTo>
                  <a:lnTo>
                    <a:pt x="44" y="79"/>
                  </a:lnTo>
                  <a:lnTo>
                    <a:pt x="44" y="79"/>
                  </a:lnTo>
                  <a:lnTo>
                    <a:pt x="51" y="77"/>
                  </a:lnTo>
                  <a:lnTo>
                    <a:pt x="57" y="76"/>
                  </a:lnTo>
                  <a:lnTo>
                    <a:pt x="62" y="73"/>
                  </a:lnTo>
                  <a:lnTo>
                    <a:pt x="67" y="69"/>
                  </a:lnTo>
                  <a:lnTo>
                    <a:pt x="72" y="63"/>
                  </a:lnTo>
                  <a:lnTo>
                    <a:pt x="74" y="57"/>
                  </a:lnTo>
                  <a:lnTo>
                    <a:pt x="76" y="51"/>
                  </a:lnTo>
                  <a:lnTo>
                    <a:pt x="76" y="44"/>
                  </a:lnTo>
                  <a:lnTo>
                    <a:pt x="76" y="44"/>
                  </a:lnTo>
                  <a:close/>
                  <a:moveTo>
                    <a:pt x="27" y="18"/>
                  </a:moveTo>
                  <a:lnTo>
                    <a:pt x="45" y="18"/>
                  </a:lnTo>
                  <a:lnTo>
                    <a:pt x="45" y="18"/>
                  </a:lnTo>
                  <a:lnTo>
                    <a:pt x="53" y="19"/>
                  </a:lnTo>
                  <a:lnTo>
                    <a:pt x="60" y="22"/>
                  </a:lnTo>
                  <a:lnTo>
                    <a:pt x="61" y="24"/>
                  </a:lnTo>
                  <a:lnTo>
                    <a:pt x="62" y="27"/>
                  </a:lnTo>
                  <a:lnTo>
                    <a:pt x="63" y="33"/>
                  </a:lnTo>
                  <a:lnTo>
                    <a:pt x="63" y="33"/>
                  </a:lnTo>
                  <a:lnTo>
                    <a:pt x="63" y="39"/>
                  </a:lnTo>
                  <a:lnTo>
                    <a:pt x="61" y="42"/>
                  </a:lnTo>
                  <a:lnTo>
                    <a:pt x="56" y="45"/>
                  </a:lnTo>
                  <a:lnTo>
                    <a:pt x="51" y="46"/>
                  </a:lnTo>
                  <a:lnTo>
                    <a:pt x="64" y="68"/>
                  </a:lnTo>
                  <a:lnTo>
                    <a:pt x="55" y="68"/>
                  </a:lnTo>
                  <a:lnTo>
                    <a:pt x="41" y="47"/>
                  </a:lnTo>
                  <a:lnTo>
                    <a:pt x="37" y="47"/>
                  </a:lnTo>
                  <a:lnTo>
                    <a:pt x="37" y="68"/>
                  </a:lnTo>
                  <a:lnTo>
                    <a:pt x="27" y="68"/>
                  </a:lnTo>
                  <a:lnTo>
                    <a:pt x="27" y="18"/>
                  </a:lnTo>
                  <a:close/>
                  <a:moveTo>
                    <a:pt x="37" y="40"/>
                  </a:moveTo>
                  <a:lnTo>
                    <a:pt x="44" y="40"/>
                  </a:lnTo>
                  <a:lnTo>
                    <a:pt x="44" y="40"/>
                  </a:lnTo>
                  <a:lnTo>
                    <a:pt x="49" y="40"/>
                  </a:lnTo>
                  <a:lnTo>
                    <a:pt x="51" y="39"/>
                  </a:lnTo>
                  <a:lnTo>
                    <a:pt x="53" y="36"/>
                  </a:lnTo>
                  <a:lnTo>
                    <a:pt x="55" y="33"/>
                  </a:lnTo>
                  <a:lnTo>
                    <a:pt x="55" y="33"/>
                  </a:lnTo>
                  <a:lnTo>
                    <a:pt x="53" y="29"/>
                  </a:lnTo>
                  <a:lnTo>
                    <a:pt x="51" y="27"/>
                  </a:lnTo>
                  <a:lnTo>
                    <a:pt x="49" y="26"/>
                  </a:lnTo>
                  <a:lnTo>
                    <a:pt x="45" y="26"/>
                  </a:lnTo>
                  <a:lnTo>
                    <a:pt x="37" y="26"/>
                  </a:lnTo>
                  <a:lnTo>
                    <a:pt x="3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grpSp>
      <p:sp>
        <p:nvSpPr>
          <p:cNvPr id="34" name="Master Slide Number">
            <a:extLst>
              <a:ext uri="{FF2B5EF4-FFF2-40B4-BE49-F238E27FC236}">
                <a16:creationId xmlns:a16="http://schemas.microsoft.com/office/drawing/2014/main" id="{B054D46E-B6DC-5F49-8EDE-4B7AD93A85CF}"/>
              </a:ext>
            </a:extLst>
          </p:cNvPr>
          <p:cNvSpPr>
            <a:spLocks noGrp="1"/>
          </p:cNvSpPr>
          <p:nvPr>
            <p:ph type="sldNum" sz="quarter" idx="4"/>
          </p:nvPr>
        </p:nvSpPr>
        <p:spPr>
          <a:xfrm>
            <a:off x="11255731" y="221540"/>
            <a:ext cx="587019" cy="230832"/>
          </a:xfrm>
          <a:prstGeom prst="rect">
            <a:avLst/>
          </a:prstGeom>
        </p:spPr>
        <p:txBody>
          <a:bodyPr/>
          <a:lstStyle>
            <a:lvl1pPr algn="r">
              <a:defRPr sz="900" b="1"/>
            </a:lvl1pPr>
          </a:lstStyle>
          <a:p>
            <a:fld id="{B7E7695C-FCF1-4AA0-9B93-7941FED13DC4}" type="slidenum">
              <a:rPr lang="en-US" smtClean="0"/>
              <a:pPr/>
              <a:t>‹#›</a:t>
            </a:fld>
            <a:endParaRPr lang="en-US" dirty="0"/>
          </a:p>
        </p:txBody>
      </p:sp>
      <p:sp>
        <p:nvSpPr>
          <p:cNvPr id="3" name="Text Placeholder 2">
            <a:extLst>
              <a:ext uri="{FF2B5EF4-FFF2-40B4-BE49-F238E27FC236}">
                <a16:creationId xmlns:a16="http://schemas.microsoft.com/office/drawing/2014/main" id="{CA7FE24E-B8F5-1F45-9252-6731E9BF08CF}"/>
              </a:ext>
            </a:extLst>
          </p:cNvPr>
          <p:cNvSpPr>
            <a:spLocks noGrp="1"/>
          </p:cNvSpPr>
          <p:nvPr>
            <p:ph type="body" idx="1"/>
          </p:nvPr>
        </p:nvSpPr>
        <p:spPr>
          <a:xfrm>
            <a:off x="342900" y="1207906"/>
            <a:ext cx="11506200" cy="49612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MSIPCMContentMarking" descr="{&quot;HashCode&quot;:1899259632,&quot;Placement&quot;:&quot;Header&quot;,&quot;Top&quot;:0.0,&quot;Left&quot;:0.0,&quot;SlideWidth&quot;:960,&quot;SlideHeight&quot;:540}">
            <a:extLst>
              <a:ext uri="{FF2B5EF4-FFF2-40B4-BE49-F238E27FC236}">
                <a16:creationId xmlns:a16="http://schemas.microsoft.com/office/drawing/2014/main" id="{03BC5EC7-BA5B-4430-8F16-954254D0A39F}"/>
              </a:ext>
            </a:extLst>
          </p:cNvPr>
          <p:cNvSpPr txBox="1"/>
          <p:nvPr userDrawn="1"/>
        </p:nvSpPr>
        <p:spPr>
          <a:xfrm>
            <a:off x="0" y="0"/>
            <a:ext cx="1638186" cy="280749"/>
          </a:xfrm>
          <a:prstGeom prst="rect">
            <a:avLst/>
          </a:prstGeom>
          <a:noFill/>
        </p:spPr>
        <p:txBody>
          <a:bodyPr vert="horz" wrap="square" lIns="0" tIns="0" rIns="0" bIns="0" rtlCol="0" anchor="ctr" anchorCtr="1">
            <a:spAutoFit/>
          </a:bodyPr>
          <a:lstStyle/>
          <a:p>
            <a:pPr algn="l">
              <a:spcBef>
                <a:spcPts val="0"/>
              </a:spcBef>
              <a:spcAft>
                <a:spcPts val="0"/>
              </a:spcAft>
            </a:pPr>
            <a:r>
              <a:rPr lang="en-US" sz="1200">
                <a:solidFill>
                  <a:srgbClr val="000000"/>
                </a:solidFill>
                <a:latin typeface="Arial" panose="020B0604020202020204" pitchFamily="34" charset="0"/>
              </a:rPr>
              <a:t>Micron Confidential</a:t>
            </a:r>
          </a:p>
        </p:txBody>
      </p:sp>
      <p:sp>
        <p:nvSpPr>
          <p:cNvPr id="5" name="MSIPCMContentMarking" descr="{&quot;HashCode&quot;:1923397201,&quot;Placement&quot;:&quot;Footer&quot;,&quot;Top&quot;:517.8937,&quot;Left&quot;:0.0,&quot;SlideWidth&quot;:960,&quot;SlideHeight&quot;:540}">
            <a:extLst>
              <a:ext uri="{FF2B5EF4-FFF2-40B4-BE49-F238E27FC236}">
                <a16:creationId xmlns:a16="http://schemas.microsoft.com/office/drawing/2014/main" id="{69263D9C-E3FC-4B62-9C65-1ACFAD492C8A}"/>
              </a:ext>
            </a:extLst>
          </p:cNvPr>
          <p:cNvSpPr txBox="1"/>
          <p:nvPr userDrawn="1"/>
        </p:nvSpPr>
        <p:spPr>
          <a:xfrm>
            <a:off x="0" y="6577250"/>
            <a:ext cx="1638186" cy="280749"/>
          </a:xfrm>
          <a:prstGeom prst="rect">
            <a:avLst/>
          </a:prstGeom>
          <a:noFill/>
        </p:spPr>
        <p:txBody>
          <a:bodyPr vert="horz" wrap="square" lIns="0" tIns="0" rIns="0" bIns="0" rtlCol="0" anchor="ctr" anchorCtr="1">
            <a:spAutoFit/>
          </a:bodyPr>
          <a:lstStyle/>
          <a:p>
            <a:pPr algn="l">
              <a:spcBef>
                <a:spcPts val="0"/>
              </a:spcBef>
              <a:spcAft>
                <a:spcPts val="0"/>
              </a:spcAft>
            </a:pPr>
            <a:r>
              <a:rPr lang="en-US" sz="1200">
                <a:solidFill>
                  <a:srgbClr val="000000"/>
                </a:solidFill>
                <a:latin typeface="Arial" panose="020B0604020202020204" pitchFamily="34" charset="0"/>
              </a:rPr>
              <a:t>Micron Confidential</a:t>
            </a:r>
          </a:p>
        </p:txBody>
      </p:sp>
    </p:spTree>
    <p:extLst>
      <p:ext uri="{BB962C8B-B14F-4D97-AF65-F5344CB8AC3E}">
        <p14:creationId xmlns:p14="http://schemas.microsoft.com/office/powerpoint/2010/main" val="2361667460"/>
      </p:ext>
    </p:extLst>
  </p:cSld>
  <p:clrMap bg1="lt1" tx1="dk1" bg2="lt2" tx2="dk2" accent1="accent1" accent2="accent2" accent3="accent3" accent4="accent4" accent5="accent5" accent6="accent6" hlink="hlink" folHlink="folHlink"/>
  <p:sldLayoutIdLst>
    <p:sldLayoutId id="2147484171" r:id="rId1"/>
    <p:sldLayoutId id="2147484181" r:id="rId2"/>
    <p:sldLayoutId id="2147484202" r:id="rId3"/>
    <p:sldLayoutId id="2147484168" r:id="rId4"/>
    <p:sldLayoutId id="2147484182" r:id="rId5"/>
    <p:sldLayoutId id="2147484173" r:id="rId6"/>
    <p:sldLayoutId id="2147484180" r:id="rId7"/>
    <p:sldLayoutId id="2147484203" r:id="rId8"/>
    <p:sldLayoutId id="2147484183" r:id="rId9"/>
    <p:sldLayoutId id="2147484184" r:id="rId10"/>
    <p:sldLayoutId id="2147484179" r:id="rId11"/>
    <p:sldLayoutId id="2147484191" r:id="rId12"/>
    <p:sldLayoutId id="2147484174" r:id="rId13"/>
    <p:sldLayoutId id="2147484185" r:id="rId14"/>
    <p:sldLayoutId id="2147484192" r:id="rId15"/>
    <p:sldLayoutId id="2147484186" r:id="rId16"/>
    <p:sldLayoutId id="2147484187" r:id="rId17"/>
    <p:sldLayoutId id="2147484175" r:id="rId18"/>
    <p:sldLayoutId id="2147484189" r:id="rId19"/>
    <p:sldLayoutId id="2147484188" r:id="rId20"/>
    <p:sldLayoutId id="2147484190" r:id="rId21"/>
    <p:sldLayoutId id="2147484176" r:id="rId22"/>
  </p:sldLayoutIdLst>
  <p:hf hdr="0" ftr="0" dt="0"/>
  <p:txStyles>
    <p:title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p:titleStyle>
    <p:bodyStyle>
      <a:lvl1pPr marL="182880" marR="0" indent="-182880" algn="l" defTabSz="914400" rtl="0" eaLnBrk="1" fontAlgn="auto" latinLnBrk="0" hangingPunct="1">
        <a:lnSpc>
          <a:spcPct val="100000"/>
        </a:lnSpc>
        <a:spcBef>
          <a:spcPts val="0"/>
        </a:spcBef>
        <a:spcAft>
          <a:spcPts val="0"/>
        </a:spcAft>
        <a:buClrTx/>
        <a:buSzPct val="75000"/>
        <a:buFont typeface="Wingdings" pitchFamily="2" charset="2"/>
        <a:buChar char="§"/>
        <a:tabLst/>
        <a:defRPr sz="2000" b="0" kern="1200" spc="0" baseline="0">
          <a:solidFill>
            <a:schemeClr val="tx1"/>
          </a:solidFill>
          <a:latin typeface="+mn-lt"/>
          <a:ea typeface="+mn-ea"/>
          <a:cs typeface="+mn-cs"/>
        </a:defRPr>
      </a:lvl1pPr>
      <a:lvl2pPr marL="457200" marR="0" indent="-182880" algn="l" defTabSz="914400" rtl="0" eaLnBrk="1" fontAlgn="auto" latinLnBrk="0" hangingPunct="1">
        <a:lnSpc>
          <a:spcPct val="100000"/>
        </a:lnSpc>
        <a:spcBef>
          <a:spcPts val="0"/>
        </a:spcBef>
        <a:spcAft>
          <a:spcPts val="400"/>
        </a:spcAft>
        <a:buClrTx/>
        <a:buSzTx/>
        <a:buFont typeface="Apple Symbols" panose="02000000000000000000" pitchFamily="2" charset="-79"/>
        <a:buChar char="⎻"/>
        <a:tabLst/>
        <a:defRPr sz="1800" b="0" kern="1200" spc="0" baseline="0">
          <a:solidFill>
            <a:schemeClr val="tx1"/>
          </a:solidFill>
          <a:latin typeface="+mn-lt"/>
          <a:ea typeface="+mn-ea"/>
          <a:cs typeface="+mn-cs"/>
        </a:defRPr>
      </a:lvl2pPr>
      <a:lvl3pPr marL="73152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600" b="0" kern="1200" spc="0">
          <a:solidFill>
            <a:schemeClr val="tx1"/>
          </a:solidFill>
          <a:latin typeface="+mn-lt"/>
          <a:ea typeface="+mn-ea"/>
          <a:cs typeface="+mn-cs"/>
        </a:defRPr>
      </a:lvl3pPr>
      <a:lvl4pPr marL="1005840" marR="0" indent="-182880" algn="l" defTabSz="914400" rtl="0" eaLnBrk="1" fontAlgn="auto" latinLnBrk="0" hangingPunct="1">
        <a:lnSpc>
          <a:spcPct val="100000"/>
        </a:lnSpc>
        <a:spcBef>
          <a:spcPts val="0"/>
        </a:spcBef>
        <a:spcAft>
          <a:spcPts val="400"/>
        </a:spcAft>
        <a:buClrTx/>
        <a:buSzTx/>
        <a:buFont typeface="Apple Symbols" panose="02000000000000000000" pitchFamily="2" charset="-79"/>
        <a:buChar char="⎻"/>
        <a:tabLst/>
        <a:defRPr sz="1400" b="0" kern="1200" spc="0">
          <a:solidFill>
            <a:schemeClr val="tx1"/>
          </a:solidFill>
          <a:latin typeface="+mn-lt"/>
          <a:ea typeface="+mn-ea"/>
          <a:cs typeface="+mn-cs"/>
        </a:defRPr>
      </a:lvl4pPr>
      <a:lvl5pPr marL="128016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200" b="0" kern="1200" spc="0">
          <a:solidFill>
            <a:schemeClr val="tx1"/>
          </a:solidFill>
          <a:latin typeface="+mn-lt"/>
          <a:ea typeface="+mn-ea"/>
          <a:cs typeface="+mn-cs"/>
        </a:defRPr>
      </a:lvl5pPr>
      <a:lvl6pPr marL="54864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600" kern="1200">
          <a:solidFill>
            <a:srgbClr val="000000"/>
          </a:solidFill>
          <a:latin typeface="+mn-lt"/>
          <a:ea typeface="+mn-ea"/>
          <a:cs typeface="+mn-cs"/>
        </a:defRPr>
      </a:lvl6pPr>
      <a:lvl7pPr marL="731520" marR="0" indent="-182880" algn="l" defTabSz="914400" rtl="0" eaLnBrk="1" fontAlgn="auto" latinLnBrk="0" hangingPunct="1">
        <a:lnSpc>
          <a:spcPct val="100000"/>
        </a:lnSpc>
        <a:spcBef>
          <a:spcPts val="0"/>
        </a:spcBef>
        <a:spcAft>
          <a:spcPts val="400"/>
        </a:spcAft>
        <a:buClrTx/>
        <a:buSzPct val="100000"/>
        <a:buFont typeface="System Font Regular"/>
        <a:buChar char="‒"/>
        <a:tabLst/>
        <a:defRPr sz="1600" b="0" kern="1200">
          <a:solidFill>
            <a:schemeClr val="tx1"/>
          </a:solidFill>
          <a:latin typeface="+mn-lt"/>
          <a:ea typeface="+mn-ea"/>
          <a:cs typeface="+mn-cs"/>
        </a:defRPr>
      </a:lvl7pPr>
      <a:lvl8pPr marL="91440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400" kern="1200">
          <a:solidFill>
            <a:schemeClr val="tx1"/>
          </a:solidFill>
          <a:latin typeface="+mn-lt"/>
          <a:ea typeface="+mn-ea"/>
          <a:cs typeface="+mn-cs"/>
        </a:defRPr>
      </a:lvl8pPr>
      <a:lvl9pPr marL="1097280" marR="0" indent="-182880" algn="l" defTabSz="914400" rtl="0" eaLnBrk="1" fontAlgn="auto" latinLnBrk="0" hangingPunct="1">
        <a:lnSpc>
          <a:spcPct val="100000"/>
        </a:lnSpc>
        <a:spcBef>
          <a:spcPts val="0"/>
        </a:spcBef>
        <a:spcAft>
          <a:spcPts val="400"/>
        </a:spcAft>
        <a:buClrTx/>
        <a:buSzPct val="10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288">
          <p15:clr>
            <a:srgbClr val="F26B43"/>
          </p15:clr>
        </p15:guide>
        <p15:guide id="3" pos="7464" userDrawn="1">
          <p15:clr>
            <a:srgbClr val="F26B43"/>
          </p15:clr>
        </p15:guide>
        <p15:guide id="6" pos="3840">
          <p15:clr>
            <a:srgbClr val="F26B43"/>
          </p15:clr>
        </p15:guide>
        <p15:guide id="7" orient="horz" pos="4032" userDrawn="1">
          <p15:clr>
            <a:srgbClr val="F26B43"/>
          </p15:clr>
        </p15:guide>
        <p15:guide id="8" orient="horz" pos="240" userDrawn="1">
          <p15:clr>
            <a:srgbClr val="F26B43"/>
          </p15:clr>
        </p15:guide>
        <p15:guide id="9" pos="216" userDrawn="1">
          <p15:clr>
            <a:srgbClr val="F26B43"/>
          </p15:clr>
        </p15:guide>
        <p15:guide id="10" pos="7392" userDrawn="1">
          <p15:clr>
            <a:srgbClr val="F26B43"/>
          </p15:clr>
        </p15:guide>
        <p15:guide id="11" orient="horz" pos="4080" userDrawn="1">
          <p15:clr>
            <a:srgbClr val="F26B43"/>
          </p15:clr>
        </p15:guide>
        <p15:guide id="12" orient="horz" pos="398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aster Title Style"/>
          <p:cNvSpPr>
            <a:spLocks noGrp="1"/>
          </p:cNvSpPr>
          <p:nvPr>
            <p:ph type="title"/>
          </p:nvPr>
        </p:nvSpPr>
        <p:spPr>
          <a:xfrm>
            <a:off x="342900" y="461528"/>
            <a:ext cx="11506200" cy="590931"/>
          </a:xfrm>
          <a:prstGeom prst="rect">
            <a:avLst/>
          </a:prstGeom>
        </p:spPr>
        <p:txBody>
          <a:bodyPr vert="horz" lIns="91440" tIns="45720" rIns="91440" bIns="45720" rtlCol="0" anchor="t">
            <a:spAutoFit/>
          </a:bodyPr>
          <a:lstStyle/>
          <a:p>
            <a:r>
              <a:rPr lang="en-US" dirty="0"/>
              <a:t>Click to edit Master title style</a:t>
            </a:r>
          </a:p>
        </p:txBody>
      </p:sp>
      <p:sp>
        <p:nvSpPr>
          <p:cNvPr id="18" name="Master Date">
            <a:extLst>
              <a:ext uri="{FF2B5EF4-FFF2-40B4-BE49-F238E27FC236}">
                <a16:creationId xmlns:a16="http://schemas.microsoft.com/office/drawing/2014/main" id="{A76C45AB-F56A-4B1F-AD3A-DA3800E4E5A7}"/>
              </a:ext>
            </a:extLst>
          </p:cNvPr>
          <p:cNvSpPr>
            <a:spLocks noGrp="1"/>
          </p:cNvSpPr>
          <p:nvPr>
            <p:ph type="dt" sz="half" idx="2"/>
          </p:nvPr>
        </p:nvSpPr>
        <p:spPr>
          <a:xfrm>
            <a:off x="342900" y="6404030"/>
            <a:ext cx="1710155" cy="230832"/>
          </a:xfrm>
          <a:prstGeom prst="rect">
            <a:avLst/>
          </a:prstGeom>
        </p:spPr>
        <p:txBody>
          <a:bodyPr vert="horz" lIns="91440" tIns="45720" rIns="91440" bIns="45720" rtlCol="0" anchor="ctr">
            <a:spAutoFit/>
          </a:bodyPr>
          <a:lstStyle>
            <a:lvl1pPr algn="l">
              <a:defRPr sz="900" b="1" i="0">
                <a:solidFill>
                  <a:srgbClr val="000000"/>
                </a:solidFill>
                <a:latin typeface="Arial" panose="020B0604020202020204" pitchFamily="34" charset="0"/>
                <a:cs typeface="Arial" panose="020B0604020202020204" pitchFamily="34" charset="0"/>
              </a:defRPr>
            </a:lvl1pPr>
          </a:lstStyle>
          <a:p>
            <a:fld id="{B8FDEC20-994C-6747-9500-226CB0C467E7}" type="datetime4">
              <a:rPr lang="en-US" smtClean="0"/>
              <a:t>June 9, 2023</a:t>
            </a:fld>
            <a:endParaRPr lang="en-US" dirty="0"/>
          </a:p>
        </p:txBody>
      </p:sp>
      <p:sp>
        <p:nvSpPr>
          <p:cNvPr id="19" name="Master Footer">
            <a:extLst>
              <a:ext uri="{FF2B5EF4-FFF2-40B4-BE49-F238E27FC236}">
                <a16:creationId xmlns:a16="http://schemas.microsoft.com/office/drawing/2014/main" id="{38AC271B-3920-4F49-A88C-092CEEECCDBD}"/>
              </a:ext>
            </a:extLst>
          </p:cNvPr>
          <p:cNvSpPr>
            <a:spLocks noGrp="1"/>
          </p:cNvSpPr>
          <p:nvPr>
            <p:ph type="ftr" sz="quarter" idx="3"/>
          </p:nvPr>
        </p:nvSpPr>
        <p:spPr>
          <a:xfrm>
            <a:off x="3326675" y="6404030"/>
            <a:ext cx="5538650" cy="230832"/>
          </a:xfrm>
          <a:prstGeom prst="rect">
            <a:avLst/>
          </a:prstGeom>
        </p:spPr>
        <p:txBody>
          <a:bodyPr vert="horz" wrap="square" lIns="91440" tIns="45720" rIns="91440" bIns="45720" rtlCol="0" anchor="ctr">
            <a:spAutoFit/>
          </a:bodyPr>
          <a:lstStyle>
            <a:lvl1pPr algn="ctr">
              <a:defRPr sz="900">
                <a:solidFill>
                  <a:srgbClr val="000000"/>
                </a:solidFill>
                <a:latin typeface="Arial" panose="020B0604020202020204" pitchFamily="34" charset="0"/>
                <a:cs typeface="Arial" panose="020B0604020202020204" pitchFamily="34" charset="0"/>
              </a:defRPr>
            </a:lvl1pPr>
          </a:lstStyle>
          <a:p>
            <a:r>
              <a:rPr lang="en-US"/>
              <a:t>Presentation Title</a:t>
            </a:r>
            <a:endParaRPr lang="en-US" dirty="0"/>
          </a:p>
        </p:txBody>
      </p:sp>
      <p:grpSp>
        <p:nvGrpSpPr>
          <p:cNvPr id="21" name="Micron Logo">
            <a:extLst>
              <a:ext uri="{FF2B5EF4-FFF2-40B4-BE49-F238E27FC236}">
                <a16:creationId xmlns:a16="http://schemas.microsoft.com/office/drawing/2014/main" id="{481C5C9B-6CA7-403F-BE9B-FB36EA54C818}"/>
              </a:ext>
            </a:extLst>
          </p:cNvPr>
          <p:cNvGrpSpPr/>
          <p:nvPr userDrawn="1"/>
        </p:nvGrpSpPr>
        <p:grpSpPr>
          <a:xfrm>
            <a:off x="10762690" y="6377049"/>
            <a:ext cx="1021952" cy="278561"/>
            <a:chOff x="1233488" y="677863"/>
            <a:chExt cx="2882900" cy="785813"/>
          </a:xfrm>
          <a:solidFill>
            <a:srgbClr val="0090DA"/>
          </a:solidFill>
        </p:grpSpPr>
        <p:sp>
          <p:nvSpPr>
            <p:cNvPr id="22" name="Freeform 35">
              <a:extLst>
                <a:ext uri="{FF2B5EF4-FFF2-40B4-BE49-F238E27FC236}">
                  <a16:creationId xmlns:a16="http://schemas.microsoft.com/office/drawing/2014/main" id="{9D7935E0-E3F3-45CE-AE66-E6414B1B701E}"/>
                </a:ext>
              </a:extLst>
            </p:cNvPr>
            <p:cNvSpPr>
              <a:spLocks/>
            </p:cNvSpPr>
            <p:nvPr/>
          </p:nvSpPr>
          <p:spPr bwMode="auto">
            <a:xfrm>
              <a:off x="2346326" y="944563"/>
              <a:ext cx="417513" cy="354013"/>
            </a:xfrm>
            <a:custGeom>
              <a:avLst/>
              <a:gdLst>
                <a:gd name="T0" fmla="*/ 310 w 525"/>
                <a:gd name="T1" fmla="*/ 445 h 445"/>
                <a:gd name="T2" fmla="*/ 250 w 525"/>
                <a:gd name="T3" fmla="*/ 440 h 445"/>
                <a:gd name="T4" fmla="*/ 193 w 525"/>
                <a:gd name="T5" fmla="*/ 428 h 445"/>
                <a:gd name="T6" fmla="*/ 140 w 525"/>
                <a:gd name="T7" fmla="*/ 409 h 445"/>
                <a:gd name="T8" fmla="*/ 94 w 525"/>
                <a:gd name="T9" fmla="*/ 383 h 445"/>
                <a:gd name="T10" fmla="*/ 55 w 525"/>
                <a:gd name="T11" fmla="*/ 350 h 445"/>
                <a:gd name="T12" fmla="*/ 25 w 525"/>
                <a:gd name="T13" fmla="*/ 313 h 445"/>
                <a:gd name="T14" fmla="*/ 14 w 525"/>
                <a:gd name="T15" fmla="*/ 291 h 445"/>
                <a:gd name="T16" fmla="*/ 7 w 525"/>
                <a:gd name="T17" fmla="*/ 269 h 445"/>
                <a:gd name="T18" fmla="*/ 1 w 525"/>
                <a:gd name="T19" fmla="*/ 246 h 445"/>
                <a:gd name="T20" fmla="*/ 0 w 525"/>
                <a:gd name="T21" fmla="*/ 222 h 445"/>
                <a:gd name="T22" fmla="*/ 0 w 525"/>
                <a:gd name="T23" fmla="*/ 210 h 445"/>
                <a:gd name="T24" fmla="*/ 3 w 525"/>
                <a:gd name="T25" fmla="*/ 187 h 445"/>
                <a:gd name="T26" fmla="*/ 11 w 525"/>
                <a:gd name="T27" fmla="*/ 164 h 445"/>
                <a:gd name="T28" fmla="*/ 19 w 525"/>
                <a:gd name="T29" fmla="*/ 143 h 445"/>
                <a:gd name="T30" fmla="*/ 38 w 525"/>
                <a:gd name="T31" fmla="*/ 113 h 445"/>
                <a:gd name="T32" fmla="*/ 73 w 525"/>
                <a:gd name="T33" fmla="*/ 78 h 445"/>
                <a:gd name="T34" fmla="*/ 116 w 525"/>
                <a:gd name="T35" fmla="*/ 48 h 445"/>
                <a:gd name="T36" fmla="*/ 166 w 525"/>
                <a:gd name="T37" fmla="*/ 25 h 445"/>
                <a:gd name="T38" fmla="*/ 221 w 525"/>
                <a:gd name="T39" fmla="*/ 9 h 445"/>
                <a:gd name="T40" fmla="*/ 281 w 525"/>
                <a:gd name="T41" fmla="*/ 1 h 445"/>
                <a:gd name="T42" fmla="*/ 311 w 525"/>
                <a:gd name="T43" fmla="*/ 0 h 445"/>
                <a:gd name="T44" fmla="*/ 364 w 525"/>
                <a:gd name="T45" fmla="*/ 3 h 445"/>
                <a:gd name="T46" fmla="*/ 416 w 525"/>
                <a:gd name="T47" fmla="*/ 14 h 445"/>
                <a:gd name="T48" fmla="*/ 468 w 525"/>
                <a:gd name="T49" fmla="*/ 32 h 445"/>
                <a:gd name="T50" fmla="*/ 523 w 525"/>
                <a:gd name="T51" fmla="*/ 58 h 445"/>
                <a:gd name="T52" fmla="*/ 471 w 525"/>
                <a:gd name="T53" fmla="*/ 124 h 445"/>
                <a:gd name="T54" fmla="*/ 434 w 525"/>
                <a:gd name="T55" fmla="*/ 108 h 445"/>
                <a:gd name="T56" fmla="*/ 396 w 525"/>
                <a:gd name="T57" fmla="*/ 98 h 445"/>
                <a:gd name="T58" fmla="*/ 355 w 525"/>
                <a:gd name="T59" fmla="*/ 90 h 445"/>
                <a:gd name="T60" fmla="*/ 311 w 525"/>
                <a:gd name="T61" fmla="*/ 88 h 445"/>
                <a:gd name="T62" fmla="*/ 298 w 525"/>
                <a:gd name="T63" fmla="*/ 89 h 445"/>
                <a:gd name="T64" fmla="*/ 271 w 525"/>
                <a:gd name="T65" fmla="*/ 93 h 445"/>
                <a:gd name="T66" fmla="*/ 246 w 525"/>
                <a:gd name="T67" fmla="*/ 100 h 445"/>
                <a:gd name="T68" fmla="*/ 222 w 525"/>
                <a:gd name="T69" fmla="*/ 112 h 445"/>
                <a:gd name="T70" fmla="*/ 200 w 525"/>
                <a:gd name="T71" fmla="*/ 128 h 445"/>
                <a:gd name="T72" fmla="*/ 182 w 525"/>
                <a:gd name="T73" fmla="*/ 150 h 445"/>
                <a:gd name="T74" fmla="*/ 170 w 525"/>
                <a:gd name="T75" fmla="*/ 175 h 445"/>
                <a:gd name="T76" fmla="*/ 163 w 525"/>
                <a:gd name="T77" fmla="*/ 205 h 445"/>
                <a:gd name="T78" fmla="*/ 162 w 525"/>
                <a:gd name="T79" fmla="*/ 222 h 445"/>
                <a:gd name="T80" fmla="*/ 165 w 525"/>
                <a:gd name="T81" fmla="*/ 256 h 445"/>
                <a:gd name="T82" fmla="*/ 175 w 525"/>
                <a:gd name="T83" fmla="*/ 284 h 445"/>
                <a:gd name="T84" fmla="*/ 191 w 525"/>
                <a:gd name="T85" fmla="*/ 306 h 445"/>
                <a:gd name="T86" fmla="*/ 210 w 525"/>
                <a:gd name="T87" fmla="*/ 326 h 445"/>
                <a:gd name="T88" fmla="*/ 233 w 525"/>
                <a:gd name="T89" fmla="*/ 339 h 445"/>
                <a:gd name="T90" fmla="*/ 258 w 525"/>
                <a:gd name="T91" fmla="*/ 349 h 445"/>
                <a:gd name="T92" fmla="*/ 285 w 525"/>
                <a:gd name="T93" fmla="*/ 355 h 445"/>
                <a:gd name="T94" fmla="*/ 311 w 525"/>
                <a:gd name="T95" fmla="*/ 357 h 445"/>
                <a:gd name="T96" fmla="*/ 333 w 525"/>
                <a:gd name="T97" fmla="*/ 356 h 445"/>
                <a:gd name="T98" fmla="*/ 375 w 525"/>
                <a:gd name="T99" fmla="*/ 352 h 445"/>
                <a:gd name="T100" fmla="*/ 416 w 525"/>
                <a:gd name="T101" fmla="*/ 344 h 445"/>
                <a:gd name="T102" fmla="*/ 455 w 525"/>
                <a:gd name="T103" fmla="*/ 332 h 445"/>
                <a:gd name="T104" fmla="*/ 525 w 525"/>
                <a:gd name="T105" fmla="*/ 393 h 445"/>
                <a:gd name="T106" fmla="*/ 501 w 525"/>
                <a:gd name="T107" fmla="*/ 405 h 445"/>
                <a:gd name="T108" fmla="*/ 451 w 525"/>
                <a:gd name="T109" fmla="*/ 425 h 445"/>
                <a:gd name="T110" fmla="*/ 397 w 525"/>
                <a:gd name="T111" fmla="*/ 438 h 445"/>
                <a:gd name="T112" fmla="*/ 340 w 525"/>
                <a:gd name="T113" fmla="*/ 444 h 445"/>
                <a:gd name="T114" fmla="*/ 310 w 525"/>
                <a:gd name="T115"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5" h="445">
                  <a:moveTo>
                    <a:pt x="310" y="445"/>
                  </a:moveTo>
                  <a:lnTo>
                    <a:pt x="310" y="445"/>
                  </a:lnTo>
                  <a:lnTo>
                    <a:pt x="280" y="444"/>
                  </a:lnTo>
                  <a:lnTo>
                    <a:pt x="250" y="440"/>
                  </a:lnTo>
                  <a:lnTo>
                    <a:pt x="221" y="436"/>
                  </a:lnTo>
                  <a:lnTo>
                    <a:pt x="193" y="428"/>
                  </a:lnTo>
                  <a:lnTo>
                    <a:pt x="165" y="420"/>
                  </a:lnTo>
                  <a:lnTo>
                    <a:pt x="140" y="409"/>
                  </a:lnTo>
                  <a:lnTo>
                    <a:pt x="116" y="397"/>
                  </a:lnTo>
                  <a:lnTo>
                    <a:pt x="94" y="383"/>
                  </a:lnTo>
                  <a:lnTo>
                    <a:pt x="73" y="367"/>
                  </a:lnTo>
                  <a:lnTo>
                    <a:pt x="55" y="350"/>
                  </a:lnTo>
                  <a:lnTo>
                    <a:pt x="38" y="332"/>
                  </a:lnTo>
                  <a:lnTo>
                    <a:pt x="25" y="313"/>
                  </a:lnTo>
                  <a:lnTo>
                    <a:pt x="19" y="302"/>
                  </a:lnTo>
                  <a:lnTo>
                    <a:pt x="14" y="291"/>
                  </a:lnTo>
                  <a:lnTo>
                    <a:pt x="11" y="280"/>
                  </a:lnTo>
                  <a:lnTo>
                    <a:pt x="7" y="269"/>
                  </a:lnTo>
                  <a:lnTo>
                    <a:pt x="3" y="258"/>
                  </a:lnTo>
                  <a:lnTo>
                    <a:pt x="1" y="246"/>
                  </a:lnTo>
                  <a:lnTo>
                    <a:pt x="0" y="234"/>
                  </a:lnTo>
                  <a:lnTo>
                    <a:pt x="0" y="222"/>
                  </a:lnTo>
                  <a:lnTo>
                    <a:pt x="0" y="222"/>
                  </a:lnTo>
                  <a:lnTo>
                    <a:pt x="0" y="210"/>
                  </a:lnTo>
                  <a:lnTo>
                    <a:pt x="1" y="199"/>
                  </a:lnTo>
                  <a:lnTo>
                    <a:pt x="3" y="187"/>
                  </a:lnTo>
                  <a:lnTo>
                    <a:pt x="7" y="176"/>
                  </a:lnTo>
                  <a:lnTo>
                    <a:pt x="11" y="164"/>
                  </a:lnTo>
                  <a:lnTo>
                    <a:pt x="14" y="153"/>
                  </a:lnTo>
                  <a:lnTo>
                    <a:pt x="19" y="143"/>
                  </a:lnTo>
                  <a:lnTo>
                    <a:pt x="25" y="133"/>
                  </a:lnTo>
                  <a:lnTo>
                    <a:pt x="38" y="113"/>
                  </a:lnTo>
                  <a:lnTo>
                    <a:pt x="55" y="95"/>
                  </a:lnTo>
                  <a:lnTo>
                    <a:pt x="73" y="78"/>
                  </a:lnTo>
                  <a:lnTo>
                    <a:pt x="94" y="63"/>
                  </a:lnTo>
                  <a:lnTo>
                    <a:pt x="116" y="48"/>
                  </a:lnTo>
                  <a:lnTo>
                    <a:pt x="140" y="36"/>
                  </a:lnTo>
                  <a:lnTo>
                    <a:pt x="166" y="25"/>
                  </a:lnTo>
                  <a:lnTo>
                    <a:pt x="193" y="17"/>
                  </a:lnTo>
                  <a:lnTo>
                    <a:pt x="221" y="9"/>
                  </a:lnTo>
                  <a:lnTo>
                    <a:pt x="251" y="3"/>
                  </a:lnTo>
                  <a:lnTo>
                    <a:pt x="281" y="1"/>
                  </a:lnTo>
                  <a:lnTo>
                    <a:pt x="311" y="0"/>
                  </a:lnTo>
                  <a:lnTo>
                    <a:pt x="311" y="0"/>
                  </a:lnTo>
                  <a:lnTo>
                    <a:pt x="338" y="1"/>
                  </a:lnTo>
                  <a:lnTo>
                    <a:pt x="364" y="3"/>
                  </a:lnTo>
                  <a:lnTo>
                    <a:pt x="390" y="7"/>
                  </a:lnTo>
                  <a:lnTo>
                    <a:pt x="416" y="14"/>
                  </a:lnTo>
                  <a:lnTo>
                    <a:pt x="443" y="22"/>
                  </a:lnTo>
                  <a:lnTo>
                    <a:pt x="468" y="32"/>
                  </a:lnTo>
                  <a:lnTo>
                    <a:pt x="495" y="44"/>
                  </a:lnTo>
                  <a:lnTo>
                    <a:pt x="523" y="58"/>
                  </a:lnTo>
                  <a:lnTo>
                    <a:pt x="471" y="124"/>
                  </a:lnTo>
                  <a:lnTo>
                    <a:pt x="471" y="124"/>
                  </a:lnTo>
                  <a:lnTo>
                    <a:pt x="454" y="116"/>
                  </a:lnTo>
                  <a:lnTo>
                    <a:pt x="434" y="108"/>
                  </a:lnTo>
                  <a:lnTo>
                    <a:pt x="415" y="102"/>
                  </a:lnTo>
                  <a:lnTo>
                    <a:pt x="396" y="98"/>
                  </a:lnTo>
                  <a:lnTo>
                    <a:pt x="375" y="94"/>
                  </a:lnTo>
                  <a:lnTo>
                    <a:pt x="355" y="90"/>
                  </a:lnTo>
                  <a:lnTo>
                    <a:pt x="333" y="89"/>
                  </a:lnTo>
                  <a:lnTo>
                    <a:pt x="311" y="88"/>
                  </a:lnTo>
                  <a:lnTo>
                    <a:pt x="311" y="88"/>
                  </a:lnTo>
                  <a:lnTo>
                    <a:pt x="298" y="89"/>
                  </a:lnTo>
                  <a:lnTo>
                    <a:pt x="285" y="90"/>
                  </a:lnTo>
                  <a:lnTo>
                    <a:pt x="271" y="93"/>
                  </a:lnTo>
                  <a:lnTo>
                    <a:pt x="258" y="95"/>
                  </a:lnTo>
                  <a:lnTo>
                    <a:pt x="246" y="100"/>
                  </a:lnTo>
                  <a:lnTo>
                    <a:pt x="234" y="105"/>
                  </a:lnTo>
                  <a:lnTo>
                    <a:pt x="222" y="112"/>
                  </a:lnTo>
                  <a:lnTo>
                    <a:pt x="211" y="119"/>
                  </a:lnTo>
                  <a:lnTo>
                    <a:pt x="200" y="128"/>
                  </a:lnTo>
                  <a:lnTo>
                    <a:pt x="191" y="137"/>
                  </a:lnTo>
                  <a:lnTo>
                    <a:pt x="182" y="150"/>
                  </a:lnTo>
                  <a:lnTo>
                    <a:pt x="176" y="162"/>
                  </a:lnTo>
                  <a:lnTo>
                    <a:pt x="170" y="175"/>
                  </a:lnTo>
                  <a:lnTo>
                    <a:pt x="165" y="189"/>
                  </a:lnTo>
                  <a:lnTo>
                    <a:pt x="163" y="205"/>
                  </a:lnTo>
                  <a:lnTo>
                    <a:pt x="162" y="222"/>
                  </a:lnTo>
                  <a:lnTo>
                    <a:pt x="162" y="222"/>
                  </a:lnTo>
                  <a:lnTo>
                    <a:pt x="163" y="240"/>
                  </a:lnTo>
                  <a:lnTo>
                    <a:pt x="165" y="256"/>
                  </a:lnTo>
                  <a:lnTo>
                    <a:pt x="170" y="270"/>
                  </a:lnTo>
                  <a:lnTo>
                    <a:pt x="175" y="284"/>
                  </a:lnTo>
                  <a:lnTo>
                    <a:pt x="182" y="296"/>
                  </a:lnTo>
                  <a:lnTo>
                    <a:pt x="191" y="306"/>
                  </a:lnTo>
                  <a:lnTo>
                    <a:pt x="200" y="317"/>
                  </a:lnTo>
                  <a:lnTo>
                    <a:pt x="210" y="326"/>
                  </a:lnTo>
                  <a:lnTo>
                    <a:pt x="221" y="333"/>
                  </a:lnTo>
                  <a:lnTo>
                    <a:pt x="233" y="339"/>
                  </a:lnTo>
                  <a:lnTo>
                    <a:pt x="245" y="345"/>
                  </a:lnTo>
                  <a:lnTo>
                    <a:pt x="258" y="349"/>
                  </a:lnTo>
                  <a:lnTo>
                    <a:pt x="271" y="352"/>
                  </a:lnTo>
                  <a:lnTo>
                    <a:pt x="285" y="355"/>
                  </a:lnTo>
                  <a:lnTo>
                    <a:pt x="298" y="356"/>
                  </a:lnTo>
                  <a:lnTo>
                    <a:pt x="311" y="357"/>
                  </a:lnTo>
                  <a:lnTo>
                    <a:pt x="311" y="357"/>
                  </a:lnTo>
                  <a:lnTo>
                    <a:pt x="333" y="356"/>
                  </a:lnTo>
                  <a:lnTo>
                    <a:pt x="355" y="355"/>
                  </a:lnTo>
                  <a:lnTo>
                    <a:pt x="375" y="352"/>
                  </a:lnTo>
                  <a:lnTo>
                    <a:pt x="396" y="349"/>
                  </a:lnTo>
                  <a:lnTo>
                    <a:pt x="416" y="344"/>
                  </a:lnTo>
                  <a:lnTo>
                    <a:pt x="436" y="338"/>
                  </a:lnTo>
                  <a:lnTo>
                    <a:pt x="455" y="332"/>
                  </a:lnTo>
                  <a:lnTo>
                    <a:pt x="473" y="325"/>
                  </a:lnTo>
                  <a:lnTo>
                    <a:pt x="525" y="393"/>
                  </a:lnTo>
                  <a:lnTo>
                    <a:pt x="525" y="393"/>
                  </a:lnTo>
                  <a:lnTo>
                    <a:pt x="501" y="405"/>
                  </a:lnTo>
                  <a:lnTo>
                    <a:pt x="477" y="415"/>
                  </a:lnTo>
                  <a:lnTo>
                    <a:pt x="451" y="425"/>
                  </a:lnTo>
                  <a:lnTo>
                    <a:pt x="425" y="432"/>
                  </a:lnTo>
                  <a:lnTo>
                    <a:pt x="397" y="438"/>
                  </a:lnTo>
                  <a:lnTo>
                    <a:pt x="369" y="442"/>
                  </a:lnTo>
                  <a:lnTo>
                    <a:pt x="340" y="444"/>
                  </a:lnTo>
                  <a:lnTo>
                    <a:pt x="310" y="445"/>
                  </a:lnTo>
                  <a:lnTo>
                    <a:pt x="310" y="4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3" name="Freeform 36">
              <a:extLst>
                <a:ext uri="{FF2B5EF4-FFF2-40B4-BE49-F238E27FC236}">
                  <a16:creationId xmlns:a16="http://schemas.microsoft.com/office/drawing/2014/main" id="{74C07C8D-9A10-49B0-BEF9-C7DB3B3E4533}"/>
                </a:ext>
              </a:extLst>
            </p:cNvPr>
            <p:cNvSpPr>
              <a:spLocks noEditPoints="1"/>
            </p:cNvSpPr>
            <p:nvPr/>
          </p:nvSpPr>
          <p:spPr bwMode="auto">
            <a:xfrm>
              <a:off x="3087688" y="942976"/>
              <a:ext cx="493713" cy="355600"/>
            </a:xfrm>
            <a:custGeom>
              <a:avLst/>
              <a:gdLst>
                <a:gd name="T0" fmla="*/ 459 w 622"/>
                <a:gd name="T1" fmla="*/ 241 h 447"/>
                <a:gd name="T2" fmla="*/ 447 w 622"/>
                <a:gd name="T3" fmla="*/ 285 h 447"/>
                <a:gd name="T4" fmla="*/ 421 w 622"/>
                <a:gd name="T5" fmla="*/ 318 h 447"/>
                <a:gd name="T6" fmla="*/ 389 w 622"/>
                <a:gd name="T7" fmla="*/ 341 h 447"/>
                <a:gd name="T8" fmla="*/ 350 w 622"/>
                <a:gd name="T9" fmla="*/ 354 h 447"/>
                <a:gd name="T10" fmla="*/ 310 w 622"/>
                <a:gd name="T11" fmla="*/ 358 h 447"/>
                <a:gd name="T12" fmla="*/ 285 w 622"/>
                <a:gd name="T13" fmla="*/ 357 h 447"/>
                <a:gd name="T14" fmla="*/ 245 w 622"/>
                <a:gd name="T15" fmla="*/ 346 h 447"/>
                <a:gd name="T16" fmla="*/ 210 w 622"/>
                <a:gd name="T17" fmla="*/ 326 h 447"/>
                <a:gd name="T18" fmla="*/ 182 w 622"/>
                <a:gd name="T19" fmla="*/ 297 h 447"/>
                <a:gd name="T20" fmla="*/ 165 w 622"/>
                <a:gd name="T21" fmla="*/ 258 h 447"/>
                <a:gd name="T22" fmla="*/ 162 w 622"/>
                <a:gd name="T23" fmla="*/ 224 h 447"/>
                <a:gd name="T24" fmla="*/ 169 w 622"/>
                <a:gd name="T25" fmla="*/ 175 h 447"/>
                <a:gd name="T26" fmla="*/ 191 w 622"/>
                <a:gd name="T27" fmla="*/ 139 h 447"/>
                <a:gd name="T28" fmla="*/ 221 w 622"/>
                <a:gd name="T29" fmla="*/ 113 h 447"/>
                <a:gd name="T30" fmla="*/ 258 w 622"/>
                <a:gd name="T31" fmla="*/ 97 h 447"/>
                <a:gd name="T32" fmla="*/ 298 w 622"/>
                <a:gd name="T33" fmla="*/ 90 h 447"/>
                <a:gd name="T34" fmla="*/ 323 w 622"/>
                <a:gd name="T35" fmla="*/ 90 h 447"/>
                <a:gd name="T36" fmla="*/ 363 w 622"/>
                <a:gd name="T37" fmla="*/ 97 h 447"/>
                <a:gd name="T38" fmla="*/ 400 w 622"/>
                <a:gd name="T39" fmla="*/ 113 h 447"/>
                <a:gd name="T40" fmla="*/ 431 w 622"/>
                <a:gd name="T41" fmla="*/ 139 h 447"/>
                <a:gd name="T42" fmla="*/ 451 w 622"/>
                <a:gd name="T43" fmla="*/ 175 h 447"/>
                <a:gd name="T44" fmla="*/ 460 w 622"/>
                <a:gd name="T45" fmla="*/ 224 h 447"/>
                <a:gd name="T46" fmla="*/ 310 w 622"/>
                <a:gd name="T47" fmla="*/ 447 h 447"/>
                <a:gd name="T48" fmla="*/ 401 w 622"/>
                <a:gd name="T49" fmla="*/ 437 h 447"/>
                <a:gd name="T50" fmla="*/ 482 w 622"/>
                <a:gd name="T51" fmla="*/ 411 h 447"/>
                <a:gd name="T52" fmla="*/ 548 w 622"/>
                <a:gd name="T53" fmla="*/ 369 h 447"/>
                <a:gd name="T54" fmla="*/ 596 w 622"/>
                <a:gd name="T55" fmla="*/ 313 h 447"/>
                <a:gd name="T56" fmla="*/ 612 w 622"/>
                <a:gd name="T57" fmla="*/ 282 h 447"/>
                <a:gd name="T58" fmla="*/ 620 w 622"/>
                <a:gd name="T59" fmla="*/ 248 h 447"/>
                <a:gd name="T60" fmla="*/ 622 w 622"/>
                <a:gd name="T61" fmla="*/ 224 h 447"/>
                <a:gd name="T62" fmla="*/ 618 w 622"/>
                <a:gd name="T63" fmla="*/ 189 h 447"/>
                <a:gd name="T64" fmla="*/ 607 w 622"/>
                <a:gd name="T65" fmla="*/ 155 h 447"/>
                <a:gd name="T66" fmla="*/ 583 w 622"/>
                <a:gd name="T67" fmla="*/ 115 h 447"/>
                <a:gd name="T68" fmla="*/ 529 w 622"/>
                <a:gd name="T69" fmla="*/ 63 h 447"/>
                <a:gd name="T70" fmla="*/ 456 w 622"/>
                <a:gd name="T71" fmla="*/ 27 h 447"/>
                <a:gd name="T72" fmla="*/ 372 w 622"/>
                <a:gd name="T73" fmla="*/ 5 h 447"/>
                <a:gd name="T74" fmla="*/ 310 w 622"/>
                <a:gd name="T75" fmla="*/ 0 h 447"/>
                <a:gd name="T76" fmla="*/ 221 w 622"/>
                <a:gd name="T77" fmla="*/ 10 h 447"/>
                <a:gd name="T78" fmla="*/ 140 w 622"/>
                <a:gd name="T79" fmla="*/ 38 h 447"/>
                <a:gd name="T80" fmla="*/ 72 w 622"/>
                <a:gd name="T81" fmla="*/ 79 h 447"/>
                <a:gd name="T82" fmla="*/ 25 w 622"/>
                <a:gd name="T83" fmla="*/ 134 h 447"/>
                <a:gd name="T84" fmla="*/ 10 w 622"/>
                <a:gd name="T85" fmla="*/ 166 h 447"/>
                <a:gd name="T86" fmla="*/ 1 w 622"/>
                <a:gd name="T87" fmla="*/ 200 h 447"/>
                <a:gd name="T88" fmla="*/ 0 w 622"/>
                <a:gd name="T89" fmla="*/ 224 h 447"/>
                <a:gd name="T90" fmla="*/ 4 w 622"/>
                <a:gd name="T91" fmla="*/ 259 h 447"/>
                <a:gd name="T92" fmla="*/ 14 w 622"/>
                <a:gd name="T93" fmla="*/ 293 h 447"/>
                <a:gd name="T94" fmla="*/ 39 w 622"/>
                <a:gd name="T95" fmla="*/ 332 h 447"/>
                <a:gd name="T96" fmla="*/ 93 w 622"/>
                <a:gd name="T97" fmla="*/ 384 h 447"/>
                <a:gd name="T98" fmla="*/ 165 w 622"/>
                <a:gd name="T99" fmla="*/ 421 h 447"/>
                <a:gd name="T100" fmla="*/ 250 w 622"/>
                <a:gd name="T101" fmla="*/ 442 h 447"/>
                <a:gd name="T102" fmla="*/ 310 w 622"/>
                <a:gd name="T103" fmla="*/ 447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22" h="447">
                  <a:moveTo>
                    <a:pt x="460" y="224"/>
                  </a:moveTo>
                  <a:lnTo>
                    <a:pt x="460" y="224"/>
                  </a:lnTo>
                  <a:lnTo>
                    <a:pt x="459" y="241"/>
                  </a:lnTo>
                  <a:lnTo>
                    <a:pt x="456" y="258"/>
                  </a:lnTo>
                  <a:lnTo>
                    <a:pt x="451" y="272"/>
                  </a:lnTo>
                  <a:lnTo>
                    <a:pt x="447" y="285"/>
                  </a:lnTo>
                  <a:lnTo>
                    <a:pt x="439" y="297"/>
                  </a:lnTo>
                  <a:lnTo>
                    <a:pt x="431" y="308"/>
                  </a:lnTo>
                  <a:lnTo>
                    <a:pt x="421" y="318"/>
                  </a:lnTo>
                  <a:lnTo>
                    <a:pt x="412" y="326"/>
                  </a:lnTo>
                  <a:lnTo>
                    <a:pt x="400" y="335"/>
                  </a:lnTo>
                  <a:lnTo>
                    <a:pt x="389" y="341"/>
                  </a:lnTo>
                  <a:lnTo>
                    <a:pt x="375" y="346"/>
                  </a:lnTo>
                  <a:lnTo>
                    <a:pt x="363" y="351"/>
                  </a:lnTo>
                  <a:lnTo>
                    <a:pt x="350" y="354"/>
                  </a:lnTo>
                  <a:lnTo>
                    <a:pt x="337" y="357"/>
                  </a:lnTo>
                  <a:lnTo>
                    <a:pt x="323" y="358"/>
                  </a:lnTo>
                  <a:lnTo>
                    <a:pt x="310" y="358"/>
                  </a:lnTo>
                  <a:lnTo>
                    <a:pt x="310" y="358"/>
                  </a:lnTo>
                  <a:lnTo>
                    <a:pt x="298" y="358"/>
                  </a:lnTo>
                  <a:lnTo>
                    <a:pt x="285" y="357"/>
                  </a:lnTo>
                  <a:lnTo>
                    <a:pt x="272" y="354"/>
                  </a:lnTo>
                  <a:lnTo>
                    <a:pt x="258" y="351"/>
                  </a:lnTo>
                  <a:lnTo>
                    <a:pt x="245" y="346"/>
                  </a:lnTo>
                  <a:lnTo>
                    <a:pt x="233" y="341"/>
                  </a:lnTo>
                  <a:lnTo>
                    <a:pt x="221" y="335"/>
                  </a:lnTo>
                  <a:lnTo>
                    <a:pt x="210" y="326"/>
                  </a:lnTo>
                  <a:lnTo>
                    <a:pt x="200" y="318"/>
                  </a:lnTo>
                  <a:lnTo>
                    <a:pt x="191" y="308"/>
                  </a:lnTo>
                  <a:lnTo>
                    <a:pt x="182" y="297"/>
                  </a:lnTo>
                  <a:lnTo>
                    <a:pt x="175" y="285"/>
                  </a:lnTo>
                  <a:lnTo>
                    <a:pt x="169" y="272"/>
                  </a:lnTo>
                  <a:lnTo>
                    <a:pt x="165" y="258"/>
                  </a:lnTo>
                  <a:lnTo>
                    <a:pt x="163" y="241"/>
                  </a:lnTo>
                  <a:lnTo>
                    <a:pt x="162" y="224"/>
                  </a:lnTo>
                  <a:lnTo>
                    <a:pt x="162" y="224"/>
                  </a:lnTo>
                  <a:lnTo>
                    <a:pt x="163" y="207"/>
                  </a:lnTo>
                  <a:lnTo>
                    <a:pt x="165" y="191"/>
                  </a:lnTo>
                  <a:lnTo>
                    <a:pt x="169" y="175"/>
                  </a:lnTo>
                  <a:lnTo>
                    <a:pt x="175" y="162"/>
                  </a:lnTo>
                  <a:lnTo>
                    <a:pt x="182" y="150"/>
                  </a:lnTo>
                  <a:lnTo>
                    <a:pt x="191" y="139"/>
                  </a:lnTo>
                  <a:lnTo>
                    <a:pt x="200" y="130"/>
                  </a:lnTo>
                  <a:lnTo>
                    <a:pt x="210" y="121"/>
                  </a:lnTo>
                  <a:lnTo>
                    <a:pt x="221" y="113"/>
                  </a:lnTo>
                  <a:lnTo>
                    <a:pt x="233" y="107"/>
                  </a:lnTo>
                  <a:lnTo>
                    <a:pt x="245" y="102"/>
                  </a:lnTo>
                  <a:lnTo>
                    <a:pt x="258" y="97"/>
                  </a:lnTo>
                  <a:lnTo>
                    <a:pt x="272" y="93"/>
                  </a:lnTo>
                  <a:lnTo>
                    <a:pt x="285" y="91"/>
                  </a:lnTo>
                  <a:lnTo>
                    <a:pt x="298" y="90"/>
                  </a:lnTo>
                  <a:lnTo>
                    <a:pt x="310" y="90"/>
                  </a:lnTo>
                  <a:lnTo>
                    <a:pt x="310" y="90"/>
                  </a:lnTo>
                  <a:lnTo>
                    <a:pt x="323" y="90"/>
                  </a:lnTo>
                  <a:lnTo>
                    <a:pt x="337" y="91"/>
                  </a:lnTo>
                  <a:lnTo>
                    <a:pt x="350" y="93"/>
                  </a:lnTo>
                  <a:lnTo>
                    <a:pt x="363" y="97"/>
                  </a:lnTo>
                  <a:lnTo>
                    <a:pt x="375" y="102"/>
                  </a:lnTo>
                  <a:lnTo>
                    <a:pt x="389" y="107"/>
                  </a:lnTo>
                  <a:lnTo>
                    <a:pt x="400" y="113"/>
                  </a:lnTo>
                  <a:lnTo>
                    <a:pt x="412" y="121"/>
                  </a:lnTo>
                  <a:lnTo>
                    <a:pt x="421" y="130"/>
                  </a:lnTo>
                  <a:lnTo>
                    <a:pt x="431" y="139"/>
                  </a:lnTo>
                  <a:lnTo>
                    <a:pt x="439" y="150"/>
                  </a:lnTo>
                  <a:lnTo>
                    <a:pt x="447" y="162"/>
                  </a:lnTo>
                  <a:lnTo>
                    <a:pt x="451" y="175"/>
                  </a:lnTo>
                  <a:lnTo>
                    <a:pt x="456" y="191"/>
                  </a:lnTo>
                  <a:lnTo>
                    <a:pt x="459" y="207"/>
                  </a:lnTo>
                  <a:lnTo>
                    <a:pt x="460" y="224"/>
                  </a:lnTo>
                  <a:lnTo>
                    <a:pt x="460" y="224"/>
                  </a:lnTo>
                  <a:close/>
                  <a:moveTo>
                    <a:pt x="310" y="447"/>
                  </a:moveTo>
                  <a:lnTo>
                    <a:pt x="310" y="447"/>
                  </a:lnTo>
                  <a:lnTo>
                    <a:pt x="342" y="446"/>
                  </a:lnTo>
                  <a:lnTo>
                    <a:pt x="372" y="442"/>
                  </a:lnTo>
                  <a:lnTo>
                    <a:pt x="401" y="437"/>
                  </a:lnTo>
                  <a:lnTo>
                    <a:pt x="429" y="430"/>
                  </a:lnTo>
                  <a:lnTo>
                    <a:pt x="456" y="421"/>
                  </a:lnTo>
                  <a:lnTo>
                    <a:pt x="482" y="411"/>
                  </a:lnTo>
                  <a:lnTo>
                    <a:pt x="506" y="398"/>
                  </a:lnTo>
                  <a:lnTo>
                    <a:pt x="529" y="384"/>
                  </a:lnTo>
                  <a:lnTo>
                    <a:pt x="548" y="369"/>
                  </a:lnTo>
                  <a:lnTo>
                    <a:pt x="567" y="352"/>
                  </a:lnTo>
                  <a:lnTo>
                    <a:pt x="583" y="332"/>
                  </a:lnTo>
                  <a:lnTo>
                    <a:pt x="596" y="313"/>
                  </a:lnTo>
                  <a:lnTo>
                    <a:pt x="602" y="303"/>
                  </a:lnTo>
                  <a:lnTo>
                    <a:pt x="607" y="293"/>
                  </a:lnTo>
                  <a:lnTo>
                    <a:pt x="612" y="282"/>
                  </a:lnTo>
                  <a:lnTo>
                    <a:pt x="616" y="271"/>
                  </a:lnTo>
                  <a:lnTo>
                    <a:pt x="618" y="259"/>
                  </a:lnTo>
                  <a:lnTo>
                    <a:pt x="620" y="248"/>
                  </a:lnTo>
                  <a:lnTo>
                    <a:pt x="622" y="236"/>
                  </a:lnTo>
                  <a:lnTo>
                    <a:pt x="622" y="224"/>
                  </a:lnTo>
                  <a:lnTo>
                    <a:pt x="622" y="224"/>
                  </a:lnTo>
                  <a:lnTo>
                    <a:pt x="622" y="212"/>
                  </a:lnTo>
                  <a:lnTo>
                    <a:pt x="620" y="200"/>
                  </a:lnTo>
                  <a:lnTo>
                    <a:pt x="618" y="189"/>
                  </a:lnTo>
                  <a:lnTo>
                    <a:pt x="616" y="177"/>
                  </a:lnTo>
                  <a:lnTo>
                    <a:pt x="612" y="166"/>
                  </a:lnTo>
                  <a:lnTo>
                    <a:pt x="607" y="155"/>
                  </a:lnTo>
                  <a:lnTo>
                    <a:pt x="602" y="144"/>
                  </a:lnTo>
                  <a:lnTo>
                    <a:pt x="596" y="134"/>
                  </a:lnTo>
                  <a:lnTo>
                    <a:pt x="583" y="115"/>
                  </a:lnTo>
                  <a:lnTo>
                    <a:pt x="567" y="96"/>
                  </a:lnTo>
                  <a:lnTo>
                    <a:pt x="548" y="79"/>
                  </a:lnTo>
                  <a:lnTo>
                    <a:pt x="529" y="63"/>
                  </a:lnTo>
                  <a:lnTo>
                    <a:pt x="506" y="50"/>
                  </a:lnTo>
                  <a:lnTo>
                    <a:pt x="482" y="38"/>
                  </a:lnTo>
                  <a:lnTo>
                    <a:pt x="456" y="27"/>
                  </a:lnTo>
                  <a:lnTo>
                    <a:pt x="429" y="17"/>
                  </a:lnTo>
                  <a:lnTo>
                    <a:pt x="401" y="10"/>
                  </a:lnTo>
                  <a:lnTo>
                    <a:pt x="372" y="5"/>
                  </a:lnTo>
                  <a:lnTo>
                    <a:pt x="342" y="2"/>
                  </a:lnTo>
                  <a:lnTo>
                    <a:pt x="310" y="0"/>
                  </a:lnTo>
                  <a:lnTo>
                    <a:pt x="310" y="0"/>
                  </a:lnTo>
                  <a:lnTo>
                    <a:pt x="280" y="2"/>
                  </a:lnTo>
                  <a:lnTo>
                    <a:pt x="250" y="5"/>
                  </a:lnTo>
                  <a:lnTo>
                    <a:pt x="221" y="10"/>
                  </a:lnTo>
                  <a:lnTo>
                    <a:pt x="193" y="17"/>
                  </a:lnTo>
                  <a:lnTo>
                    <a:pt x="165" y="27"/>
                  </a:lnTo>
                  <a:lnTo>
                    <a:pt x="140" y="38"/>
                  </a:lnTo>
                  <a:lnTo>
                    <a:pt x="116" y="50"/>
                  </a:lnTo>
                  <a:lnTo>
                    <a:pt x="93" y="63"/>
                  </a:lnTo>
                  <a:lnTo>
                    <a:pt x="72" y="79"/>
                  </a:lnTo>
                  <a:lnTo>
                    <a:pt x="54" y="96"/>
                  </a:lnTo>
                  <a:lnTo>
                    <a:pt x="39" y="115"/>
                  </a:lnTo>
                  <a:lnTo>
                    <a:pt x="25" y="134"/>
                  </a:lnTo>
                  <a:lnTo>
                    <a:pt x="19" y="144"/>
                  </a:lnTo>
                  <a:lnTo>
                    <a:pt x="14" y="155"/>
                  </a:lnTo>
                  <a:lnTo>
                    <a:pt x="10" y="166"/>
                  </a:lnTo>
                  <a:lnTo>
                    <a:pt x="6" y="177"/>
                  </a:lnTo>
                  <a:lnTo>
                    <a:pt x="4" y="189"/>
                  </a:lnTo>
                  <a:lnTo>
                    <a:pt x="1" y="200"/>
                  </a:lnTo>
                  <a:lnTo>
                    <a:pt x="0" y="212"/>
                  </a:lnTo>
                  <a:lnTo>
                    <a:pt x="0" y="224"/>
                  </a:lnTo>
                  <a:lnTo>
                    <a:pt x="0" y="224"/>
                  </a:lnTo>
                  <a:lnTo>
                    <a:pt x="0" y="236"/>
                  </a:lnTo>
                  <a:lnTo>
                    <a:pt x="1" y="248"/>
                  </a:lnTo>
                  <a:lnTo>
                    <a:pt x="4" y="259"/>
                  </a:lnTo>
                  <a:lnTo>
                    <a:pt x="6" y="271"/>
                  </a:lnTo>
                  <a:lnTo>
                    <a:pt x="10" y="282"/>
                  </a:lnTo>
                  <a:lnTo>
                    <a:pt x="14" y="293"/>
                  </a:lnTo>
                  <a:lnTo>
                    <a:pt x="19" y="303"/>
                  </a:lnTo>
                  <a:lnTo>
                    <a:pt x="25" y="313"/>
                  </a:lnTo>
                  <a:lnTo>
                    <a:pt x="39" y="332"/>
                  </a:lnTo>
                  <a:lnTo>
                    <a:pt x="54" y="352"/>
                  </a:lnTo>
                  <a:lnTo>
                    <a:pt x="72" y="369"/>
                  </a:lnTo>
                  <a:lnTo>
                    <a:pt x="93" y="384"/>
                  </a:lnTo>
                  <a:lnTo>
                    <a:pt x="116" y="398"/>
                  </a:lnTo>
                  <a:lnTo>
                    <a:pt x="140" y="411"/>
                  </a:lnTo>
                  <a:lnTo>
                    <a:pt x="165" y="421"/>
                  </a:lnTo>
                  <a:lnTo>
                    <a:pt x="193" y="430"/>
                  </a:lnTo>
                  <a:lnTo>
                    <a:pt x="221" y="437"/>
                  </a:lnTo>
                  <a:lnTo>
                    <a:pt x="250" y="442"/>
                  </a:lnTo>
                  <a:lnTo>
                    <a:pt x="280" y="446"/>
                  </a:lnTo>
                  <a:lnTo>
                    <a:pt x="310" y="447"/>
                  </a:lnTo>
                  <a:lnTo>
                    <a:pt x="310" y="4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4" name="Freeform 37">
              <a:extLst>
                <a:ext uri="{FF2B5EF4-FFF2-40B4-BE49-F238E27FC236}">
                  <a16:creationId xmlns:a16="http://schemas.microsoft.com/office/drawing/2014/main" id="{16DC68CB-303A-4F2F-8B45-892DBBA9520A}"/>
                </a:ext>
              </a:extLst>
            </p:cNvPr>
            <p:cNvSpPr>
              <a:spLocks/>
            </p:cNvSpPr>
            <p:nvPr/>
          </p:nvSpPr>
          <p:spPr bwMode="auto">
            <a:xfrm>
              <a:off x="3633788" y="938213"/>
              <a:ext cx="360363" cy="350838"/>
            </a:xfrm>
            <a:custGeom>
              <a:avLst/>
              <a:gdLst>
                <a:gd name="T0" fmla="*/ 155 w 454"/>
                <a:gd name="T1" fmla="*/ 442 h 442"/>
                <a:gd name="T2" fmla="*/ 155 w 454"/>
                <a:gd name="T3" fmla="*/ 177 h 442"/>
                <a:gd name="T4" fmla="*/ 159 w 454"/>
                <a:gd name="T5" fmla="*/ 149 h 442"/>
                <a:gd name="T6" fmla="*/ 174 w 454"/>
                <a:gd name="T7" fmla="*/ 125 h 442"/>
                <a:gd name="T8" fmla="*/ 185 w 454"/>
                <a:gd name="T9" fmla="*/ 114 h 442"/>
                <a:gd name="T10" fmla="*/ 198 w 454"/>
                <a:gd name="T11" fmla="*/ 105 h 442"/>
                <a:gd name="T12" fmla="*/ 214 w 454"/>
                <a:gd name="T13" fmla="*/ 101 h 442"/>
                <a:gd name="T14" fmla="*/ 232 w 454"/>
                <a:gd name="T15" fmla="*/ 98 h 442"/>
                <a:gd name="T16" fmla="*/ 245 w 454"/>
                <a:gd name="T17" fmla="*/ 99 h 442"/>
                <a:gd name="T18" fmla="*/ 268 w 454"/>
                <a:gd name="T19" fmla="*/ 108 h 442"/>
                <a:gd name="T20" fmla="*/ 287 w 454"/>
                <a:gd name="T21" fmla="*/ 122 h 442"/>
                <a:gd name="T22" fmla="*/ 298 w 454"/>
                <a:gd name="T23" fmla="*/ 142 h 442"/>
                <a:gd name="T24" fmla="*/ 299 w 454"/>
                <a:gd name="T25" fmla="*/ 152 h 442"/>
                <a:gd name="T26" fmla="*/ 454 w 454"/>
                <a:gd name="T27" fmla="*/ 442 h 442"/>
                <a:gd name="T28" fmla="*/ 454 w 454"/>
                <a:gd name="T29" fmla="*/ 144 h 442"/>
                <a:gd name="T30" fmla="*/ 450 w 454"/>
                <a:gd name="T31" fmla="*/ 116 h 442"/>
                <a:gd name="T32" fmla="*/ 439 w 454"/>
                <a:gd name="T33" fmla="*/ 89 h 442"/>
                <a:gd name="T34" fmla="*/ 421 w 454"/>
                <a:gd name="T35" fmla="*/ 64 h 442"/>
                <a:gd name="T36" fmla="*/ 400 w 454"/>
                <a:gd name="T37" fmla="*/ 43 h 442"/>
                <a:gd name="T38" fmla="*/ 372 w 454"/>
                <a:gd name="T39" fmla="*/ 26 h 442"/>
                <a:gd name="T40" fmla="*/ 341 w 454"/>
                <a:gd name="T41" fmla="*/ 12 h 442"/>
                <a:gd name="T42" fmla="*/ 307 w 454"/>
                <a:gd name="T43" fmla="*/ 4 h 442"/>
                <a:gd name="T44" fmla="*/ 269 w 454"/>
                <a:gd name="T45" fmla="*/ 0 h 442"/>
                <a:gd name="T46" fmla="*/ 267 w 454"/>
                <a:gd name="T47" fmla="*/ 0 h 442"/>
                <a:gd name="T48" fmla="*/ 263 w 454"/>
                <a:gd name="T49" fmla="*/ 0 h 442"/>
                <a:gd name="T50" fmla="*/ 249 w 454"/>
                <a:gd name="T51" fmla="*/ 2 h 442"/>
                <a:gd name="T52" fmla="*/ 219 w 454"/>
                <a:gd name="T53" fmla="*/ 5 h 442"/>
                <a:gd name="T54" fmla="*/ 190 w 454"/>
                <a:gd name="T55" fmla="*/ 14 h 442"/>
                <a:gd name="T56" fmla="*/ 163 w 454"/>
                <a:gd name="T57" fmla="*/ 26 h 442"/>
                <a:gd name="T58" fmla="*/ 151 w 454"/>
                <a:gd name="T59" fmla="*/ 33 h 442"/>
                <a:gd name="T60" fmla="*/ 147 w 454"/>
                <a:gd name="T61" fmla="*/ 28 h 442"/>
                <a:gd name="T62" fmla="*/ 129 w 454"/>
                <a:gd name="T63" fmla="*/ 17 h 442"/>
                <a:gd name="T64" fmla="*/ 83 w 454"/>
                <a:gd name="T65" fmla="*/ 8 h 442"/>
                <a:gd name="T66" fmla="*/ 0 w 454"/>
                <a:gd name="T67" fmla="*/ 4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4" h="442">
                  <a:moveTo>
                    <a:pt x="0" y="442"/>
                  </a:moveTo>
                  <a:lnTo>
                    <a:pt x="155" y="442"/>
                  </a:lnTo>
                  <a:lnTo>
                    <a:pt x="155" y="177"/>
                  </a:lnTo>
                  <a:lnTo>
                    <a:pt x="155" y="177"/>
                  </a:lnTo>
                  <a:lnTo>
                    <a:pt x="156" y="163"/>
                  </a:lnTo>
                  <a:lnTo>
                    <a:pt x="159" y="149"/>
                  </a:lnTo>
                  <a:lnTo>
                    <a:pt x="165" y="136"/>
                  </a:lnTo>
                  <a:lnTo>
                    <a:pt x="174" y="125"/>
                  </a:lnTo>
                  <a:lnTo>
                    <a:pt x="180" y="119"/>
                  </a:lnTo>
                  <a:lnTo>
                    <a:pt x="185" y="114"/>
                  </a:lnTo>
                  <a:lnTo>
                    <a:pt x="192" y="109"/>
                  </a:lnTo>
                  <a:lnTo>
                    <a:pt x="198" y="105"/>
                  </a:lnTo>
                  <a:lnTo>
                    <a:pt x="207" y="103"/>
                  </a:lnTo>
                  <a:lnTo>
                    <a:pt x="214" y="101"/>
                  </a:lnTo>
                  <a:lnTo>
                    <a:pt x="222" y="99"/>
                  </a:lnTo>
                  <a:lnTo>
                    <a:pt x="232" y="98"/>
                  </a:lnTo>
                  <a:lnTo>
                    <a:pt x="232" y="98"/>
                  </a:lnTo>
                  <a:lnTo>
                    <a:pt x="245" y="99"/>
                  </a:lnTo>
                  <a:lnTo>
                    <a:pt x="257" y="103"/>
                  </a:lnTo>
                  <a:lnTo>
                    <a:pt x="268" y="108"/>
                  </a:lnTo>
                  <a:lnTo>
                    <a:pt x="279" y="114"/>
                  </a:lnTo>
                  <a:lnTo>
                    <a:pt x="287" y="122"/>
                  </a:lnTo>
                  <a:lnTo>
                    <a:pt x="295" y="132"/>
                  </a:lnTo>
                  <a:lnTo>
                    <a:pt x="298" y="142"/>
                  </a:lnTo>
                  <a:lnTo>
                    <a:pt x="299" y="146"/>
                  </a:lnTo>
                  <a:lnTo>
                    <a:pt x="299" y="152"/>
                  </a:lnTo>
                  <a:lnTo>
                    <a:pt x="299" y="442"/>
                  </a:lnTo>
                  <a:lnTo>
                    <a:pt x="454" y="442"/>
                  </a:lnTo>
                  <a:lnTo>
                    <a:pt x="454" y="144"/>
                  </a:lnTo>
                  <a:lnTo>
                    <a:pt x="454" y="144"/>
                  </a:lnTo>
                  <a:lnTo>
                    <a:pt x="453" y="130"/>
                  </a:lnTo>
                  <a:lnTo>
                    <a:pt x="450" y="116"/>
                  </a:lnTo>
                  <a:lnTo>
                    <a:pt x="446" y="102"/>
                  </a:lnTo>
                  <a:lnTo>
                    <a:pt x="439" y="89"/>
                  </a:lnTo>
                  <a:lnTo>
                    <a:pt x="431" y="76"/>
                  </a:lnTo>
                  <a:lnTo>
                    <a:pt x="421" y="64"/>
                  </a:lnTo>
                  <a:lnTo>
                    <a:pt x="411" y="53"/>
                  </a:lnTo>
                  <a:lnTo>
                    <a:pt x="400" y="43"/>
                  </a:lnTo>
                  <a:lnTo>
                    <a:pt x="386" y="34"/>
                  </a:lnTo>
                  <a:lnTo>
                    <a:pt x="372" y="26"/>
                  </a:lnTo>
                  <a:lnTo>
                    <a:pt x="356" y="18"/>
                  </a:lnTo>
                  <a:lnTo>
                    <a:pt x="341" y="12"/>
                  </a:lnTo>
                  <a:lnTo>
                    <a:pt x="324" y="8"/>
                  </a:lnTo>
                  <a:lnTo>
                    <a:pt x="307" y="4"/>
                  </a:lnTo>
                  <a:lnTo>
                    <a:pt x="289" y="2"/>
                  </a:lnTo>
                  <a:lnTo>
                    <a:pt x="269" y="0"/>
                  </a:lnTo>
                  <a:lnTo>
                    <a:pt x="269" y="0"/>
                  </a:lnTo>
                  <a:lnTo>
                    <a:pt x="267" y="0"/>
                  </a:lnTo>
                  <a:lnTo>
                    <a:pt x="267" y="0"/>
                  </a:lnTo>
                  <a:lnTo>
                    <a:pt x="263" y="0"/>
                  </a:lnTo>
                  <a:lnTo>
                    <a:pt x="263" y="0"/>
                  </a:lnTo>
                  <a:lnTo>
                    <a:pt x="249" y="2"/>
                  </a:lnTo>
                  <a:lnTo>
                    <a:pt x="233" y="3"/>
                  </a:lnTo>
                  <a:lnTo>
                    <a:pt x="219" y="5"/>
                  </a:lnTo>
                  <a:lnTo>
                    <a:pt x="204" y="9"/>
                  </a:lnTo>
                  <a:lnTo>
                    <a:pt x="190" y="14"/>
                  </a:lnTo>
                  <a:lnTo>
                    <a:pt x="176" y="20"/>
                  </a:lnTo>
                  <a:lnTo>
                    <a:pt x="163" y="26"/>
                  </a:lnTo>
                  <a:lnTo>
                    <a:pt x="151" y="33"/>
                  </a:lnTo>
                  <a:lnTo>
                    <a:pt x="151" y="33"/>
                  </a:lnTo>
                  <a:lnTo>
                    <a:pt x="150" y="32"/>
                  </a:lnTo>
                  <a:lnTo>
                    <a:pt x="147" y="28"/>
                  </a:lnTo>
                  <a:lnTo>
                    <a:pt x="140" y="23"/>
                  </a:lnTo>
                  <a:lnTo>
                    <a:pt x="129" y="17"/>
                  </a:lnTo>
                  <a:lnTo>
                    <a:pt x="110" y="12"/>
                  </a:lnTo>
                  <a:lnTo>
                    <a:pt x="83" y="8"/>
                  </a:lnTo>
                  <a:lnTo>
                    <a:pt x="47" y="5"/>
                  </a:lnTo>
                  <a:lnTo>
                    <a:pt x="0" y="4"/>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5" name="Rectangle 38">
              <a:extLst>
                <a:ext uri="{FF2B5EF4-FFF2-40B4-BE49-F238E27FC236}">
                  <a16:creationId xmlns:a16="http://schemas.microsoft.com/office/drawing/2014/main" id="{14D01C02-09E8-45E4-A768-7D1CAF85806E}"/>
                </a:ext>
              </a:extLst>
            </p:cNvPr>
            <p:cNvSpPr>
              <a:spLocks noChangeArrowheads="1"/>
            </p:cNvSpPr>
            <p:nvPr/>
          </p:nvSpPr>
          <p:spPr bwMode="auto">
            <a:xfrm>
              <a:off x="2168526" y="952501"/>
              <a:ext cx="120650" cy="336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6" name="Freeform 39">
              <a:extLst>
                <a:ext uri="{FF2B5EF4-FFF2-40B4-BE49-F238E27FC236}">
                  <a16:creationId xmlns:a16="http://schemas.microsoft.com/office/drawing/2014/main" id="{B3889485-AAE4-44B4-A000-4F05BA21A4AE}"/>
                </a:ext>
              </a:extLst>
            </p:cNvPr>
            <p:cNvSpPr>
              <a:spLocks/>
            </p:cNvSpPr>
            <p:nvPr/>
          </p:nvSpPr>
          <p:spPr bwMode="auto">
            <a:xfrm>
              <a:off x="2820988" y="946151"/>
              <a:ext cx="252413" cy="342900"/>
            </a:xfrm>
            <a:custGeom>
              <a:avLst/>
              <a:gdLst>
                <a:gd name="T0" fmla="*/ 0 w 319"/>
                <a:gd name="T1" fmla="*/ 432 h 432"/>
                <a:gd name="T2" fmla="*/ 151 w 319"/>
                <a:gd name="T3" fmla="*/ 432 h 432"/>
                <a:gd name="T4" fmla="*/ 151 w 319"/>
                <a:gd name="T5" fmla="*/ 175 h 432"/>
                <a:gd name="T6" fmla="*/ 151 w 319"/>
                <a:gd name="T7" fmla="*/ 175 h 432"/>
                <a:gd name="T8" fmla="*/ 152 w 319"/>
                <a:gd name="T9" fmla="*/ 167 h 432"/>
                <a:gd name="T10" fmla="*/ 153 w 319"/>
                <a:gd name="T11" fmla="*/ 159 h 432"/>
                <a:gd name="T12" fmla="*/ 156 w 319"/>
                <a:gd name="T13" fmla="*/ 153 h 432"/>
                <a:gd name="T14" fmla="*/ 159 w 319"/>
                <a:gd name="T15" fmla="*/ 146 h 432"/>
                <a:gd name="T16" fmla="*/ 164 w 319"/>
                <a:gd name="T17" fmla="*/ 140 h 432"/>
                <a:gd name="T18" fmla="*/ 169 w 319"/>
                <a:gd name="T19" fmla="*/ 134 h 432"/>
                <a:gd name="T20" fmla="*/ 175 w 319"/>
                <a:gd name="T21" fmla="*/ 128 h 432"/>
                <a:gd name="T22" fmla="*/ 181 w 319"/>
                <a:gd name="T23" fmla="*/ 123 h 432"/>
                <a:gd name="T24" fmla="*/ 196 w 319"/>
                <a:gd name="T25" fmla="*/ 114 h 432"/>
                <a:gd name="T26" fmla="*/ 213 w 319"/>
                <a:gd name="T27" fmla="*/ 107 h 432"/>
                <a:gd name="T28" fmla="*/ 231 w 319"/>
                <a:gd name="T29" fmla="*/ 103 h 432"/>
                <a:gd name="T30" fmla="*/ 240 w 319"/>
                <a:gd name="T31" fmla="*/ 101 h 432"/>
                <a:gd name="T32" fmla="*/ 250 w 319"/>
                <a:gd name="T33" fmla="*/ 101 h 432"/>
                <a:gd name="T34" fmla="*/ 250 w 319"/>
                <a:gd name="T35" fmla="*/ 101 h 432"/>
                <a:gd name="T36" fmla="*/ 268 w 319"/>
                <a:gd name="T37" fmla="*/ 103 h 432"/>
                <a:gd name="T38" fmla="*/ 286 w 319"/>
                <a:gd name="T39" fmla="*/ 105 h 432"/>
                <a:gd name="T40" fmla="*/ 303 w 319"/>
                <a:gd name="T41" fmla="*/ 110 h 432"/>
                <a:gd name="T42" fmla="*/ 319 w 319"/>
                <a:gd name="T43" fmla="*/ 116 h 432"/>
                <a:gd name="T44" fmla="*/ 319 w 319"/>
                <a:gd name="T45" fmla="*/ 116 h 432"/>
                <a:gd name="T46" fmla="*/ 319 w 319"/>
                <a:gd name="T47" fmla="*/ 4 h 432"/>
                <a:gd name="T48" fmla="*/ 319 w 319"/>
                <a:gd name="T49" fmla="*/ 4 h 432"/>
                <a:gd name="T50" fmla="*/ 291 w 319"/>
                <a:gd name="T51" fmla="*/ 1 h 432"/>
                <a:gd name="T52" fmla="*/ 265 w 319"/>
                <a:gd name="T53" fmla="*/ 0 h 432"/>
                <a:gd name="T54" fmla="*/ 265 w 319"/>
                <a:gd name="T55" fmla="*/ 0 h 432"/>
                <a:gd name="T56" fmla="*/ 250 w 319"/>
                <a:gd name="T57" fmla="*/ 0 h 432"/>
                <a:gd name="T58" fmla="*/ 234 w 319"/>
                <a:gd name="T59" fmla="*/ 2 h 432"/>
                <a:gd name="T60" fmla="*/ 220 w 319"/>
                <a:gd name="T61" fmla="*/ 5 h 432"/>
                <a:gd name="T62" fmla="*/ 205 w 319"/>
                <a:gd name="T63" fmla="*/ 8 h 432"/>
                <a:gd name="T64" fmla="*/ 191 w 319"/>
                <a:gd name="T65" fmla="*/ 12 h 432"/>
                <a:gd name="T66" fmla="*/ 176 w 319"/>
                <a:gd name="T67" fmla="*/ 18 h 432"/>
                <a:gd name="T68" fmla="*/ 163 w 319"/>
                <a:gd name="T69" fmla="*/ 24 h 432"/>
                <a:gd name="T70" fmla="*/ 151 w 319"/>
                <a:gd name="T71" fmla="*/ 31 h 432"/>
                <a:gd name="T72" fmla="*/ 151 w 319"/>
                <a:gd name="T73" fmla="*/ 31 h 432"/>
                <a:gd name="T74" fmla="*/ 149 w 319"/>
                <a:gd name="T75" fmla="*/ 29 h 432"/>
                <a:gd name="T76" fmla="*/ 144 w 319"/>
                <a:gd name="T77" fmla="*/ 24 h 432"/>
                <a:gd name="T78" fmla="*/ 137 w 319"/>
                <a:gd name="T79" fmla="*/ 19 h 432"/>
                <a:gd name="T80" fmla="*/ 123 w 319"/>
                <a:gd name="T81" fmla="*/ 15 h 432"/>
                <a:gd name="T82" fmla="*/ 104 w 319"/>
                <a:gd name="T83" fmla="*/ 10 h 432"/>
                <a:gd name="T84" fmla="*/ 79 w 319"/>
                <a:gd name="T85" fmla="*/ 6 h 432"/>
                <a:gd name="T86" fmla="*/ 44 w 319"/>
                <a:gd name="T87" fmla="*/ 4 h 432"/>
                <a:gd name="T88" fmla="*/ 0 w 319"/>
                <a:gd name="T89" fmla="*/ 2 h 432"/>
                <a:gd name="T90" fmla="*/ 0 w 319"/>
                <a:gd name="T91" fmla="*/ 43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9" h="432">
                  <a:moveTo>
                    <a:pt x="0" y="432"/>
                  </a:moveTo>
                  <a:lnTo>
                    <a:pt x="151" y="432"/>
                  </a:lnTo>
                  <a:lnTo>
                    <a:pt x="151" y="175"/>
                  </a:lnTo>
                  <a:lnTo>
                    <a:pt x="151" y="175"/>
                  </a:lnTo>
                  <a:lnTo>
                    <a:pt x="152" y="167"/>
                  </a:lnTo>
                  <a:lnTo>
                    <a:pt x="153" y="159"/>
                  </a:lnTo>
                  <a:lnTo>
                    <a:pt x="156" y="153"/>
                  </a:lnTo>
                  <a:lnTo>
                    <a:pt x="159" y="146"/>
                  </a:lnTo>
                  <a:lnTo>
                    <a:pt x="164" y="140"/>
                  </a:lnTo>
                  <a:lnTo>
                    <a:pt x="169" y="134"/>
                  </a:lnTo>
                  <a:lnTo>
                    <a:pt x="175" y="128"/>
                  </a:lnTo>
                  <a:lnTo>
                    <a:pt x="181" y="123"/>
                  </a:lnTo>
                  <a:lnTo>
                    <a:pt x="196" y="114"/>
                  </a:lnTo>
                  <a:lnTo>
                    <a:pt x="213" y="107"/>
                  </a:lnTo>
                  <a:lnTo>
                    <a:pt x="231" y="103"/>
                  </a:lnTo>
                  <a:lnTo>
                    <a:pt x="240" y="101"/>
                  </a:lnTo>
                  <a:lnTo>
                    <a:pt x="250" y="101"/>
                  </a:lnTo>
                  <a:lnTo>
                    <a:pt x="250" y="101"/>
                  </a:lnTo>
                  <a:lnTo>
                    <a:pt x="268" y="103"/>
                  </a:lnTo>
                  <a:lnTo>
                    <a:pt x="286" y="105"/>
                  </a:lnTo>
                  <a:lnTo>
                    <a:pt x="303" y="110"/>
                  </a:lnTo>
                  <a:lnTo>
                    <a:pt x="319" y="116"/>
                  </a:lnTo>
                  <a:lnTo>
                    <a:pt x="319" y="116"/>
                  </a:lnTo>
                  <a:lnTo>
                    <a:pt x="319" y="4"/>
                  </a:lnTo>
                  <a:lnTo>
                    <a:pt x="319" y="4"/>
                  </a:lnTo>
                  <a:lnTo>
                    <a:pt x="291" y="1"/>
                  </a:lnTo>
                  <a:lnTo>
                    <a:pt x="265" y="0"/>
                  </a:lnTo>
                  <a:lnTo>
                    <a:pt x="265" y="0"/>
                  </a:lnTo>
                  <a:lnTo>
                    <a:pt x="250" y="0"/>
                  </a:lnTo>
                  <a:lnTo>
                    <a:pt x="234" y="2"/>
                  </a:lnTo>
                  <a:lnTo>
                    <a:pt x="220" y="5"/>
                  </a:lnTo>
                  <a:lnTo>
                    <a:pt x="205" y="8"/>
                  </a:lnTo>
                  <a:lnTo>
                    <a:pt x="191" y="12"/>
                  </a:lnTo>
                  <a:lnTo>
                    <a:pt x="176" y="18"/>
                  </a:lnTo>
                  <a:lnTo>
                    <a:pt x="163" y="24"/>
                  </a:lnTo>
                  <a:lnTo>
                    <a:pt x="151" y="31"/>
                  </a:lnTo>
                  <a:lnTo>
                    <a:pt x="151" y="31"/>
                  </a:lnTo>
                  <a:lnTo>
                    <a:pt x="149" y="29"/>
                  </a:lnTo>
                  <a:lnTo>
                    <a:pt x="144" y="24"/>
                  </a:lnTo>
                  <a:lnTo>
                    <a:pt x="137" y="19"/>
                  </a:lnTo>
                  <a:lnTo>
                    <a:pt x="123" y="15"/>
                  </a:lnTo>
                  <a:lnTo>
                    <a:pt x="104" y="10"/>
                  </a:lnTo>
                  <a:lnTo>
                    <a:pt x="79" y="6"/>
                  </a:lnTo>
                  <a:lnTo>
                    <a:pt x="44" y="4"/>
                  </a:lnTo>
                  <a:lnTo>
                    <a:pt x="0" y="2"/>
                  </a:lnTo>
                  <a:lnTo>
                    <a:pt x="0" y="4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7" name="Freeform 40">
              <a:extLst>
                <a:ext uri="{FF2B5EF4-FFF2-40B4-BE49-F238E27FC236}">
                  <a16:creationId xmlns:a16="http://schemas.microsoft.com/office/drawing/2014/main" id="{AD8FF950-1BF2-4930-B1D8-0BBEAEDB4D61}"/>
                </a:ext>
              </a:extLst>
            </p:cNvPr>
            <p:cNvSpPr>
              <a:spLocks/>
            </p:cNvSpPr>
            <p:nvPr/>
          </p:nvSpPr>
          <p:spPr bwMode="auto">
            <a:xfrm>
              <a:off x="1701801" y="677863"/>
              <a:ext cx="522288" cy="635000"/>
            </a:xfrm>
            <a:custGeom>
              <a:avLst/>
              <a:gdLst>
                <a:gd name="T0" fmla="*/ 635 w 658"/>
                <a:gd name="T1" fmla="*/ 37 h 800"/>
                <a:gd name="T2" fmla="*/ 614 w 658"/>
                <a:gd name="T3" fmla="*/ 19 h 800"/>
                <a:gd name="T4" fmla="*/ 587 w 658"/>
                <a:gd name="T5" fmla="*/ 7 h 800"/>
                <a:gd name="T6" fmla="*/ 529 w 658"/>
                <a:gd name="T7" fmla="*/ 0 h 800"/>
                <a:gd name="T8" fmla="*/ 442 w 658"/>
                <a:gd name="T9" fmla="*/ 11 h 800"/>
                <a:gd name="T10" fmla="*/ 337 w 658"/>
                <a:gd name="T11" fmla="*/ 43 h 800"/>
                <a:gd name="T12" fmla="*/ 218 w 658"/>
                <a:gd name="T13" fmla="*/ 95 h 800"/>
                <a:gd name="T14" fmla="*/ 161 w 658"/>
                <a:gd name="T15" fmla="*/ 126 h 800"/>
                <a:gd name="T16" fmla="*/ 146 w 658"/>
                <a:gd name="T17" fmla="*/ 135 h 800"/>
                <a:gd name="T18" fmla="*/ 144 w 658"/>
                <a:gd name="T19" fmla="*/ 142 h 800"/>
                <a:gd name="T20" fmla="*/ 152 w 658"/>
                <a:gd name="T21" fmla="*/ 142 h 800"/>
                <a:gd name="T22" fmla="*/ 181 w 658"/>
                <a:gd name="T23" fmla="*/ 132 h 800"/>
                <a:gd name="T24" fmla="*/ 244 w 658"/>
                <a:gd name="T25" fmla="*/ 104 h 800"/>
                <a:gd name="T26" fmla="*/ 331 w 658"/>
                <a:gd name="T27" fmla="*/ 74 h 800"/>
                <a:gd name="T28" fmla="*/ 407 w 658"/>
                <a:gd name="T29" fmla="*/ 59 h 800"/>
                <a:gd name="T30" fmla="*/ 470 w 658"/>
                <a:gd name="T31" fmla="*/ 59 h 800"/>
                <a:gd name="T32" fmla="*/ 518 w 658"/>
                <a:gd name="T33" fmla="*/ 74 h 800"/>
                <a:gd name="T34" fmla="*/ 541 w 658"/>
                <a:gd name="T35" fmla="*/ 92 h 800"/>
                <a:gd name="T36" fmla="*/ 558 w 658"/>
                <a:gd name="T37" fmla="*/ 121 h 800"/>
                <a:gd name="T38" fmla="*/ 562 w 658"/>
                <a:gd name="T39" fmla="*/ 159 h 800"/>
                <a:gd name="T40" fmla="*/ 554 w 658"/>
                <a:gd name="T41" fmla="*/ 206 h 800"/>
                <a:gd name="T42" fmla="*/ 535 w 658"/>
                <a:gd name="T43" fmla="*/ 258 h 800"/>
                <a:gd name="T44" fmla="*/ 506 w 658"/>
                <a:gd name="T45" fmla="*/ 316 h 800"/>
                <a:gd name="T46" fmla="*/ 436 w 658"/>
                <a:gd name="T47" fmla="*/ 420 h 800"/>
                <a:gd name="T48" fmla="*/ 320 w 658"/>
                <a:gd name="T49" fmla="*/ 551 h 800"/>
                <a:gd name="T50" fmla="*/ 225 w 658"/>
                <a:gd name="T51" fmla="*/ 634 h 800"/>
                <a:gd name="T52" fmla="*/ 173 w 658"/>
                <a:gd name="T53" fmla="*/ 675 h 800"/>
                <a:gd name="T54" fmla="*/ 39 w 658"/>
                <a:gd name="T55" fmla="*/ 767 h 800"/>
                <a:gd name="T56" fmla="*/ 31 w 658"/>
                <a:gd name="T57" fmla="*/ 771 h 800"/>
                <a:gd name="T58" fmla="*/ 2 w 658"/>
                <a:gd name="T59" fmla="*/ 794 h 800"/>
                <a:gd name="T60" fmla="*/ 3 w 658"/>
                <a:gd name="T61" fmla="*/ 799 h 800"/>
                <a:gd name="T62" fmla="*/ 11 w 658"/>
                <a:gd name="T63" fmla="*/ 798 h 800"/>
                <a:gd name="T64" fmla="*/ 38 w 658"/>
                <a:gd name="T65" fmla="*/ 785 h 800"/>
                <a:gd name="T66" fmla="*/ 45 w 658"/>
                <a:gd name="T67" fmla="*/ 780 h 800"/>
                <a:gd name="T68" fmla="*/ 195 w 658"/>
                <a:gd name="T69" fmla="*/ 680 h 800"/>
                <a:gd name="T70" fmla="*/ 301 w 658"/>
                <a:gd name="T71" fmla="*/ 601 h 800"/>
                <a:gd name="T72" fmla="*/ 455 w 658"/>
                <a:gd name="T73" fmla="*/ 461 h 800"/>
                <a:gd name="T74" fmla="*/ 515 w 658"/>
                <a:gd name="T75" fmla="*/ 396 h 800"/>
                <a:gd name="T76" fmla="*/ 585 w 658"/>
                <a:gd name="T77" fmla="*/ 303 h 800"/>
                <a:gd name="T78" fmla="*/ 632 w 658"/>
                <a:gd name="T79" fmla="*/ 216 h 800"/>
                <a:gd name="T80" fmla="*/ 656 w 658"/>
                <a:gd name="T81" fmla="*/ 141 h 800"/>
                <a:gd name="T82" fmla="*/ 657 w 658"/>
                <a:gd name="T83" fmla="*/ 87 h 800"/>
                <a:gd name="T84" fmla="*/ 650 w 658"/>
                <a:gd name="T85" fmla="*/ 60 h 800"/>
                <a:gd name="T86" fmla="*/ 640 w 658"/>
                <a:gd name="T87" fmla="*/ 45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8" h="800">
                  <a:moveTo>
                    <a:pt x="640" y="45"/>
                  </a:moveTo>
                  <a:lnTo>
                    <a:pt x="640" y="45"/>
                  </a:lnTo>
                  <a:lnTo>
                    <a:pt x="635" y="37"/>
                  </a:lnTo>
                  <a:lnTo>
                    <a:pt x="628" y="30"/>
                  </a:lnTo>
                  <a:lnTo>
                    <a:pt x="621" y="24"/>
                  </a:lnTo>
                  <a:lnTo>
                    <a:pt x="614" y="19"/>
                  </a:lnTo>
                  <a:lnTo>
                    <a:pt x="605" y="14"/>
                  </a:lnTo>
                  <a:lnTo>
                    <a:pt x="597" y="11"/>
                  </a:lnTo>
                  <a:lnTo>
                    <a:pt x="587" y="7"/>
                  </a:lnTo>
                  <a:lnTo>
                    <a:pt x="576" y="5"/>
                  </a:lnTo>
                  <a:lnTo>
                    <a:pt x="553" y="1"/>
                  </a:lnTo>
                  <a:lnTo>
                    <a:pt x="529" y="0"/>
                  </a:lnTo>
                  <a:lnTo>
                    <a:pt x="503" y="1"/>
                  </a:lnTo>
                  <a:lnTo>
                    <a:pt x="474" y="5"/>
                  </a:lnTo>
                  <a:lnTo>
                    <a:pt x="442" y="11"/>
                  </a:lnTo>
                  <a:lnTo>
                    <a:pt x="408" y="19"/>
                  </a:lnTo>
                  <a:lnTo>
                    <a:pt x="373" y="30"/>
                  </a:lnTo>
                  <a:lnTo>
                    <a:pt x="337" y="43"/>
                  </a:lnTo>
                  <a:lnTo>
                    <a:pt x="299" y="59"/>
                  </a:lnTo>
                  <a:lnTo>
                    <a:pt x="260" y="76"/>
                  </a:lnTo>
                  <a:lnTo>
                    <a:pt x="218" y="95"/>
                  </a:lnTo>
                  <a:lnTo>
                    <a:pt x="175" y="117"/>
                  </a:lnTo>
                  <a:lnTo>
                    <a:pt x="175" y="117"/>
                  </a:lnTo>
                  <a:lnTo>
                    <a:pt x="161" y="126"/>
                  </a:lnTo>
                  <a:lnTo>
                    <a:pt x="150" y="133"/>
                  </a:lnTo>
                  <a:lnTo>
                    <a:pt x="150" y="133"/>
                  </a:lnTo>
                  <a:lnTo>
                    <a:pt x="146" y="135"/>
                  </a:lnTo>
                  <a:lnTo>
                    <a:pt x="144" y="138"/>
                  </a:lnTo>
                  <a:lnTo>
                    <a:pt x="144" y="140"/>
                  </a:lnTo>
                  <a:lnTo>
                    <a:pt x="144" y="142"/>
                  </a:lnTo>
                  <a:lnTo>
                    <a:pt x="145" y="144"/>
                  </a:lnTo>
                  <a:lnTo>
                    <a:pt x="148" y="144"/>
                  </a:lnTo>
                  <a:lnTo>
                    <a:pt x="152" y="142"/>
                  </a:lnTo>
                  <a:lnTo>
                    <a:pt x="152" y="142"/>
                  </a:lnTo>
                  <a:lnTo>
                    <a:pt x="167" y="138"/>
                  </a:lnTo>
                  <a:lnTo>
                    <a:pt x="181" y="132"/>
                  </a:lnTo>
                  <a:lnTo>
                    <a:pt x="181" y="132"/>
                  </a:lnTo>
                  <a:lnTo>
                    <a:pt x="214" y="116"/>
                  </a:lnTo>
                  <a:lnTo>
                    <a:pt x="244" y="104"/>
                  </a:lnTo>
                  <a:lnTo>
                    <a:pt x="274" y="92"/>
                  </a:lnTo>
                  <a:lnTo>
                    <a:pt x="303" y="82"/>
                  </a:lnTo>
                  <a:lnTo>
                    <a:pt x="331" y="74"/>
                  </a:lnTo>
                  <a:lnTo>
                    <a:pt x="358" y="68"/>
                  </a:lnTo>
                  <a:lnTo>
                    <a:pt x="383" y="63"/>
                  </a:lnTo>
                  <a:lnTo>
                    <a:pt x="407" y="59"/>
                  </a:lnTo>
                  <a:lnTo>
                    <a:pt x="429" y="58"/>
                  </a:lnTo>
                  <a:lnTo>
                    <a:pt x="451" y="58"/>
                  </a:lnTo>
                  <a:lnTo>
                    <a:pt x="470" y="59"/>
                  </a:lnTo>
                  <a:lnTo>
                    <a:pt x="488" y="62"/>
                  </a:lnTo>
                  <a:lnTo>
                    <a:pt x="504" y="66"/>
                  </a:lnTo>
                  <a:lnTo>
                    <a:pt x="518" y="74"/>
                  </a:lnTo>
                  <a:lnTo>
                    <a:pt x="530" y="82"/>
                  </a:lnTo>
                  <a:lnTo>
                    <a:pt x="541" y="92"/>
                  </a:lnTo>
                  <a:lnTo>
                    <a:pt x="541" y="92"/>
                  </a:lnTo>
                  <a:lnTo>
                    <a:pt x="548" y="100"/>
                  </a:lnTo>
                  <a:lnTo>
                    <a:pt x="554" y="110"/>
                  </a:lnTo>
                  <a:lnTo>
                    <a:pt x="558" y="121"/>
                  </a:lnTo>
                  <a:lnTo>
                    <a:pt x="560" y="133"/>
                  </a:lnTo>
                  <a:lnTo>
                    <a:pt x="562" y="146"/>
                  </a:lnTo>
                  <a:lnTo>
                    <a:pt x="562" y="159"/>
                  </a:lnTo>
                  <a:lnTo>
                    <a:pt x="560" y="174"/>
                  </a:lnTo>
                  <a:lnTo>
                    <a:pt x="558" y="190"/>
                  </a:lnTo>
                  <a:lnTo>
                    <a:pt x="554" y="206"/>
                  </a:lnTo>
                  <a:lnTo>
                    <a:pt x="548" y="223"/>
                  </a:lnTo>
                  <a:lnTo>
                    <a:pt x="542" y="240"/>
                  </a:lnTo>
                  <a:lnTo>
                    <a:pt x="535" y="258"/>
                  </a:lnTo>
                  <a:lnTo>
                    <a:pt x="527" y="278"/>
                  </a:lnTo>
                  <a:lnTo>
                    <a:pt x="517" y="297"/>
                  </a:lnTo>
                  <a:lnTo>
                    <a:pt x="506" y="316"/>
                  </a:lnTo>
                  <a:lnTo>
                    <a:pt x="494" y="337"/>
                  </a:lnTo>
                  <a:lnTo>
                    <a:pt x="468" y="378"/>
                  </a:lnTo>
                  <a:lnTo>
                    <a:pt x="436" y="420"/>
                  </a:lnTo>
                  <a:lnTo>
                    <a:pt x="401" y="464"/>
                  </a:lnTo>
                  <a:lnTo>
                    <a:pt x="362" y="507"/>
                  </a:lnTo>
                  <a:lnTo>
                    <a:pt x="320" y="551"/>
                  </a:lnTo>
                  <a:lnTo>
                    <a:pt x="274" y="593"/>
                  </a:lnTo>
                  <a:lnTo>
                    <a:pt x="250" y="613"/>
                  </a:lnTo>
                  <a:lnTo>
                    <a:pt x="225" y="634"/>
                  </a:lnTo>
                  <a:lnTo>
                    <a:pt x="200" y="654"/>
                  </a:lnTo>
                  <a:lnTo>
                    <a:pt x="173" y="675"/>
                  </a:lnTo>
                  <a:lnTo>
                    <a:pt x="173" y="675"/>
                  </a:lnTo>
                  <a:lnTo>
                    <a:pt x="107" y="723"/>
                  </a:lnTo>
                  <a:lnTo>
                    <a:pt x="70" y="747"/>
                  </a:lnTo>
                  <a:lnTo>
                    <a:pt x="39" y="767"/>
                  </a:lnTo>
                  <a:lnTo>
                    <a:pt x="39" y="767"/>
                  </a:lnTo>
                  <a:lnTo>
                    <a:pt x="31" y="771"/>
                  </a:lnTo>
                  <a:lnTo>
                    <a:pt x="31" y="771"/>
                  </a:lnTo>
                  <a:lnTo>
                    <a:pt x="5" y="790"/>
                  </a:lnTo>
                  <a:lnTo>
                    <a:pt x="5" y="790"/>
                  </a:lnTo>
                  <a:lnTo>
                    <a:pt x="2" y="794"/>
                  </a:lnTo>
                  <a:lnTo>
                    <a:pt x="0" y="797"/>
                  </a:lnTo>
                  <a:lnTo>
                    <a:pt x="2" y="798"/>
                  </a:lnTo>
                  <a:lnTo>
                    <a:pt x="3" y="799"/>
                  </a:lnTo>
                  <a:lnTo>
                    <a:pt x="4" y="800"/>
                  </a:lnTo>
                  <a:lnTo>
                    <a:pt x="8" y="800"/>
                  </a:lnTo>
                  <a:lnTo>
                    <a:pt x="11" y="798"/>
                  </a:lnTo>
                  <a:lnTo>
                    <a:pt x="11" y="798"/>
                  </a:lnTo>
                  <a:lnTo>
                    <a:pt x="24" y="792"/>
                  </a:lnTo>
                  <a:lnTo>
                    <a:pt x="38" y="785"/>
                  </a:lnTo>
                  <a:lnTo>
                    <a:pt x="38" y="785"/>
                  </a:lnTo>
                  <a:lnTo>
                    <a:pt x="45" y="780"/>
                  </a:lnTo>
                  <a:lnTo>
                    <a:pt x="45" y="780"/>
                  </a:lnTo>
                  <a:lnTo>
                    <a:pt x="80" y="758"/>
                  </a:lnTo>
                  <a:lnTo>
                    <a:pt x="120" y="732"/>
                  </a:lnTo>
                  <a:lnTo>
                    <a:pt x="195" y="680"/>
                  </a:lnTo>
                  <a:lnTo>
                    <a:pt x="195" y="680"/>
                  </a:lnTo>
                  <a:lnTo>
                    <a:pt x="249" y="641"/>
                  </a:lnTo>
                  <a:lnTo>
                    <a:pt x="301" y="601"/>
                  </a:lnTo>
                  <a:lnTo>
                    <a:pt x="301" y="770"/>
                  </a:lnTo>
                  <a:lnTo>
                    <a:pt x="455" y="770"/>
                  </a:lnTo>
                  <a:lnTo>
                    <a:pt x="455" y="461"/>
                  </a:lnTo>
                  <a:lnTo>
                    <a:pt x="455" y="461"/>
                  </a:lnTo>
                  <a:lnTo>
                    <a:pt x="486" y="429"/>
                  </a:lnTo>
                  <a:lnTo>
                    <a:pt x="515" y="396"/>
                  </a:lnTo>
                  <a:lnTo>
                    <a:pt x="540" y="365"/>
                  </a:lnTo>
                  <a:lnTo>
                    <a:pt x="563" y="333"/>
                  </a:lnTo>
                  <a:lnTo>
                    <a:pt x="585" y="303"/>
                  </a:lnTo>
                  <a:lnTo>
                    <a:pt x="603" y="273"/>
                  </a:lnTo>
                  <a:lnTo>
                    <a:pt x="618" y="244"/>
                  </a:lnTo>
                  <a:lnTo>
                    <a:pt x="632" y="216"/>
                  </a:lnTo>
                  <a:lnTo>
                    <a:pt x="643" y="190"/>
                  </a:lnTo>
                  <a:lnTo>
                    <a:pt x="651" y="164"/>
                  </a:lnTo>
                  <a:lnTo>
                    <a:pt x="656" y="141"/>
                  </a:lnTo>
                  <a:lnTo>
                    <a:pt x="658" y="118"/>
                  </a:lnTo>
                  <a:lnTo>
                    <a:pt x="658" y="98"/>
                  </a:lnTo>
                  <a:lnTo>
                    <a:pt x="657" y="87"/>
                  </a:lnTo>
                  <a:lnTo>
                    <a:pt x="656" y="78"/>
                  </a:lnTo>
                  <a:lnTo>
                    <a:pt x="652" y="69"/>
                  </a:lnTo>
                  <a:lnTo>
                    <a:pt x="650" y="60"/>
                  </a:lnTo>
                  <a:lnTo>
                    <a:pt x="645" y="52"/>
                  </a:lnTo>
                  <a:lnTo>
                    <a:pt x="640" y="45"/>
                  </a:lnTo>
                  <a:lnTo>
                    <a:pt x="64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8" name="Freeform 41">
              <a:extLst>
                <a:ext uri="{FF2B5EF4-FFF2-40B4-BE49-F238E27FC236}">
                  <a16:creationId xmlns:a16="http://schemas.microsoft.com/office/drawing/2014/main" id="{7AB2BF0D-4CC6-4852-B3C9-DBA71CDB2D7B}"/>
                </a:ext>
              </a:extLst>
            </p:cNvPr>
            <p:cNvSpPr>
              <a:spLocks/>
            </p:cNvSpPr>
            <p:nvPr/>
          </p:nvSpPr>
          <p:spPr bwMode="auto">
            <a:xfrm>
              <a:off x="1233488" y="814388"/>
              <a:ext cx="819150" cy="649288"/>
            </a:xfrm>
            <a:custGeom>
              <a:avLst/>
              <a:gdLst>
                <a:gd name="T0" fmla="*/ 442 w 1032"/>
                <a:gd name="T1" fmla="*/ 660 h 819"/>
                <a:gd name="T2" fmla="*/ 582 w 1032"/>
                <a:gd name="T3" fmla="*/ 569 h 819"/>
                <a:gd name="T4" fmla="*/ 598 w 1032"/>
                <a:gd name="T5" fmla="*/ 553 h 819"/>
                <a:gd name="T6" fmla="*/ 594 w 1032"/>
                <a:gd name="T7" fmla="*/ 549 h 819"/>
                <a:gd name="T8" fmla="*/ 560 w 1032"/>
                <a:gd name="T9" fmla="*/ 567 h 819"/>
                <a:gd name="T10" fmla="*/ 397 w 1032"/>
                <a:gd name="T11" fmla="*/ 661 h 819"/>
                <a:gd name="T12" fmla="*/ 264 w 1032"/>
                <a:gd name="T13" fmla="*/ 713 h 819"/>
                <a:gd name="T14" fmla="*/ 175 w 1032"/>
                <a:gd name="T15" fmla="*/ 722 h 819"/>
                <a:gd name="T16" fmla="*/ 138 w 1032"/>
                <a:gd name="T17" fmla="*/ 713 h 819"/>
                <a:gd name="T18" fmla="*/ 107 w 1032"/>
                <a:gd name="T19" fmla="*/ 692 h 819"/>
                <a:gd name="T20" fmla="*/ 94 w 1032"/>
                <a:gd name="T21" fmla="*/ 670 h 819"/>
                <a:gd name="T22" fmla="*/ 87 w 1032"/>
                <a:gd name="T23" fmla="*/ 639 h 819"/>
                <a:gd name="T24" fmla="*/ 106 w 1032"/>
                <a:gd name="T25" fmla="*/ 559 h 819"/>
                <a:gd name="T26" fmla="*/ 167 w 1032"/>
                <a:gd name="T27" fmla="*/ 463 h 819"/>
                <a:gd name="T28" fmla="*/ 260 w 1032"/>
                <a:gd name="T29" fmla="*/ 354 h 819"/>
                <a:gd name="T30" fmla="*/ 322 w 1032"/>
                <a:gd name="T31" fmla="*/ 668 h 819"/>
                <a:gd name="T32" fmla="*/ 442 w 1032"/>
                <a:gd name="T33" fmla="*/ 281 h 819"/>
                <a:gd name="T34" fmla="*/ 491 w 1032"/>
                <a:gd name="T35" fmla="*/ 381 h 819"/>
                <a:gd name="T36" fmla="*/ 530 w 1032"/>
                <a:gd name="T37" fmla="*/ 428 h 819"/>
                <a:gd name="T38" fmla="*/ 578 w 1032"/>
                <a:gd name="T39" fmla="*/ 460 h 819"/>
                <a:gd name="T40" fmla="*/ 635 w 1032"/>
                <a:gd name="T41" fmla="*/ 479 h 819"/>
                <a:gd name="T42" fmla="*/ 682 w 1032"/>
                <a:gd name="T43" fmla="*/ 480 h 819"/>
                <a:gd name="T44" fmla="*/ 741 w 1032"/>
                <a:gd name="T45" fmla="*/ 466 h 819"/>
                <a:gd name="T46" fmla="*/ 792 w 1032"/>
                <a:gd name="T47" fmla="*/ 437 h 819"/>
                <a:gd name="T48" fmla="*/ 833 w 1032"/>
                <a:gd name="T49" fmla="*/ 394 h 819"/>
                <a:gd name="T50" fmla="*/ 891 w 1032"/>
                <a:gd name="T51" fmla="*/ 281 h 819"/>
                <a:gd name="T52" fmla="*/ 967 w 1032"/>
                <a:gd name="T53" fmla="*/ 284 h 819"/>
                <a:gd name="T54" fmla="*/ 1029 w 1032"/>
                <a:gd name="T55" fmla="*/ 206 h 819"/>
                <a:gd name="T56" fmla="*/ 1031 w 1032"/>
                <a:gd name="T57" fmla="*/ 188 h 819"/>
                <a:gd name="T58" fmla="*/ 994 w 1032"/>
                <a:gd name="T59" fmla="*/ 139 h 819"/>
                <a:gd name="T60" fmla="*/ 939 w 1032"/>
                <a:gd name="T61" fmla="*/ 110 h 819"/>
                <a:gd name="T62" fmla="*/ 897 w 1032"/>
                <a:gd name="T63" fmla="*/ 104 h 819"/>
                <a:gd name="T64" fmla="*/ 866 w 1032"/>
                <a:gd name="T65" fmla="*/ 108 h 819"/>
                <a:gd name="T66" fmla="*/ 818 w 1032"/>
                <a:gd name="T67" fmla="*/ 127 h 819"/>
                <a:gd name="T68" fmla="*/ 764 w 1032"/>
                <a:gd name="T69" fmla="*/ 186 h 819"/>
                <a:gd name="T70" fmla="*/ 694 w 1032"/>
                <a:gd name="T71" fmla="*/ 332 h 819"/>
                <a:gd name="T72" fmla="*/ 666 w 1032"/>
                <a:gd name="T73" fmla="*/ 344 h 819"/>
                <a:gd name="T74" fmla="*/ 643 w 1032"/>
                <a:gd name="T75" fmla="*/ 336 h 819"/>
                <a:gd name="T76" fmla="*/ 569 w 1032"/>
                <a:gd name="T77" fmla="*/ 186 h 819"/>
                <a:gd name="T78" fmla="*/ 546 w 1032"/>
                <a:gd name="T79" fmla="*/ 153 h 819"/>
                <a:gd name="T80" fmla="*/ 549 w 1032"/>
                <a:gd name="T81" fmla="*/ 99 h 819"/>
                <a:gd name="T82" fmla="*/ 652 w 1032"/>
                <a:gd name="T83" fmla="*/ 28 h 819"/>
                <a:gd name="T84" fmla="*/ 682 w 1032"/>
                <a:gd name="T85" fmla="*/ 6 h 819"/>
                <a:gd name="T86" fmla="*/ 678 w 1032"/>
                <a:gd name="T87" fmla="*/ 0 h 819"/>
                <a:gd name="T88" fmla="*/ 658 w 1032"/>
                <a:gd name="T89" fmla="*/ 8 h 819"/>
                <a:gd name="T90" fmla="*/ 540 w 1032"/>
                <a:gd name="T91" fmla="*/ 80 h 819"/>
                <a:gd name="T92" fmla="*/ 489 w 1032"/>
                <a:gd name="T93" fmla="*/ 114 h 819"/>
                <a:gd name="T94" fmla="*/ 436 w 1032"/>
                <a:gd name="T95" fmla="*/ 104 h 819"/>
                <a:gd name="T96" fmla="*/ 391 w 1032"/>
                <a:gd name="T97" fmla="*/ 111 h 819"/>
                <a:gd name="T98" fmla="*/ 342 w 1032"/>
                <a:gd name="T99" fmla="*/ 138 h 819"/>
                <a:gd name="T100" fmla="*/ 305 w 1032"/>
                <a:gd name="T101" fmla="*/ 182 h 819"/>
                <a:gd name="T102" fmla="*/ 289 w 1032"/>
                <a:gd name="T103" fmla="*/ 237 h 819"/>
                <a:gd name="T104" fmla="*/ 249 w 1032"/>
                <a:gd name="T105" fmla="*/ 308 h 819"/>
                <a:gd name="T106" fmla="*/ 116 w 1032"/>
                <a:gd name="T107" fmla="*/ 451 h 819"/>
                <a:gd name="T108" fmla="*/ 31 w 1032"/>
                <a:gd name="T109" fmla="*/ 580 h 819"/>
                <a:gd name="T110" fmla="*/ 2 w 1032"/>
                <a:gd name="T111" fmla="*/ 662 h 819"/>
                <a:gd name="T112" fmla="*/ 1 w 1032"/>
                <a:gd name="T113" fmla="*/ 708 h 819"/>
                <a:gd name="T114" fmla="*/ 16 w 1032"/>
                <a:gd name="T115" fmla="*/ 745 h 819"/>
                <a:gd name="T116" fmla="*/ 46 w 1032"/>
                <a:gd name="T117" fmla="*/ 772 h 819"/>
                <a:gd name="T118" fmla="*/ 104 w 1032"/>
                <a:gd name="T119" fmla="*/ 786 h 819"/>
                <a:gd name="T120" fmla="*/ 179 w 1032"/>
                <a:gd name="T121" fmla="*/ 777 h 819"/>
                <a:gd name="T122" fmla="*/ 289 w 1032"/>
                <a:gd name="T123" fmla="*/ 739 h 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2" h="819">
                  <a:moveTo>
                    <a:pt x="289" y="819"/>
                  </a:moveTo>
                  <a:lnTo>
                    <a:pt x="442" y="819"/>
                  </a:lnTo>
                  <a:lnTo>
                    <a:pt x="442" y="660"/>
                  </a:lnTo>
                  <a:lnTo>
                    <a:pt x="442" y="660"/>
                  </a:lnTo>
                  <a:lnTo>
                    <a:pt x="506" y="620"/>
                  </a:lnTo>
                  <a:lnTo>
                    <a:pt x="569" y="579"/>
                  </a:lnTo>
                  <a:lnTo>
                    <a:pt x="569" y="579"/>
                  </a:lnTo>
                  <a:lnTo>
                    <a:pt x="582" y="569"/>
                  </a:lnTo>
                  <a:lnTo>
                    <a:pt x="593" y="559"/>
                  </a:lnTo>
                  <a:lnTo>
                    <a:pt x="593" y="559"/>
                  </a:lnTo>
                  <a:lnTo>
                    <a:pt x="596" y="557"/>
                  </a:lnTo>
                  <a:lnTo>
                    <a:pt x="598" y="553"/>
                  </a:lnTo>
                  <a:lnTo>
                    <a:pt x="598" y="551"/>
                  </a:lnTo>
                  <a:lnTo>
                    <a:pt x="598" y="550"/>
                  </a:lnTo>
                  <a:lnTo>
                    <a:pt x="595" y="549"/>
                  </a:lnTo>
                  <a:lnTo>
                    <a:pt x="594" y="549"/>
                  </a:lnTo>
                  <a:lnTo>
                    <a:pt x="588" y="550"/>
                  </a:lnTo>
                  <a:lnTo>
                    <a:pt x="588" y="550"/>
                  </a:lnTo>
                  <a:lnTo>
                    <a:pt x="560" y="567"/>
                  </a:lnTo>
                  <a:lnTo>
                    <a:pt x="560" y="567"/>
                  </a:lnTo>
                  <a:lnTo>
                    <a:pt x="517" y="593"/>
                  </a:lnTo>
                  <a:lnTo>
                    <a:pt x="474" y="619"/>
                  </a:lnTo>
                  <a:lnTo>
                    <a:pt x="435" y="640"/>
                  </a:lnTo>
                  <a:lnTo>
                    <a:pt x="397" y="661"/>
                  </a:lnTo>
                  <a:lnTo>
                    <a:pt x="361" y="678"/>
                  </a:lnTo>
                  <a:lnTo>
                    <a:pt x="326" y="692"/>
                  </a:lnTo>
                  <a:lnTo>
                    <a:pt x="295" y="703"/>
                  </a:lnTo>
                  <a:lnTo>
                    <a:pt x="264" y="713"/>
                  </a:lnTo>
                  <a:lnTo>
                    <a:pt x="237" y="719"/>
                  </a:lnTo>
                  <a:lnTo>
                    <a:pt x="210" y="722"/>
                  </a:lnTo>
                  <a:lnTo>
                    <a:pt x="187" y="724"/>
                  </a:lnTo>
                  <a:lnTo>
                    <a:pt x="175" y="722"/>
                  </a:lnTo>
                  <a:lnTo>
                    <a:pt x="165" y="721"/>
                  </a:lnTo>
                  <a:lnTo>
                    <a:pt x="156" y="720"/>
                  </a:lnTo>
                  <a:lnTo>
                    <a:pt x="146" y="716"/>
                  </a:lnTo>
                  <a:lnTo>
                    <a:pt x="138" y="713"/>
                  </a:lnTo>
                  <a:lnTo>
                    <a:pt x="129" y="709"/>
                  </a:lnTo>
                  <a:lnTo>
                    <a:pt x="121" y="704"/>
                  </a:lnTo>
                  <a:lnTo>
                    <a:pt x="115" y="698"/>
                  </a:lnTo>
                  <a:lnTo>
                    <a:pt x="107" y="692"/>
                  </a:lnTo>
                  <a:lnTo>
                    <a:pt x="101" y="685"/>
                  </a:lnTo>
                  <a:lnTo>
                    <a:pt x="101" y="685"/>
                  </a:lnTo>
                  <a:lnTo>
                    <a:pt x="98" y="678"/>
                  </a:lnTo>
                  <a:lnTo>
                    <a:pt x="94" y="670"/>
                  </a:lnTo>
                  <a:lnTo>
                    <a:pt x="91" y="663"/>
                  </a:lnTo>
                  <a:lnTo>
                    <a:pt x="89" y="655"/>
                  </a:lnTo>
                  <a:lnTo>
                    <a:pt x="87" y="648"/>
                  </a:lnTo>
                  <a:lnTo>
                    <a:pt x="87" y="639"/>
                  </a:lnTo>
                  <a:lnTo>
                    <a:pt x="88" y="621"/>
                  </a:lnTo>
                  <a:lnTo>
                    <a:pt x="92" y="602"/>
                  </a:lnTo>
                  <a:lnTo>
                    <a:pt x="98" y="581"/>
                  </a:lnTo>
                  <a:lnTo>
                    <a:pt x="106" y="559"/>
                  </a:lnTo>
                  <a:lnTo>
                    <a:pt x="118" y="536"/>
                  </a:lnTo>
                  <a:lnTo>
                    <a:pt x="132" y="512"/>
                  </a:lnTo>
                  <a:lnTo>
                    <a:pt x="148" y="488"/>
                  </a:lnTo>
                  <a:lnTo>
                    <a:pt x="167" y="463"/>
                  </a:lnTo>
                  <a:lnTo>
                    <a:pt x="187" y="436"/>
                  </a:lnTo>
                  <a:lnTo>
                    <a:pt x="210" y="410"/>
                  </a:lnTo>
                  <a:lnTo>
                    <a:pt x="234" y="383"/>
                  </a:lnTo>
                  <a:lnTo>
                    <a:pt x="260" y="354"/>
                  </a:lnTo>
                  <a:lnTo>
                    <a:pt x="289" y="326"/>
                  </a:lnTo>
                  <a:lnTo>
                    <a:pt x="289" y="681"/>
                  </a:lnTo>
                  <a:lnTo>
                    <a:pt x="289" y="681"/>
                  </a:lnTo>
                  <a:lnTo>
                    <a:pt x="322" y="668"/>
                  </a:lnTo>
                  <a:lnTo>
                    <a:pt x="359" y="652"/>
                  </a:lnTo>
                  <a:lnTo>
                    <a:pt x="400" y="633"/>
                  </a:lnTo>
                  <a:lnTo>
                    <a:pt x="442" y="610"/>
                  </a:lnTo>
                  <a:lnTo>
                    <a:pt x="442" y="281"/>
                  </a:lnTo>
                  <a:lnTo>
                    <a:pt x="476" y="353"/>
                  </a:lnTo>
                  <a:lnTo>
                    <a:pt x="476" y="353"/>
                  </a:lnTo>
                  <a:lnTo>
                    <a:pt x="483" y="367"/>
                  </a:lnTo>
                  <a:lnTo>
                    <a:pt x="491" y="381"/>
                  </a:lnTo>
                  <a:lnTo>
                    <a:pt x="500" y="394"/>
                  </a:lnTo>
                  <a:lnTo>
                    <a:pt x="509" y="406"/>
                  </a:lnTo>
                  <a:lnTo>
                    <a:pt x="519" y="418"/>
                  </a:lnTo>
                  <a:lnTo>
                    <a:pt x="530" y="428"/>
                  </a:lnTo>
                  <a:lnTo>
                    <a:pt x="541" y="437"/>
                  </a:lnTo>
                  <a:lnTo>
                    <a:pt x="553" y="446"/>
                  </a:lnTo>
                  <a:lnTo>
                    <a:pt x="565" y="454"/>
                  </a:lnTo>
                  <a:lnTo>
                    <a:pt x="578" y="460"/>
                  </a:lnTo>
                  <a:lnTo>
                    <a:pt x="592" y="466"/>
                  </a:lnTo>
                  <a:lnTo>
                    <a:pt x="606" y="471"/>
                  </a:lnTo>
                  <a:lnTo>
                    <a:pt x="621" y="475"/>
                  </a:lnTo>
                  <a:lnTo>
                    <a:pt x="635" y="479"/>
                  </a:lnTo>
                  <a:lnTo>
                    <a:pt x="651" y="480"/>
                  </a:lnTo>
                  <a:lnTo>
                    <a:pt x="666" y="480"/>
                  </a:lnTo>
                  <a:lnTo>
                    <a:pt x="666" y="480"/>
                  </a:lnTo>
                  <a:lnTo>
                    <a:pt x="682" y="480"/>
                  </a:lnTo>
                  <a:lnTo>
                    <a:pt x="698" y="479"/>
                  </a:lnTo>
                  <a:lnTo>
                    <a:pt x="712" y="475"/>
                  </a:lnTo>
                  <a:lnTo>
                    <a:pt x="727" y="471"/>
                  </a:lnTo>
                  <a:lnTo>
                    <a:pt x="741" y="466"/>
                  </a:lnTo>
                  <a:lnTo>
                    <a:pt x="755" y="460"/>
                  </a:lnTo>
                  <a:lnTo>
                    <a:pt x="768" y="454"/>
                  </a:lnTo>
                  <a:lnTo>
                    <a:pt x="780" y="446"/>
                  </a:lnTo>
                  <a:lnTo>
                    <a:pt x="792" y="437"/>
                  </a:lnTo>
                  <a:lnTo>
                    <a:pt x="803" y="428"/>
                  </a:lnTo>
                  <a:lnTo>
                    <a:pt x="814" y="418"/>
                  </a:lnTo>
                  <a:lnTo>
                    <a:pt x="823" y="406"/>
                  </a:lnTo>
                  <a:lnTo>
                    <a:pt x="833" y="394"/>
                  </a:lnTo>
                  <a:lnTo>
                    <a:pt x="841" y="381"/>
                  </a:lnTo>
                  <a:lnTo>
                    <a:pt x="850" y="367"/>
                  </a:lnTo>
                  <a:lnTo>
                    <a:pt x="857" y="353"/>
                  </a:lnTo>
                  <a:lnTo>
                    <a:pt x="891" y="281"/>
                  </a:lnTo>
                  <a:lnTo>
                    <a:pt x="891" y="365"/>
                  </a:lnTo>
                  <a:lnTo>
                    <a:pt x="891" y="365"/>
                  </a:lnTo>
                  <a:lnTo>
                    <a:pt x="931" y="324"/>
                  </a:lnTo>
                  <a:lnTo>
                    <a:pt x="967" y="284"/>
                  </a:lnTo>
                  <a:lnTo>
                    <a:pt x="1000" y="246"/>
                  </a:lnTo>
                  <a:lnTo>
                    <a:pt x="1015" y="225"/>
                  </a:lnTo>
                  <a:lnTo>
                    <a:pt x="1029" y="206"/>
                  </a:lnTo>
                  <a:lnTo>
                    <a:pt x="1029" y="206"/>
                  </a:lnTo>
                  <a:lnTo>
                    <a:pt x="1031" y="201"/>
                  </a:lnTo>
                  <a:lnTo>
                    <a:pt x="1032" y="197"/>
                  </a:lnTo>
                  <a:lnTo>
                    <a:pt x="1032" y="192"/>
                  </a:lnTo>
                  <a:lnTo>
                    <a:pt x="1031" y="188"/>
                  </a:lnTo>
                  <a:lnTo>
                    <a:pt x="1031" y="188"/>
                  </a:lnTo>
                  <a:lnTo>
                    <a:pt x="1020" y="171"/>
                  </a:lnTo>
                  <a:lnTo>
                    <a:pt x="1008" y="154"/>
                  </a:lnTo>
                  <a:lnTo>
                    <a:pt x="994" y="139"/>
                  </a:lnTo>
                  <a:lnTo>
                    <a:pt x="977" y="127"/>
                  </a:lnTo>
                  <a:lnTo>
                    <a:pt x="959" y="118"/>
                  </a:lnTo>
                  <a:lnTo>
                    <a:pt x="950" y="114"/>
                  </a:lnTo>
                  <a:lnTo>
                    <a:pt x="939" y="110"/>
                  </a:lnTo>
                  <a:lnTo>
                    <a:pt x="930" y="108"/>
                  </a:lnTo>
                  <a:lnTo>
                    <a:pt x="919" y="105"/>
                  </a:lnTo>
                  <a:lnTo>
                    <a:pt x="908" y="104"/>
                  </a:lnTo>
                  <a:lnTo>
                    <a:pt x="897" y="104"/>
                  </a:lnTo>
                  <a:lnTo>
                    <a:pt x="897" y="104"/>
                  </a:lnTo>
                  <a:lnTo>
                    <a:pt x="886" y="104"/>
                  </a:lnTo>
                  <a:lnTo>
                    <a:pt x="876" y="105"/>
                  </a:lnTo>
                  <a:lnTo>
                    <a:pt x="866" y="108"/>
                  </a:lnTo>
                  <a:lnTo>
                    <a:pt x="856" y="110"/>
                  </a:lnTo>
                  <a:lnTo>
                    <a:pt x="845" y="114"/>
                  </a:lnTo>
                  <a:lnTo>
                    <a:pt x="837" y="118"/>
                  </a:lnTo>
                  <a:lnTo>
                    <a:pt x="818" y="127"/>
                  </a:lnTo>
                  <a:lnTo>
                    <a:pt x="802" y="139"/>
                  </a:lnTo>
                  <a:lnTo>
                    <a:pt x="787" y="154"/>
                  </a:lnTo>
                  <a:lnTo>
                    <a:pt x="775" y="169"/>
                  </a:lnTo>
                  <a:lnTo>
                    <a:pt x="764" y="186"/>
                  </a:lnTo>
                  <a:lnTo>
                    <a:pt x="700" y="324"/>
                  </a:lnTo>
                  <a:lnTo>
                    <a:pt x="700" y="324"/>
                  </a:lnTo>
                  <a:lnTo>
                    <a:pt x="697" y="329"/>
                  </a:lnTo>
                  <a:lnTo>
                    <a:pt x="694" y="332"/>
                  </a:lnTo>
                  <a:lnTo>
                    <a:pt x="691" y="336"/>
                  </a:lnTo>
                  <a:lnTo>
                    <a:pt x="686" y="340"/>
                  </a:lnTo>
                  <a:lnTo>
                    <a:pt x="677" y="343"/>
                  </a:lnTo>
                  <a:lnTo>
                    <a:pt x="666" y="344"/>
                  </a:lnTo>
                  <a:lnTo>
                    <a:pt x="666" y="344"/>
                  </a:lnTo>
                  <a:lnTo>
                    <a:pt x="657" y="343"/>
                  </a:lnTo>
                  <a:lnTo>
                    <a:pt x="647" y="340"/>
                  </a:lnTo>
                  <a:lnTo>
                    <a:pt x="643" y="336"/>
                  </a:lnTo>
                  <a:lnTo>
                    <a:pt x="639" y="332"/>
                  </a:lnTo>
                  <a:lnTo>
                    <a:pt x="636" y="329"/>
                  </a:lnTo>
                  <a:lnTo>
                    <a:pt x="634" y="324"/>
                  </a:lnTo>
                  <a:lnTo>
                    <a:pt x="569" y="186"/>
                  </a:lnTo>
                  <a:lnTo>
                    <a:pt x="569" y="186"/>
                  </a:lnTo>
                  <a:lnTo>
                    <a:pt x="564" y="178"/>
                  </a:lnTo>
                  <a:lnTo>
                    <a:pt x="558" y="169"/>
                  </a:lnTo>
                  <a:lnTo>
                    <a:pt x="546" y="153"/>
                  </a:lnTo>
                  <a:lnTo>
                    <a:pt x="530" y="139"/>
                  </a:lnTo>
                  <a:lnTo>
                    <a:pt x="514" y="127"/>
                  </a:lnTo>
                  <a:lnTo>
                    <a:pt x="514" y="127"/>
                  </a:lnTo>
                  <a:lnTo>
                    <a:pt x="549" y="99"/>
                  </a:lnTo>
                  <a:lnTo>
                    <a:pt x="583" y="74"/>
                  </a:lnTo>
                  <a:lnTo>
                    <a:pt x="618" y="50"/>
                  </a:lnTo>
                  <a:lnTo>
                    <a:pt x="652" y="28"/>
                  </a:lnTo>
                  <a:lnTo>
                    <a:pt x="652" y="28"/>
                  </a:lnTo>
                  <a:lnTo>
                    <a:pt x="666" y="19"/>
                  </a:lnTo>
                  <a:lnTo>
                    <a:pt x="678" y="10"/>
                  </a:lnTo>
                  <a:lnTo>
                    <a:pt x="678" y="10"/>
                  </a:lnTo>
                  <a:lnTo>
                    <a:pt x="682" y="6"/>
                  </a:lnTo>
                  <a:lnTo>
                    <a:pt x="682" y="4"/>
                  </a:lnTo>
                  <a:lnTo>
                    <a:pt x="682" y="2"/>
                  </a:lnTo>
                  <a:lnTo>
                    <a:pt x="681" y="0"/>
                  </a:lnTo>
                  <a:lnTo>
                    <a:pt x="678" y="0"/>
                  </a:lnTo>
                  <a:lnTo>
                    <a:pt x="675" y="0"/>
                  </a:lnTo>
                  <a:lnTo>
                    <a:pt x="671" y="2"/>
                  </a:lnTo>
                  <a:lnTo>
                    <a:pt x="671" y="2"/>
                  </a:lnTo>
                  <a:lnTo>
                    <a:pt x="658" y="8"/>
                  </a:lnTo>
                  <a:lnTo>
                    <a:pt x="643" y="16"/>
                  </a:lnTo>
                  <a:lnTo>
                    <a:pt x="643" y="16"/>
                  </a:lnTo>
                  <a:lnTo>
                    <a:pt x="575" y="58"/>
                  </a:lnTo>
                  <a:lnTo>
                    <a:pt x="540" y="80"/>
                  </a:lnTo>
                  <a:lnTo>
                    <a:pt x="506" y="103"/>
                  </a:lnTo>
                  <a:lnTo>
                    <a:pt x="506" y="103"/>
                  </a:lnTo>
                  <a:lnTo>
                    <a:pt x="489" y="114"/>
                  </a:lnTo>
                  <a:lnTo>
                    <a:pt x="489" y="114"/>
                  </a:lnTo>
                  <a:lnTo>
                    <a:pt x="477" y="110"/>
                  </a:lnTo>
                  <a:lnTo>
                    <a:pt x="464" y="107"/>
                  </a:lnTo>
                  <a:lnTo>
                    <a:pt x="450" y="105"/>
                  </a:lnTo>
                  <a:lnTo>
                    <a:pt x="436" y="104"/>
                  </a:lnTo>
                  <a:lnTo>
                    <a:pt x="436" y="104"/>
                  </a:lnTo>
                  <a:lnTo>
                    <a:pt x="420" y="105"/>
                  </a:lnTo>
                  <a:lnTo>
                    <a:pt x="406" y="108"/>
                  </a:lnTo>
                  <a:lnTo>
                    <a:pt x="391" y="111"/>
                  </a:lnTo>
                  <a:lnTo>
                    <a:pt x="378" y="116"/>
                  </a:lnTo>
                  <a:lnTo>
                    <a:pt x="366" y="122"/>
                  </a:lnTo>
                  <a:lnTo>
                    <a:pt x="353" y="130"/>
                  </a:lnTo>
                  <a:lnTo>
                    <a:pt x="342" y="138"/>
                  </a:lnTo>
                  <a:lnTo>
                    <a:pt x="331" y="148"/>
                  </a:lnTo>
                  <a:lnTo>
                    <a:pt x="321" y="159"/>
                  </a:lnTo>
                  <a:lnTo>
                    <a:pt x="313" y="169"/>
                  </a:lnTo>
                  <a:lnTo>
                    <a:pt x="305" y="182"/>
                  </a:lnTo>
                  <a:lnTo>
                    <a:pt x="299" y="195"/>
                  </a:lnTo>
                  <a:lnTo>
                    <a:pt x="295" y="208"/>
                  </a:lnTo>
                  <a:lnTo>
                    <a:pt x="291" y="223"/>
                  </a:lnTo>
                  <a:lnTo>
                    <a:pt x="289" y="237"/>
                  </a:lnTo>
                  <a:lnTo>
                    <a:pt x="289" y="252"/>
                  </a:lnTo>
                  <a:lnTo>
                    <a:pt x="289" y="272"/>
                  </a:lnTo>
                  <a:lnTo>
                    <a:pt x="289" y="272"/>
                  </a:lnTo>
                  <a:lnTo>
                    <a:pt x="249" y="308"/>
                  </a:lnTo>
                  <a:lnTo>
                    <a:pt x="211" y="344"/>
                  </a:lnTo>
                  <a:lnTo>
                    <a:pt x="176" y="381"/>
                  </a:lnTo>
                  <a:lnTo>
                    <a:pt x="145" y="416"/>
                  </a:lnTo>
                  <a:lnTo>
                    <a:pt x="116" y="451"/>
                  </a:lnTo>
                  <a:lnTo>
                    <a:pt x="91" y="485"/>
                  </a:lnTo>
                  <a:lnTo>
                    <a:pt x="68" y="517"/>
                  </a:lnTo>
                  <a:lnTo>
                    <a:pt x="47" y="550"/>
                  </a:lnTo>
                  <a:lnTo>
                    <a:pt x="31" y="580"/>
                  </a:lnTo>
                  <a:lnTo>
                    <a:pt x="18" y="609"/>
                  </a:lnTo>
                  <a:lnTo>
                    <a:pt x="8" y="637"/>
                  </a:lnTo>
                  <a:lnTo>
                    <a:pt x="5" y="650"/>
                  </a:lnTo>
                  <a:lnTo>
                    <a:pt x="2" y="662"/>
                  </a:lnTo>
                  <a:lnTo>
                    <a:pt x="0" y="674"/>
                  </a:lnTo>
                  <a:lnTo>
                    <a:pt x="0" y="686"/>
                  </a:lnTo>
                  <a:lnTo>
                    <a:pt x="0" y="697"/>
                  </a:lnTo>
                  <a:lnTo>
                    <a:pt x="1" y="708"/>
                  </a:lnTo>
                  <a:lnTo>
                    <a:pt x="4" y="718"/>
                  </a:lnTo>
                  <a:lnTo>
                    <a:pt x="6" y="727"/>
                  </a:lnTo>
                  <a:lnTo>
                    <a:pt x="11" y="737"/>
                  </a:lnTo>
                  <a:lnTo>
                    <a:pt x="16" y="745"/>
                  </a:lnTo>
                  <a:lnTo>
                    <a:pt x="16" y="745"/>
                  </a:lnTo>
                  <a:lnTo>
                    <a:pt x="24" y="756"/>
                  </a:lnTo>
                  <a:lnTo>
                    <a:pt x="35" y="765"/>
                  </a:lnTo>
                  <a:lnTo>
                    <a:pt x="46" y="772"/>
                  </a:lnTo>
                  <a:lnTo>
                    <a:pt x="59" y="778"/>
                  </a:lnTo>
                  <a:lnTo>
                    <a:pt x="72" y="783"/>
                  </a:lnTo>
                  <a:lnTo>
                    <a:pt x="88" y="785"/>
                  </a:lnTo>
                  <a:lnTo>
                    <a:pt x="104" y="786"/>
                  </a:lnTo>
                  <a:lnTo>
                    <a:pt x="122" y="786"/>
                  </a:lnTo>
                  <a:lnTo>
                    <a:pt x="140" y="784"/>
                  </a:lnTo>
                  <a:lnTo>
                    <a:pt x="158" y="782"/>
                  </a:lnTo>
                  <a:lnTo>
                    <a:pt x="179" y="777"/>
                  </a:lnTo>
                  <a:lnTo>
                    <a:pt x="199" y="772"/>
                  </a:lnTo>
                  <a:lnTo>
                    <a:pt x="220" y="765"/>
                  </a:lnTo>
                  <a:lnTo>
                    <a:pt x="243" y="757"/>
                  </a:lnTo>
                  <a:lnTo>
                    <a:pt x="289" y="739"/>
                  </a:lnTo>
                  <a:lnTo>
                    <a:pt x="289" y="8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sp>
          <p:nvSpPr>
            <p:cNvPr id="29" name="Freeform 42">
              <a:extLst>
                <a:ext uri="{FF2B5EF4-FFF2-40B4-BE49-F238E27FC236}">
                  <a16:creationId xmlns:a16="http://schemas.microsoft.com/office/drawing/2014/main" id="{56C7A310-29E8-4B60-8472-5698069530B2}"/>
                </a:ext>
              </a:extLst>
            </p:cNvPr>
            <p:cNvSpPr>
              <a:spLocks noEditPoints="1"/>
            </p:cNvSpPr>
            <p:nvPr/>
          </p:nvSpPr>
          <p:spPr bwMode="auto">
            <a:xfrm>
              <a:off x="4046538" y="938213"/>
              <a:ext cx="69850" cy="68263"/>
            </a:xfrm>
            <a:custGeom>
              <a:avLst/>
              <a:gdLst>
                <a:gd name="T0" fmla="*/ 0 w 87"/>
                <a:gd name="T1" fmla="*/ 44 h 87"/>
                <a:gd name="T2" fmla="*/ 4 w 87"/>
                <a:gd name="T3" fmla="*/ 27 h 87"/>
                <a:gd name="T4" fmla="*/ 14 w 87"/>
                <a:gd name="T5" fmla="*/ 12 h 87"/>
                <a:gd name="T6" fmla="*/ 27 w 87"/>
                <a:gd name="T7" fmla="*/ 4 h 87"/>
                <a:gd name="T8" fmla="*/ 44 w 87"/>
                <a:gd name="T9" fmla="*/ 0 h 87"/>
                <a:gd name="T10" fmla="*/ 52 w 87"/>
                <a:gd name="T11" fmla="*/ 0 h 87"/>
                <a:gd name="T12" fmla="*/ 68 w 87"/>
                <a:gd name="T13" fmla="*/ 7 h 87"/>
                <a:gd name="T14" fmla="*/ 80 w 87"/>
                <a:gd name="T15" fmla="*/ 19 h 87"/>
                <a:gd name="T16" fmla="*/ 86 w 87"/>
                <a:gd name="T17" fmla="*/ 35 h 87"/>
                <a:gd name="T18" fmla="*/ 87 w 87"/>
                <a:gd name="T19" fmla="*/ 44 h 87"/>
                <a:gd name="T20" fmla="*/ 84 w 87"/>
                <a:gd name="T21" fmla="*/ 61 h 87"/>
                <a:gd name="T22" fmla="*/ 75 w 87"/>
                <a:gd name="T23" fmla="*/ 74 h 87"/>
                <a:gd name="T24" fmla="*/ 61 w 87"/>
                <a:gd name="T25" fmla="*/ 83 h 87"/>
                <a:gd name="T26" fmla="*/ 44 w 87"/>
                <a:gd name="T27" fmla="*/ 87 h 87"/>
                <a:gd name="T28" fmla="*/ 35 w 87"/>
                <a:gd name="T29" fmla="*/ 86 h 87"/>
                <a:gd name="T30" fmla="*/ 20 w 87"/>
                <a:gd name="T31" fmla="*/ 80 h 87"/>
                <a:gd name="T32" fmla="*/ 8 w 87"/>
                <a:gd name="T33" fmla="*/ 68 h 87"/>
                <a:gd name="T34" fmla="*/ 2 w 87"/>
                <a:gd name="T35" fmla="*/ 52 h 87"/>
                <a:gd name="T36" fmla="*/ 0 w 87"/>
                <a:gd name="T37" fmla="*/ 44 h 87"/>
                <a:gd name="T38" fmla="*/ 76 w 87"/>
                <a:gd name="T39" fmla="*/ 44 h 87"/>
                <a:gd name="T40" fmla="*/ 74 w 87"/>
                <a:gd name="T41" fmla="*/ 29 h 87"/>
                <a:gd name="T42" fmla="*/ 67 w 87"/>
                <a:gd name="T43" fmla="*/ 18 h 87"/>
                <a:gd name="T44" fmla="*/ 57 w 87"/>
                <a:gd name="T45" fmla="*/ 11 h 87"/>
                <a:gd name="T46" fmla="*/ 44 w 87"/>
                <a:gd name="T47" fmla="*/ 9 h 87"/>
                <a:gd name="T48" fmla="*/ 38 w 87"/>
                <a:gd name="T49" fmla="*/ 9 h 87"/>
                <a:gd name="T50" fmla="*/ 26 w 87"/>
                <a:gd name="T51" fmla="*/ 13 h 87"/>
                <a:gd name="T52" fmla="*/ 16 w 87"/>
                <a:gd name="T53" fmla="*/ 23 h 87"/>
                <a:gd name="T54" fmla="*/ 11 w 87"/>
                <a:gd name="T55" fmla="*/ 36 h 87"/>
                <a:gd name="T56" fmla="*/ 11 w 87"/>
                <a:gd name="T57" fmla="*/ 44 h 87"/>
                <a:gd name="T58" fmla="*/ 14 w 87"/>
                <a:gd name="T59" fmla="*/ 57 h 87"/>
                <a:gd name="T60" fmla="*/ 21 w 87"/>
                <a:gd name="T61" fmla="*/ 69 h 87"/>
                <a:gd name="T62" fmla="*/ 31 w 87"/>
                <a:gd name="T63" fmla="*/ 76 h 87"/>
                <a:gd name="T64" fmla="*/ 44 w 87"/>
                <a:gd name="T65" fmla="*/ 79 h 87"/>
                <a:gd name="T66" fmla="*/ 51 w 87"/>
                <a:gd name="T67" fmla="*/ 77 h 87"/>
                <a:gd name="T68" fmla="*/ 62 w 87"/>
                <a:gd name="T69" fmla="*/ 73 h 87"/>
                <a:gd name="T70" fmla="*/ 72 w 87"/>
                <a:gd name="T71" fmla="*/ 63 h 87"/>
                <a:gd name="T72" fmla="*/ 76 w 87"/>
                <a:gd name="T73" fmla="*/ 51 h 87"/>
                <a:gd name="T74" fmla="*/ 76 w 87"/>
                <a:gd name="T75" fmla="*/ 44 h 87"/>
                <a:gd name="T76" fmla="*/ 45 w 87"/>
                <a:gd name="T77" fmla="*/ 18 h 87"/>
                <a:gd name="T78" fmla="*/ 53 w 87"/>
                <a:gd name="T79" fmla="*/ 19 h 87"/>
                <a:gd name="T80" fmla="*/ 61 w 87"/>
                <a:gd name="T81" fmla="*/ 24 h 87"/>
                <a:gd name="T82" fmla="*/ 63 w 87"/>
                <a:gd name="T83" fmla="*/ 33 h 87"/>
                <a:gd name="T84" fmla="*/ 63 w 87"/>
                <a:gd name="T85" fmla="*/ 39 h 87"/>
                <a:gd name="T86" fmla="*/ 56 w 87"/>
                <a:gd name="T87" fmla="*/ 45 h 87"/>
                <a:gd name="T88" fmla="*/ 64 w 87"/>
                <a:gd name="T89" fmla="*/ 68 h 87"/>
                <a:gd name="T90" fmla="*/ 41 w 87"/>
                <a:gd name="T91" fmla="*/ 47 h 87"/>
                <a:gd name="T92" fmla="*/ 37 w 87"/>
                <a:gd name="T93" fmla="*/ 68 h 87"/>
                <a:gd name="T94" fmla="*/ 27 w 87"/>
                <a:gd name="T95" fmla="*/ 18 h 87"/>
                <a:gd name="T96" fmla="*/ 44 w 87"/>
                <a:gd name="T97" fmla="*/ 40 h 87"/>
                <a:gd name="T98" fmla="*/ 49 w 87"/>
                <a:gd name="T99" fmla="*/ 40 h 87"/>
                <a:gd name="T100" fmla="*/ 53 w 87"/>
                <a:gd name="T101" fmla="*/ 36 h 87"/>
                <a:gd name="T102" fmla="*/ 55 w 87"/>
                <a:gd name="T103" fmla="*/ 33 h 87"/>
                <a:gd name="T104" fmla="*/ 51 w 87"/>
                <a:gd name="T105" fmla="*/ 27 h 87"/>
                <a:gd name="T106" fmla="*/ 45 w 87"/>
                <a:gd name="T107" fmla="*/ 26 h 87"/>
                <a:gd name="T108" fmla="*/ 37 w 87"/>
                <a:gd name="T109"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7" h="87">
                  <a:moveTo>
                    <a:pt x="0" y="44"/>
                  </a:moveTo>
                  <a:lnTo>
                    <a:pt x="0" y="44"/>
                  </a:lnTo>
                  <a:lnTo>
                    <a:pt x="2" y="35"/>
                  </a:lnTo>
                  <a:lnTo>
                    <a:pt x="4" y="27"/>
                  </a:lnTo>
                  <a:lnTo>
                    <a:pt x="8" y="19"/>
                  </a:lnTo>
                  <a:lnTo>
                    <a:pt x="14" y="12"/>
                  </a:lnTo>
                  <a:lnTo>
                    <a:pt x="20" y="7"/>
                  </a:lnTo>
                  <a:lnTo>
                    <a:pt x="27" y="4"/>
                  </a:lnTo>
                  <a:lnTo>
                    <a:pt x="35" y="0"/>
                  </a:lnTo>
                  <a:lnTo>
                    <a:pt x="44" y="0"/>
                  </a:lnTo>
                  <a:lnTo>
                    <a:pt x="44" y="0"/>
                  </a:lnTo>
                  <a:lnTo>
                    <a:pt x="52" y="0"/>
                  </a:lnTo>
                  <a:lnTo>
                    <a:pt x="61" y="4"/>
                  </a:lnTo>
                  <a:lnTo>
                    <a:pt x="68" y="7"/>
                  </a:lnTo>
                  <a:lnTo>
                    <a:pt x="75" y="12"/>
                  </a:lnTo>
                  <a:lnTo>
                    <a:pt x="80" y="19"/>
                  </a:lnTo>
                  <a:lnTo>
                    <a:pt x="84" y="27"/>
                  </a:lnTo>
                  <a:lnTo>
                    <a:pt x="86" y="35"/>
                  </a:lnTo>
                  <a:lnTo>
                    <a:pt x="87" y="44"/>
                  </a:lnTo>
                  <a:lnTo>
                    <a:pt x="87" y="44"/>
                  </a:lnTo>
                  <a:lnTo>
                    <a:pt x="86" y="52"/>
                  </a:lnTo>
                  <a:lnTo>
                    <a:pt x="84" y="61"/>
                  </a:lnTo>
                  <a:lnTo>
                    <a:pt x="80" y="68"/>
                  </a:lnTo>
                  <a:lnTo>
                    <a:pt x="75" y="74"/>
                  </a:lnTo>
                  <a:lnTo>
                    <a:pt x="68" y="80"/>
                  </a:lnTo>
                  <a:lnTo>
                    <a:pt x="61" y="83"/>
                  </a:lnTo>
                  <a:lnTo>
                    <a:pt x="52" y="86"/>
                  </a:lnTo>
                  <a:lnTo>
                    <a:pt x="44" y="87"/>
                  </a:lnTo>
                  <a:lnTo>
                    <a:pt x="44" y="87"/>
                  </a:lnTo>
                  <a:lnTo>
                    <a:pt x="35" y="86"/>
                  </a:lnTo>
                  <a:lnTo>
                    <a:pt x="27" y="83"/>
                  </a:lnTo>
                  <a:lnTo>
                    <a:pt x="20" y="80"/>
                  </a:lnTo>
                  <a:lnTo>
                    <a:pt x="14" y="74"/>
                  </a:lnTo>
                  <a:lnTo>
                    <a:pt x="8" y="68"/>
                  </a:lnTo>
                  <a:lnTo>
                    <a:pt x="4" y="61"/>
                  </a:lnTo>
                  <a:lnTo>
                    <a:pt x="2" y="52"/>
                  </a:lnTo>
                  <a:lnTo>
                    <a:pt x="0" y="44"/>
                  </a:lnTo>
                  <a:lnTo>
                    <a:pt x="0" y="44"/>
                  </a:lnTo>
                  <a:close/>
                  <a:moveTo>
                    <a:pt x="76" y="44"/>
                  </a:moveTo>
                  <a:lnTo>
                    <a:pt x="76" y="44"/>
                  </a:lnTo>
                  <a:lnTo>
                    <a:pt x="76" y="36"/>
                  </a:lnTo>
                  <a:lnTo>
                    <a:pt x="74" y="29"/>
                  </a:lnTo>
                  <a:lnTo>
                    <a:pt x="72" y="23"/>
                  </a:lnTo>
                  <a:lnTo>
                    <a:pt x="67" y="18"/>
                  </a:lnTo>
                  <a:lnTo>
                    <a:pt x="62" y="13"/>
                  </a:lnTo>
                  <a:lnTo>
                    <a:pt x="57" y="11"/>
                  </a:lnTo>
                  <a:lnTo>
                    <a:pt x="51" y="9"/>
                  </a:lnTo>
                  <a:lnTo>
                    <a:pt x="44" y="9"/>
                  </a:lnTo>
                  <a:lnTo>
                    <a:pt x="44" y="9"/>
                  </a:lnTo>
                  <a:lnTo>
                    <a:pt x="38" y="9"/>
                  </a:lnTo>
                  <a:lnTo>
                    <a:pt x="31" y="11"/>
                  </a:lnTo>
                  <a:lnTo>
                    <a:pt x="26" y="13"/>
                  </a:lnTo>
                  <a:lnTo>
                    <a:pt x="21" y="18"/>
                  </a:lnTo>
                  <a:lnTo>
                    <a:pt x="16" y="23"/>
                  </a:lnTo>
                  <a:lnTo>
                    <a:pt x="14" y="29"/>
                  </a:lnTo>
                  <a:lnTo>
                    <a:pt x="11" y="36"/>
                  </a:lnTo>
                  <a:lnTo>
                    <a:pt x="11" y="44"/>
                  </a:lnTo>
                  <a:lnTo>
                    <a:pt x="11" y="44"/>
                  </a:lnTo>
                  <a:lnTo>
                    <a:pt x="11" y="51"/>
                  </a:lnTo>
                  <a:lnTo>
                    <a:pt x="14" y="57"/>
                  </a:lnTo>
                  <a:lnTo>
                    <a:pt x="16" y="63"/>
                  </a:lnTo>
                  <a:lnTo>
                    <a:pt x="21" y="69"/>
                  </a:lnTo>
                  <a:lnTo>
                    <a:pt x="26" y="73"/>
                  </a:lnTo>
                  <a:lnTo>
                    <a:pt x="31" y="76"/>
                  </a:lnTo>
                  <a:lnTo>
                    <a:pt x="38" y="77"/>
                  </a:lnTo>
                  <a:lnTo>
                    <a:pt x="44" y="79"/>
                  </a:lnTo>
                  <a:lnTo>
                    <a:pt x="44" y="79"/>
                  </a:lnTo>
                  <a:lnTo>
                    <a:pt x="51" y="77"/>
                  </a:lnTo>
                  <a:lnTo>
                    <a:pt x="57" y="76"/>
                  </a:lnTo>
                  <a:lnTo>
                    <a:pt x="62" y="73"/>
                  </a:lnTo>
                  <a:lnTo>
                    <a:pt x="67" y="69"/>
                  </a:lnTo>
                  <a:lnTo>
                    <a:pt x="72" y="63"/>
                  </a:lnTo>
                  <a:lnTo>
                    <a:pt x="74" y="57"/>
                  </a:lnTo>
                  <a:lnTo>
                    <a:pt x="76" y="51"/>
                  </a:lnTo>
                  <a:lnTo>
                    <a:pt x="76" y="44"/>
                  </a:lnTo>
                  <a:lnTo>
                    <a:pt x="76" y="44"/>
                  </a:lnTo>
                  <a:close/>
                  <a:moveTo>
                    <a:pt x="27" y="18"/>
                  </a:moveTo>
                  <a:lnTo>
                    <a:pt x="45" y="18"/>
                  </a:lnTo>
                  <a:lnTo>
                    <a:pt x="45" y="18"/>
                  </a:lnTo>
                  <a:lnTo>
                    <a:pt x="53" y="19"/>
                  </a:lnTo>
                  <a:lnTo>
                    <a:pt x="60" y="22"/>
                  </a:lnTo>
                  <a:lnTo>
                    <a:pt x="61" y="24"/>
                  </a:lnTo>
                  <a:lnTo>
                    <a:pt x="62" y="27"/>
                  </a:lnTo>
                  <a:lnTo>
                    <a:pt x="63" y="33"/>
                  </a:lnTo>
                  <a:lnTo>
                    <a:pt x="63" y="33"/>
                  </a:lnTo>
                  <a:lnTo>
                    <a:pt x="63" y="39"/>
                  </a:lnTo>
                  <a:lnTo>
                    <a:pt x="61" y="42"/>
                  </a:lnTo>
                  <a:lnTo>
                    <a:pt x="56" y="45"/>
                  </a:lnTo>
                  <a:lnTo>
                    <a:pt x="51" y="46"/>
                  </a:lnTo>
                  <a:lnTo>
                    <a:pt x="64" y="68"/>
                  </a:lnTo>
                  <a:lnTo>
                    <a:pt x="55" y="68"/>
                  </a:lnTo>
                  <a:lnTo>
                    <a:pt x="41" y="47"/>
                  </a:lnTo>
                  <a:lnTo>
                    <a:pt x="37" y="47"/>
                  </a:lnTo>
                  <a:lnTo>
                    <a:pt x="37" y="68"/>
                  </a:lnTo>
                  <a:lnTo>
                    <a:pt x="27" y="68"/>
                  </a:lnTo>
                  <a:lnTo>
                    <a:pt x="27" y="18"/>
                  </a:lnTo>
                  <a:close/>
                  <a:moveTo>
                    <a:pt x="37" y="40"/>
                  </a:moveTo>
                  <a:lnTo>
                    <a:pt x="44" y="40"/>
                  </a:lnTo>
                  <a:lnTo>
                    <a:pt x="44" y="40"/>
                  </a:lnTo>
                  <a:lnTo>
                    <a:pt x="49" y="40"/>
                  </a:lnTo>
                  <a:lnTo>
                    <a:pt x="51" y="39"/>
                  </a:lnTo>
                  <a:lnTo>
                    <a:pt x="53" y="36"/>
                  </a:lnTo>
                  <a:lnTo>
                    <a:pt x="55" y="33"/>
                  </a:lnTo>
                  <a:lnTo>
                    <a:pt x="55" y="33"/>
                  </a:lnTo>
                  <a:lnTo>
                    <a:pt x="53" y="29"/>
                  </a:lnTo>
                  <a:lnTo>
                    <a:pt x="51" y="27"/>
                  </a:lnTo>
                  <a:lnTo>
                    <a:pt x="49" y="26"/>
                  </a:lnTo>
                  <a:lnTo>
                    <a:pt x="45" y="26"/>
                  </a:lnTo>
                  <a:lnTo>
                    <a:pt x="37" y="26"/>
                  </a:lnTo>
                  <a:lnTo>
                    <a:pt x="3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Arial" panose="020B0604020202020204"/>
                <a:ea typeface="+mn-ea"/>
                <a:cs typeface="+mn-cs"/>
              </a:endParaRPr>
            </a:p>
          </p:txBody>
        </p:sp>
      </p:grpSp>
      <p:sp>
        <p:nvSpPr>
          <p:cNvPr id="34" name="Master Slide Number">
            <a:extLst>
              <a:ext uri="{FF2B5EF4-FFF2-40B4-BE49-F238E27FC236}">
                <a16:creationId xmlns:a16="http://schemas.microsoft.com/office/drawing/2014/main" id="{B054D46E-B6DC-5F49-8EDE-4B7AD93A85CF}"/>
              </a:ext>
            </a:extLst>
          </p:cNvPr>
          <p:cNvSpPr>
            <a:spLocks noGrp="1"/>
          </p:cNvSpPr>
          <p:nvPr>
            <p:ph type="sldNum" sz="quarter" idx="4"/>
          </p:nvPr>
        </p:nvSpPr>
        <p:spPr>
          <a:xfrm>
            <a:off x="11255731" y="221540"/>
            <a:ext cx="587019" cy="230832"/>
          </a:xfrm>
          <a:prstGeom prst="rect">
            <a:avLst/>
          </a:prstGeom>
        </p:spPr>
        <p:txBody>
          <a:bodyPr/>
          <a:lstStyle>
            <a:lvl1pPr algn="r">
              <a:defRPr sz="900" b="1"/>
            </a:lvl1pPr>
          </a:lstStyle>
          <a:p>
            <a:fld id="{B7E7695C-FCF1-4AA0-9B93-7941FED13DC4}" type="slidenum">
              <a:rPr lang="en-US" smtClean="0"/>
              <a:pPr/>
              <a:t>‹#›</a:t>
            </a:fld>
            <a:endParaRPr lang="en-US" dirty="0"/>
          </a:p>
        </p:txBody>
      </p:sp>
      <p:sp>
        <p:nvSpPr>
          <p:cNvPr id="3" name="Text Placeholder 2">
            <a:extLst>
              <a:ext uri="{FF2B5EF4-FFF2-40B4-BE49-F238E27FC236}">
                <a16:creationId xmlns:a16="http://schemas.microsoft.com/office/drawing/2014/main" id="{CA7FE24E-B8F5-1F45-9252-6731E9BF08CF}"/>
              </a:ext>
            </a:extLst>
          </p:cNvPr>
          <p:cNvSpPr>
            <a:spLocks noGrp="1"/>
          </p:cNvSpPr>
          <p:nvPr>
            <p:ph type="body" idx="1"/>
          </p:nvPr>
        </p:nvSpPr>
        <p:spPr>
          <a:xfrm>
            <a:off x="342900" y="1207906"/>
            <a:ext cx="11506200" cy="496124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MSIPCMContentMarking" descr="{&quot;HashCode&quot;:1899259632,&quot;Placement&quot;:&quot;Header&quot;,&quot;Top&quot;:0.0,&quot;Left&quot;:0.0,&quot;SlideWidth&quot;:960,&quot;SlideHeight&quot;:540}">
            <a:extLst>
              <a:ext uri="{FF2B5EF4-FFF2-40B4-BE49-F238E27FC236}">
                <a16:creationId xmlns:a16="http://schemas.microsoft.com/office/drawing/2014/main" id="{05FBB660-8B19-467C-97A1-352F9A4F2A4A}"/>
              </a:ext>
            </a:extLst>
          </p:cNvPr>
          <p:cNvSpPr txBox="1"/>
          <p:nvPr userDrawn="1"/>
        </p:nvSpPr>
        <p:spPr>
          <a:xfrm>
            <a:off x="0" y="0"/>
            <a:ext cx="1638186" cy="280749"/>
          </a:xfrm>
          <a:prstGeom prst="rect">
            <a:avLst/>
          </a:prstGeom>
          <a:noFill/>
        </p:spPr>
        <p:txBody>
          <a:bodyPr vert="horz" wrap="square" lIns="0" tIns="0" rIns="0" bIns="0" rtlCol="0" anchor="ctr" anchorCtr="1">
            <a:spAutoFit/>
          </a:bodyPr>
          <a:lstStyle/>
          <a:p>
            <a:pPr algn="l">
              <a:spcBef>
                <a:spcPts val="0"/>
              </a:spcBef>
              <a:spcAft>
                <a:spcPts val="0"/>
              </a:spcAft>
            </a:pPr>
            <a:r>
              <a:rPr lang="en-US" sz="1200">
                <a:solidFill>
                  <a:srgbClr val="000000"/>
                </a:solidFill>
                <a:latin typeface="Arial" panose="020B0604020202020204" pitchFamily="34" charset="0"/>
              </a:rPr>
              <a:t>Micron Confidential</a:t>
            </a:r>
          </a:p>
        </p:txBody>
      </p:sp>
      <p:sp>
        <p:nvSpPr>
          <p:cNvPr id="5" name="MSIPCMContentMarking" descr="{&quot;HashCode&quot;:1923397201,&quot;Placement&quot;:&quot;Footer&quot;,&quot;Top&quot;:517.8937,&quot;Left&quot;:0.0,&quot;SlideWidth&quot;:960,&quot;SlideHeight&quot;:540}">
            <a:extLst>
              <a:ext uri="{FF2B5EF4-FFF2-40B4-BE49-F238E27FC236}">
                <a16:creationId xmlns:a16="http://schemas.microsoft.com/office/drawing/2014/main" id="{B0A841FE-49A1-4620-A2B9-47AB69052323}"/>
              </a:ext>
            </a:extLst>
          </p:cNvPr>
          <p:cNvSpPr txBox="1"/>
          <p:nvPr userDrawn="1"/>
        </p:nvSpPr>
        <p:spPr>
          <a:xfrm>
            <a:off x="0" y="6577250"/>
            <a:ext cx="1638186" cy="280749"/>
          </a:xfrm>
          <a:prstGeom prst="rect">
            <a:avLst/>
          </a:prstGeom>
          <a:noFill/>
        </p:spPr>
        <p:txBody>
          <a:bodyPr vert="horz" wrap="square" lIns="0" tIns="0" rIns="0" bIns="0" rtlCol="0" anchor="ctr" anchorCtr="1">
            <a:spAutoFit/>
          </a:bodyPr>
          <a:lstStyle/>
          <a:p>
            <a:pPr algn="l">
              <a:spcBef>
                <a:spcPts val="0"/>
              </a:spcBef>
              <a:spcAft>
                <a:spcPts val="0"/>
              </a:spcAft>
            </a:pPr>
            <a:r>
              <a:rPr lang="en-US" sz="1200">
                <a:solidFill>
                  <a:srgbClr val="000000"/>
                </a:solidFill>
                <a:latin typeface="Arial" panose="020B0604020202020204" pitchFamily="34" charset="0"/>
              </a:rPr>
              <a:t>Micron Confidential</a:t>
            </a:r>
          </a:p>
        </p:txBody>
      </p:sp>
    </p:spTree>
    <p:extLst>
      <p:ext uri="{BB962C8B-B14F-4D97-AF65-F5344CB8AC3E}">
        <p14:creationId xmlns:p14="http://schemas.microsoft.com/office/powerpoint/2010/main" val="802943627"/>
      </p:ext>
    </p:extLst>
  </p:cSld>
  <p:clrMap bg1="lt1" tx1="dk1" bg2="lt2" tx2="dk2" accent1="accent1" accent2="accent2" accent3="accent3" accent4="accent4" accent5="accent5" accent6="accent6" hlink="hlink" folHlink="folHlink"/>
  <p:sldLayoutIdLst>
    <p:sldLayoutId id="2147483648" r:id="rId1"/>
    <p:sldLayoutId id="2147484195" r:id="rId2"/>
    <p:sldLayoutId id="2147484196" r:id="rId3"/>
    <p:sldLayoutId id="2147484197" r:id="rId4"/>
    <p:sldLayoutId id="2147484198" r:id="rId5"/>
    <p:sldLayoutId id="2147484199" r:id="rId6"/>
    <p:sldLayoutId id="2147484200" r:id="rId7"/>
    <p:sldLayoutId id="2147484201" r:id="rId8"/>
  </p:sldLayoutIdLst>
  <p:hf hdr="0" ftr="0" dt="0"/>
  <p:txStyles>
    <p:title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p:titleStyle>
    <p:bodyStyle>
      <a:lvl1pPr marL="182880" marR="0" indent="-182880" algn="l" defTabSz="914400" rtl="0" eaLnBrk="1" fontAlgn="auto" latinLnBrk="0" hangingPunct="1">
        <a:lnSpc>
          <a:spcPct val="100000"/>
        </a:lnSpc>
        <a:spcBef>
          <a:spcPts val="0"/>
        </a:spcBef>
        <a:spcAft>
          <a:spcPts val="0"/>
        </a:spcAft>
        <a:buClrTx/>
        <a:buSzPct val="75000"/>
        <a:buFont typeface="Wingdings" pitchFamily="2" charset="2"/>
        <a:buChar char="§"/>
        <a:tabLst/>
        <a:defRPr sz="2000" b="0" kern="1200" spc="0" baseline="0">
          <a:solidFill>
            <a:schemeClr val="tx1"/>
          </a:solidFill>
          <a:latin typeface="+mn-lt"/>
          <a:ea typeface="+mn-ea"/>
          <a:cs typeface="+mn-cs"/>
        </a:defRPr>
      </a:lvl1pPr>
      <a:lvl2pPr marL="457200" marR="0" indent="-182880" algn="l" defTabSz="914400" rtl="0" eaLnBrk="1" fontAlgn="auto" latinLnBrk="0" hangingPunct="1">
        <a:lnSpc>
          <a:spcPct val="100000"/>
        </a:lnSpc>
        <a:spcBef>
          <a:spcPts val="0"/>
        </a:spcBef>
        <a:spcAft>
          <a:spcPts val="400"/>
        </a:spcAft>
        <a:buClrTx/>
        <a:buSzTx/>
        <a:buFont typeface="Apple Symbols" panose="02000000000000000000" pitchFamily="2" charset="-79"/>
        <a:buChar char="⎻"/>
        <a:tabLst/>
        <a:defRPr sz="1800" b="0" kern="1200" spc="0" baseline="0">
          <a:solidFill>
            <a:schemeClr val="tx1"/>
          </a:solidFill>
          <a:latin typeface="+mn-lt"/>
          <a:ea typeface="+mn-ea"/>
          <a:cs typeface="+mn-cs"/>
        </a:defRPr>
      </a:lvl2pPr>
      <a:lvl3pPr marL="73152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600" b="0" kern="1200" spc="0">
          <a:solidFill>
            <a:schemeClr val="tx1"/>
          </a:solidFill>
          <a:latin typeface="+mn-lt"/>
          <a:ea typeface="+mn-ea"/>
          <a:cs typeface="+mn-cs"/>
        </a:defRPr>
      </a:lvl3pPr>
      <a:lvl4pPr marL="1005840" marR="0" indent="-182880" algn="l" defTabSz="914400" rtl="0" eaLnBrk="1" fontAlgn="auto" latinLnBrk="0" hangingPunct="1">
        <a:lnSpc>
          <a:spcPct val="100000"/>
        </a:lnSpc>
        <a:spcBef>
          <a:spcPts val="0"/>
        </a:spcBef>
        <a:spcAft>
          <a:spcPts val="400"/>
        </a:spcAft>
        <a:buClrTx/>
        <a:buSzTx/>
        <a:buFont typeface="Apple Symbols" panose="02000000000000000000" pitchFamily="2" charset="-79"/>
        <a:buChar char="⎻"/>
        <a:tabLst/>
        <a:defRPr sz="1400" b="0" kern="1200" spc="0">
          <a:solidFill>
            <a:schemeClr val="tx1"/>
          </a:solidFill>
          <a:latin typeface="+mn-lt"/>
          <a:ea typeface="+mn-ea"/>
          <a:cs typeface="+mn-cs"/>
        </a:defRPr>
      </a:lvl4pPr>
      <a:lvl5pPr marL="128016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200" b="0" kern="1200" spc="0">
          <a:solidFill>
            <a:schemeClr val="tx1"/>
          </a:solidFill>
          <a:latin typeface="+mn-lt"/>
          <a:ea typeface="+mn-ea"/>
          <a:cs typeface="+mn-cs"/>
        </a:defRPr>
      </a:lvl5pPr>
      <a:lvl6pPr marL="54864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600" kern="1200">
          <a:solidFill>
            <a:srgbClr val="000000"/>
          </a:solidFill>
          <a:latin typeface="+mn-lt"/>
          <a:ea typeface="+mn-ea"/>
          <a:cs typeface="+mn-cs"/>
        </a:defRPr>
      </a:lvl6pPr>
      <a:lvl7pPr marL="731520" marR="0" indent="-182880" algn="l" defTabSz="914400" rtl="0" eaLnBrk="1" fontAlgn="auto" latinLnBrk="0" hangingPunct="1">
        <a:lnSpc>
          <a:spcPct val="100000"/>
        </a:lnSpc>
        <a:spcBef>
          <a:spcPts val="0"/>
        </a:spcBef>
        <a:spcAft>
          <a:spcPts val="400"/>
        </a:spcAft>
        <a:buClrTx/>
        <a:buSzPct val="100000"/>
        <a:buFont typeface="System Font Regular"/>
        <a:buChar char="‒"/>
        <a:tabLst/>
        <a:defRPr sz="1600" b="0" kern="1200">
          <a:solidFill>
            <a:schemeClr val="tx1"/>
          </a:solidFill>
          <a:latin typeface="+mn-lt"/>
          <a:ea typeface="+mn-ea"/>
          <a:cs typeface="+mn-cs"/>
        </a:defRPr>
      </a:lvl7pPr>
      <a:lvl8pPr marL="91440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400" kern="1200">
          <a:solidFill>
            <a:schemeClr val="tx1"/>
          </a:solidFill>
          <a:latin typeface="+mn-lt"/>
          <a:ea typeface="+mn-ea"/>
          <a:cs typeface="+mn-cs"/>
        </a:defRPr>
      </a:lvl8pPr>
      <a:lvl9pPr marL="1097280" marR="0" indent="-182880" algn="l" defTabSz="914400" rtl="0" eaLnBrk="1" fontAlgn="auto" latinLnBrk="0" hangingPunct="1">
        <a:lnSpc>
          <a:spcPct val="100000"/>
        </a:lnSpc>
        <a:spcBef>
          <a:spcPts val="0"/>
        </a:spcBef>
        <a:spcAft>
          <a:spcPts val="400"/>
        </a:spcAft>
        <a:buClrTx/>
        <a:buSzPct val="10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2" pos="288">
          <p15:clr>
            <a:srgbClr val="F26B43"/>
          </p15:clr>
        </p15:guide>
        <p15:guide id="3" pos="7464">
          <p15:clr>
            <a:srgbClr val="F26B43"/>
          </p15:clr>
        </p15:guide>
        <p15:guide id="6" pos="3840">
          <p15:clr>
            <a:srgbClr val="F26B43"/>
          </p15:clr>
        </p15:guide>
        <p15:guide id="7" orient="horz" pos="4032">
          <p15:clr>
            <a:srgbClr val="F26B43"/>
          </p15:clr>
        </p15:guide>
        <p15:guide id="8" orient="horz" pos="240">
          <p15:clr>
            <a:srgbClr val="F26B43"/>
          </p15:clr>
        </p15:guide>
        <p15:guide id="9" pos="216">
          <p15:clr>
            <a:srgbClr val="F26B43"/>
          </p15:clr>
        </p15:guide>
        <p15:guide id="10" pos="7392">
          <p15:clr>
            <a:srgbClr val="F26B43"/>
          </p15:clr>
        </p15:guide>
        <p15:guide id="11" orient="horz" pos="4080">
          <p15:clr>
            <a:srgbClr val="F26B43"/>
          </p15:clr>
        </p15:guide>
        <p15:guide id="12" orient="horz" pos="39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5.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5.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5.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5.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5.xml"/><Relationship Id="rId5" Type="http://schemas.openxmlformats.org/officeDocument/2006/relationships/image" Target="../media/image103.png"/><Relationship Id="rId4" Type="http://schemas.openxmlformats.org/officeDocument/2006/relationships/image" Target="../media/image10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8DA0AC-BF76-D74B-9788-E7B1D46E7728}"/>
              </a:ext>
            </a:extLst>
          </p:cNvPr>
          <p:cNvSpPr>
            <a:spLocks noGrp="1"/>
          </p:cNvSpPr>
          <p:nvPr>
            <p:ph type="sldNum" sz="quarter" idx="12"/>
          </p:nvPr>
        </p:nvSpPr>
        <p:spPr/>
        <p:txBody>
          <a:bodyPr/>
          <a:lstStyle/>
          <a:p>
            <a:fld id="{B7E7695C-FCF1-4AA0-9B93-7941FED13DC4}" type="slidenum">
              <a:rPr lang="en-US" smtClean="0"/>
              <a:pPr/>
              <a:t>1</a:t>
            </a:fld>
            <a:endParaRPr lang="en-US" dirty="0"/>
          </a:p>
        </p:txBody>
      </p:sp>
      <p:sp>
        <p:nvSpPr>
          <p:cNvPr id="10" name="Text Placeholder 9">
            <a:extLst>
              <a:ext uri="{FF2B5EF4-FFF2-40B4-BE49-F238E27FC236}">
                <a16:creationId xmlns:a16="http://schemas.microsoft.com/office/drawing/2014/main" id="{CDAA48B9-F369-FA4F-89C1-3D19E388284E}"/>
              </a:ext>
            </a:extLst>
          </p:cNvPr>
          <p:cNvSpPr>
            <a:spLocks noGrp="1"/>
          </p:cNvSpPr>
          <p:nvPr>
            <p:ph type="body" sz="quarter" idx="24"/>
          </p:nvPr>
        </p:nvSpPr>
        <p:spPr/>
        <p:txBody>
          <a:bodyPr/>
          <a:lstStyle/>
          <a:p>
            <a:r>
              <a:rPr lang="en-US" dirty="0"/>
              <a:t>Try Some New ML based Approaches</a:t>
            </a:r>
          </a:p>
        </p:txBody>
      </p:sp>
      <p:sp>
        <p:nvSpPr>
          <p:cNvPr id="11" name="Text Placeholder 10">
            <a:extLst>
              <a:ext uri="{FF2B5EF4-FFF2-40B4-BE49-F238E27FC236}">
                <a16:creationId xmlns:a16="http://schemas.microsoft.com/office/drawing/2014/main" id="{407FC4A7-E490-FC45-B5DF-CC3433D65DDA}"/>
              </a:ext>
            </a:extLst>
          </p:cNvPr>
          <p:cNvSpPr>
            <a:spLocks noGrp="1"/>
          </p:cNvSpPr>
          <p:nvPr>
            <p:ph type="body" sz="quarter" idx="25"/>
          </p:nvPr>
        </p:nvSpPr>
        <p:spPr>
          <a:xfrm>
            <a:off x="342900" y="4070648"/>
            <a:ext cx="11506200" cy="898525"/>
          </a:xfrm>
        </p:spPr>
        <p:txBody>
          <a:bodyPr/>
          <a:lstStyle/>
          <a:p>
            <a:r>
              <a:rPr lang="en-US" dirty="0"/>
              <a:t>Prasun Agarwal, Neema </a:t>
            </a:r>
            <a:r>
              <a:rPr lang="en-US"/>
              <a:t>Davis Kachappilly</a:t>
            </a:r>
            <a:endParaRPr lang="en-US" dirty="0"/>
          </a:p>
        </p:txBody>
      </p:sp>
      <p:sp>
        <p:nvSpPr>
          <p:cNvPr id="9" name="Title 8">
            <a:extLst>
              <a:ext uri="{FF2B5EF4-FFF2-40B4-BE49-F238E27FC236}">
                <a16:creationId xmlns:a16="http://schemas.microsoft.com/office/drawing/2014/main" id="{59FADC46-DAFF-304A-8971-29DE062151CC}"/>
              </a:ext>
            </a:extLst>
          </p:cNvPr>
          <p:cNvSpPr>
            <a:spLocks noGrp="1"/>
          </p:cNvSpPr>
          <p:nvPr>
            <p:ph type="title"/>
          </p:nvPr>
        </p:nvSpPr>
        <p:spPr/>
        <p:txBody>
          <a:bodyPr/>
          <a:lstStyle/>
          <a:p>
            <a:r>
              <a:rPr lang="en-US" dirty="0"/>
              <a:t>MAV Waveform Detection</a:t>
            </a:r>
          </a:p>
        </p:txBody>
      </p:sp>
    </p:spTree>
    <p:extLst>
      <p:ext uri="{BB962C8B-B14F-4D97-AF65-F5344CB8AC3E}">
        <p14:creationId xmlns:p14="http://schemas.microsoft.com/office/powerpoint/2010/main" val="2820348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7E4FEC-50CC-B34E-885E-3C256BF846AA}"/>
              </a:ext>
            </a:extLst>
          </p:cNvPr>
          <p:cNvSpPr>
            <a:spLocks noGrp="1"/>
          </p:cNvSpPr>
          <p:nvPr>
            <p:ph type="title"/>
          </p:nvPr>
        </p:nvSpPr>
        <p:spPr>
          <a:xfrm>
            <a:off x="250432" y="242397"/>
            <a:ext cx="11506200" cy="590931"/>
          </a:xfrm>
        </p:spPr>
        <p:txBody>
          <a:bodyPr/>
          <a:lstStyle/>
          <a:p>
            <a:r>
              <a:rPr lang="en-US" dirty="0"/>
              <a:t>Results for 1D </a:t>
            </a:r>
            <a:r>
              <a:rPr lang="en-US" dirty="0" err="1"/>
              <a:t>YoLo</a:t>
            </a:r>
            <a:r>
              <a:rPr lang="en-US" dirty="0"/>
              <a:t> V3</a:t>
            </a:r>
          </a:p>
        </p:txBody>
      </p:sp>
      <p:sp>
        <p:nvSpPr>
          <p:cNvPr id="3" name="Slide Number Placeholder 2">
            <a:extLst>
              <a:ext uri="{FF2B5EF4-FFF2-40B4-BE49-F238E27FC236}">
                <a16:creationId xmlns:a16="http://schemas.microsoft.com/office/drawing/2014/main" id="{1A1655DE-D8D3-6E40-A5E0-0DC592BB31B6}"/>
              </a:ext>
            </a:extLst>
          </p:cNvPr>
          <p:cNvSpPr>
            <a:spLocks noGrp="1"/>
          </p:cNvSpPr>
          <p:nvPr>
            <p:ph type="sldNum" sz="quarter" idx="12"/>
          </p:nvPr>
        </p:nvSpPr>
        <p:spPr>
          <a:xfrm>
            <a:off x="11255731" y="221540"/>
            <a:ext cx="587019" cy="230832"/>
          </a:xfrm>
        </p:spPr>
        <p:txBody>
          <a:bodyPr/>
          <a:lstStyle/>
          <a:p>
            <a:fld id="{B7E7695C-FCF1-4AA0-9B93-7941FED13DC4}" type="slidenum">
              <a:rPr lang="en-US" smtClean="0"/>
              <a:pPr/>
              <a:t>2</a:t>
            </a:fld>
            <a:endParaRPr lang="en-US" dirty="0"/>
          </a:p>
        </p:txBody>
      </p:sp>
      <p:sp>
        <p:nvSpPr>
          <p:cNvPr id="13" name="Content Placeholder 12">
            <a:extLst>
              <a:ext uri="{FF2B5EF4-FFF2-40B4-BE49-F238E27FC236}">
                <a16:creationId xmlns:a16="http://schemas.microsoft.com/office/drawing/2014/main" id="{79926FF2-21C4-6349-9174-204639A32F21}"/>
              </a:ext>
            </a:extLst>
          </p:cNvPr>
          <p:cNvSpPr>
            <a:spLocks noGrp="1"/>
          </p:cNvSpPr>
          <p:nvPr>
            <p:ph sz="quarter" idx="29"/>
          </p:nvPr>
        </p:nvSpPr>
        <p:spPr>
          <a:xfrm>
            <a:off x="250432" y="854185"/>
            <a:ext cx="11506200" cy="5782275"/>
          </a:xfrm>
        </p:spPr>
        <p:txBody>
          <a:bodyPr>
            <a:normAutofit fontScale="92500" lnSpcReduction="10000"/>
          </a:bodyPr>
          <a:lstStyle/>
          <a:p>
            <a:pPr>
              <a:buFont typeface="Arial" panose="020B0604020202020204" pitchFamily="34" charset="0"/>
              <a:buChar char="•"/>
            </a:pPr>
            <a:r>
              <a:rPr lang="en-US" b="1" dirty="0"/>
              <a:t>Approach:</a:t>
            </a:r>
          </a:p>
          <a:p>
            <a:pPr lvl="1">
              <a:buFont typeface="Arial" panose="020B0604020202020204" pitchFamily="34" charset="0"/>
              <a:buChar char="•"/>
            </a:pPr>
            <a:r>
              <a:rPr lang="en-US" b="1" dirty="0"/>
              <a:t>1D Yolo V3 and Resnet</a:t>
            </a:r>
            <a:r>
              <a:rPr lang="en-US" dirty="0"/>
              <a:t> architecture.</a:t>
            </a:r>
          </a:p>
          <a:p>
            <a:pPr lvl="1">
              <a:buFont typeface="Arial" panose="020B0604020202020204" pitchFamily="34" charset="0"/>
              <a:buChar char="•"/>
            </a:pPr>
            <a:r>
              <a:rPr lang="en-US" b="1" dirty="0"/>
              <a:t>Detection based algorithm</a:t>
            </a:r>
            <a:r>
              <a:rPr lang="en-US" dirty="0"/>
              <a:t> which uses bounding windows for detection.</a:t>
            </a:r>
          </a:p>
          <a:p>
            <a:pPr lvl="1">
              <a:buFont typeface="Arial" panose="020B0604020202020204" pitchFamily="34" charset="0"/>
              <a:buChar char="•"/>
            </a:pPr>
            <a:r>
              <a:rPr lang="en-US" dirty="0"/>
              <a:t>The input data is a </a:t>
            </a:r>
            <a:r>
              <a:rPr lang="en-US" b="1" dirty="0"/>
              <a:t>waveform, the start of ramp and the width of the ramp.</a:t>
            </a:r>
          </a:p>
          <a:p>
            <a:pPr lvl="1">
              <a:buFont typeface="Arial" panose="020B0604020202020204" pitchFamily="34" charset="0"/>
              <a:buChar char="•"/>
            </a:pPr>
            <a:r>
              <a:rPr lang="en-US" b="1" dirty="0"/>
              <a:t>Output </a:t>
            </a:r>
            <a:r>
              <a:rPr lang="en-US" dirty="0"/>
              <a:t>data is to predict at which point the ramp starts and the corresponding width associated with it.</a:t>
            </a:r>
          </a:p>
          <a:p>
            <a:pPr lvl="1">
              <a:buFont typeface="Arial" panose="020B0604020202020204" pitchFamily="34" charset="0"/>
              <a:buChar char="•"/>
            </a:pPr>
            <a:endParaRPr lang="en-US" dirty="0"/>
          </a:p>
          <a:p>
            <a:pPr>
              <a:buFont typeface="Arial" panose="020B0604020202020204" pitchFamily="34" charset="0"/>
              <a:buChar char="•"/>
            </a:pPr>
            <a:r>
              <a:rPr lang="en-US" sz="2100" b="1" dirty="0"/>
              <a:t>Experiments:</a:t>
            </a:r>
            <a:endParaRPr lang="en-US" dirty="0"/>
          </a:p>
          <a:p>
            <a:pPr lvl="2">
              <a:buFont typeface="Arial" panose="020B0604020202020204" pitchFamily="34" charset="0"/>
              <a:buChar char="•"/>
            </a:pPr>
            <a:r>
              <a:rPr lang="en-US" sz="1800" dirty="0"/>
              <a:t>Different </a:t>
            </a:r>
            <a:r>
              <a:rPr lang="en-US" sz="1800" b="1" dirty="0"/>
              <a:t>batch sizes </a:t>
            </a:r>
            <a:r>
              <a:rPr lang="en-US" sz="1800" dirty="0"/>
              <a:t>(1, 8 and 16)</a:t>
            </a:r>
          </a:p>
          <a:p>
            <a:pPr lvl="2">
              <a:buFont typeface="Arial" panose="020B0604020202020204" pitchFamily="34" charset="0"/>
              <a:buChar char="•"/>
            </a:pPr>
            <a:r>
              <a:rPr lang="en-US" sz="1800" dirty="0"/>
              <a:t>Different </a:t>
            </a:r>
            <a:r>
              <a:rPr lang="en-US" sz="1800" b="1" dirty="0"/>
              <a:t>loss functions </a:t>
            </a:r>
            <a:r>
              <a:rPr lang="en-US" sz="1800" dirty="0"/>
              <a:t>(Yolo made custom loss function)</a:t>
            </a:r>
          </a:p>
          <a:p>
            <a:pPr lvl="2">
              <a:buFont typeface="Arial" panose="020B0604020202020204" pitchFamily="34" charset="0"/>
              <a:buChar char="•"/>
            </a:pPr>
            <a:r>
              <a:rPr lang="en-US" sz="1800" dirty="0"/>
              <a:t>Different </a:t>
            </a:r>
            <a:r>
              <a:rPr lang="en-US" sz="1800" b="1" dirty="0"/>
              <a:t>optimizers</a:t>
            </a:r>
            <a:r>
              <a:rPr lang="en-US" sz="1800" dirty="0"/>
              <a:t> (Adam, Rms Prop)</a:t>
            </a:r>
          </a:p>
          <a:p>
            <a:pPr lvl="2">
              <a:buFont typeface="Arial" panose="020B0604020202020204" pitchFamily="34" charset="0"/>
              <a:buChar char="•"/>
            </a:pPr>
            <a:r>
              <a:rPr lang="en-US" sz="1800" dirty="0"/>
              <a:t>Different </a:t>
            </a:r>
            <a:r>
              <a:rPr lang="en-US" sz="1800" b="1" dirty="0"/>
              <a:t>activation</a:t>
            </a:r>
            <a:r>
              <a:rPr lang="en-US" sz="1800" dirty="0"/>
              <a:t> functions (Sigmoid, Swish)</a:t>
            </a:r>
          </a:p>
          <a:p>
            <a:pPr lvl="2">
              <a:buFont typeface="Arial" panose="020B0604020202020204" pitchFamily="34" charset="0"/>
              <a:buChar char="•"/>
            </a:pPr>
            <a:r>
              <a:rPr lang="en-US" sz="1800" dirty="0"/>
              <a:t>Diving images into set of consecutive </a:t>
            </a:r>
            <a:r>
              <a:rPr lang="en-US" sz="1800" b="1" dirty="0"/>
              <a:t>10,000 points.</a:t>
            </a:r>
          </a:p>
          <a:p>
            <a:pPr lvl="2">
              <a:buFont typeface="Arial" panose="020B0604020202020204" pitchFamily="34" charset="0"/>
              <a:buChar char="•"/>
            </a:pPr>
            <a:r>
              <a:rPr lang="en-US" sz="1800" dirty="0"/>
              <a:t>Reducing the </a:t>
            </a:r>
            <a:r>
              <a:rPr lang="en-US" sz="1800" b="1" dirty="0"/>
              <a:t>complexity of network architecture</a:t>
            </a:r>
            <a:r>
              <a:rPr lang="en-US" sz="1800" dirty="0"/>
              <a:t>.</a:t>
            </a:r>
          </a:p>
          <a:p>
            <a:pPr lvl="2">
              <a:buFont typeface="Arial" panose="020B0604020202020204" pitchFamily="34" charset="0"/>
              <a:buChar char="•"/>
            </a:pPr>
            <a:endParaRPr lang="en-US" sz="1800" dirty="0"/>
          </a:p>
          <a:p>
            <a:pPr>
              <a:buFont typeface="Arial" panose="020B0604020202020204" pitchFamily="34" charset="0"/>
              <a:buChar char="•"/>
            </a:pPr>
            <a:r>
              <a:rPr lang="en-US" b="1" dirty="0"/>
              <a:t>Conclusions</a:t>
            </a:r>
            <a:r>
              <a:rPr lang="en-US" dirty="0"/>
              <a:t>:</a:t>
            </a:r>
          </a:p>
          <a:p>
            <a:pPr lvl="2">
              <a:buFont typeface="Arial" panose="020B0604020202020204" pitchFamily="34" charset="0"/>
              <a:buChar char="•"/>
            </a:pPr>
            <a:r>
              <a:rPr lang="en-US" sz="1800" dirty="0"/>
              <a:t>The model was </a:t>
            </a:r>
            <a:r>
              <a:rPr lang="en-US" sz="1800" b="1" dirty="0"/>
              <a:t>not able to learn well. </a:t>
            </a:r>
            <a:r>
              <a:rPr lang="en-US" sz="1800" dirty="0"/>
              <a:t>It gave a lot of false predictions.</a:t>
            </a:r>
          </a:p>
          <a:p>
            <a:pPr lvl="2">
              <a:buFont typeface="Arial" panose="020B0604020202020204" pitchFamily="34" charset="0"/>
              <a:buChar char="•"/>
            </a:pPr>
            <a:r>
              <a:rPr lang="en-US" sz="1800" dirty="0"/>
              <a:t>From the results it can be seen </a:t>
            </a:r>
            <a:r>
              <a:rPr lang="en-US" sz="1800" b="1" dirty="0"/>
              <a:t>that loss is not converging </a:t>
            </a:r>
            <a:r>
              <a:rPr lang="en-US" sz="1800" dirty="0"/>
              <a:t>and becomes stagnant at a point.</a:t>
            </a:r>
          </a:p>
          <a:p>
            <a:pPr lvl="2">
              <a:buFont typeface="Arial" panose="020B0604020202020204" pitchFamily="34" charset="0"/>
              <a:buChar char="•"/>
            </a:pPr>
            <a:r>
              <a:rPr lang="en-US" sz="1800" dirty="0"/>
              <a:t>Reasons anticipated are that the data is </a:t>
            </a:r>
            <a:r>
              <a:rPr lang="en-US" sz="1800" b="1" dirty="0"/>
              <a:t>highly imbalanced </a:t>
            </a:r>
            <a:r>
              <a:rPr lang="en-US" sz="1800" dirty="0"/>
              <a:t>(only 5-6 ramps are there per 12,80,000 points)</a:t>
            </a:r>
          </a:p>
          <a:p>
            <a:pPr lvl="2">
              <a:buFont typeface="Arial" panose="020B0604020202020204" pitchFamily="34" charset="0"/>
              <a:buChar char="•"/>
            </a:pPr>
            <a:r>
              <a:rPr lang="en-US" sz="1800" dirty="0"/>
              <a:t>These imbalances make it </a:t>
            </a:r>
            <a:r>
              <a:rPr lang="en-US" sz="1800" b="1" dirty="0"/>
              <a:t>difficult for a model to learn </a:t>
            </a:r>
            <a:r>
              <a:rPr lang="en-US" sz="1800" dirty="0"/>
              <a:t>and produce desired outcomes.</a:t>
            </a:r>
          </a:p>
          <a:p>
            <a:pPr lvl="2">
              <a:buFont typeface="Arial" panose="020B0604020202020204" pitchFamily="34" charset="0"/>
              <a:buChar char="•"/>
            </a:pPr>
            <a:r>
              <a:rPr lang="en-US" sz="1800" dirty="0"/>
              <a:t>Instead, we end up predicting </a:t>
            </a:r>
            <a:r>
              <a:rPr lang="en-US" sz="1800" b="1" dirty="0"/>
              <a:t>Junk results</a:t>
            </a:r>
            <a:r>
              <a:rPr lang="en-US" sz="1800" dirty="0"/>
              <a:t>.</a:t>
            </a:r>
          </a:p>
          <a:p>
            <a:pPr lvl="2">
              <a:buFont typeface="Arial" panose="020B0604020202020204" pitchFamily="34" charset="0"/>
              <a:buChar char="•"/>
            </a:pPr>
            <a:endParaRPr lang="en-US" dirty="0"/>
          </a:p>
        </p:txBody>
      </p:sp>
    </p:spTree>
    <p:extLst>
      <p:ext uri="{BB962C8B-B14F-4D97-AF65-F5344CB8AC3E}">
        <p14:creationId xmlns:p14="http://schemas.microsoft.com/office/powerpoint/2010/main" val="2215879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3D8F-EA04-42A0-4D2A-827FF48403DD}"/>
              </a:ext>
            </a:extLst>
          </p:cNvPr>
          <p:cNvSpPr>
            <a:spLocks noGrp="1"/>
          </p:cNvSpPr>
          <p:nvPr>
            <p:ph type="title"/>
          </p:nvPr>
        </p:nvSpPr>
        <p:spPr>
          <a:xfrm>
            <a:off x="244070" y="309980"/>
            <a:ext cx="11506200" cy="590931"/>
          </a:xfrm>
        </p:spPr>
        <p:txBody>
          <a:bodyPr/>
          <a:lstStyle/>
          <a:p>
            <a:r>
              <a:rPr lang="en-US" dirty="0"/>
              <a:t>Results for Yolo V3</a:t>
            </a:r>
          </a:p>
        </p:txBody>
      </p:sp>
      <p:sp>
        <p:nvSpPr>
          <p:cNvPr id="3" name="Slide Number Placeholder 2">
            <a:extLst>
              <a:ext uri="{FF2B5EF4-FFF2-40B4-BE49-F238E27FC236}">
                <a16:creationId xmlns:a16="http://schemas.microsoft.com/office/drawing/2014/main" id="{3877360D-FF32-F719-45E4-B532528C8B2B}"/>
              </a:ext>
            </a:extLst>
          </p:cNvPr>
          <p:cNvSpPr>
            <a:spLocks noGrp="1"/>
          </p:cNvSpPr>
          <p:nvPr>
            <p:ph type="sldNum" sz="quarter" idx="12"/>
          </p:nvPr>
        </p:nvSpPr>
        <p:spPr/>
        <p:txBody>
          <a:bodyPr/>
          <a:lstStyle/>
          <a:p>
            <a:fld id="{B7E7695C-FCF1-4AA0-9B93-7941FED13DC4}" type="slidenum">
              <a:rPr lang="en-US" smtClean="0"/>
              <a:pPr/>
              <a:t>3</a:t>
            </a:fld>
            <a:endParaRPr lang="en-US" dirty="0"/>
          </a:p>
        </p:txBody>
      </p:sp>
      <p:pic>
        <p:nvPicPr>
          <p:cNvPr id="7" name="Picture 6">
            <a:extLst>
              <a:ext uri="{FF2B5EF4-FFF2-40B4-BE49-F238E27FC236}">
                <a16:creationId xmlns:a16="http://schemas.microsoft.com/office/drawing/2014/main" id="{9E53281B-5BA2-639F-3F3E-091141DA20F3}"/>
              </a:ext>
            </a:extLst>
          </p:cNvPr>
          <p:cNvPicPr>
            <a:picLocks noChangeAspect="1"/>
          </p:cNvPicPr>
          <p:nvPr/>
        </p:nvPicPr>
        <p:blipFill>
          <a:blip r:embed="rId2"/>
          <a:stretch>
            <a:fillRect/>
          </a:stretch>
        </p:blipFill>
        <p:spPr>
          <a:xfrm>
            <a:off x="2402910" y="927300"/>
            <a:ext cx="2521182" cy="1536827"/>
          </a:xfrm>
          <a:prstGeom prst="rect">
            <a:avLst/>
          </a:prstGeom>
        </p:spPr>
      </p:pic>
      <p:sp>
        <p:nvSpPr>
          <p:cNvPr id="10" name="TextBox 9">
            <a:extLst>
              <a:ext uri="{FF2B5EF4-FFF2-40B4-BE49-F238E27FC236}">
                <a16:creationId xmlns:a16="http://schemas.microsoft.com/office/drawing/2014/main" id="{D59D1185-492F-C461-C38E-5D2E8FCC1612}"/>
              </a:ext>
            </a:extLst>
          </p:cNvPr>
          <p:cNvSpPr txBox="1"/>
          <p:nvPr/>
        </p:nvSpPr>
        <p:spPr>
          <a:xfrm>
            <a:off x="301241" y="1053694"/>
            <a:ext cx="2249353"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Batch Size 8</a:t>
            </a:r>
          </a:p>
          <a:p>
            <a:pPr marL="285750" indent="-285750">
              <a:buFont typeface="Arial" panose="020B0604020202020204" pitchFamily="34" charset="0"/>
              <a:buChar char="•"/>
            </a:pPr>
            <a:r>
              <a:rPr lang="en-US" b="1" dirty="0"/>
              <a:t>No resizing</a:t>
            </a:r>
          </a:p>
          <a:p>
            <a:pPr marL="285750" indent="-285750">
              <a:buFont typeface="Arial" panose="020B0604020202020204" pitchFamily="34" charset="0"/>
              <a:buChar char="•"/>
            </a:pPr>
            <a:r>
              <a:rPr lang="en-US" b="1" dirty="0"/>
              <a:t>No scheduler</a:t>
            </a:r>
          </a:p>
        </p:txBody>
      </p:sp>
      <p:pic>
        <p:nvPicPr>
          <p:cNvPr id="12" name="Picture 11">
            <a:extLst>
              <a:ext uri="{FF2B5EF4-FFF2-40B4-BE49-F238E27FC236}">
                <a16:creationId xmlns:a16="http://schemas.microsoft.com/office/drawing/2014/main" id="{E034281F-CDF2-2C8C-57E2-1620AE384A42}"/>
              </a:ext>
            </a:extLst>
          </p:cNvPr>
          <p:cNvPicPr>
            <a:picLocks noChangeAspect="1"/>
          </p:cNvPicPr>
          <p:nvPr/>
        </p:nvPicPr>
        <p:blipFill>
          <a:blip r:embed="rId3"/>
          <a:stretch>
            <a:fillRect/>
          </a:stretch>
        </p:blipFill>
        <p:spPr>
          <a:xfrm>
            <a:off x="2430327" y="2897493"/>
            <a:ext cx="2575003" cy="1642575"/>
          </a:xfrm>
          <a:prstGeom prst="rect">
            <a:avLst/>
          </a:prstGeom>
        </p:spPr>
      </p:pic>
      <p:pic>
        <p:nvPicPr>
          <p:cNvPr id="14" name="Picture 13">
            <a:extLst>
              <a:ext uri="{FF2B5EF4-FFF2-40B4-BE49-F238E27FC236}">
                <a16:creationId xmlns:a16="http://schemas.microsoft.com/office/drawing/2014/main" id="{892BD082-5216-44E3-34ED-8FD0AB4EC363}"/>
              </a:ext>
            </a:extLst>
          </p:cNvPr>
          <p:cNvPicPr>
            <a:picLocks noChangeAspect="1"/>
          </p:cNvPicPr>
          <p:nvPr/>
        </p:nvPicPr>
        <p:blipFill>
          <a:blip r:embed="rId4"/>
          <a:stretch>
            <a:fillRect/>
          </a:stretch>
        </p:blipFill>
        <p:spPr>
          <a:xfrm>
            <a:off x="5260289" y="927300"/>
            <a:ext cx="2433154" cy="1711425"/>
          </a:xfrm>
          <a:prstGeom prst="rect">
            <a:avLst/>
          </a:prstGeom>
        </p:spPr>
      </p:pic>
      <p:pic>
        <p:nvPicPr>
          <p:cNvPr id="16" name="Picture 15">
            <a:extLst>
              <a:ext uri="{FF2B5EF4-FFF2-40B4-BE49-F238E27FC236}">
                <a16:creationId xmlns:a16="http://schemas.microsoft.com/office/drawing/2014/main" id="{3139EE75-3FCA-4588-4458-DACA0186C0B8}"/>
              </a:ext>
            </a:extLst>
          </p:cNvPr>
          <p:cNvPicPr>
            <a:picLocks noChangeAspect="1"/>
          </p:cNvPicPr>
          <p:nvPr/>
        </p:nvPicPr>
        <p:blipFill>
          <a:blip r:embed="rId5"/>
          <a:stretch>
            <a:fillRect/>
          </a:stretch>
        </p:blipFill>
        <p:spPr>
          <a:xfrm>
            <a:off x="8029640" y="927300"/>
            <a:ext cx="2433154" cy="1709088"/>
          </a:xfrm>
          <a:prstGeom prst="rect">
            <a:avLst/>
          </a:prstGeom>
        </p:spPr>
      </p:pic>
      <p:pic>
        <p:nvPicPr>
          <p:cNvPr id="18" name="Picture 17">
            <a:extLst>
              <a:ext uri="{FF2B5EF4-FFF2-40B4-BE49-F238E27FC236}">
                <a16:creationId xmlns:a16="http://schemas.microsoft.com/office/drawing/2014/main" id="{59CB678A-DDB2-EB88-6FD8-DCF39C46CABC}"/>
              </a:ext>
            </a:extLst>
          </p:cNvPr>
          <p:cNvPicPr>
            <a:picLocks noChangeAspect="1"/>
          </p:cNvPicPr>
          <p:nvPr/>
        </p:nvPicPr>
        <p:blipFill>
          <a:blip r:embed="rId6"/>
          <a:stretch>
            <a:fillRect/>
          </a:stretch>
        </p:blipFill>
        <p:spPr>
          <a:xfrm>
            <a:off x="5296903" y="2897493"/>
            <a:ext cx="2575003" cy="1689965"/>
          </a:xfrm>
          <a:prstGeom prst="rect">
            <a:avLst/>
          </a:prstGeom>
        </p:spPr>
      </p:pic>
      <p:sp>
        <p:nvSpPr>
          <p:cNvPr id="21" name="TextBox 20">
            <a:extLst>
              <a:ext uri="{FF2B5EF4-FFF2-40B4-BE49-F238E27FC236}">
                <a16:creationId xmlns:a16="http://schemas.microsoft.com/office/drawing/2014/main" id="{8F862A48-39C9-4543-1B63-F16A0BD05708}"/>
              </a:ext>
            </a:extLst>
          </p:cNvPr>
          <p:cNvSpPr txBox="1"/>
          <p:nvPr/>
        </p:nvSpPr>
        <p:spPr>
          <a:xfrm>
            <a:off x="244070" y="2906373"/>
            <a:ext cx="2306524"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t>Batch Size 1</a:t>
            </a:r>
          </a:p>
          <a:p>
            <a:pPr marL="285750" indent="-285750">
              <a:buFont typeface="Arial" panose="020B0604020202020204" pitchFamily="34" charset="0"/>
              <a:buChar char="•"/>
            </a:pPr>
            <a:r>
              <a:rPr lang="en-US" b="1" dirty="0"/>
              <a:t>Down sampling</a:t>
            </a:r>
          </a:p>
          <a:p>
            <a:pPr marL="285750" indent="-285750">
              <a:buFont typeface="Arial" panose="020B0604020202020204" pitchFamily="34" charset="0"/>
              <a:buChar char="•"/>
            </a:pPr>
            <a:r>
              <a:rPr lang="en-US" b="1" dirty="0"/>
              <a:t>LR/ Exponential scheduler</a:t>
            </a:r>
          </a:p>
        </p:txBody>
      </p:sp>
      <p:sp>
        <p:nvSpPr>
          <p:cNvPr id="22" name="TextBox 21">
            <a:extLst>
              <a:ext uri="{FF2B5EF4-FFF2-40B4-BE49-F238E27FC236}">
                <a16:creationId xmlns:a16="http://schemas.microsoft.com/office/drawing/2014/main" id="{2C794062-0772-77A0-FC5D-DE90C40E7B22}"/>
              </a:ext>
            </a:extLst>
          </p:cNvPr>
          <p:cNvSpPr txBox="1"/>
          <p:nvPr/>
        </p:nvSpPr>
        <p:spPr>
          <a:xfrm>
            <a:off x="301241" y="4802395"/>
            <a:ext cx="2652419"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t>Batch Size 4</a:t>
            </a:r>
          </a:p>
          <a:p>
            <a:pPr marL="285750" indent="-285750">
              <a:buFont typeface="Arial" panose="020B0604020202020204" pitchFamily="34" charset="0"/>
              <a:buChar char="•"/>
            </a:pPr>
            <a:r>
              <a:rPr lang="en-US" b="1" dirty="0"/>
              <a:t>10,000 points</a:t>
            </a:r>
          </a:p>
          <a:p>
            <a:pPr marL="285750" indent="-285750">
              <a:buFont typeface="Arial" panose="020B0604020202020204" pitchFamily="34" charset="0"/>
              <a:buChar char="•"/>
            </a:pPr>
            <a:r>
              <a:rPr lang="en-US" b="1" dirty="0"/>
              <a:t>Down sampling</a:t>
            </a:r>
          </a:p>
          <a:p>
            <a:pPr marL="285750" indent="-285750">
              <a:buFont typeface="Arial" panose="020B0604020202020204" pitchFamily="34" charset="0"/>
              <a:buChar char="•"/>
            </a:pPr>
            <a:r>
              <a:rPr lang="en-US" b="1" dirty="0"/>
              <a:t> LR/ Exponential scheduler</a:t>
            </a:r>
          </a:p>
          <a:p>
            <a:pPr marL="285750" indent="-285750">
              <a:buFont typeface="Arial" panose="020B0604020202020204" pitchFamily="34" charset="0"/>
              <a:buChar char="•"/>
            </a:pPr>
            <a:endParaRPr lang="en-US" b="1" dirty="0"/>
          </a:p>
        </p:txBody>
      </p:sp>
      <p:pic>
        <p:nvPicPr>
          <p:cNvPr id="24" name="Picture 23">
            <a:extLst>
              <a:ext uri="{FF2B5EF4-FFF2-40B4-BE49-F238E27FC236}">
                <a16:creationId xmlns:a16="http://schemas.microsoft.com/office/drawing/2014/main" id="{D27DB813-728C-E6CB-50A2-755EA7537DE8}"/>
              </a:ext>
            </a:extLst>
          </p:cNvPr>
          <p:cNvPicPr>
            <a:picLocks noChangeAspect="1"/>
          </p:cNvPicPr>
          <p:nvPr/>
        </p:nvPicPr>
        <p:blipFill>
          <a:blip r:embed="rId7"/>
          <a:stretch>
            <a:fillRect/>
          </a:stretch>
        </p:blipFill>
        <p:spPr>
          <a:xfrm>
            <a:off x="5316193" y="4955312"/>
            <a:ext cx="2321345" cy="1541489"/>
          </a:xfrm>
          <a:prstGeom prst="rect">
            <a:avLst/>
          </a:prstGeom>
        </p:spPr>
      </p:pic>
      <p:pic>
        <p:nvPicPr>
          <p:cNvPr id="26" name="Picture 25">
            <a:extLst>
              <a:ext uri="{FF2B5EF4-FFF2-40B4-BE49-F238E27FC236}">
                <a16:creationId xmlns:a16="http://schemas.microsoft.com/office/drawing/2014/main" id="{30048636-444B-619F-22D8-B31848D0A023}"/>
              </a:ext>
            </a:extLst>
          </p:cNvPr>
          <p:cNvPicPr>
            <a:picLocks noChangeAspect="1"/>
          </p:cNvPicPr>
          <p:nvPr/>
        </p:nvPicPr>
        <p:blipFill>
          <a:blip r:embed="rId8"/>
          <a:stretch>
            <a:fillRect/>
          </a:stretch>
        </p:blipFill>
        <p:spPr>
          <a:xfrm>
            <a:off x="8087942" y="4895394"/>
            <a:ext cx="2491991" cy="1661327"/>
          </a:xfrm>
          <a:prstGeom prst="rect">
            <a:avLst/>
          </a:prstGeom>
        </p:spPr>
      </p:pic>
      <p:pic>
        <p:nvPicPr>
          <p:cNvPr id="28" name="Picture 27">
            <a:extLst>
              <a:ext uri="{FF2B5EF4-FFF2-40B4-BE49-F238E27FC236}">
                <a16:creationId xmlns:a16="http://schemas.microsoft.com/office/drawing/2014/main" id="{4193F602-0AC4-4815-3119-C4E343E4C93C}"/>
              </a:ext>
            </a:extLst>
          </p:cNvPr>
          <p:cNvPicPr>
            <a:picLocks noChangeAspect="1"/>
          </p:cNvPicPr>
          <p:nvPr/>
        </p:nvPicPr>
        <p:blipFill>
          <a:blip r:embed="rId9"/>
          <a:stretch>
            <a:fillRect/>
          </a:stretch>
        </p:blipFill>
        <p:spPr>
          <a:xfrm>
            <a:off x="2507362" y="4973434"/>
            <a:ext cx="2416730" cy="1563602"/>
          </a:xfrm>
          <a:prstGeom prst="rect">
            <a:avLst/>
          </a:prstGeom>
        </p:spPr>
      </p:pic>
    </p:spTree>
    <p:extLst>
      <p:ext uri="{BB962C8B-B14F-4D97-AF65-F5344CB8AC3E}">
        <p14:creationId xmlns:p14="http://schemas.microsoft.com/office/powerpoint/2010/main" val="1032696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67DB495-B691-8345-8C64-900C0C683F31}"/>
              </a:ext>
            </a:extLst>
          </p:cNvPr>
          <p:cNvSpPr>
            <a:spLocks noGrp="1"/>
          </p:cNvSpPr>
          <p:nvPr>
            <p:ph type="title"/>
          </p:nvPr>
        </p:nvSpPr>
        <p:spPr/>
        <p:txBody>
          <a:bodyPr/>
          <a:lstStyle/>
          <a:p>
            <a:r>
              <a:rPr lang="en-US" dirty="0"/>
              <a:t>New Project Ideas for Waveform Detection</a:t>
            </a:r>
          </a:p>
        </p:txBody>
      </p:sp>
      <p:sp>
        <p:nvSpPr>
          <p:cNvPr id="3" name="Slide Number Placeholder 2">
            <a:extLst>
              <a:ext uri="{FF2B5EF4-FFF2-40B4-BE49-F238E27FC236}">
                <a16:creationId xmlns:a16="http://schemas.microsoft.com/office/drawing/2014/main" id="{5EFEBE4D-4F1A-354D-B95B-D8265002FEC4}"/>
              </a:ext>
            </a:extLst>
          </p:cNvPr>
          <p:cNvSpPr>
            <a:spLocks noGrp="1"/>
          </p:cNvSpPr>
          <p:nvPr>
            <p:ph type="sldNum" sz="quarter" idx="12"/>
          </p:nvPr>
        </p:nvSpPr>
        <p:spPr>
          <a:xfrm>
            <a:off x="11255731" y="221540"/>
            <a:ext cx="587019" cy="230832"/>
          </a:xfrm>
        </p:spPr>
        <p:txBody>
          <a:bodyPr/>
          <a:lstStyle/>
          <a:p>
            <a:fld id="{B7E7695C-FCF1-4AA0-9B93-7941FED13DC4}" type="slidenum">
              <a:rPr lang="en-US" smtClean="0"/>
              <a:pPr/>
              <a:t>4</a:t>
            </a:fld>
            <a:endParaRPr lang="en-US" dirty="0"/>
          </a:p>
        </p:txBody>
      </p:sp>
      <p:sp>
        <p:nvSpPr>
          <p:cNvPr id="15" name="Content Placeholder 14">
            <a:extLst>
              <a:ext uri="{FF2B5EF4-FFF2-40B4-BE49-F238E27FC236}">
                <a16:creationId xmlns:a16="http://schemas.microsoft.com/office/drawing/2014/main" id="{A38A3011-F89D-4B4D-AE90-BCD19C65D4CF}"/>
              </a:ext>
            </a:extLst>
          </p:cNvPr>
          <p:cNvSpPr>
            <a:spLocks noGrp="1"/>
          </p:cNvSpPr>
          <p:nvPr>
            <p:ph sz="quarter" idx="28"/>
          </p:nvPr>
        </p:nvSpPr>
        <p:spPr>
          <a:xfrm>
            <a:off x="342900" y="1212722"/>
            <a:ext cx="11506200" cy="4703272"/>
          </a:xfrm>
        </p:spPr>
        <p:txBody>
          <a:bodyPr/>
          <a:lstStyle/>
          <a:p>
            <a:r>
              <a:rPr lang="en-US" sz="2400" dirty="0"/>
              <a:t>The Yolo </a:t>
            </a:r>
            <a:r>
              <a:rPr lang="en-US" sz="2400" b="1" dirty="0"/>
              <a:t>architecture is too complex.</a:t>
            </a:r>
          </a:p>
          <a:p>
            <a:r>
              <a:rPr lang="en-US" sz="2400" dirty="0"/>
              <a:t>Try with a </a:t>
            </a:r>
            <a:r>
              <a:rPr lang="en-US" sz="2400" b="1" dirty="0"/>
              <a:t>simple CNN </a:t>
            </a:r>
            <a:r>
              <a:rPr lang="en-US" sz="2400" dirty="0"/>
              <a:t>based Detection model.</a:t>
            </a:r>
          </a:p>
          <a:p>
            <a:r>
              <a:rPr lang="en-US" sz="2400" b="1" dirty="0"/>
              <a:t>LSTM</a:t>
            </a:r>
            <a:r>
              <a:rPr lang="en-US" sz="2400" dirty="0"/>
              <a:t> based model</a:t>
            </a:r>
          </a:p>
          <a:p>
            <a:r>
              <a:rPr lang="en-US" sz="2400" dirty="0"/>
              <a:t>Convert the problem into a </a:t>
            </a:r>
            <a:r>
              <a:rPr lang="en-US" sz="2400" b="1" dirty="0"/>
              <a:t>classification problem </a:t>
            </a:r>
            <a:r>
              <a:rPr lang="en-US" sz="2400" dirty="0"/>
              <a:t>(classify for each small image if it has a ramp or not).</a:t>
            </a:r>
          </a:p>
          <a:p>
            <a:r>
              <a:rPr lang="en-US" sz="2400" dirty="0"/>
              <a:t>Try </a:t>
            </a:r>
            <a:r>
              <a:rPr lang="en-US" sz="2400" b="1" dirty="0"/>
              <a:t>Open CV based techniques </a:t>
            </a:r>
            <a:r>
              <a:rPr lang="en-US" sz="2400" dirty="0"/>
              <a:t>(Novelty Detection, Time Series Anomaly)</a:t>
            </a:r>
          </a:p>
          <a:p>
            <a:r>
              <a:rPr lang="en-US" sz="2400" b="1" dirty="0"/>
              <a:t>Pattern/Template matching </a:t>
            </a:r>
            <a:r>
              <a:rPr lang="en-US" sz="2400" dirty="0"/>
              <a:t>(Multiscale template matching, normalizing, mean squares etc.)</a:t>
            </a:r>
          </a:p>
          <a:p>
            <a:r>
              <a:rPr lang="en-US" sz="2400" dirty="0"/>
              <a:t>Looking for </a:t>
            </a:r>
            <a:r>
              <a:rPr lang="en-US" sz="2400" b="1" dirty="0"/>
              <a:t>local outliers</a:t>
            </a:r>
            <a:r>
              <a:rPr lang="en-US" sz="2400" dirty="0"/>
              <a:t> (DB Scan, Isolation Forest, </a:t>
            </a:r>
            <a:r>
              <a:rPr lang="en-US" sz="2400" dirty="0" err="1"/>
              <a:t>PyOD</a:t>
            </a:r>
            <a:r>
              <a:rPr lang="en-US" sz="2400" dirty="0"/>
              <a:t>).</a:t>
            </a:r>
          </a:p>
        </p:txBody>
      </p:sp>
    </p:spTree>
    <p:extLst>
      <p:ext uri="{BB962C8B-B14F-4D97-AF65-F5344CB8AC3E}">
        <p14:creationId xmlns:p14="http://schemas.microsoft.com/office/powerpoint/2010/main" val="3000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937C-1281-C7E2-62EA-2CB19E9853EA}"/>
              </a:ext>
            </a:extLst>
          </p:cNvPr>
          <p:cNvSpPr>
            <a:spLocks noGrp="1"/>
          </p:cNvSpPr>
          <p:nvPr>
            <p:ph type="title"/>
          </p:nvPr>
        </p:nvSpPr>
        <p:spPr>
          <a:xfrm>
            <a:off x="342900" y="410157"/>
            <a:ext cx="11506200" cy="590931"/>
          </a:xfrm>
        </p:spPr>
        <p:txBody>
          <a:bodyPr/>
          <a:lstStyle/>
          <a:p>
            <a:r>
              <a:rPr lang="en-US" dirty="0"/>
              <a:t>Results for DB Scan </a:t>
            </a:r>
          </a:p>
        </p:txBody>
      </p:sp>
      <p:sp>
        <p:nvSpPr>
          <p:cNvPr id="3" name="Slide Number Placeholder 2">
            <a:extLst>
              <a:ext uri="{FF2B5EF4-FFF2-40B4-BE49-F238E27FC236}">
                <a16:creationId xmlns:a16="http://schemas.microsoft.com/office/drawing/2014/main" id="{1D2C040A-BA9D-9931-E1C2-3DA91AE89647}"/>
              </a:ext>
            </a:extLst>
          </p:cNvPr>
          <p:cNvSpPr>
            <a:spLocks noGrp="1"/>
          </p:cNvSpPr>
          <p:nvPr>
            <p:ph type="sldNum" sz="quarter" idx="12"/>
          </p:nvPr>
        </p:nvSpPr>
        <p:spPr/>
        <p:txBody>
          <a:bodyPr/>
          <a:lstStyle/>
          <a:p>
            <a:fld id="{B7E7695C-FCF1-4AA0-9B93-7941FED13DC4}" type="slidenum">
              <a:rPr lang="en-US" smtClean="0"/>
              <a:pPr/>
              <a:t>5</a:t>
            </a:fld>
            <a:endParaRPr lang="en-US" dirty="0"/>
          </a:p>
        </p:txBody>
      </p:sp>
      <p:pic>
        <p:nvPicPr>
          <p:cNvPr id="10" name="Picture 9" descr="Rectangle&#10;&#10;Description automatically generated with low confidence">
            <a:extLst>
              <a:ext uri="{FF2B5EF4-FFF2-40B4-BE49-F238E27FC236}">
                <a16:creationId xmlns:a16="http://schemas.microsoft.com/office/drawing/2014/main" id="{690F13AE-899F-F465-BF72-B5E9C8E982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614" y="3682209"/>
            <a:ext cx="3918834" cy="2612556"/>
          </a:xfrm>
          <a:prstGeom prst="rect">
            <a:avLst/>
          </a:prstGeom>
        </p:spPr>
      </p:pic>
      <p:pic>
        <p:nvPicPr>
          <p:cNvPr id="12" name="Picture 11" descr="Chart, histogram&#10;&#10;Description automatically generated">
            <a:extLst>
              <a:ext uri="{FF2B5EF4-FFF2-40B4-BE49-F238E27FC236}">
                <a16:creationId xmlns:a16="http://schemas.microsoft.com/office/drawing/2014/main" id="{17BA6C96-D37D-14AC-DC1B-FD38B9D83A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4229" y="867441"/>
            <a:ext cx="3718707" cy="2479138"/>
          </a:xfrm>
          <a:prstGeom prst="rect">
            <a:avLst/>
          </a:prstGeom>
        </p:spPr>
      </p:pic>
      <p:pic>
        <p:nvPicPr>
          <p:cNvPr id="14" name="Picture 13" descr="Chart, histogram&#10;&#10;Description automatically generated">
            <a:extLst>
              <a:ext uri="{FF2B5EF4-FFF2-40B4-BE49-F238E27FC236}">
                <a16:creationId xmlns:a16="http://schemas.microsoft.com/office/drawing/2014/main" id="{95DDE09E-8CD4-15A8-E987-502A316226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2936" y="830209"/>
            <a:ext cx="3898186" cy="2598791"/>
          </a:xfrm>
          <a:prstGeom prst="rect">
            <a:avLst/>
          </a:prstGeom>
        </p:spPr>
      </p:pic>
      <p:pic>
        <p:nvPicPr>
          <p:cNvPr id="16" name="Picture 15" descr="A picture containing histogram&#10;&#10;Description automatically generated">
            <a:extLst>
              <a:ext uri="{FF2B5EF4-FFF2-40B4-BE49-F238E27FC236}">
                <a16:creationId xmlns:a16="http://schemas.microsoft.com/office/drawing/2014/main" id="{6DA5779E-C3DD-DF7E-E41D-BA98F06DE4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29863" y="3637712"/>
            <a:ext cx="4138140" cy="2758760"/>
          </a:xfrm>
          <a:prstGeom prst="rect">
            <a:avLst/>
          </a:prstGeom>
        </p:spPr>
      </p:pic>
      <p:sp>
        <p:nvSpPr>
          <p:cNvPr id="17" name="TextBox 16">
            <a:extLst>
              <a:ext uri="{FF2B5EF4-FFF2-40B4-BE49-F238E27FC236}">
                <a16:creationId xmlns:a16="http://schemas.microsoft.com/office/drawing/2014/main" id="{0086C3CD-2727-1C2D-75D4-6B2B28F47F3A}"/>
              </a:ext>
            </a:extLst>
          </p:cNvPr>
          <p:cNvSpPr txBox="1"/>
          <p:nvPr/>
        </p:nvSpPr>
        <p:spPr>
          <a:xfrm>
            <a:off x="189216" y="1305668"/>
            <a:ext cx="3509909" cy="4524315"/>
          </a:xfrm>
          <a:prstGeom prst="rect">
            <a:avLst/>
          </a:prstGeom>
          <a:noFill/>
        </p:spPr>
        <p:txBody>
          <a:bodyPr wrap="square" rtlCol="0">
            <a:spAutoFit/>
          </a:bodyPr>
          <a:lstStyle/>
          <a:p>
            <a:pPr marL="285750" indent="-285750">
              <a:buFont typeface="Arial" panose="020B0604020202020204" pitchFamily="34" charset="0"/>
              <a:buChar char="•"/>
            </a:pPr>
            <a:r>
              <a:rPr lang="en-US" b="1" dirty="0"/>
              <a:t>Down sampled </a:t>
            </a:r>
            <a:r>
              <a:rPr lang="en-US" dirty="0"/>
              <a:t>by a factor of 1000.</a:t>
            </a:r>
          </a:p>
          <a:p>
            <a:pPr marL="285750" indent="-285750">
              <a:buFont typeface="Arial" panose="020B0604020202020204" pitchFamily="34" charset="0"/>
              <a:buChar char="•"/>
            </a:pPr>
            <a:r>
              <a:rPr lang="en-US" b="1" dirty="0"/>
              <a:t>Smoothened</a:t>
            </a:r>
            <a:r>
              <a:rPr lang="en-US" dirty="0"/>
              <a:t> using </a:t>
            </a:r>
            <a:r>
              <a:rPr lang="en-US" dirty="0" err="1"/>
              <a:t>savgol</a:t>
            </a:r>
            <a:r>
              <a:rPr lang="en-US" dirty="0"/>
              <a:t> window of 100 size and polynomial order 3</a:t>
            </a:r>
          </a:p>
          <a:p>
            <a:pPr marL="285750" indent="-285750">
              <a:buFont typeface="Arial" panose="020B0604020202020204" pitchFamily="34" charset="0"/>
              <a:buChar char="•"/>
            </a:pPr>
            <a:r>
              <a:rPr lang="en-US" dirty="0"/>
              <a:t>Looks for outliers in </a:t>
            </a:r>
            <a:r>
              <a:rPr lang="en-US" b="1" dirty="0"/>
              <a:t>Local Area</a:t>
            </a:r>
          </a:p>
          <a:p>
            <a:pPr marL="285750" indent="-285750">
              <a:buFont typeface="Arial" panose="020B0604020202020204" pitchFamily="34" charset="0"/>
              <a:buChar char="•"/>
            </a:pPr>
            <a:r>
              <a:rPr lang="en-US" b="1" dirty="0"/>
              <a:t>Local window </a:t>
            </a:r>
            <a:r>
              <a:rPr lang="en-US" dirty="0"/>
              <a:t>of size 100</a:t>
            </a:r>
          </a:p>
          <a:p>
            <a:pPr marL="285750" indent="-285750">
              <a:buFont typeface="Arial" panose="020B0604020202020204" pitchFamily="34" charset="0"/>
              <a:buChar char="•"/>
            </a:pPr>
            <a:r>
              <a:rPr lang="en-US" b="1" dirty="0"/>
              <a:t>Epsilon</a:t>
            </a:r>
            <a:r>
              <a:rPr lang="en-US" dirty="0"/>
              <a:t> = 0.01</a:t>
            </a:r>
          </a:p>
          <a:p>
            <a:pPr marL="285750" indent="-285750">
              <a:buFont typeface="Arial" panose="020B0604020202020204" pitchFamily="34" charset="0"/>
              <a:buChar char="•"/>
            </a:pPr>
            <a:r>
              <a:rPr lang="en-US" dirty="0"/>
              <a:t>Grouped </a:t>
            </a:r>
            <a:r>
              <a:rPr lang="en-US" b="1" dirty="0"/>
              <a:t>nearby ramps </a:t>
            </a:r>
            <a:r>
              <a:rPr lang="en-US" dirty="0"/>
              <a:t>as one </a:t>
            </a:r>
          </a:p>
          <a:p>
            <a:pPr marL="285750" indent="-285750">
              <a:buFont typeface="Arial" panose="020B0604020202020204" pitchFamily="34" charset="0"/>
              <a:buChar char="•"/>
            </a:pPr>
            <a:r>
              <a:rPr lang="en-US" dirty="0"/>
              <a:t>Some </a:t>
            </a:r>
            <a:r>
              <a:rPr lang="en-US" b="1" dirty="0"/>
              <a:t>false positives </a:t>
            </a:r>
            <a:r>
              <a:rPr lang="en-US" dirty="0"/>
              <a:t>are being detected.</a:t>
            </a:r>
          </a:p>
          <a:p>
            <a:pPr marL="285750" indent="-285750">
              <a:buFont typeface="Arial" panose="020B0604020202020204" pitchFamily="34" charset="0"/>
              <a:buChar char="•"/>
            </a:pPr>
            <a:r>
              <a:rPr lang="en-US" dirty="0"/>
              <a:t>Need to counter that, can think of some </a:t>
            </a:r>
            <a:r>
              <a:rPr lang="en-US" b="1" dirty="0"/>
              <a:t>post filtering </a:t>
            </a:r>
            <a:r>
              <a:rPr lang="en-US" dirty="0"/>
              <a:t>as a next step.</a:t>
            </a:r>
          </a:p>
        </p:txBody>
      </p:sp>
    </p:spTree>
    <p:extLst>
      <p:ext uri="{BB962C8B-B14F-4D97-AF65-F5344CB8AC3E}">
        <p14:creationId xmlns:p14="http://schemas.microsoft.com/office/powerpoint/2010/main" val="3634931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ED008-C858-F001-51F0-AFFCAF67C7DD}"/>
              </a:ext>
            </a:extLst>
          </p:cNvPr>
          <p:cNvSpPr>
            <a:spLocks noGrp="1"/>
          </p:cNvSpPr>
          <p:nvPr>
            <p:ph type="title"/>
          </p:nvPr>
        </p:nvSpPr>
        <p:spPr>
          <a:xfrm>
            <a:off x="3209390" y="2782669"/>
            <a:ext cx="5985981" cy="646331"/>
          </a:xfrm>
        </p:spPr>
        <p:txBody>
          <a:bodyPr/>
          <a:lstStyle/>
          <a:p>
            <a:r>
              <a:rPr lang="en-US" sz="4000" dirty="0"/>
              <a:t>Progress PPT from here</a:t>
            </a:r>
          </a:p>
        </p:txBody>
      </p:sp>
      <p:sp>
        <p:nvSpPr>
          <p:cNvPr id="3" name="Slide Number Placeholder 2">
            <a:extLst>
              <a:ext uri="{FF2B5EF4-FFF2-40B4-BE49-F238E27FC236}">
                <a16:creationId xmlns:a16="http://schemas.microsoft.com/office/drawing/2014/main" id="{0A2EDC0A-D285-BF1D-98C5-3A486EF9CB12}"/>
              </a:ext>
            </a:extLst>
          </p:cNvPr>
          <p:cNvSpPr>
            <a:spLocks noGrp="1"/>
          </p:cNvSpPr>
          <p:nvPr>
            <p:ph type="sldNum" sz="quarter" idx="12"/>
          </p:nvPr>
        </p:nvSpPr>
        <p:spPr/>
        <p:txBody>
          <a:bodyPr/>
          <a:lstStyle/>
          <a:p>
            <a:fld id="{B7E7695C-FCF1-4AA0-9B93-7941FED13DC4}" type="slidenum">
              <a:rPr lang="en-US" smtClean="0"/>
              <a:pPr/>
              <a:t>6</a:t>
            </a:fld>
            <a:endParaRPr lang="en-US" dirty="0"/>
          </a:p>
        </p:txBody>
      </p:sp>
    </p:spTree>
    <p:extLst>
      <p:ext uri="{BB962C8B-B14F-4D97-AF65-F5344CB8AC3E}">
        <p14:creationId xmlns:p14="http://schemas.microsoft.com/office/powerpoint/2010/main" val="2183574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99146-A6CD-EFC5-23F9-E2191B92B1DF}"/>
              </a:ext>
            </a:extLst>
          </p:cNvPr>
          <p:cNvSpPr>
            <a:spLocks noGrp="1"/>
          </p:cNvSpPr>
          <p:nvPr>
            <p:ph type="title"/>
          </p:nvPr>
        </p:nvSpPr>
        <p:spPr>
          <a:xfrm>
            <a:off x="342900" y="256627"/>
            <a:ext cx="11506200" cy="590931"/>
          </a:xfrm>
        </p:spPr>
        <p:txBody>
          <a:bodyPr/>
          <a:lstStyle/>
          <a:p>
            <a:r>
              <a:rPr lang="en-US" dirty="0"/>
              <a:t>Error Analysis Report </a:t>
            </a:r>
          </a:p>
        </p:txBody>
      </p:sp>
      <p:sp>
        <p:nvSpPr>
          <p:cNvPr id="3" name="Slide Number Placeholder 2">
            <a:extLst>
              <a:ext uri="{FF2B5EF4-FFF2-40B4-BE49-F238E27FC236}">
                <a16:creationId xmlns:a16="http://schemas.microsoft.com/office/drawing/2014/main" id="{17BE94AE-F48A-222E-F2EA-9DD8D6014A9A}"/>
              </a:ext>
            </a:extLst>
          </p:cNvPr>
          <p:cNvSpPr>
            <a:spLocks noGrp="1"/>
          </p:cNvSpPr>
          <p:nvPr>
            <p:ph type="sldNum" sz="quarter" idx="12"/>
          </p:nvPr>
        </p:nvSpPr>
        <p:spPr/>
        <p:txBody>
          <a:bodyPr/>
          <a:lstStyle/>
          <a:p>
            <a:fld id="{B7E7695C-FCF1-4AA0-9B93-7941FED13DC4}" type="slidenum">
              <a:rPr lang="en-US" smtClean="0"/>
              <a:pPr/>
              <a:t>7</a:t>
            </a:fld>
            <a:endParaRPr lang="en-US" dirty="0"/>
          </a:p>
        </p:txBody>
      </p:sp>
      <p:sp>
        <p:nvSpPr>
          <p:cNvPr id="4" name="Content Placeholder 3">
            <a:extLst>
              <a:ext uri="{FF2B5EF4-FFF2-40B4-BE49-F238E27FC236}">
                <a16:creationId xmlns:a16="http://schemas.microsoft.com/office/drawing/2014/main" id="{920223E6-71FB-6EB0-8044-2E147ADEAEF6}"/>
              </a:ext>
            </a:extLst>
          </p:cNvPr>
          <p:cNvSpPr>
            <a:spLocks noGrp="1"/>
          </p:cNvSpPr>
          <p:nvPr>
            <p:ph sz="quarter" idx="28"/>
          </p:nvPr>
        </p:nvSpPr>
        <p:spPr>
          <a:xfrm>
            <a:off x="342900" y="927221"/>
            <a:ext cx="11506200" cy="1009261"/>
          </a:xfrm>
        </p:spPr>
        <p:txBody>
          <a:bodyPr>
            <a:normAutofit fontScale="85000" lnSpcReduction="10000"/>
          </a:bodyPr>
          <a:lstStyle/>
          <a:p>
            <a:r>
              <a:rPr lang="en-US" dirty="0"/>
              <a:t>Earlier multiple predicted values were mapped to a single actual value.</a:t>
            </a:r>
          </a:p>
          <a:p>
            <a:r>
              <a:rPr lang="en-US" dirty="0"/>
              <a:t>Predicted value may fall outside +/- 1% error range and still be captured, without being flagged as a FP or FN.</a:t>
            </a:r>
          </a:p>
          <a:p>
            <a:r>
              <a:rPr lang="en-US" dirty="0"/>
              <a:t>Even if FP or FN exist, no clear idea about which points are actually FP or FN.</a:t>
            </a:r>
          </a:p>
          <a:p>
            <a:endParaRPr lang="en-US" dirty="0"/>
          </a:p>
          <a:p>
            <a:endParaRPr lang="en-US" dirty="0"/>
          </a:p>
        </p:txBody>
      </p:sp>
      <p:pic>
        <p:nvPicPr>
          <p:cNvPr id="10" name="Picture 9">
            <a:extLst>
              <a:ext uri="{FF2B5EF4-FFF2-40B4-BE49-F238E27FC236}">
                <a16:creationId xmlns:a16="http://schemas.microsoft.com/office/drawing/2014/main" id="{2A5E521E-0D65-1301-D7F1-B2CD6D86C248}"/>
              </a:ext>
            </a:extLst>
          </p:cNvPr>
          <p:cNvPicPr>
            <a:picLocks noChangeAspect="1"/>
          </p:cNvPicPr>
          <p:nvPr/>
        </p:nvPicPr>
        <p:blipFill>
          <a:blip r:embed="rId2"/>
          <a:stretch>
            <a:fillRect/>
          </a:stretch>
        </p:blipFill>
        <p:spPr>
          <a:xfrm>
            <a:off x="5160893" y="2139493"/>
            <a:ext cx="6484950" cy="3659312"/>
          </a:xfrm>
          <a:prstGeom prst="rect">
            <a:avLst/>
          </a:prstGeom>
        </p:spPr>
      </p:pic>
      <p:pic>
        <p:nvPicPr>
          <p:cNvPr id="12" name="Picture 11">
            <a:extLst>
              <a:ext uri="{FF2B5EF4-FFF2-40B4-BE49-F238E27FC236}">
                <a16:creationId xmlns:a16="http://schemas.microsoft.com/office/drawing/2014/main" id="{349D4A58-F543-18D6-1183-106899E010B3}"/>
              </a:ext>
            </a:extLst>
          </p:cNvPr>
          <p:cNvPicPr>
            <a:picLocks noChangeAspect="1"/>
          </p:cNvPicPr>
          <p:nvPr/>
        </p:nvPicPr>
        <p:blipFill>
          <a:blip r:embed="rId3"/>
          <a:stretch>
            <a:fillRect/>
          </a:stretch>
        </p:blipFill>
        <p:spPr>
          <a:xfrm>
            <a:off x="342900" y="2162510"/>
            <a:ext cx="3933825" cy="3099538"/>
          </a:xfrm>
          <a:prstGeom prst="rect">
            <a:avLst/>
          </a:prstGeom>
        </p:spPr>
      </p:pic>
      <p:sp>
        <p:nvSpPr>
          <p:cNvPr id="13" name="TextBox 12">
            <a:extLst>
              <a:ext uri="{FF2B5EF4-FFF2-40B4-BE49-F238E27FC236}">
                <a16:creationId xmlns:a16="http://schemas.microsoft.com/office/drawing/2014/main" id="{05F8320A-03A7-DD12-163B-E7F52D6B4262}"/>
              </a:ext>
            </a:extLst>
          </p:cNvPr>
          <p:cNvSpPr txBox="1"/>
          <p:nvPr/>
        </p:nvSpPr>
        <p:spPr>
          <a:xfrm>
            <a:off x="1224551" y="1770161"/>
            <a:ext cx="2044557" cy="369332"/>
          </a:xfrm>
          <a:prstGeom prst="rect">
            <a:avLst/>
          </a:prstGeom>
          <a:noFill/>
        </p:spPr>
        <p:txBody>
          <a:bodyPr wrap="square" rtlCol="0">
            <a:spAutoFit/>
          </a:bodyPr>
          <a:lstStyle/>
          <a:p>
            <a:r>
              <a:rPr lang="en-US" b="1" dirty="0"/>
              <a:t>Earlier Analysis</a:t>
            </a:r>
          </a:p>
        </p:txBody>
      </p:sp>
      <p:sp>
        <p:nvSpPr>
          <p:cNvPr id="14" name="TextBox 13">
            <a:extLst>
              <a:ext uri="{FF2B5EF4-FFF2-40B4-BE49-F238E27FC236}">
                <a16:creationId xmlns:a16="http://schemas.microsoft.com/office/drawing/2014/main" id="{39B32BDE-AD99-E59A-BD2D-6FE1D4EA2E39}"/>
              </a:ext>
            </a:extLst>
          </p:cNvPr>
          <p:cNvSpPr txBox="1"/>
          <p:nvPr/>
        </p:nvSpPr>
        <p:spPr>
          <a:xfrm>
            <a:off x="7274212" y="1793178"/>
            <a:ext cx="3010220" cy="369332"/>
          </a:xfrm>
          <a:prstGeom prst="rect">
            <a:avLst/>
          </a:prstGeom>
          <a:noFill/>
        </p:spPr>
        <p:txBody>
          <a:bodyPr wrap="square" rtlCol="0">
            <a:spAutoFit/>
          </a:bodyPr>
          <a:lstStyle/>
          <a:p>
            <a:r>
              <a:rPr lang="en-US" b="1" dirty="0"/>
              <a:t>Error Analysis Report</a:t>
            </a:r>
          </a:p>
        </p:txBody>
      </p:sp>
      <p:sp>
        <p:nvSpPr>
          <p:cNvPr id="15" name="Rectangle 14">
            <a:extLst>
              <a:ext uri="{FF2B5EF4-FFF2-40B4-BE49-F238E27FC236}">
                <a16:creationId xmlns:a16="http://schemas.microsoft.com/office/drawing/2014/main" id="{34D07934-0125-B137-255E-C741353D5BCA}"/>
              </a:ext>
            </a:extLst>
          </p:cNvPr>
          <p:cNvSpPr/>
          <p:nvPr/>
        </p:nvSpPr>
        <p:spPr>
          <a:xfrm>
            <a:off x="405882" y="3059131"/>
            <a:ext cx="3807860" cy="297950"/>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8893A6B-EC20-4486-6BC4-A7177F252855}"/>
              </a:ext>
            </a:extLst>
          </p:cNvPr>
          <p:cNvSpPr/>
          <p:nvPr/>
        </p:nvSpPr>
        <p:spPr>
          <a:xfrm>
            <a:off x="5506948" y="3626778"/>
            <a:ext cx="2126750" cy="1224251"/>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Terminator 5">
            <a:extLst>
              <a:ext uri="{FF2B5EF4-FFF2-40B4-BE49-F238E27FC236}">
                <a16:creationId xmlns:a16="http://schemas.microsoft.com/office/drawing/2014/main" id="{B5B9C9A3-FFF7-18E8-73F6-AB444AA1C1EC}"/>
              </a:ext>
            </a:extLst>
          </p:cNvPr>
          <p:cNvSpPr/>
          <p:nvPr/>
        </p:nvSpPr>
        <p:spPr>
          <a:xfrm>
            <a:off x="7715947" y="4018938"/>
            <a:ext cx="2126750" cy="269754"/>
          </a:xfrm>
          <a:prstGeom prst="flowChartTerminator">
            <a:avLst/>
          </a:prstGeom>
          <a:solidFill>
            <a:srgbClr val="007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A63E54B-C556-1A82-846C-A046D19ED315}"/>
              </a:ext>
            </a:extLst>
          </p:cNvPr>
          <p:cNvSpPr txBox="1"/>
          <p:nvPr/>
        </p:nvSpPr>
        <p:spPr>
          <a:xfrm>
            <a:off x="7849456" y="3952969"/>
            <a:ext cx="2229492" cy="369332"/>
          </a:xfrm>
          <a:prstGeom prst="rect">
            <a:avLst/>
          </a:prstGeom>
          <a:noFill/>
        </p:spPr>
        <p:txBody>
          <a:bodyPr wrap="square" rtlCol="0">
            <a:spAutoFit/>
          </a:bodyPr>
          <a:lstStyle/>
          <a:p>
            <a:r>
              <a:rPr lang="en-US" b="1" dirty="0">
                <a:solidFill>
                  <a:srgbClr val="FFFF00"/>
                </a:solidFill>
              </a:rPr>
              <a:t>False Negative</a:t>
            </a:r>
          </a:p>
        </p:txBody>
      </p:sp>
      <p:sp>
        <p:nvSpPr>
          <p:cNvPr id="8" name="Flowchart: Terminator 7">
            <a:extLst>
              <a:ext uri="{FF2B5EF4-FFF2-40B4-BE49-F238E27FC236}">
                <a16:creationId xmlns:a16="http://schemas.microsoft.com/office/drawing/2014/main" id="{F04A2C9C-EDAA-30A1-2CAF-6A4ED725C6C8}"/>
              </a:ext>
            </a:extLst>
          </p:cNvPr>
          <p:cNvSpPr/>
          <p:nvPr/>
        </p:nvSpPr>
        <p:spPr>
          <a:xfrm>
            <a:off x="7795558" y="5448377"/>
            <a:ext cx="1993241" cy="269754"/>
          </a:xfrm>
          <a:prstGeom prst="flowChartTerminator">
            <a:avLst/>
          </a:prstGeom>
          <a:solidFill>
            <a:srgbClr val="007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8CC1D7F-0226-3C46-508A-046985048E24}"/>
              </a:ext>
            </a:extLst>
          </p:cNvPr>
          <p:cNvSpPr txBox="1"/>
          <p:nvPr/>
        </p:nvSpPr>
        <p:spPr>
          <a:xfrm>
            <a:off x="7903465" y="5391612"/>
            <a:ext cx="1777429" cy="369332"/>
          </a:xfrm>
          <a:prstGeom prst="rect">
            <a:avLst/>
          </a:prstGeom>
          <a:noFill/>
        </p:spPr>
        <p:txBody>
          <a:bodyPr wrap="square" rtlCol="0">
            <a:spAutoFit/>
          </a:bodyPr>
          <a:lstStyle/>
          <a:p>
            <a:r>
              <a:rPr lang="en-US" b="1" dirty="0">
                <a:solidFill>
                  <a:srgbClr val="FFFF00"/>
                </a:solidFill>
              </a:rPr>
              <a:t>False Positive</a:t>
            </a:r>
          </a:p>
        </p:txBody>
      </p:sp>
      <p:sp>
        <p:nvSpPr>
          <p:cNvPr id="9" name="Rectangle 8">
            <a:extLst>
              <a:ext uri="{FF2B5EF4-FFF2-40B4-BE49-F238E27FC236}">
                <a16:creationId xmlns:a16="http://schemas.microsoft.com/office/drawing/2014/main" id="{92A71F98-FB9F-4B2D-41C9-1BEF1CADC64A}"/>
              </a:ext>
            </a:extLst>
          </p:cNvPr>
          <p:cNvSpPr/>
          <p:nvPr/>
        </p:nvSpPr>
        <p:spPr>
          <a:xfrm>
            <a:off x="5589195" y="5391612"/>
            <a:ext cx="2126751" cy="269754"/>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A830C7F-71E1-78C1-7C36-F6142BC5DEC1}"/>
              </a:ext>
            </a:extLst>
          </p:cNvPr>
          <p:cNvSpPr txBox="1"/>
          <p:nvPr/>
        </p:nvSpPr>
        <p:spPr>
          <a:xfrm>
            <a:off x="1582273" y="6029209"/>
            <a:ext cx="8013843" cy="646331"/>
          </a:xfrm>
          <a:prstGeom prst="rect">
            <a:avLst/>
          </a:prstGeom>
          <a:noFill/>
        </p:spPr>
        <p:txBody>
          <a:bodyPr wrap="square" rtlCol="0">
            <a:spAutoFit/>
          </a:bodyPr>
          <a:lstStyle/>
          <a:p>
            <a:r>
              <a:rPr lang="en-US" b="1" dirty="0"/>
              <a:t>False Negative = </a:t>
            </a:r>
            <a:r>
              <a:rPr lang="en-US" dirty="0"/>
              <a:t>There is an actual ramp, but nothing is predicted there.</a:t>
            </a:r>
          </a:p>
          <a:p>
            <a:r>
              <a:rPr lang="en-US" b="1" dirty="0"/>
              <a:t>False Positive = </a:t>
            </a:r>
            <a:r>
              <a:rPr lang="en-US" dirty="0"/>
              <a:t>There is no actual ramp, but a ramp point is predicted.</a:t>
            </a:r>
          </a:p>
        </p:txBody>
      </p:sp>
    </p:spTree>
    <p:extLst>
      <p:ext uri="{BB962C8B-B14F-4D97-AF65-F5344CB8AC3E}">
        <p14:creationId xmlns:p14="http://schemas.microsoft.com/office/powerpoint/2010/main" val="2529376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A845F-1871-82A5-1BF5-F5A2F1C941E2}"/>
              </a:ext>
            </a:extLst>
          </p:cNvPr>
          <p:cNvSpPr>
            <a:spLocks noGrp="1"/>
          </p:cNvSpPr>
          <p:nvPr>
            <p:ph type="title"/>
          </p:nvPr>
        </p:nvSpPr>
        <p:spPr/>
        <p:txBody>
          <a:bodyPr/>
          <a:lstStyle/>
          <a:p>
            <a:r>
              <a:rPr lang="en-US" dirty="0"/>
              <a:t>How is Error Analysis Report prepared?</a:t>
            </a:r>
          </a:p>
        </p:txBody>
      </p:sp>
      <p:sp>
        <p:nvSpPr>
          <p:cNvPr id="3" name="Slide Number Placeholder 2">
            <a:extLst>
              <a:ext uri="{FF2B5EF4-FFF2-40B4-BE49-F238E27FC236}">
                <a16:creationId xmlns:a16="http://schemas.microsoft.com/office/drawing/2014/main" id="{92C3D232-A4C3-184D-9B45-57AFEF41B1DB}"/>
              </a:ext>
            </a:extLst>
          </p:cNvPr>
          <p:cNvSpPr>
            <a:spLocks noGrp="1"/>
          </p:cNvSpPr>
          <p:nvPr>
            <p:ph type="sldNum" sz="quarter" idx="12"/>
          </p:nvPr>
        </p:nvSpPr>
        <p:spPr/>
        <p:txBody>
          <a:bodyPr/>
          <a:lstStyle/>
          <a:p>
            <a:fld id="{B7E7695C-FCF1-4AA0-9B93-7941FED13DC4}" type="slidenum">
              <a:rPr lang="en-US" smtClean="0"/>
              <a:pPr/>
              <a:t>8</a:t>
            </a:fld>
            <a:endParaRPr lang="en-US" dirty="0"/>
          </a:p>
        </p:txBody>
      </p:sp>
      <p:sp>
        <p:nvSpPr>
          <p:cNvPr id="4" name="Content Placeholder 3">
            <a:extLst>
              <a:ext uri="{FF2B5EF4-FFF2-40B4-BE49-F238E27FC236}">
                <a16:creationId xmlns:a16="http://schemas.microsoft.com/office/drawing/2014/main" id="{CB1DD14B-99AA-EE5D-9C82-06D1B57ADE89}"/>
              </a:ext>
            </a:extLst>
          </p:cNvPr>
          <p:cNvSpPr>
            <a:spLocks noGrp="1"/>
          </p:cNvSpPr>
          <p:nvPr>
            <p:ph sz="quarter" idx="28"/>
          </p:nvPr>
        </p:nvSpPr>
        <p:spPr>
          <a:xfrm>
            <a:off x="342899" y="1212722"/>
            <a:ext cx="11718961" cy="2352411"/>
          </a:xfrm>
        </p:spPr>
        <p:txBody>
          <a:bodyPr/>
          <a:lstStyle/>
          <a:p>
            <a:r>
              <a:rPr lang="en-US" dirty="0"/>
              <a:t>Consider the first actual value.</a:t>
            </a:r>
          </a:p>
          <a:p>
            <a:r>
              <a:rPr lang="en-US" dirty="0"/>
              <a:t>Use </a:t>
            </a:r>
            <a:r>
              <a:rPr lang="en-US" dirty="0" err="1"/>
              <a:t>np.argmin</a:t>
            </a:r>
            <a:r>
              <a:rPr lang="en-US" dirty="0"/>
              <a:t> to find the closest predicted value.</a:t>
            </a:r>
          </a:p>
          <a:p>
            <a:r>
              <a:rPr lang="en-US" dirty="0"/>
              <a:t>Check if the predicted value is not flagged (not used/ not mapped) earlier to any actual value.</a:t>
            </a:r>
          </a:p>
          <a:p>
            <a:r>
              <a:rPr lang="en-US" dirty="0"/>
              <a:t>Check if this predicted value lies in +/- 1% error range (deviation) or not.</a:t>
            </a:r>
          </a:p>
          <a:p>
            <a:r>
              <a:rPr lang="en-US" dirty="0"/>
              <a:t>Do the process in a non chronological order (rather in a parallel fashion) so mapping is done correctly.</a:t>
            </a:r>
          </a:p>
          <a:p>
            <a:r>
              <a:rPr lang="en-US" dirty="0"/>
              <a:t>The parallel fashion means consider not only the current actual value, but also the next actual value.</a:t>
            </a:r>
          </a:p>
          <a:p>
            <a:endParaRPr lang="en-US" dirty="0"/>
          </a:p>
        </p:txBody>
      </p:sp>
      <p:sp>
        <p:nvSpPr>
          <p:cNvPr id="7" name="Title 1">
            <a:extLst>
              <a:ext uri="{FF2B5EF4-FFF2-40B4-BE49-F238E27FC236}">
                <a16:creationId xmlns:a16="http://schemas.microsoft.com/office/drawing/2014/main" id="{0477BAD6-BF65-5515-4258-204C3BF3B3EF}"/>
              </a:ext>
            </a:extLst>
          </p:cNvPr>
          <p:cNvSpPr txBox="1">
            <a:spLocks/>
          </p:cNvSpPr>
          <p:nvPr/>
        </p:nvSpPr>
        <p:spPr>
          <a:xfrm>
            <a:off x="342900" y="452372"/>
            <a:ext cx="11506200" cy="590931"/>
          </a:xfrm>
          <a:prstGeom prst="rect">
            <a:avLst/>
          </a:prstGeom>
        </p:spPr>
        <p:txBody>
          <a:bodyPr vert="horz"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How</a:t>
            </a:r>
          </a:p>
        </p:txBody>
      </p:sp>
      <p:sp>
        <p:nvSpPr>
          <p:cNvPr id="8" name="Title 1">
            <a:extLst>
              <a:ext uri="{FF2B5EF4-FFF2-40B4-BE49-F238E27FC236}">
                <a16:creationId xmlns:a16="http://schemas.microsoft.com/office/drawing/2014/main" id="{4B3892B5-65A8-082A-22B8-C30A2ABCF98A}"/>
              </a:ext>
            </a:extLst>
          </p:cNvPr>
          <p:cNvSpPr txBox="1">
            <a:spLocks/>
          </p:cNvSpPr>
          <p:nvPr/>
        </p:nvSpPr>
        <p:spPr>
          <a:xfrm>
            <a:off x="449279" y="3583006"/>
            <a:ext cx="11506200" cy="590931"/>
          </a:xfrm>
          <a:prstGeom prst="rect">
            <a:avLst/>
          </a:prstGeom>
        </p:spPr>
        <p:txBody>
          <a:bodyPr vert="horz"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Advantages of Error Analysis Report</a:t>
            </a:r>
          </a:p>
        </p:txBody>
      </p:sp>
      <p:sp>
        <p:nvSpPr>
          <p:cNvPr id="9" name="Content Placeholder 3">
            <a:extLst>
              <a:ext uri="{FF2B5EF4-FFF2-40B4-BE49-F238E27FC236}">
                <a16:creationId xmlns:a16="http://schemas.microsoft.com/office/drawing/2014/main" id="{B6F839F6-26E0-1BA2-AE54-65962F8BFF79}"/>
              </a:ext>
            </a:extLst>
          </p:cNvPr>
          <p:cNvSpPr txBox="1">
            <a:spLocks/>
          </p:cNvSpPr>
          <p:nvPr/>
        </p:nvSpPr>
        <p:spPr>
          <a:xfrm>
            <a:off x="449279" y="4191811"/>
            <a:ext cx="10952250" cy="2444650"/>
          </a:xfrm>
          <a:prstGeom prst="rect">
            <a:avLst/>
          </a:prstGeom>
        </p:spPr>
        <p:txBody>
          <a:bodyPr vert="horz" lIns="91440" tIns="45720" rIns="91440" bIns="45720" rtlCol="0">
            <a:normAutofit/>
          </a:bodyPr>
          <a:lstStyle>
            <a:lvl1pPr marL="182880" marR="0" indent="-182880" algn="l" defTabSz="914400" rtl="0" eaLnBrk="1" fontAlgn="auto" latinLnBrk="0" hangingPunct="1">
              <a:lnSpc>
                <a:spcPct val="100000"/>
              </a:lnSpc>
              <a:spcBef>
                <a:spcPts val="0"/>
              </a:spcBef>
              <a:spcAft>
                <a:spcPts val="0"/>
              </a:spcAft>
              <a:buClrTx/>
              <a:buSzPct val="75000"/>
              <a:buFont typeface="Wingdings" pitchFamily="2" charset="2"/>
              <a:buChar char="§"/>
              <a:tabLst/>
              <a:defRPr sz="2000" b="0" kern="1200" spc="0" baseline="0">
                <a:solidFill>
                  <a:schemeClr val="tx1"/>
                </a:solidFill>
                <a:latin typeface="+mn-lt"/>
                <a:ea typeface="+mn-ea"/>
                <a:cs typeface="+mn-cs"/>
              </a:defRPr>
            </a:lvl1pPr>
            <a:lvl2pPr marL="457200" marR="0" indent="-182880" algn="l" defTabSz="914400" rtl="0" eaLnBrk="1" fontAlgn="auto" latinLnBrk="0" hangingPunct="1">
              <a:lnSpc>
                <a:spcPct val="100000"/>
              </a:lnSpc>
              <a:spcBef>
                <a:spcPts val="0"/>
              </a:spcBef>
              <a:spcAft>
                <a:spcPts val="400"/>
              </a:spcAft>
              <a:buClrTx/>
              <a:buSzTx/>
              <a:buFont typeface="Apple Symbols" panose="02000000000000000000" pitchFamily="2" charset="-79"/>
              <a:buChar char="⎻"/>
              <a:tabLst/>
              <a:defRPr sz="1800" b="0" kern="1200" spc="0" baseline="0">
                <a:solidFill>
                  <a:schemeClr val="tx1"/>
                </a:solidFill>
                <a:latin typeface="+mn-lt"/>
                <a:ea typeface="+mn-ea"/>
                <a:cs typeface="+mn-cs"/>
              </a:defRPr>
            </a:lvl2pPr>
            <a:lvl3pPr marL="73152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600" b="0" kern="1200" spc="0">
                <a:solidFill>
                  <a:schemeClr val="tx1"/>
                </a:solidFill>
                <a:latin typeface="+mn-lt"/>
                <a:ea typeface="+mn-ea"/>
                <a:cs typeface="+mn-cs"/>
              </a:defRPr>
            </a:lvl3pPr>
            <a:lvl4pPr marL="1005840" marR="0" indent="-182880" algn="l" defTabSz="914400" rtl="0" eaLnBrk="1" fontAlgn="auto" latinLnBrk="0" hangingPunct="1">
              <a:lnSpc>
                <a:spcPct val="100000"/>
              </a:lnSpc>
              <a:spcBef>
                <a:spcPts val="0"/>
              </a:spcBef>
              <a:spcAft>
                <a:spcPts val="400"/>
              </a:spcAft>
              <a:buClrTx/>
              <a:buSzTx/>
              <a:buFont typeface="Apple Symbols" panose="02000000000000000000" pitchFamily="2" charset="-79"/>
              <a:buChar char="⎻"/>
              <a:tabLst/>
              <a:defRPr sz="1400" b="0" kern="1200" spc="0">
                <a:solidFill>
                  <a:schemeClr val="tx1"/>
                </a:solidFill>
                <a:latin typeface="+mn-lt"/>
                <a:ea typeface="+mn-ea"/>
                <a:cs typeface="+mn-cs"/>
              </a:defRPr>
            </a:lvl4pPr>
            <a:lvl5pPr marL="128016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200" b="0" kern="1200" spc="0">
                <a:solidFill>
                  <a:schemeClr val="tx1"/>
                </a:solidFill>
                <a:latin typeface="+mn-lt"/>
                <a:ea typeface="+mn-ea"/>
                <a:cs typeface="+mn-cs"/>
              </a:defRPr>
            </a:lvl5pPr>
            <a:lvl6pPr marL="54864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600" kern="1200">
                <a:solidFill>
                  <a:srgbClr val="000000"/>
                </a:solidFill>
                <a:latin typeface="+mn-lt"/>
                <a:ea typeface="+mn-ea"/>
                <a:cs typeface="+mn-cs"/>
              </a:defRPr>
            </a:lvl6pPr>
            <a:lvl7pPr marL="731520" marR="0" indent="-182880" algn="l" defTabSz="914400" rtl="0" eaLnBrk="1" fontAlgn="auto" latinLnBrk="0" hangingPunct="1">
              <a:lnSpc>
                <a:spcPct val="100000"/>
              </a:lnSpc>
              <a:spcBef>
                <a:spcPts val="0"/>
              </a:spcBef>
              <a:spcAft>
                <a:spcPts val="400"/>
              </a:spcAft>
              <a:buClrTx/>
              <a:buSzPct val="100000"/>
              <a:buFont typeface="System Font Regular"/>
              <a:buChar char="‒"/>
              <a:tabLst/>
              <a:defRPr sz="1600" b="0" kern="1200">
                <a:solidFill>
                  <a:schemeClr val="tx1"/>
                </a:solidFill>
                <a:latin typeface="+mn-lt"/>
                <a:ea typeface="+mn-ea"/>
                <a:cs typeface="+mn-cs"/>
              </a:defRPr>
            </a:lvl7pPr>
            <a:lvl8pPr marL="91440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400" kern="1200">
                <a:solidFill>
                  <a:schemeClr val="tx1"/>
                </a:solidFill>
                <a:latin typeface="+mn-lt"/>
                <a:ea typeface="+mn-ea"/>
                <a:cs typeface="+mn-cs"/>
              </a:defRPr>
            </a:lvl8pPr>
            <a:lvl9pPr marL="1097280" marR="0" indent="-182880" algn="l" defTabSz="914400" rtl="0" eaLnBrk="1" fontAlgn="auto" latinLnBrk="0" hangingPunct="1">
              <a:lnSpc>
                <a:spcPct val="100000"/>
              </a:lnSpc>
              <a:spcBef>
                <a:spcPts val="0"/>
              </a:spcBef>
              <a:spcAft>
                <a:spcPts val="400"/>
              </a:spcAft>
              <a:buClrTx/>
              <a:buSzPct val="100000"/>
              <a:buFont typeface="System Font Regular"/>
              <a:buChar char="‒"/>
              <a:tabLst/>
              <a:defRPr sz="1400" kern="1200">
                <a:solidFill>
                  <a:schemeClr val="tx1"/>
                </a:solidFill>
                <a:latin typeface="+mn-lt"/>
                <a:ea typeface="+mn-ea"/>
                <a:cs typeface="+mn-cs"/>
              </a:defRPr>
            </a:lvl9pPr>
          </a:lstStyle>
          <a:p>
            <a:r>
              <a:rPr lang="en-US" dirty="0"/>
              <a:t>Finds the predicted values which is closest to the actual value.</a:t>
            </a:r>
          </a:p>
          <a:p>
            <a:r>
              <a:rPr lang="en-US" dirty="0"/>
              <a:t>Check for the error range (else considered as a False Positive).</a:t>
            </a:r>
          </a:p>
          <a:p>
            <a:r>
              <a:rPr lang="en-US" dirty="0"/>
              <a:t>One-on-One mapping is considered. (One actual value is mapped to only one predicted value and vice versa).</a:t>
            </a:r>
          </a:p>
          <a:p>
            <a:r>
              <a:rPr lang="en-US" dirty="0"/>
              <a:t>All happens in a parallel manner. </a:t>
            </a:r>
          </a:p>
          <a:p>
            <a:endParaRPr lang="en-US" dirty="0"/>
          </a:p>
        </p:txBody>
      </p:sp>
    </p:spTree>
    <p:extLst>
      <p:ext uri="{BB962C8B-B14F-4D97-AF65-F5344CB8AC3E}">
        <p14:creationId xmlns:p14="http://schemas.microsoft.com/office/powerpoint/2010/main" val="3875697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p:txBody>
          <a:bodyPr/>
          <a:lstStyle/>
          <a:p>
            <a:r>
              <a:rPr lang="en-US" dirty="0"/>
              <a:t>Example1:</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9</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4" y="1063987"/>
            <a:ext cx="6333103" cy="707886"/>
          </a:xfrm>
        </p:spPr>
        <p:txBody>
          <a:bodyPr/>
          <a:lstStyle/>
          <a:p>
            <a:r>
              <a:rPr lang="en-US" dirty="0"/>
              <a:t>Read Waveform N58R (False Positive not captured by earlier version due to incorrect mapping)</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293776" y="1916336"/>
            <a:ext cx="6425904" cy="4452690"/>
          </a:xfrm>
        </p:spPr>
        <p:txBody>
          <a:bodyPr/>
          <a:lstStyle/>
          <a:p>
            <a:r>
              <a:rPr lang="en-US" dirty="0"/>
              <a:t>Path = </a:t>
            </a:r>
            <a:r>
              <a:rPr lang="en-US" b="0" i="0" dirty="0">
                <a:effectLst/>
                <a:latin typeface="Consolas" panose="020B0609020204030204" pitchFamily="49" charset="0"/>
              </a:rPr>
              <a:t>gwl_pgr087_vcc_4_0_vccq_None_vpp_None_rd(0,519,336,1)__Group0_labeled.h5</a:t>
            </a:r>
            <a:endParaRPr lang="en-US" dirty="0"/>
          </a:p>
          <a:p>
            <a:r>
              <a:rPr lang="en-US" dirty="0"/>
              <a:t>Earlier analysis shows 0 FP.</a:t>
            </a:r>
          </a:p>
          <a:p>
            <a:r>
              <a:rPr lang="en-US" dirty="0"/>
              <a:t>New analysis (Error Analysis Report) shows 1 FP.</a:t>
            </a:r>
          </a:p>
          <a:p>
            <a:r>
              <a:rPr lang="en-US" dirty="0"/>
              <a:t>The highlighted ramp is a FP.</a:t>
            </a:r>
          </a:p>
          <a:p>
            <a:r>
              <a:rPr lang="en-US" dirty="0"/>
              <a:t>FP here means there is no actual ramp, but something is predicted there.</a:t>
            </a:r>
          </a:p>
          <a:p>
            <a:r>
              <a:rPr lang="en-US" dirty="0"/>
              <a:t>Earlier, this was getting mapped to the previous actual ramp.</a:t>
            </a:r>
          </a:p>
          <a:p>
            <a:r>
              <a:rPr lang="en-US" dirty="0"/>
              <a:t>Now, being correctly captured as a FP.</a:t>
            </a:r>
          </a:p>
          <a:p>
            <a:endParaRPr lang="en-US" dirty="0"/>
          </a:p>
        </p:txBody>
      </p:sp>
      <p:pic>
        <p:nvPicPr>
          <p:cNvPr id="7" name="Picture 6">
            <a:extLst>
              <a:ext uri="{FF2B5EF4-FFF2-40B4-BE49-F238E27FC236}">
                <a16:creationId xmlns:a16="http://schemas.microsoft.com/office/drawing/2014/main" id="{EB45900F-A874-DCFB-E198-DCA1F08ED908}"/>
              </a:ext>
            </a:extLst>
          </p:cNvPr>
          <p:cNvPicPr>
            <a:picLocks noChangeAspect="1"/>
          </p:cNvPicPr>
          <p:nvPr/>
        </p:nvPicPr>
        <p:blipFill>
          <a:blip r:embed="rId2"/>
          <a:stretch>
            <a:fillRect/>
          </a:stretch>
        </p:blipFill>
        <p:spPr>
          <a:xfrm>
            <a:off x="6901303" y="244817"/>
            <a:ext cx="4717671" cy="2043479"/>
          </a:xfrm>
          <a:prstGeom prst="rect">
            <a:avLst/>
          </a:prstGeom>
        </p:spPr>
      </p:pic>
      <p:pic>
        <p:nvPicPr>
          <p:cNvPr id="8" name="Picture 7">
            <a:extLst>
              <a:ext uri="{FF2B5EF4-FFF2-40B4-BE49-F238E27FC236}">
                <a16:creationId xmlns:a16="http://schemas.microsoft.com/office/drawing/2014/main" id="{37D1C850-7589-F355-716E-BFD9CE322C40}"/>
              </a:ext>
            </a:extLst>
          </p:cNvPr>
          <p:cNvPicPr>
            <a:picLocks noChangeAspect="1"/>
          </p:cNvPicPr>
          <p:nvPr/>
        </p:nvPicPr>
        <p:blipFill>
          <a:blip r:embed="rId3"/>
          <a:stretch>
            <a:fillRect/>
          </a:stretch>
        </p:blipFill>
        <p:spPr>
          <a:xfrm>
            <a:off x="6831568" y="2658400"/>
            <a:ext cx="4787406" cy="1697123"/>
          </a:xfrm>
          <a:prstGeom prst="rect">
            <a:avLst/>
          </a:prstGeom>
        </p:spPr>
      </p:pic>
      <p:pic>
        <p:nvPicPr>
          <p:cNvPr id="9" name="Picture 8">
            <a:extLst>
              <a:ext uri="{FF2B5EF4-FFF2-40B4-BE49-F238E27FC236}">
                <a16:creationId xmlns:a16="http://schemas.microsoft.com/office/drawing/2014/main" id="{0A6175E2-CDFA-B2DE-6B1C-2FDDD38D817D}"/>
              </a:ext>
            </a:extLst>
          </p:cNvPr>
          <p:cNvPicPr>
            <a:picLocks noChangeAspect="1"/>
          </p:cNvPicPr>
          <p:nvPr/>
        </p:nvPicPr>
        <p:blipFill>
          <a:blip r:embed="rId4"/>
          <a:stretch>
            <a:fillRect/>
          </a:stretch>
        </p:blipFill>
        <p:spPr>
          <a:xfrm>
            <a:off x="6866435" y="4709053"/>
            <a:ext cx="4787406" cy="1659973"/>
          </a:xfrm>
          <a:prstGeom prst="rect">
            <a:avLst/>
          </a:prstGeom>
        </p:spPr>
      </p:pic>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sp>
        <p:nvSpPr>
          <p:cNvPr id="11" name="TextBox 10">
            <a:extLst>
              <a:ext uri="{FF2B5EF4-FFF2-40B4-BE49-F238E27FC236}">
                <a16:creationId xmlns:a16="http://schemas.microsoft.com/office/drawing/2014/main" id="{D743AAAD-3036-6EFC-1E10-F51A390D3053}"/>
              </a:ext>
            </a:extLst>
          </p:cNvPr>
          <p:cNvSpPr txBox="1"/>
          <p:nvPr/>
        </p:nvSpPr>
        <p:spPr>
          <a:xfrm>
            <a:off x="8495016" y="2342020"/>
            <a:ext cx="1767155" cy="369332"/>
          </a:xfrm>
          <a:prstGeom prst="rect">
            <a:avLst/>
          </a:prstGeom>
          <a:noFill/>
        </p:spPr>
        <p:txBody>
          <a:bodyPr wrap="square" rtlCol="0">
            <a:spAutoFit/>
          </a:bodyPr>
          <a:lstStyle/>
          <a:p>
            <a:r>
              <a:rPr lang="en-US" dirty="0"/>
              <a:t>Zoomed in</a:t>
            </a:r>
          </a:p>
        </p:txBody>
      </p:sp>
      <p:sp>
        <p:nvSpPr>
          <p:cNvPr id="12" name="TextBox 11">
            <a:extLst>
              <a:ext uri="{FF2B5EF4-FFF2-40B4-BE49-F238E27FC236}">
                <a16:creationId xmlns:a16="http://schemas.microsoft.com/office/drawing/2014/main" id="{B50719F2-B431-86A0-3EBE-380FEED707C9}"/>
              </a:ext>
            </a:extLst>
          </p:cNvPr>
          <p:cNvSpPr txBox="1"/>
          <p:nvPr/>
        </p:nvSpPr>
        <p:spPr>
          <a:xfrm>
            <a:off x="8679951" y="4339721"/>
            <a:ext cx="1767155" cy="369332"/>
          </a:xfrm>
          <a:prstGeom prst="rect">
            <a:avLst/>
          </a:prstGeom>
          <a:noFill/>
        </p:spPr>
        <p:txBody>
          <a:bodyPr wrap="square" rtlCol="0">
            <a:spAutoFit/>
          </a:bodyPr>
          <a:lstStyle/>
          <a:p>
            <a:r>
              <a:rPr lang="en-US" dirty="0"/>
              <a:t>Zoomed Out</a:t>
            </a:r>
          </a:p>
        </p:txBody>
      </p:sp>
      <p:sp>
        <p:nvSpPr>
          <p:cNvPr id="13" name="Oval 12">
            <a:extLst>
              <a:ext uri="{FF2B5EF4-FFF2-40B4-BE49-F238E27FC236}">
                <a16:creationId xmlns:a16="http://schemas.microsoft.com/office/drawing/2014/main" id="{F8A75B09-40B5-0C41-0365-DAC93429CDA3}"/>
              </a:ext>
            </a:extLst>
          </p:cNvPr>
          <p:cNvSpPr/>
          <p:nvPr/>
        </p:nvSpPr>
        <p:spPr>
          <a:xfrm>
            <a:off x="9049359" y="2704582"/>
            <a:ext cx="658468" cy="1499173"/>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2984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p:txBody>
          <a:bodyPr/>
          <a:lstStyle/>
          <a:p>
            <a:r>
              <a:rPr lang="en-US" dirty="0"/>
              <a:t>Example2:</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10</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4" y="1063987"/>
            <a:ext cx="6333103" cy="707886"/>
          </a:xfrm>
        </p:spPr>
        <p:txBody>
          <a:bodyPr/>
          <a:lstStyle/>
          <a:p>
            <a:r>
              <a:rPr lang="en-US" dirty="0"/>
              <a:t>Program Waveform N58R (False Positive not captured by earlier version due to incorrect mapping)</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293776" y="1916336"/>
            <a:ext cx="6425904" cy="4452690"/>
          </a:xfrm>
        </p:spPr>
        <p:txBody>
          <a:bodyPr>
            <a:normAutofit/>
          </a:bodyPr>
          <a:lstStyle/>
          <a:p>
            <a:r>
              <a:rPr lang="en-US" dirty="0"/>
              <a:t>Path = gwl_pgr0166_vcc_3_0_vccq_None_vpp_None_pgm(0,0,636,1,0,0,636,4)__Group0_labeled (1).h5</a:t>
            </a:r>
          </a:p>
          <a:p>
            <a:r>
              <a:rPr lang="en-US" dirty="0"/>
              <a:t>Now in previous version this predicted was getting mapped to first original and we said there is no FP</a:t>
            </a:r>
          </a:p>
          <a:p>
            <a:r>
              <a:rPr lang="en-US" dirty="0"/>
              <a:t>But actually, here is a FP because ideally there is no ramp and we predicted something here.</a:t>
            </a:r>
          </a:p>
          <a:p>
            <a:r>
              <a:rPr lang="en-US" dirty="0"/>
              <a:t>Similarly, there are 8 other FP’s but earlier version shows 0. </a:t>
            </a:r>
          </a:p>
        </p:txBody>
      </p:sp>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sp>
        <p:nvSpPr>
          <p:cNvPr id="11" name="TextBox 10">
            <a:extLst>
              <a:ext uri="{FF2B5EF4-FFF2-40B4-BE49-F238E27FC236}">
                <a16:creationId xmlns:a16="http://schemas.microsoft.com/office/drawing/2014/main" id="{D743AAAD-3036-6EFC-1E10-F51A390D3053}"/>
              </a:ext>
            </a:extLst>
          </p:cNvPr>
          <p:cNvSpPr txBox="1"/>
          <p:nvPr/>
        </p:nvSpPr>
        <p:spPr>
          <a:xfrm>
            <a:off x="10213598" y="2801128"/>
            <a:ext cx="1182543" cy="640703"/>
          </a:xfrm>
          <a:prstGeom prst="rect">
            <a:avLst/>
          </a:prstGeom>
          <a:noFill/>
        </p:spPr>
        <p:txBody>
          <a:bodyPr wrap="square" rtlCol="0">
            <a:spAutoFit/>
          </a:bodyPr>
          <a:lstStyle/>
          <a:p>
            <a:r>
              <a:rPr lang="en-US" dirty="0"/>
              <a:t>Zoomed in</a:t>
            </a:r>
          </a:p>
        </p:txBody>
      </p:sp>
      <p:sp>
        <p:nvSpPr>
          <p:cNvPr id="12" name="TextBox 11">
            <a:extLst>
              <a:ext uri="{FF2B5EF4-FFF2-40B4-BE49-F238E27FC236}">
                <a16:creationId xmlns:a16="http://schemas.microsoft.com/office/drawing/2014/main" id="{B50719F2-B431-86A0-3EBE-380FEED707C9}"/>
              </a:ext>
            </a:extLst>
          </p:cNvPr>
          <p:cNvSpPr txBox="1"/>
          <p:nvPr/>
        </p:nvSpPr>
        <p:spPr>
          <a:xfrm>
            <a:off x="10300332" y="5190500"/>
            <a:ext cx="1267146" cy="646331"/>
          </a:xfrm>
          <a:prstGeom prst="rect">
            <a:avLst/>
          </a:prstGeom>
          <a:noFill/>
        </p:spPr>
        <p:txBody>
          <a:bodyPr wrap="square" rtlCol="0">
            <a:spAutoFit/>
          </a:bodyPr>
          <a:lstStyle/>
          <a:p>
            <a:r>
              <a:rPr lang="en-US" dirty="0"/>
              <a:t>Zoomed Out</a:t>
            </a:r>
          </a:p>
        </p:txBody>
      </p:sp>
      <p:pic>
        <p:nvPicPr>
          <p:cNvPr id="6" name="Picture 5">
            <a:extLst>
              <a:ext uri="{FF2B5EF4-FFF2-40B4-BE49-F238E27FC236}">
                <a16:creationId xmlns:a16="http://schemas.microsoft.com/office/drawing/2014/main" id="{6DCE7C12-B44E-6F4D-34A0-3A5FB7DF28E5}"/>
              </a:ext>
            </a:extLst>
          </p:cNvPr>
          <p:cNvPicPr>
            <a:picLocks noChangeAspect="1"/>
          </p:cNvPicPr>
          <p:nvPr/>
        </p:nvPicPr>
        <p:blipFill>
          <a:blip r:embed="rId2"/>
          <a:stretch>
            <a:fillRect/>
          </a:stretch>
        </p:blipFill>
        <p:spPr>
          <a:xfrm>
            <a:off x="6748175" y="298154"/>
            <a:ext cx="4859213" cy="1859200"/>
          </a:xfrm>
          <a:prstGeom prst="rect">
            <a:avLst/>
          </a:prstGeom>
        </p:spPr>
      </p:pic>
      <p:pic>
        <p:nvPicPr>
          <p:cNvPr id="14" name="Picture 13">
            <a:extLst>
              <a:ext uri="{FF2B5EF4-FFF2-40B4-BE49-F238E27FC236}">
                <a16:creationId xmlns:a16="http://schemas.microsoft.com/office/drawing/2014/main" id="{C4055A54-93F6-4282-6594-1ED199531BBF}"/>
              </a:ext>
            </a:extLst>
          </p:cNvPr>
          <p:cNvPicPr>
            <a:picLocks noChangeAspect="1"/>
          </p:cNvPicPr>
          <p:nvPr/>
        </p:nvPicPr>
        <p:blipFill>
          <a:blip r:embed="rId3"/>
          <a:stretch>
            <a:fillRect/>
          </a:stretch>
        </p:blipFill>
        <p:spPr>
          <a:xfrm>
            <a:off x="6872713" y="2320728"/>
            <a:ext cx="3274586" cy="1932279"/>
          </a:xfrm>
          <a:prstGeom prst="rect">
            <a:avLst/>
          </a:prstGeom>
        </p:spPr>
      </p:pic>
      <p:pic>
        <p:nvPicPr>
          <p:cNvPr id="15" name="Content Placeholder 9">
            <a:extLst>
              <a:ext uri="{FF2B5EF4-FFF2-40B4-BE49-F238E27FC236}">
                <a16:creationId xmlns:a16="http://schemas.microsoft.com/office/drawing/2014/main" id="{CB4B068C-13AF-44AB-5E34-76DAD5ED962A}"/>
              </a:ext>
            </a:extLst>
          </p:cNvPr>
          <p:cNvPicPr>
            <a:picLocks noChangeAspect="1"/>
          </p:cNvPicPr>
          <p:nvPr/>
        </p:nvPicPr>
        <p:blipFill>
          <a:blip r:embed="rId4"/>
          <a:stretch>
            <a:fillRect/>
          </a:stretch>
        </p:blipFill>
        <p:spPr>
          <a:xfrm>
            <a:off x="6829346" y="4440914"/>
            <a:ext cx="3361320" cy="2289679"/>
          </a:xfrm>
          <a:prstGeom prst="rect">
            <a:avLst/>
          </a:prstGeom>
        </p:spPr>
      </p:pic>
      <p:sp>
        <p:nvSpPr>
          <p:cNvPr id="13" name="Oval 12">
            <a:extLst>
              <a:ext uri="{FF2B5EF4-FFF2-40B4-BE49-F238E27FC236}">
                <a16:creationId xmlns:a16="http://schemas.microsoft.com/office/drawing/2014/main" id="{F8A75B09-40B5-0C41-0365-DAC93429CDA3}"/>
              </a:ext>
            </a:extLst>
          </p:cNvPr>
          <p:cNvSpPr/>
          <p:nvPr/>
        </p:nvSpPr>
        <p:spPr>
          <a:xfrm>
            <a:off x="9092629" y="2345261"/>
            <a:ext cx="493158" cy="1756121"/>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7154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p:txBody>
          <a:bodyPr/>
          <a:lstStyle/>
          <a:p>
            <a:r>
              <a:rPr lang="en-US" dirty="0"/>
              <a:t>Example3:</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11</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5" y="1063987"/>
            <a:ext cx="4278946" cy="1015663"/>
          </a:xfrm>
        </p:spPr>
        <p:txBody>
          <a:bodyPr/>
          <a:lstStyle/>
          <a:p>
            <a:r>
              <a:rPr lang="en-US" dirty="0"/>
              <a:t>Read Waveform N58R (False Positive not captured by earlier version due to deviation)</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146949" y="2320728"/>
            <a:ext cx="6425904" cy="4452690"/>
          </a:xfrm>
        </p:spPr>
        <p:txBody>
          <a:bodyPr>
            <a:normAutofit/>
          </a:bodyPr>
          <a:lstStyle/>
          <a:p>
            <a:r>
              <a:rPr lang="en-US" dirty="0"/>
              <a:t>Path = </a:t>
            </a:r>
            <a:r>
              <a:rPr lang="en-US" sz="2100" dirty="0"/>
              <a:t>gwl_pgr086_vcc_4_0_vccq_None_vpp_None_rd(0,519,336,1)__Group0_labeled.h5</a:t>
            </a:r>
          </a:p>
          <a:p>
            <a:r>
              <a:rPr lang="en-US" sz="2100" dirty="0"/>
              <a:t>In the previous version, the deviation was not taken into account while mapping.</a:t>
            </a:r>
          </a:p>
          <a:p>
            <a:r>
              <a:rPr lang="en-US" sz="2100" dirty="0"/>
              <a:t>This ignores our +/- 1% error range criteria.</a:t>
            </a:r>
          </a:p>
          <a:p>
            <a:r>
              <a:rPr lang="en-US" sz="2100" dirty="0"/>
              <a:t>It is mapped to the nearest value, and shows 0 FP.</a:t>
            </a:r>
          </a:p>
          <a:p>
            <a:r>
              <a:rPr lang="en-US" sz="2100" dirty="0"/>
              <a:t>In the current report, +/- 1% deviation is taken into account while mapping.</a:t>
            </a:r>
          </a:p>
          <a:p>
            <a:r>
              <a:rPr lang="en-US" sz="2100" dirty="0"/>
              <a:t> Since actual point 109698 deviation window is (108601, 110794) and predicted label 104000 does not lie in this window, predicted is considered as a FP, and actual as FN (as no ramp is there).</a:t>
            </a:r>
          </a:p>
        </p:txBody>
      </p:sp>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pic>
        <p:nvPicPr>
          <p:cNvPr id="7" name="Picture 6">
            <a:extLst>
              <a:ext uri="{FF2B5EF4-FFF2-40B4-BE49-F238E27FC236}">
                <a16:creationId xmlns:a16="http://schemas.microsoft.com/office/drawing/2014/main" id="{04BC3E5E-019A-DA54-2D56-912DB3F0A65F}"/>
              </a:ext>
            </a:extLst>
          </p:cNvPr>
          <p:cNvPicPr>
            <a:picLocks noChangeAspect="1"/>
          </p:cNvPicPr>
          <p:nvPr/>
        </p:nvPicPr>
        <p:blipFill>
          <a:blip r:embed="rId2"/>
          <a:stretch>
            <a:fillRect/>
          </a:stretch>
        </p:blipFill>
        <p:spPr>
          <a:xfrm>
            <a:off x="4998207" y="322691"/>
            <a:ext cx="6551033" cy="2323414"/>
          </a:xfrm>
          <a:prstGeom prst="rect">
            <a:avLst/>
          </a:prstGeom>
        </p:spPr>
      </p:pic>
      <p:pic>
        <p:nvPicPr>
          <p:cNvPr id="8" name="Picture 7">
            <a:extLst>
              <a:ext uri="{FF2B5EF4-FFF2-40B4-BE49-F238E27FC236}">
                <a16:creationId xmlns:a16="http://schemas.microsoft.com/office/drawing/2014/main" id="{747F4A57-8469-744D-21D7-2045088B3F1D}"/>
              </a:ext>
            </a:extLst>
          </p:cNvPr>
          <p:cNvPicPr>
            <a:picLocks noChangeAspect="1"/>
          </p:cNvPicPr>
          <p:nvPr/>
        </p:nvPicPr>
        <p:blipFill>
          <a:blip r:embed="rId3"/>
          <a:stretch>
            <a:fillRect/>
          </a:stretch>
        </p:blipFill>
        <p:spPr>
          <a:xfrm>
            <a:off x="6479781" y="2774714"/>
            <a:ext cx="5034026" cy="3306834"/>
          </a:xfrm>
          <a:prstGeom prst="rect">
            <a:avLst/>
          </a:prstGeom>
        </p:spPr>
      </p:pic>
    </p:spTree>
    <p:extLst>
      <p:ext uri="{BB962C8B-B14F-4D97-AF65-F5344CB8AC3E}">
        <p14:creationId xmlns:p14="http://schemas.microsoft.com/office/powerpoint/2010/main" val="669352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p:txBody>
          <a:bodyPr/>
          <a:lstStyle/>
          <a:p>
            <a:r>
              <a:rPr lang="en-US" dirty="0"/>
              <a:t>Example4:</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12</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4" y="1063987"/>
            <a:ext cx="6333103" cy="707886"/>
          </a:xfrm>
        </p:spPr>
        <p:txBody>
          <a:bodyPr/>
          <a:lstStyle/>
          <a:p>
            <a:r>
              <a:rPr lang="en-US" dirty="0"/>
              <a:t>IWL Waveform N58R (False Positive not captured by earlier version due to due to deviation)</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293776" y="1916336"/>
            <a:ext cx="6593456" cy="4452690"/>
          </a:xfrm>
        </p:spPr>
        <p:txBody>
          <a:bodyPr>
            <a:normAutofit lnSpcReduction="10000"/>
          </a:bodyPr>
          <a:lstStyle/>
          <a:p>
            <a:r>
              <a:rPr lang="en-US" dirty="0"/>
              <a:t>Path = </a:t>
            </a:r>
            <a:r>
              <a:rPr lang="en-US" sz="2100" dirty="0"/>
              <a:t>bl_pp16_p0_vcc_4_0_vccq_None_vpp_None_rd_iwlx4_vdof_ardy_fine(0,1,3,10,336,,1,1,10,336,,1,2,10,336,,1,0,10,336,0,9495,1)__Group0_lp_labeled.h5</a:t>
            </a:r>
          </a:p>
          <a:p>
            <a:r>
              <a:rPr lang="en-US" sz="2100" dirty="0"/>
              <a:t>In the previous version, the deviation was not taken into account while mapping.</a:t>
            </a:r>
          </a:p>
          <a:p>
            <a:r>
              <a:rPr lang="en-US" sz="2100" dirty="0"/>
              <a:t>This ignores our +/- 1% error range criteria.</a:t>
            </a:r>
          </a:p>
          <a:p>
            <a:r>
              <a:rPr lang="en-US" sz="2100" dirty="0"/>
              <a:t>It is mapped to the nearest value, and shows 0 FP.</a:t>
            </a:r>
          </a:p>
          <a:p>
            <a:r>
              <a:rPr lang="en-US" sz="2100" dirty="0"/>
              <a:t>In the current report, +/- 1% deviation is taken into account while mapping.</a:t>
            </a:r>
          </a:p>
          <a:p>
            <a:r>
              <a:rPr lang="en-US" sz="2100" dirty="0"/>
              <a:t> Since actual point 199222 deviation window is (199222*0.99, 199222*1.01) and predicted label 207100 does not lie in this window, it is considered as a FP. 199222 has no corresponding predicted ramp, hence is a FN.</a:t>
            </a:r>
          </a:p>
        </p:txBody>
      </p:sp>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sp>
        <p:nvSpPr>
          <p:cNvPr id="11" name="TextBox 10">
            <a:extLst>
              <a:ext uri="{FF2B5EF4-FFF2-40B4-BE49-F238E27FC236}">
                <a16:creationId xmlns:a16="http://schemas.microsoft.com/office/drawing/2014/main" id="{D743AAAD-3036-6EFC-1E10-F51A390D3053}"/>
              </a:ext>
            </a:extLst>
          </p:cNvPr>
          <p:cNvSpPr txBox="1"/>
          <p:nvPr/>
        </p:nvSpPr>
        <p:spPr>
          <a:xfrm>
            <a:off x="10213598" y="2801128"/>
            <a:ext cx="1182543" cy="640703"/>
          </a:xfrm>
          <a:prstGeom prst="rect">
            <a:avLst/>
          </a:prstGeom>
          <a:noFill/>
        </p:spPr>
        <p:txBody>
          <a:bodyPr wrap="square" rtlCol="0">
            <a:spAutoFit/>
          </a:bodyPr>
          <a:lstStyle/>
          <a:p>
            <a:r>
              <a:rPr lang="en-US" dirty="0"/>
              <a:t>Zoomed in</a:t>
            </a:r>
          </a:p>
        </p:txBody>
      </p:sp>
      <p:sp>
        <p:nvSpPr>
          <p:cNvPr id="12" name="TextBox 11">
            <a:extLst>
              <a:ext uri="{FF2B5EF4-FFF2-40B4-BE49-F238E27FC236}">
                <a16:creationId xmlns:a16="http://schemas.microsoft.com/office/drawing/2014/main" id="{B50719F2-B431-86A0-3EBE-380FEED707C9}"/>
              </a:ext>
            </a:extLst>
          </p:cNvPr>
          <p:cNvSpPr txBox="1"/>
          <p:nvPr/>
        </p:nvSpPr>
        <p:spPr>
          <a:xfrm>
            <a:off x="10300332" y="5190500"/>
            <a:ext cx="1267146" cy="646331"/>
          </a:xfrm>
          <a:prstGeom prst="rect">
            <a:avLst/>
          </a:prstGeom>
          <a:noFill/>
        </p:spPr>
        <p:txBody>
          <a:bodyPr wrap="square" rtlCol="0">
            <a:spAutoFit/>
          </a:bodyPr>
          <a:lstStyle/>
          <a:p>
            <a:r>
              <a:rPr lang="en-US" dirty="0"/>
              <a:t>Zoomed Out</a:t>
            </a:r>
          </a:p>
        </p:txBody>
      </p:sp>
      <p:pic>
        <p:nvPicPr>
          <p:cNvPr id="7" name="Picture 6">
            <a:extLst>
              <a:ext uri="{FF2B5EF4-FFF2-40B4-BE49-F238E27FC236}">
                <a16:creationId xmlns:a16="http://schemas.microsoft.com/office/drawing/2014/main" id="{013F7C46-5026-5BA7-8EB5-E1A31C4CFFC5}"/>
              </a:ext>
            </a:extLst>
          </p:cNvPr>
          <p:cNvPicPr>
            <a:picLocks noChangeAspect="1"/>
          </p:cNvPicPr>
          <p:nvPr/>
        </p:nvPicPr>
        <p:blipFill>
          <a:blip r:embed="rId2"/>
          <a:stretch>
            <a:fillRect/>
          </a:stretch>
        </p:blipFill>
        <p:spPr>
          <a:xfrm>
            <a:off x="6887232" y="2205598"/>
            <a:ext cx="3287897" cy="2150645"/>
          </a:xfrm>
          <a:prstGeom prst="rect">
            <a:avLst/>
          </a:prstGeom>
        </p:spPr>
      </p:pic>
      <p:pic>
        <p:nvPicPr>
          <p:cNvPr id="8" name="Picture 7">
            <a:extLst>
              <a:ext uri="{FF2B5EF4-FFF2-40B4-BE49-F238E27FC236}">
                <a16:creationId xmlns:a16="http://schemas.microsoft.com/office/drawing/2014/main" id="{CA4637E7-EB3C-1AB9-3646-8ED745EB5D83}"/>
              </a:ext>
            </a:extLst>
          </p:cNvPr>
          <p:cNvPicPr>
            <a:picLocks noChangeAspect="1"/>
          </p:cNvPicPr>
          <p:nvPr/>
        </p:nvPicPr>
        <p:blipFill>
          <a:blip r:embed="rId3"/>
          <a:stretch>
            <a:fillRect/>
          </a:stretch>
        </p:blipFill>
        <p:spPr>
          <a:xfrm>
            <a:off x="6866991" y="4559492"/>
            <a:ext cx="3433341" cy="2224637"/>
          </a:xfrm>
          <a:prstGeom prst="rect">
            <a:avLst/>
          </a:prstGeom>
        </p:spPr>
      </p:pic>
      <p:pic>
        <p:nvPicPr>
          <p:cNvPr id="9" name="Picture 8">
            <a:extLst>
              <a:ext uri="{FF2B5EF4-FFF2-40B4-BE49-F238E27FC236}">
                <a16:creationId xmlns:a16="http://schemas.microsoft.com/office/drawing/2014/main" id="{4C0F8845-8C35-96E4-E529-CB7F6E4B3D59}"/>
              </a:ext>
            </a:extLst>
          </p:cNvPr>
          <p:cNvPicPr>
            <a:picLocks noChangeAspect="1"/>
          </p:cNvPicPr>
          <p:nvPr/>
        </p:nvPicPr>
        <p:blipFill>
          <a:blip r:embed="rId4"/>
          <a:stretch>
            <a:fillRect/>
          </a:stretch>
        </p:blipFill>
        <p:spPr>
          <a:xfrm>
            <a:off x="6838576" y="289310"/>
            <a:ext cx="4725263" cy="1713039"/>
          </a:xfrm>
          <a:prstGeom prst="rect">
            <a:avLst/>
          </a:prstGeom>
        </p:spPr>
      </p:pic>
      <p:sp>
        <p:nvSpPr>
          <p:cNvPr id="17" name="Oval 16">
            <a:extLst>
              <a:ext uri="{FF2B5EF4-FFF2-40B4-BE49-F238E27FC236}">
                <a16:creationId xmlns:a16="http://schemas.microsoft.com/office/drawing/2014/main" id="{3003757B-771F-620D-2C1C-5AA49D5A3D0A}"/>
              </a:ext>
            </a:extLst>
          </p:cNvPr>
          <p:cNvSpPr/>
          <p:nvPr/>
        </p:nvSpPr>
        <p:spPr>
          <a:xfrm>
            <a:off x="7787812" y="2137780"/>
            <a:ext cx="904126" cy="2224637"/>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6426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a:xfrm>
            <a:off x="342900" y="461528"/>
            <a:ext cx="2965379" cy="590931"/>
          </a:xfrm>
        </p:spPr>
        <p:txBody>
          <a:bodyPr/>
          <a:lstStyle/>
          <a:p>
            <a:r>
              <a:rPr lang="en-US" dirty="0"/>
              <a:t>Example5:</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13</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4" y="1063987"/>
            <a:ext cx="6138569" cy="707886"/>
          </a:xfrm>
        </p:spPr>
        <p:txBody>
          <a:bodyPr/>
          <a:lstStyle/>
          <a:p>
            <a:r>
              <a:rPr lang="en-US" dirty="0"/>
              <a:t>Program Waveform N58R (False Negative not captured by earlier version due to incorrect mapping)</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293776" y="1916336"/>
            <a:ext cx="6189217" cy="4452690"/>
          </a:xfrm>
        </p:spPr>
        <p:txBody>
          <a:bodyPr>
            <a:normAutofit/>
          </a:bodyPr>
          <a:lstStyle/>
          <a:p>
            <a:r>
              <a:rPr lang="en-US" dirty="0"/>
              <a:t>Path = gwl_pgr0166_vcc_3_0_vccq_None_vpp_None_pgm(0,0,636,1,0,0,636,4)__Group0_labeled (1).h5 </a:t>
            </a:r>
          </a:p>
          <a:p>
            <a:r>
              <a:rPr lang="en-US" dirty="0"/>
              <a:t>Here 313200 is the predicted data points and corresponding two actual points (290445, 307025) are mapped to it.</a:t>
            </a:r>
          </a:p>
          <a:p>
            <a:r>
              <a:rPr lang="en-US" dirty="0"/>
              <a:t>So essentially, we say there should be two predictions for two actuals, but here only one.</a:t>
            </a:r>
          </a:p>
          <a:p>
            <a:r>
              <a:rPr lang="en-US" dirty="0"/>
              <a:t>This reduces our no of false negative in earlier version.</a:t>
            </a:r>
          </a:p>
          <a:p>
            <a:r>
              <a:rPr lang="en-US" dirty="0"/>
              <a:t>Actual count of FN which is 28 was earlier given as only 18.</a:t>
            </a:r>
          </a:p>
        </p:txBody>
      </p:sp>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sp>
        <p:nvSpPr>
          <p:cNvPr id="11" name="TextBox 10">
            <a:extLst>
              <a:ext uri="{FF2B5EF4-FFF2-40B4-BE49-F238E27FC236}">
                <a16:creationId xmlns:a16="http://schemas.microsoft.com/office/drawing/2014/main" id="{D743AAAD-3036-6EFC-1E10-F51A390D3053}"/>
              </a:ext>
            </a:extLst>
          </p:cNvPr>
          <p:cNvSpPr txBox="1"/>
          <p:nvPr/>
        </p:nvSpPr>
        <p:spPr>
          <a:xfrm>
            <a:off x="10213598" y="2801128"/>
            <a:ext cx="1182543" cy="640703"/>
          </a:xfrm>
          <a:prstGeom prst="rect">
            <a:avLst/>
          </a:prstGeom>
          <a:noFill/>
        </p:spPr>
        <p:txBody>
          <a:bodyPr wrap="square" rtlCol="0">
            <a:spAutoFit/>
          </a:bodyPr>
          <a:lstStyle/>
          <a:p>
            <a:r>
              <a:rPr lang="en-US" dirty="0"/>
              <a:t>Zoomed in</a:t>
            </a:r>
          </a:p>
        </p:txBody>
      </p:sp>
      <p:sp>
        <p:nvSpPr>
          <p:cNvPr id="12" name="TextBox 11">
            <a:extLst>
              <a:ext uri="{FF2B5EF4-FFF2-40B4-BE49-F238E27FC236}">
                <a16:creationId xmlns:a16="http://schemas.microsoft.com/office/drawing/2014/main" id="{B50719F2-B431-86A0-3EBE-380FEED707C9}"/>
              </a:ext>
            </a:extLst>
          </p:cNvPr>
          <p:cNvSpPr txBox="1"/>
          <p:nvPr/>
        </p:nvSpPr>
        <p:spPr>
          <a:xfrm>
            <a:off x="10300332" y="5190500"/>
            <a:ext cx="1267146" cy="646331"/>
          </a:xfrm>
          <a:prstGeom prst="rect">
            <a:avLst/>
          </a:prstGeom>
          <a:noFill/>
        </p:spPr>
        <p:txBody>
          <a:bodyPr wrap="square" rtlCol="0">
            <a:spAutoFit/>
          </a:bodyPr>
          <a:lstStyle/>
          <a:p>
            <a:r>
              <a:rPr lang="en-US" dirty="0"/>
              <a:t>Zoomed Out</a:t>
            </a:r>
          </a:p>
        </p:txBody>
      </p:sp>
      <p:pic>
        <p:nvPicPr>
          <p:cNvPr id="13" name="Picture 12">
            <a:extLst>
              <a:ext uri="{FF2B5EF4-FFF2-40B4-BE49-F238E27FC236}">
                <a16:creationId xmlns:a16="http://schemas.microsoft.com/office/drawing/2014/main" id="{81CBFBD1-73FD-59A7-02C7-57A896D50255}"/>
              </a:ext>
            </a:extLst>
          </p:cNvPr>
          <p:cNvPicPr>
            <a:picLocks noChangeAspect="1"/>
          </p:cNvPicPr>
          <p:nvPr/>
        </p:nvPicPr>
        <p:blipFill>
          <a:blip r:embed="rId2"/>
          <a:stretch>
            <a:fillRect/>
          </a:stretch>
        </p:blipFill>
        <p:spPr>
          <a:xfrm>
            <a:off x="6558342" y="4513309"/>
            <a:ext cx="3510332" cy="2344691"/>
          </a:xfrm>
          <a:prstGeom prst="rect">
            <a:avLst/>
          </a:prstGeom>
        </p:spPr>
      </p:pic>
      <p:pic>
        <p:nvPicPr>
          <p:cNvPr id="14" name="Picture 13">
            <a:extLst>
              <a:ext uri="{FF2B5EF4-FFF2-40B4-BE49-F238E27FC236}">
                <a16:creationId xmlns:a16="http://schemas.microsoft.com/office/drawing/2014/main" id="{9E71F37D-86FB-0585-BF4A-0713F609DF48}"/>
              </a:ext>
            </a:extLst>
          </p:cNvPr>
          <p:cNvPicPr>
            <a:picLocks noChangeAspect="1"/>
          </p:cNvPicPr>
          <p:nvPr/>
        </p:nvPicPr>
        <p:blipFill>
          <a:blip r:embed="rId3"/>
          <a:stretch>
            <a:fillRect/>
          </a:stretch>
        </p:blipFill>
        <p:spPr>
          <a:xfrm>
            <a:off x="6558342" y="252142"/>
            <a:ext cx="4956193" cy="1784013"/>
          </a:xfrm>
          <a:prstGeom prst="rect">
            <a:avLst/>
          </a:prstGeom>
        </p:spPr>
      </p:pic>
      <p:pic>
        <p:nvPicPr>
          <p:cNvPr id="6" name="Picture 5">
            <a:extLst>
              <a:ext uri="{FF2B5EF4-FFF2-40B4-BE49-F238E27FC236}">
                <a16:creationId xmlns:a16="http://schemas.microsoft.com/office/drawing/2014/main" id="{33C1B452-B098-71DA-7D0B-EADC93559A40}"/>
              </a:ext>
            </a:extLst>
          </p:cNvPr>
          <p:cNvPicPr>
            <a:picLocks noChangeAspect="1"/>
          </p:cNvPicPr>
          <p:nvPr/>
        </p:nvPicPr>
        <p:blipFill>
          <a:blip r:embed="rId4"/>
          <a:stretch>
            <a:fillRect/>
          </a:stretch>
        </p:blipFill>
        <p:spPr>
          <a:xfrm>
            <a:off x="6558342" y="2066757"/>
            <a:ext cx="3510332" cy="2358600"/>
          </a:xfrm>
          <a:prstGeom prst="rect">
            <a:avLst/>
          </a:prstGeom>
        </p:spPr>
      </p:pic>
      <p:sp>
        <p:nvSpPr>
          <p:cNvPr id="17" name="Oval 16">
            <a:extLst>
              <a:ext uri="{FF2B5EF4-FFF2-40B4-BE49-F238E27FC236}">
                <a16:creationId xmlns:a16="http://schemas.microsoft.com/office/drawing/2014/main" id="{3003757B-771F-620D-2C1C-5AA49D5A3D0A}"/>
              </a:ext>
            </a:extLst>
          </p:cNvPr>
          <p:cNvSpPr/>
          <p:nvPr/>
        </p:nvSpPr>
        <p:spPr>
          <a:xfrm>
            <a:off x="8065213" y="2066757"/>
            <a:ext cx="729466" cy="2186744"/>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0176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a:xfrm>
            <a:off x="342900" y="461528"/>
            <a:ext cx="2965379" cy="590931"/>
          </a:xfrm>
        </p:spPr>
        <p:txBody>
          <a:bodyPr/>
          <a:lstStyle/>
          <a:p>
            <a:r>
              <a:rPr lang="en-US" dirty="0"/>
              <a:t>Example7:</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14</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4" y="1063987"/>
            <a:ext cx="6138569" cy="707886"/>
          </a:xfrm>
        </p:spPr>
        <p:txBody>
          <a:bodyPr/>
          <a:lstStyle/>
          <a:p>
            <a:r>
              <a:rPr lang="en-US" dirty="0"/>
              <a:t>Read Waveform N58R (False Negative not captured by earlier version due to incorrect mapping)</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293776" y="1916336"/>
            <a:ext cx="6189217" cy="4452690"/>
          </a:xfrm>
        </p:spPr>
        <p:txBody>
          <a:bodyPr>
            <a:normAutofit/>
          </a:bodyPr>
          <a:lstStyle/>
          <a:p>
            <a:r>
              <a:rPr lang="en-US" dirty="0"/>
              <a:t>Path = blclamp2_4k0_p0_vcc_4_0_vccq_None_vpp_None_rd(0,519,639,1)__Group0_qlc_labeled.h5’</a:t>
            </a:r>
          </a:p>
          <a:p>
            <a:r>
              <a:rPr lang="en-US" dirty="0"/>
              <a:t>Here in this case both of these actual red are mapped to single green predicted, this reduces the no of FN</a:t>
            </a:r>
          </a:p>
          <a:p>
            <a:r>
              <a:rPr lang="en-US" dirty="0"/>
              <a:t>But EER does one-to-one mapping, so it is shown as FN</a:t>
            </a:r>
          </a:p>
          <a:p>
            <a:r>
              <a:rPr lang="en-US" dirty="0"/>
              <a:t>Actual count of FN which is actually 1 was given as only 0 earlier.</a:t>
            </a:r>
          </a:p>
          <a:p>
            <a:r>
              <a:rPr lang="en-US" dirty="0"/>
              <a:t>No problem with DAC values here.</a:t>
            </a:r>
          </a:p>
        </p:txBody>
      </p:sp>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sp>
        <p:nvSpPr>
          <p:cNvPr id="11" name="TextBox 10">
            <a:extLst>
              <a:ext uri="{FF2B5EF4-FFF2-40B4-BE49-F238E27FC236}">
                <a16:creationId xmlns:a16="http://schemas.microsoft.com/office/drawing/2014/main" id="{D743AAAD-3036-6EFC-1E10-F51A390D3053}"/>
              </a:ext>
            </a:extLst>
          </p:cNvPr>
          <p:cNvSpPr txBox="1"/>
          <p:nvPr/>
        </p:nvSpPr>
        <p:spPr>
          <a:xfrm>
            <a:off x="10213598" y="2801128"/>
            <a:ext cx="1182543" cy="640703"/>
          </a:xfrm>
          <a:prstGeom prst="rect">
            <a:avLst/>
          </a:prstGeom>
          <a:noFill/>
        </p:spPr>
        <p:txBody>
          <a:bodyPr wrap="square" rtlCol="0">
            <a:spAutoFit/>
          </a:bodyPr>
          <a:lstStyle/>
          <a:p>
            <a:r>
              <a:rPr lang="en-US" dirty="0"/>
              <a:t>Zoomed in</a:t>
            </a:r>
          </a:p>
        </p:txBody>
      </p:sp>
      <p:sp>
        <p:nvSpPr>
          <p:cNvPr id="12" name="TextBox 11">
            <a:extLst>
              <a:ext uri="{FF2B5EF4-FFF2-40B4-BE49-F238E27FC236}">
                <a16:creationId xmlns:a16="http://schemas.microsoft.com/office/drawing/2014/main" id="{B50719F2-B431-86A0-3EBE-380FEED707C9}"/>
              </a:ext>
            </a:extLst>
          </p:cNvPr>
          <p:cNvSpPr txBox="1"/>
          <p:nvPr/>
        </p:nvSpPr>
        <p:spPr>
          <a:xfrm>
            <a:off x="10300332" y="5190500"/>
            <a:ext cx="1267146" cy="646331"/>
          </a:xfrm>
          <a:prstGeom prst="rect">
            <a:avLst/>
          </a:prstGeom>
          <a:noFill/>
        </p:spPr>
        <p:txBody>
          <a:bodyPr wrap="square" rtlCol="0">
            <a:spAutoFit/>
          </a:bodyPr>
          <a:lstStyle/>
          <a:p>
            <a:r>
              <a:rPr lang="en-US" dirty="0"/>
              <a:t>Zoomed Out</a:t>
            </a:r>
          </a:p>
        </p:txBody>
      </p:sp>
      <p:pic>
        <p:nvPicPr>
          <p:cNvPr id="8" name="Picture 7">
            <a:extLst>
              <a:ext uri="{FF2B5EF4-FFF2-40B4-BE49-F238E27FC236}">
                <a16:creationId xmlns:a16="http://schemas.microsoft.com/office/drawing/2014/main" id="{C821B5D5-E523-AF54-15D0-E5E9E22B56D8}"/>
              </a:ext>
            </a:extLst>
          </p:cNvPr>
          <p:cNvPicPr>
            <a:picLocks noChangeAspect="1"/>
          </p:cNvPicPr>
          <p:nvPr/>
        </p:nvPicPr>
        <p:blipFill>
          <a:blip r:embed="rId2"/>
          <a:stretch>
            <a:fillRect/>
          </a:stretch>
        </p:blipFill>
        <p:spPr>
          <a:xfrm>
            <a:off x="6628391" y="4487146"/>
            <a:ext cx="3453509" cy="2276714"/>
          </a:xfrm>
          <a:prstGeom prst="rect">
            <a:avLst/>
          </a:prstGeom>
        </p:spPr>
      </p:pic>
      <p:pic>
        <p:nvPicPr>
          <p:cNvPr id="9" name="Picture 8">
            <a:extLst>
              <a:ext uri="{FF2B5EF4-FFF2-40B4-BE49-F238E27FC236}">
                <a16:creationId xmlns:a16="http://schemas.microsoft.com/office/drawing/2014/main" id="{C4667B93-6162-9EFD-E9AC-FC1E496C211C}"/>
              </a:ext>
            </a:extLst>
          </p:cNvPr>
          <p:cNvPicPr>
            <a:picLocks noChangeAspect="1"/>
          </p:cNvPicPr>
          <p:nvPr/>
        </p:nvPicPr>
        <p:blipFill>
          <a:blip r:embed="rId3"/>
          <a:stretch>
            <a:fillRect/>
          </a:stretch>
        </p:blipFill>
        <p:spPr>
          <a:xfrm>
            <a:off x="6628391" y="2068242"/>
            <a:ext cx="3453509" cy="2306364"/>
          </a:xfrm>
          <a:prstGeom prst="rect">
            <a:avLst/>
          </a:prstGeom>
        </p:spPr>
      </p:pic>
      <p:sp>
        <p:nvSpPr>
          <p:cNvPr id="17" name="Oval 16">
            <a:extLst>
              <a:ext uri="{FF2B5EF4-FFF2-40B4-BE49-F238E27FC236}">
                <a16:creationId xmlns:a16="http://schemas.microsoft.com/office/drawing/2014/main" id="{3003757B-771F-620D-2C1C-5AA49D5A3D0A}"/>
              </a:ext>
            </a:extLst>
          </p:cNvPr>
          <p:cNvSpPr/>
          <p:nvPr/>
        </p:nvSpPr>
        <p:spPr>
          <a:xfrm>
            <a:off x="8231855" y="2036782"/>
            <a:ext cx="760287" cy="2186744"/>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A9D8D271-C7A3-31E9-9B00-CD5223CF9777}"/>
              </a:ext>
            </a:extLst>
          </p:cNvPr>
          <p:cNvPicPr>
            <a:picLocks noChangeAspect="1"/>
          </p:cNvPicPr>
          <p:nvPr/>
        </p:nvPicPr>
        <p:blipFill>
          <a:blip r:embed="rId4"/>
          <a:stretch>
            <a:fillRect/>
          </a:stretch>
        </p:blipFill>
        <p:spPr>
          <a:xfrm>
            <a:off x="6602847" y="284328"/>
            <a:ext cx="4778590" cy="1727644"/>
          </a:xfrm>
          <a:prstGeom prst="rect">
            <a:avLst/>
          </a:prstGeom>
        </p:spPr>
      </p:pic>
    </p:spTree>
    <p:extLst>
      <p:ext uri="{BB962C8B-B14F-4D97-AF65-F5344CB8AC3E}">
        <p14:creationId xmlns:p14="http://schemas.microsoft.com/office/powerpoint/2010/main" val="906787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B2686-7335-5A09-83B9-6ED788AFB130}"/>
              </a:ext>
            </a:extLst>
          </p:cNvPr>
          <p:cNvSpPr>
            <a:spLocks noGrp="1"/>
          </p:cNvSpPr>
          <p:nvPr>
            <p:ph type="title"/>
          </p:nvPr>
        </p:nvSpPr>
        <p:spPr>
          <a:xfrm>
            <a:off x="3373776" y="2495812"/>
            <a:ext cx="7095590" cy="646331"/>
          </a:xfrm>
        </p:spPr>
        <p:txBody>
          <a:bodyPr/>
          <a:lstStyle/>
          <a:p>
            <a:r>
              <a:rPr lang="en-US" sz="4000" dirty="0"/>
              <a:t>Mislabeling of Data</a:t>
            </a:r>
          </a:p>
        </p:txBody>
      </p:sp>
      <p:sp>
        <p:nvSpPr>
          <p:cNvPr id="3" name="Slide Number Placeholder 2">
            <a:extLst>
              <a:ext uri="{FF2B5EF4-FFF2-40B4-BE49-F238E27FC236}">
                <a16:creationId xmlns:a16="http://schemas.microsoft.com/office/drawing/2014/main" id="{3DF8EBF1-3AFE-7157-3C1A-2ADF61D7EF3E}"/>
              </a:ext>
            </a:extLst>
          </p:cNvPr>
          <p:cNvSpPr>
            <a:spLocks noGrp="1"/>
          </p:cNvSpPr>
          <p:nvPr>
            <p:ph type="sldNum" sz="quarter" idx="12"/>
          </p:nvPr>
        </p:nvSpPr>
        <p:spPr/>
        <p:txBody>
          <a:bodyPr/>
          <a:lstStyle/>
          <a:p>
            <a:fld id="{B7E7695C-FCF1-4AA0-9B93-7941FED13DC4}" type="slidenum">
              <a:rPr lang="en-US" smtClean="0"/>
              <a:pPr/>
              <a:t>15</a:t>
            </a:fld>
            <a:endParaRPr lang="en-US" dirty="0"/>
          </a:p>
        </p:txBody>
      </p:sp>
    </p:spTree>
    <p:extLst>
      <p:ext uri="{BB962C8B-B14F-4D97-AF65-F5344CB8AC3E}">
        <p14:creationId xmlns:p14="http://schemas.microsoft.com/office/powerpoint/2010/main" val="2150273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p:txBody>
          <a:bodyPr/>
          <a:lstStyle/>
          <a:p>
            <a:r>
              <a:rPr lang="en-US" dirty="0"/>
              <a:t>Example1:</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16</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4" y="1063987"/>
            <a:ext cx="6333103" cy="707886"/>
          </a:xfrm>
        </p:spPr>
        <p:txBody>
          <a:bodyPr/>
          <a:lstStyle/>
          <a:p>
            <a:r>
              <a:rPr lang="en-US" dirty="0"/>
              <a:t>Read Waveform (Ramp end point not marked correctly)</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293776" y="1916336"/>
            <a:ext cx="6425904" cy="4452690"/>
          </a:xfrm>
        </p:spPr>
        <p:txBody>
          <a:bodyPr/>
          <a:lstStyle/>
          <a:p>
            <a:r>
              <a:rPr lang="en-US" dirty="0"/>
              <a:t>Path = gwl_pgr087_vcc_4_0_vccq_None_vpp_None_rd(0,519,336,1)__Group0_labeled.h5</a:t>
            </a:r>
          </a:p>
          <a:p>
            <a:r>
              <a:rPr lang="en-US" dirty="0"/>
              <a:t>The highlighted ramp point is not marked.</a:t>
            </a:r>
          </a:p>
          <a:p>
            <a:r>
              <a:rPr lang="en-US" dirty="0"/>
              <a:t>It is being predicted correctly.</a:t>
            </a:r>
          </a:p>
          <a:p>
            <a:r>
              <a:rPr lang="en-US" dirty="0"/>
              <a:t>But since there is no actual ramp given there, it adds up to the number of FP.</a:t>
            </a:r>
          </a:p>
          <a:p>
            <a:endParaRPr lang="en-US" dirty="0"/>
          </a:p>
        </p:txBody>
      </p:sp>
      <p:pic>
        <p:nvPicPr>
          <p:cNvPr id="7" name="Picture 6">
            <a:extLst>
              <a:ext uri="{FF2B5EF4-FFF2-40B4-BE49-F238E27FC236}">
                <a16:creationId xmlns:a16="http://schemas.microsoft.com/office/drawing/2014/main" id="{EB45900F-A874-DCFB-E198-DCA1F08ED908}"/>
              </a:ext>
            </a:extLst>
          </p:cNvPr>
          <p:cNvPicPr>
            <a:picLocks noChangeAspect="1"/>
          </p:cNvPicPr>
          <p:nvPr/>
        </p:nvPicPr>
        <p:blipFill>
          <a:blip r:embed="rId2"/>
          <a:stretch>
            <a:fillRect/>
          </a:stretch>
        </p:blipFill>
        <p:spPr>
          <a:xfrm>
            <a:off x="6901303" y="244817"/>
            <a:ext cx="4717671" cy="2043479"/>
          </a:xfrm>
          <a:prstGeom prst="rect">
            <a:avLst/>
          </a:prstGeom>
        </p:spPr>
      </p:pic>
      <p:pic>
        <p:nvPicPr>
          <p:cNvPr id="8" name="Picture 7">
            <a:extLst>
              <a:ext uri="{FF2B5EF4-FFF2-40B4-BE49-F238E27FC236}">
                <a16:creationId xmlns:a16="http://schemas.microsoft.com/office/drawing/2014/main" id="{37D1C850-7589-F355-716E-BFD9CE322C40}"/>
              </a:ext>
            </a:extLst>
          </p:cNvPr>
          <p:cNvPicPr>
            <a:picLocks noChangeAspect="1"/>
          </p:cNvPicPr>
          <p:nvPr/>
        </p:nvPicPr>
        <p:blipFill>
          <a:blip r:embed="rId3"/>
          <a:stretch>
            <a:fillRect/>
          </a:stretch>
        </p:blipFill>
        <p:spPr>
          <a:xfrm>
            <a:off x="6831568" y="2658400"/>
            <a:ext cx="4787406" cy="1697123"/>
          </a:xfrm>
          <a:prstGeom prst="rect">
            <a:avLst/>
          </a:prstGeom>
        </p:spPr>
      </p:pic>
      <p:pic>
        <p:nvPicPr>
          <p:cNvPr id="9" name="Picture 8">
            <a:extLst>
              <a:ext uri="{FF2B5EF4-FFF2-40B4-BE49-F238E27FC236}">
                <a16:creationId xmlns:a16="http://schemas.microsoft.com/office/drawing/2014/main" id="{0A6175E2-CDFA-B2DE-6B1C-2FDDD38D817D}"/>
              </a:ext>
            </a:extLst>
          </p:cNvPr>
          <p:cNvPicPr>
            <a:picLocks noChangeAspect="1"/>
          </p:cNvPicPr>
          <p:nvPr/>
        </p:nvPicPr>
        <p:blipFill>
          <a:blip r:embed="rId4"/>
          <a:stretch>
            <a:fillRect/>
          </a:stretch>
        </p:blipFill>
        <p:spPr>
          <a:xfrm>
            <a:off x="6866435" y="4709053"/>
            <a:ext cx="4787406" cy="1659973"/>
          </a:xfrm>
          <a:prstGeom prst="rect">
            <a:avLst/>
          </a:prstGeom>
        </p:spPr>
      </p:pic>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sp>
        <p:nvSpPr>
          <p:cNvPr id="11" name="TextBox 10">
            <a:extLst>
              <a:ext uri="{FF2B5EF4-FFF2-40B4-BE49-F238E27FC236}">
                <a16:creationId xmlns:a16="http://schemas.microsoft.com/office/drawing/2014/main" id="{D743AAAD-3036-6EFC-1E10-F51A390D3053}"/>
              </a:ext>
            </a:extLst>
          </p:cNvPr>
          <p:cNvSpPr txBox="1"/>
          <p:nvPr/>
        </p:nvSpPr>
        <p:spPr>
          <a:xfrm>
            <a:off x="8495016" y="2342020"/>
            <a:ext cx="1767155" cy="369332"/>
          </a:xfrm>
          <a:prstGeom prst="rect">
            <a:avLst/>
          </a:prstGeom>
          <a:noFill/>
        </p:spPr>
        <p:txBody>
          <a:bodyPr wrap="square" rtlCol="0">
            <a:spAutoFit/>
          </a:bodyPr>
          <a:lstStyle/>
          <a:p>
            <a:r>
              <a:rPr lang="en-US" dirty="0"/>
              <a:t>Zoomed in</a:t>
            </a:r>
          </a:p>
        </p:txBody>
      </p:sp>
      <p:sp>
        <p:nvSpPr>
          <p:cNvPr id="12" name="TextBox 11">
            <a:extLst>
              <a:ext uri="{FF2B5EF4-FFF2-40B4-BE49-F238E27FC236}">
                <a16:creationId xmlns:a16="http://schemas.microsoft.com/office/drawing/2014/main" id="{B50719F2-B431-86A0-3EBE-380FEED707C9}"/>
              </a:ext>
            </a:extLst>
          </p:cNvPr>
          <p:cNvSpPr txBox="1"/>
          <p:nvPr/>
        </p:nvSpPr>
        <p:spPr>
          <a:xfrm>
            <a:off x="8679951" y="4339721"/>
            <a:ext cx="1767155" cy="369332"/>
          </a:xfrm>
          <a:prstGeom prst="rect">
            <a:avLst/>
          </a:prstGeom>
          <a:noFill/>
        </p:spPr>
        <p:txBody>
          <a:bodyPr wrap="square" rtlCol="0">
            <a:spAutoFit/>
          </a:bodyPr>
          <a:lstStyle/>
          <a:p>
            <a:r>
              <a:rPr lang="en-US" dirty="0"/>
              <a:t>Zoomed Out</a:t>
            </a:r>
          </a:p>
        </p:txBody>
      </p:sp>
      <p:sp>
        <p:nvSpPr>
          <p:cNvPr id="13" name="Oval 12">
            <a:extLst>
              <a:ext uri="{FF2B5EF4-FFF2-40B4-BE49-F238E27FC236}">
                <a16:creationId xmlns:a16="http://schemas.microsoft.com/office/drawing/2014/main" id="{F8A75B09-40B5-0C41-0365-DAC93429CDA3}"/>
              </a:ext>
            </a:extLst>
          </p:cNvPr>
          <p:cNvSpPr/>
          <p:nvPr/>
        </p:nvSpPr>
        <p:spPr>
          <a:xfrm>
            <a:off x="9049359" y="2704582"/>
            <a:ext cx="658468" cy="1499173"/>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9148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p:txBody>
          <a:bodyPr/>
          <a:lstStyle/>
          <a:p>
            <a:r>
              <a:rPr lang="en-US" dirty="0"/>
              <a:t>Example2:</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17</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4" y="1063987"/>
            <a:ext cx="6333103" cy="707886"/>
          </a:xfrm>
        </p:spPr>
        <p:txBody>
          <a:bodyPr/>
          <a:lstStyle/>
          <a:p>
            <a:r>
              <a:rPr lang="en-US" dirty="0"/>
              <a:t>Program Waveform N58R (Ramp end point not marked correctly, mid way ramps present)</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293776" y="1916336"/>
            <a:ext cx="6425904" cy="4452690"/>
          </a:xfrm>
        </p:spPr>
        <p:txBody>
          <a:bodyPr>
            <a:normAutofit/>
          </a:bodyPr>
          <a:lstStyle/>
          <a:p>
            <a:r>
              <a:rPr lang="en-US" dirty="0"/>
              <a:t>Path = gwl_pgr0166_vcc_3_0_vccq_None_vpp_None_pgm(0,0,636,1,0,0,636,4)__Group0_labeled (1).h5</a:t>
            </a:r>
          </a:p>
          <a:p>
            <a:r>
              <a:rPr lang="en-US" dirty="0"/>
              <a:t>Here some ramp has been predicted , but when seen from the actual data, there is no corresponding ramp there.</a:t>
            </a:r>
          </a:p>
          <a:p>
            <a:r>
              <a:rPr lang="en-US" dirty="0"/>
              <a:t>When zoomed in, it shows that slope actually changes there and it is a mid way ramp.</a:t>
            </a:r>
          </a:p>
          <a:p>
            <a:r>
              <a:rPr lang="en-US" dirty="0"/>
              <a:t>This is not labelled and is leading to increase in number of FP’s.</a:t>
            </a:r>
          </a:p>
        </p:txBody>
      </p:sp>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sp>
        <p:nvSpPr>
          <p:cNvPr id="11" name="TextBox 10">
            <a:extLst>
              <a:ext uri="{FF2B5EF4-FFF2-40B4-BE49-F238E27FC236}">
                <a16:creationId xmlns:a16="http://schemas.microsoft.com/office/drawing/2014/main" id="{D743AAAD-3036-6EFC-1E10-F51A390D3053}"/>
              </a:ext>
            </a:extLst>
          </p:cNvPr>
          <p:cNvSpPr txBox="1"/>
          <p:nvPr/>
        </p:nvSpPr>
        <p:spPr>
          <a:xfrm>
            <a:off x="10213598" y="2801128"/>
            <a:ext cx="1182543" cy="640703"/>
          </a:xfrm>
          <a:prstGeom prst="rect">
            <a:avLst/>
          </a:prstGeom>
          <a:noFill/>
        </p:spPr>
        <p:txBody>
          <a:bodyPr wrap="square" rtlCol="0">
            <a:spAutoFit/>
          </a:bodyPr>
          <a:lstStyle/>
          <a:p>
            <a:r>
              <a:rPr lang="en-US" dirty="0"/>
              <a:t>Zoomed in</a:t>
            </a:r>
          </a:p>
        </p:txBody>
      </p:sp>
      <p:sp>
        <p:nvSpPr>
          <p:cNvPr id="12" name="TextBox 11">
            <a:extLst>
              <a:ext uri="{FF2B5EF4-FFF2-40B4-BE49-F238E27FC236}">
                <a16:creationId xmlns:a16="http://schemas.microsoft.com/office/drawing/2014/main" id="{B50719F2-B431-86A0-3EBE-380FEED707C9}"/>
              </a:ext>
            </a:extLst>
          </p:cNvPr>
          <p:cNvSpPr txBox="1"/>
          <p:nvPr/>
        </p:nvSpPr>
        <p:spPr>
          <a:xfrm>
            <a:off x="10300332" y="5190500"/>
            <a:ext cx="1267146" cy="646331"/>
          </a:xfrm>
          <a:prstGeom prst="rect">
            <a:avLst/>
          </a:prstGeom>
          <a:noFill/>
        </p:spPr>
        <p:txBody>
          <a:bodyPr wrap="square" rtlCol="0">
            <a:spAutoFit/>
          </a:bodyPr>
          <a:lstStyle/>
          <a:p>
            <a:r>
              <a:rPr lang="en-US" dirty="0"/>
              <a:t>Zoomed Out</a:t>
            </a:r>
          </a:p>
        </p:txBody>
      </p:sp>
      <p:pic>
        <p:nvPicPr>
          <p:cNvPr id="6" name="Picture 5">
            <a:extLst>
              <a:ext uri="{FF2B5EF4-FFF2-40B4-BE49-F238E27FC236}">
                <a16:creationId xmlns:a16="http://schemas.microsoft.com/office/drawing/2014/main" id="{6DCE7C12-B44E-6F4D-34A0-3A5FB7DF28E5}"/>
              </a:ext>
            </a:extLst>
          </p:cNvPr>
          <p:cNvPicPr>
            <a:picLocks noChangeAspect="1"/>
          </p:cNvPicPr>
          <p:nvPr/>
        </p:nvPicPr>
        <p:blipFill>
          <a:blip r:embed="rId2"/>
          <a:stretch>
            <a:fillRect/>
          </a:stretch>
        </p:blipFill>
        <p:spPr>
          <a:xfrm>
            <a:off x="6748175" y="298154"/>
            <a:ext cx="4859213" cy="1859200"/>
          </a:xfrm>
          <a:prstGeom prst="rect">
            <a:avLst/>
          </a:prstGeom>
        </p:spPr>
      </p:pic>
      <p:pic>
        <p:nvPicPr>
          <p:cNvPr id="14" name="Picture 13">
            <a:extLst>
              <a:ext uri="{FF2B5EF4-FFF2-40B4-BE49-F238E27FC236}">
                <a16:creationId xmlns:a16="http://schemas.microsoft.com/office/drawing/2014/main" id="{C4055A54-93F6-4282-6594-1ED199531BBF}"/>
              </a:ext>
            </a:extLst>
          </p:cNvPr>
          <p:cNvPicPr>
            <a:picLocks noChangeAspect="1"/>
          </p:cNvPicPr>
          <p:nvPr/>
        </p:nvPicPr>
        <p:blipFill>
          <a:blip r:embed="rId3"/>
          <a:stretch>
            <a:fillRect/>
          </a:stretch>
        </p:blipFill>
        <p:spPr>
          <a:xfrm>
            <a:off x="6872713" y="2320728"/>
            <a:ext cx="3274586" cy="1932279"/>
          </a:xfrm>
          <a:prstGeom prst="rect">
            <a:avLst/>
          </a:prstGeom>
        </p:spPr>
      </p:pic>
      <p:pic>
        <p:nvPicPr>
          <p:cNvPr id="15" name="Content Placeholder 9">
            <a:extLst>
              <a:ext uri="{FF2B5EF4-FFF2-40B4-BE49-F238E27FC236}">
                <a16:creationId xmlns:a16="http://schemas.microsoft.com/office/drawing/2014/main" id="{CB4B068C-13AF-44AB-5E34-76DAD5ED962A}"/>
              </a:ext>
            </a:extLst>
          </p:cNvPr>
          <p:cNvPicPr>
            <a:picLocks noChangeAspect="1"/>
          </p:cNvPicPr>
          <p:nvPr/>
        </p:nvPicPr>
        <p:blipFill>
          <a:blip r:embed="rId4"/>
          <a:stretch>
            <a:fillRect/>
          </a:stretch>
        </p:blipFill>
        <p:spPr>
          <a:xfrm>
            <a:off x="6829346" y="4440914"/>
            <a:ext cx="3361320" cy="2289679"/>
          </a:xfrm>
          <a:prstGeom prst="rect">
            <a:avLst/>
          </a:prstGeom>
        </p:spPr>
      </p:pic>
      <p:sp>
        <p:nvSpPr>
          <p:cNvPr id="13" name="Oval 12">
            <a:extLst>
              <a:ext uri="{FF2B5EF4-FFF2-40B4-BE49-F238E27FC236}">
                <a16:creationId xmlns:a16="http://schemas.microsoft.com/office/drawing/2014/main" id="{F8A75B09-40B5-0C41-0365-DAC93429CDA3}"/>
              </a:ext>
            </a:extLst>
          </p:cNvPr>
          <p:cNvSpPr/>
          <p:nvPr/>
        </p:nvSpPr>
        <p:spPr>
          <a:xfrm>
            <a:off x="9092629" y="2345261"/>
            <a:ext cx="493158" cy="1756121"/>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9648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p:txBody>
          <a:bodyPr/>
          <a:lstStyle/>
          <a:p>
            <a:r>
              <a:rPr lang="en-US" dirty="0"/>
              <a:t>Example3:</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18</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4" y="1063987"/>
            <a:ext cx="5625293" cy="707886"/>
          </a:xfrm>
        </p:spPr>
        <p:txBody>
          <a:bodyPr/>
          <a:lstStyle/>
          <a:p>
            <a:r>
              <a:rPr lang="en-US" dirty="0"/>
              <a:t>Read Waveform N58R (DAC value suggest does not match here)</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293776" y="1916336"/>
            <a:ext cx="6425904" cy="4452690"/>
          </a:xfrm>
        </p:spPr>
        <p:txBody>
          <a:bodyPr>
            <a:normAutofit/>
          </a:bodyPr>
          <a:lstStyle/>
          <a:p>
            <a:r>
              <a:rPr lang="en-US" dirty="0"/>
              <a:t>Path = gwl_pgr087_vcc_4_0_vccq_None_vpp_None_rd(0,519,336,1)__Group0_labeled.h5</a:t>
            </a:r>
          </a:p>
          <a:p>
            <a:r>
              <a:rPr lang="en-US" dirty="0"/>
              <a:t>Here the two ramp point labels are 385823, 389582.</a:t>
            </a:r>
          </a:p>
          <a:p>
            <a:r>
              <a:rPr lang="en-US" dirty="0"/>
              <a:t>Corresponding </a:t>
            </a:r>
            <a:r>
              <a:rPr lang="en-US" dirty="0" err="1"/>
              <a:t>y_diff</a:t>
            </a:r>
            <a:r>
              <a:rPr lang="en-US" dirty="0"/>
              <a:t> (deviation in y direction) is 0.13201523 which is less than the minimum DAC value of 0.2, so it is noise which has been marked as a ramp.</a:t>
            </a:r>
          </a:p>
          <a:p>
            <a:r>
              <a:rPr lang="en-US" dirty="0"/>
              <a:t>One of the other criteria to eliminate the FP are if the deviation is y direction is less than 10% or not. Here the deviation is only 1.52%, hence it was ignored.</a:t>
            </a:r>
          </a:p>
          <a:p>
            <a:r>
              <a:rPr lang="en-US" dirty="0"/>
              <a:t>Now this is popping up as a FN and is leading to increase in number of FN’s.</a:t>
            </a:r>
          </a:p>
        </p:txBody>
      </p:sp>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sp>
        <p:nvSpPr>
          <p:cNvPr id="11" name="TextBox 10">
            <a:extLst>
              <a:ext uri="{FF2B5EF4-FFF2-40B4-BE49-F238E27FC236}">
                <a16:creationId xmlns:a16="http://schemas.microsoft.com/office/drawing/2014/main" id="{D743AAAD-3036-6EFC-1E10-F51A390D3053}"/>
              </a:ext>
            </a:extLst>
          </p:cNvPr>
          <p:cNvSpPr txBox="1"/>
          <p:nvPr/>
        </p:nvSpPr>
        <p:spPr>
          <a:xfrm>
            <a:off x="10128995" y="2805303"/>
            <a:ext cx="1182543" cy="640703"/>
          </a:xfrm>
          <a:prstGeom prst="rect">
            <a:avLst/>
          </a:prstGeom>
          <a:noFill/>
        </p:spPr>
        <p:txBody>
          <a:bodyPr wrap="square" rtlCol="0">
            <a:spAutoFit/>
          </a:bodyPr>
          <a:lstStyle/>
          <a:p>
            <a:r>
              <a:rPr lang="en-US" dirty="0"/>
              <a:t>Zoomed in</a:t>
            </a:r>
          </a:p>
        </p:txBody>
      </p:sp>
      <p:sp>
        <p:nvSpPr>
          <p:cNvPr id="12" name="TextBox 11">
            <a:extLst>
              <a:ext uri="{FF2B5EF4-FFF2-40B4-BE49-F238E27FC236}">
                <a16:creationId xmlns:a16="http://schemas.microsoft.com/office/drawing/2014/main" id="{B50719F2-B431-86A0-3EBE-380FEED707C9}"/>
              </a:ext>
            </a:extLst>
          </p:cNvPr>
          <p:cNvSpPr txBox="1"/>
          <p:nvPr/>
        </p:nvSpPr>
        <p:spPr>
          <a:xfrm>
            <a:off x="10128995" y="5196128"/>
            <a:ext cx="1267146" cy="646331"/>
          </a:xfrm>
          <a:prstGeom prst="rect">
            <a:avLst/>
          </a:prstGeom>
          <a:noFill/>
        </p:spPr>
        <p:txBody>
          <a:bodyPr wrap="square" rtlCol="0">
            <a:spAutoFit/>
          </a:bodyPr>
          <a:lstStyle/>
          <a:p>
            <a:r>
              <a:rPr lang="en-US" dirty="0"/>
              <a:t>Zoomed Out</a:t>
            </a:r>
          </a:p>
        </p:txBody>
      </p:sp>
      <p:pic>
        <p:nvPicPr>
          <p:cNvPr id="7" name="Picture 6">
            <a:extLst>
              <a:ext uri="{FF2B5EF4-FFF2-40B4-BE49-F238E27FC236}">
                <a16:creationId xmlns:a16="http://schemas.microsoft.com/office/drawing/2014/main" id="{C20B6E65-E409-343F-2C8D-E27328B72AF8}"/>
              </a:ext>
            </a:extLst>
          </p:cNvPr>
          <p:cNvPicPr>
            <a:picLocks noChangeAspect="1"/>
          </p:cNvPicPr>
          <p:nvPr/>
        </p:nvPicPr>
        <p:blipFill>
          <a:blip r:embed="rId2"/>
          <a:stretch>
            <a:fillRect/>
          </a:stretch>
        </p:blipFill>
        <p:spPr>
          <a:xfrm>
            <a:off x="6937379" y="2297712"/>
            <a:ext cx="3058520" cy="2056501"/>
          </a:xfrm>
          <a:prstGeom prst="rect">
            <a:avLst/>
          </a:prstGeom>
        </p:spPr>
      </p:pic>
      <p:pic>
        <p:nvPicPr>
          <p:cNvPr id="8" name="Picture 7">
            <a:extLst>
              <a:ext uri="{FF2B5EF4-FFF2-40B4-BE49-F238E27FC236}">
                <a16:creationId xmlns:a16="http://schemas.microsoft.com/office/drawing/2014/main" id="{4A7F381B-A901-2602-7A6A-12C7ADD3D5C2}"/>
              </a:ext>
            </a:extLst>
          </p:cNvPr>
          <p:cNvPicPr>
            <a:picLocks noChangeAspect="1"/>
          </p:cNvPicPr>
          <p:nvPr/>
        </p:nvPicPr>
        <p:blipFill>
          <a:blip r:embed="rId3"/>
          <a:stretch>
            <a:fillRect/>
          </a:stretch>
        </p:blipFill>
        <p:spPr>
          <a:xfrm>
            <a:off x="6981388" y="4526246"/>
            <a:ext cx="3014511" cy="2086969"/>
          </a:xfrm>
          <a:prstGeom prst="rect">
            <a:avLst/>
          </a:prstGeom>
        </p:spPr>
      </p:pic>
      <p:pic>
        <p:nvPicPr>
          <p:cNvPr id="9" name="Picture 8">
            <a:extLst>
              <a:ext uri="{FF2B5EF4-FFF2-40B4-BE49-F238E27FC236}">
                <a16:creationId xmlns:a16="http://schemas.microsoft.com/office/drawing/2014/main" id="{189DC685-652C-668A-B984-EC3C761AF693}"/>
              </a:ext>
            </a:extLst>
          </p:cNvPr>
          <p:cNvPicPr>
            <a:picLocks noChangeAspect="1"/>
          </p:cNvPicPr>
          <p:nvPr/>
        </p:nvPicPr>
        <p:blipFill>
          <a:blip r:embed="rId4"/>
          <a:stretch>
            <a:fillRect/>
          </a:stretch>
        </p:blipFill>
        <p:spPr>
          <a:xfrm>
            <a:off x="6251339" y="244785"/>
            <a:ext cx="5316139" cy="1893850"/>
          </a:xfrm>
          <a:prstGeom prst="rect">
            <a:avLst/>
          </a:prstGeom>
        </p:spPr>
      </p:pic>
      <p:sp>
        <p:nvSpPr>
          <p:cNvPr id="16" name="Oval 15">
            <a:extLst>
              <a:ext uri="{FF2B5EF4-FFF2-40B4-BE49-F238E27FC236}">
                <a16:creationId xmlns:a16="http://schemas.microsoft.com/office/drawing/2014/main" id="{A65542CB-361D-383A-C994-9120DE076618}"/>
              </a:ext>
            </a:extLst>
          </p:cNvPr>
          <p:cNvSpPr/>
          <p:nvPr/>
        </p:nvSpPr>
        <p:spPr>
          <a:xfrm>
            <a:off x="8220060" y="4526246"/>
            <a:ext cx="493158" cy="1870226"/>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0468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p:txBody>
          <a:bodyPr/>
          <a:lstStyle/>
          <a:p>
            <a:r>
              <a:rPr lang="en-US" dirty="0"/>
              <a:t>Example4:</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19</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4" y="1063987"/>
            <a:ext cx="5625293" cy="707886"/>
          </a:xfrm>
        </p:spPr>
        <p:txBody>
          <a:bodyPr/>
          <a:lstStyle/>
          <a:p>
            <a:r>
              <a:rPr lang="en-US" dirty="0"/>
              <a:t>Read Waveform N58R (DAC value suggest does not match here)</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293776" y="1771873"/>
            <a:ext cx="5675941" cy="5194006"/>
          </a:xfrm>
        </p:spPr>
        <p:txBody>
          <a:bodyPr>
            <a:normAutofit fontScale="92500" lnSpcReduction="10000"/>
          </a:bodyPr>
          <a:lstStyle/>
          <a:p>
            <a:r>
              <a:rPr lang="en-US" dirty="0"/>
              <a:t>Path = </a:t>
            </a:r>
            <a:r>
              <a:rPr lang="en-US" sz="2100" dirty="0"/>
              <a:t>gwl_pgr086_vcc_4_0_vccq_None_vpp_None_rd(0,519,336,1)__Group0_labeled.h5</a:t>
            </a:r>
          </a:p>
          <a:p>
            <a:r>
              <a:rPr lang="en-US" sz="2100" dirty="0"/>
              <a:t>Here for this ramp DAC is less than 0.1, but still it is given as ramp </a:t>
            </a:r>
          </a:p>
          <a:p>
            <a:r>
              <a:rPr lang="en-US" sz="2100" dirty="0"/>
              <a:t>For example 1, the points labelled are as (175570, 184816), whose values are:</a:t>
            </a:r>
          </a:p>
          <a:p>
            <a:pPr lvl="1">
              <a:buFont typeface="Arial" panose="020B0604020202020204" pitchFamily="34" charset="0"/>
              <a:buChar char="•"/>
            </a:pPr>
            <a:r>
              <a:rPr lang="en-US" sz="2100" dirty="0"/>
              <a:t>DAC = 0.09757614  &lt; 0.2</a:t>
            </a:r>
          </a:p>
          <a:p>
            <a:pPr lvl="1">
              <a:buFont typeface="Arial" panose="020B0604020202020204" pitchFamily="34" charset="0"/>
              <a:buChar char="•"/>
            </a:pPr>
            <a:r>
              <a:rPr lang="en-US" sz="2100" dirty="0"/>
              <a:t>% deviation in y direction = 1.2 % &lt; 10%</a:t>
            </a:r>
          </a:p>
          <a:p>
            <a:r>
              <a:rPr lang="en-US" sz="2100" dirty="0"/>
              <a:t>For example 2, the points labelled are as (297492, 319738), whose values are:</a:t>
            </a:r>
          </a:p>
          <a:p>
            <a:pPr lvl="1">
              <a:buFont typeface="Arial" panose="020B0604020202020204" pitchFamily="34" charset="0"/>
              <a:buChar char="•"/>
            </a:pPr>
            <a:r>
              <a:rPr lang="en-US" sz="2100" dirty="0"/>
              <a:t>DAC = 0.13966846  &lt;  0.2</a:t>
            </a:r>
          </a:p>
          <a:p>
            <a:pPr lvl="1">
              <a:buFont typeface="Arial" panose="020B0604020202020204" pitchFamily="34" charset="0"/>
              <a:buChar char="•"/>
            </a:pPr>
            <a:r>
              <a:rPr lang="en-US" sz="2100" dirty="0"/>
              <a:t>% deviation in y direction = 1.82 % &lt; 10%</a:t>
            </a:r>
          </a:p>
          <a:p>
            <a:r>
              <a:rPr lang="en-US" sz="2100" dirty="0"/>
              <a:t>The criterions to eliminate the FP is if the deviation is y direction is less than 10% or not. Now this is popping up as a FN and is leading to increase in number of FN’s.</a:t>
            </a:r>
          </a:p>
        </p:txBody>
      </p:sp>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sp>
        <p:nvSpPr>
          <p:cNvPr id="11" name="TextBox 10">
            <a:extLst>
              <a:ext uri="{FF2B5EF4-FFF2-40B4-BE49-F238E27FC236}">
                <a16:creationId xmlns:a16="http://schemas.microsoft.com/office/drawing/2014/main" id="{D743AAAD-3036-6EFC-1E10-F51A390D3053}"/>
              </a:ext>
            </a:extLst>
          </p:cNvPr>
          <p:cNvSpPr txBox="1"/>
          <p:nvPr/>
        </p:nvSpPr>
        <p:spPr>
          <a:xfrm>
            <a:off x="10128995" y="2805303"/>
            <a:ext cx="1419158" cy="369332"/>
          </a:xfrm>
          <a:prstGeom prst="rect">
            <a:avLst/>
          </a:prstGeom>
          <a:noFill/>
        </p:spPr>
        <p:txBody>
          <a:bodyPr wrap="square" rtlCol="0">
            <a:spAutoFit/>
          </a:bodyPr>
          <a:lstStyle/>
          <a:p>
            <a:r>
              <a:rPr lang="en-US" dirty="0"/>
              <a:t>Example 1</a:t>
            </a:r>
          </a:p>
        </p:txBody>
      </p:sp>
      <p:sp>
        <p:nvSpPr>
          <p:cNvPr id="12" name="TextBox 11">
            <a:extLst>
              <a:ext uri="{FF2B5EF4-FFF2-40B4-BE49-F238E27FC236}">
                <a16:creationId xmlns:a16="http://schemas.microsoft.com/office/drawing/2014/main" id="{B50719F2-B431-86A0-3EBE-380FEED707C9}"/>
              </a:ext>
            </a:extLst>
          </p:cNvPr>
          <p:cNvSpPr txBox="1"/>
          <p:nvPr/>
        </p:nvSpPr>
        <p:spPr>
          <a:xfrm>
            <a:off x="10128995" y="5196128"/>
            <a:ext cx="1267146" cy="369332"/>
          </a:xfrm>
          <a:prstGeom prst="rect">
            <a:avLst/>
          </a:prstGeom>
          <a:noFill/>
        </p:spPr>
        <p:txBody>
          <a:bodyPr wrap="square" rtlCol="0">
            <a:spAutoFit/>
          </a:bodyPr>
          <a:lstStyle/>
          <a:p>
            <a:r>
              <a:rPr lang="en-US" dirty="0"/>
              <a:t>Example 2</a:t>
            </a:r>
          </a:p>
        </p:txBody>
      </p:sp>
      <p:pic>
        <p:nvPicPr>
          <p:cNvPr id="6" name="Picture 5">
            <a:extLst>
              <a:ext uri="{FF2B5EF4-FFF2-40B4-BE49-F238E27FC236}">
                <a16:creationId xmlns:a16="http://schemas.microsoft.com/office/drawing/2014/main" id="{A2FD7631-97EF-06F3-76E5-3BA62ED08436}"/>
              </a:ext>
            </a:extLst>
          </p:cNvPr>
          <p:cNvPicPr>
            <a:picLocks noChangeAspect="1"/>
          </p:cNvPicPr>
          <p:nvPr/>
        </p:nvPicPr>
        <p:blipFill>
          <a:blip r:embed="rId2"/>
          <a:stretch>
            <a:fillRect/>
          </a:stretch>
        </p:blipFill>
        <p:spPr>
          <a:xfrm>
            <a:off x="6719680" y="2246975"/>
            <a:ext cx="3075436" cy="2027353"/>
          </a:xfrm>
          <a:prstGeom prst="rect">
            <a:avLst/>
          </a:prstGeom>
        </p:spPr>
      </p:pic>
      <p:pic>
        <p:nvPicPr>
          <p:cNvPr id="13" name="Picture 12">
            <a:extLst>
              <a:ext uri="{FF2B5EF4-FFF2-40B4-BE49-F238E27FC236}">
                <a16:creationId xmlns:a16="http://schemas.microsoft.com/office/drawing/2014/main" id="{607CD3A5-AF23-331C-1761-ADFC051F56BB}"/>
              </a:ext>
            </a:extLst>
          </p:cNvPr>
          <p:cNvPicPr>
            <a:picLocks noChangeAspect="1"/>
          </p:cNvPicPr>
          <p:nvPr/>
        </p:nvPicPr>
        <p:blipFill>
          <a:blip r:embed="rId3"/>
          <a:stretch>
            <a:fillRect/>
          </a:stretch>
        </p:blipFill>
        <p:spPr>
          <a:xfrm>
            <a:off x="6128161" y="255254"/>
            <a:ext cx="5267980" cy="1947240"/>
          </a:xfrm>
          <a:prstGeom prst="rect">
            <a:avLst/>
          </a:prstGeom>
        </p:spPr>
      </p:pic>
      <p:pic>
        <p:nvPicPr>
          <p:cNvPr id="14" name="Picture 13">
            <a:extLst>
              <a:ext uri="{FF2B5EF4-FFF2-40B4-BE49-F238E27FC236}">
                <a16:creationId xmlns:a16="http://schemas.microsoft.com/office/drawing/2014/main" id="{017143E9-3264-D351-5DA0-80D2A10926D8}"/>
              </a:ext>
            </a:extLst>
          </p:cNvPr>
          <p:cNvPicPr>
            <a:picLocks noChangeAspect="1"/>
          </p:cNvPicPr>
          <p:nvPr/>
        </p:nvPicPr>
        <p:blipFill>
          <a:blip r:embed="rId4"/>
          <a:stretch>
            <a:fillRect/>
          </a:stretch>
        </p:blipFill>
        <p:spPr>
          <a:xfrm>
            <a:off x="6719681" y="4400253"/>
            <a:ext cx="3075436" cy="2202493"/>
          </a:xfrm>
          <a:prstGeom prst="rect">
            <a:avLst/>
          </a:prstGeom>
        </p:spPr>
      </p:pic>
      <p:sp>
        <p:nvSpPr>
          <p:cNvPr id="15" name="Oval 14">
            <a:extLst>
              <a:ext uri="{FF2B5EF4-FFF2-40B4-BE49-F238E27FC236}">
                <a16:creationId xmlns:a16="http://schemas.microsoft.com/office/drawing/2014/main" id="{C68FE959-47E4-1DC7-03E6-3138AD303AE7}"/>
              </a:ext>
            </a:extLst>
          </p:cNvPr>
          <p:cNvSpPr/>
          <p:nvPr/>
        </p:nvSpPr>
        <p:spPr>
          <a:xfrm>
            <a:off x="8682397" y="4489807"/>
            <a:ext cx="543796" cy="1906665"/>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393A1BD-B5E0-BD7A-43E6-12FB7C0B3244}"/>
              </a:ext>
            </a:extLst>
          </p:cNvPr>
          <p:cNvSpPr/>
          <p:nvPr/>
        </p:nvSpPr>
        <p:spPr>
          <a:xfrm>
            <a:off x="7685804" y="2328419"/>
            <a:ext cx="493158" cy="1781244"/>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872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A7-1FA6-7516-DFC3-19944C38ED3B}"/>
              </a:ext>
            </a:extLst>
          </p:cNvPr>
          <p:cNvSpPr>
            <a:spLocks noGrp="1"/>
          </p:cNvSpPr>
          <p:nvPr>
            <p:ph type="title"/>
          </p:nvPr>
        </p:nvSpPr>
        <p:spPr/>
        <p:txBody>
          <a:bodyPr/>
          <a:lstStyle/>
          <a:p>
            <a:r>
              <a:rPr lang="en-US" dirty="0"/>
              <a:t>Example5:</a:t>
            </a:r>
          </a:p>
        </p:txBody>
      </p:sp>
      <p:sp>
        <p:nvSpPr>
          <p:cNvPr id="3" name="Slide Number Placeholder 2">
            <a:extLst>
              <a:ext uri="{FF2B5EF4-FFF2-40B4-BE49-F238E27FC236}">
                <a16:creationId xmlns:a16="http://schemas.microsoft.com/office/drawing/2014/main" id="{F7BB4710-8C8B-7441-1FA0-ED6197F33676}"/>
              </a:ext>
            </a:extLst>
          </p:cNvPr>
          <p:cNvSpPr>
            <a:spLocks noGrp="1"/>
          </p:cNvSpPr>
          <p:nvPr>
            <p:ph type="sldNum" sz="quarter" idx="12"/>
          </p:nvPr>
        </p:nvSpPr>
        <p:spPr/>
        <p:txBody>
          <a:bodyPr/>
          <a:lstStyle/>
          <a:p>
            <a:fld id="{B7E7695C-FCF1-4AA0-9B93-7941FED13DC4}" type="slidenum">
              <a:rPr lang="en-US" smtClean="0"/>
              <a:pPr/>
              <a:t>20</a:t>
            </a:fld>
            <a:endParaRPr lang="en-US" dirty="0"/>
          </a:p>
        </p:txBody>
      </p:sp>
      <p:sp>
        <p:nvSpPr>
          <p:cNvPr id="4" name="Text Placeholder 3">
            <a:extLst>
              <a:ext uri="{FF2B5EF4-FFF2-40B4-BE49-F238E27FC236}">
                <a16:creationId xmlns:a16="http://schemas.microsoft.com/office/drawing/2014/main" id="{B79C7107-E9B2-5792-2A9C-2CEFECBC47F2}"/>
              </a:ext>
            </a:extLst>
          </p:cNvPr>
          <p:cNvSpPr>
            <a:spLocks noGrp="1"/>
          </p:cNvSpPr>
          <p:nvPr>
            <p:ph type="body" sz="quarter" idx="13"/>
          </p:nvPr>
        </p:nvSpPr>
        <p:spPr>
          <a:xfrm>
            <a:off x="344424" y="1063987"/>
            <a:ext cx="5625293" cy="400110"/>
          </a:xfrm>
        </p:spPr>
        <p:txBody>
          <a:bodyPr/>
          <a:lstStyle/>
          <a:p>
            <a:r>
              <a:rPr lang="en-US" dirty="0"/>
              <a:t>Program Waveform N58R (Missing Ramps)</a:t>
            </a:r>
          </a:p>
        </p:txBody>
      </p:sp>
      <p:sp>
        <p:nvSpPr>
          <p:cNvPr id="5" name="Content Placeholder 4">
            <a:extLst>
              <a:ext uri="{FF2B5EF4-FFF2-40B4-BE49-F238E27FC236}">
                <a16:creationId xmlns:a16="http://schemas.microsoft.com/office/drawing/2014/main" id="{75F3A1F6-1597-78F8-C8D3-3C3CF5EEF46A}"/>
              </a:ext>
            </a:extLst>
          </p:cNvPr>
          <p:cNvSpPr>
            <a:spLocks noGrp="1"/>
          </p:cNvSpPr>
          <p:nvPr>
            <p:ph sz="quarter" idx="29"/>
          </p:nvPr>
        </p:nvSpPr>
        <p:spPr>
          <a:xfrm>
            <a:off x="293776" y="1916336"/>
            <a:ext cx="6425904" cy="4452690"/>
          </a:xfrm>
        </p:spPr>
        <p:txBody>
          <a:bodyPr>
            <a:normAutofit/>
          </a:bodyPr>
          <a:lstStyle/>
          <a:p>
            <a:r>
              <a:rPr lang="en-US" dirty="0"/>
              <a:t>Path= boost_4k0_vcc_3_0_vccq_None_vpp_None_pgm_no_pps(0,0,636,1,0,0,636,4)__Group0_labeled (1).h5’ </a:t>
            </a:r>
          </a:p>
          <a:p>
            <a:r>
              <a:rPr lang="en-US" dirty="0"/>
              <a:t>These middle two green ones are also ramps but is not marked.</a:t>
            </a:r>
          </a:p>
          <a:p>
            <a:r>
              <a:rPr lang="en-US" dirty="0"/>
              <a:t>They both mark a beginning and end of two different ramps.</a:t>
            </a:r>
          </a:p>
          <a:p>
            <a:r>
              <a:rPr lang="en-US" dirty="0"/>
              <a:t>Instead of taking it as a one big ramp, it should be two separate ramps.</a:t>
            </a:r>
          </a:p>
          <a:p>
            <a:r>
              <a:rPr lang="en-US" dirty="0"/>
              <a:t>This pops up as a FP and is leading to increase in number of FP’s.</a:t>
            </a:r>
          </a:p>
        </p:txBody>
      </p:sp>
      <p:sp>
        <p:nvSpPr>
          <p:cNvPr id="10" name="TextBox 9">
            <a:extLst>
              <a:ext uri="{FF2B5EF4-FFF2-40B4-BE49-F238E27FC236}">
                <a16:creationId xmlns:a16="http://schemas.microsoft.com/office/drawing/2014/main" id="{1FAB00E1-D55D-9F4C-FD21-7C731067A006}"/>
              </a:ext>
            </a:extLst>
          </p:cNvPr>
          <p:cNvSpPr txBox="1"/>
          <p:nvPr/>
        </p:nvSpPr>
        <p:spPr>
          <a:xfrm>
            <a:off x="8794679" y="-36413"/>
            <a:ext cx="1767155" cy="369332"/>
          </a:xfrm>
          <a:prstGeom prst="rect">
            <a:avLst/>
          </a:prstGeom>
          <a:noFill/>
        </p:spPr>
        <p:txBody>
          <a:bodyPr wrap="square" rtlCol="0">
            <a:spAutoFit/>
          </a:bodyPr>
          <a:lstStyle/>
          <a:p>
            <a:r>
              <a:rPr lang="en-US" dirty="0"/>
              <a:t>Report</a:t>
            </a:r>
          </a:p>
        </p:txBody>
      </p:sp>
      <p:sp>
        <p:nvSpPr>
          <p:cNvPr id="11" name="TextBox 10">
            <a:extLst>
              <a:ext uri="{FF2B5EF4-FFF2-40B4-BE49-F238E27FC236}">
                <a16:creationId xmlns:a16="http://schemas.microsoft.com/office/drawing/2014/main" id="{D743AAAD-3036-6EFC-1E10-F51A390D3053}"/>
              </a:ext>
            </a:extLst>
          </p:cNvPr>
          <p:cNvSpPr txBox="1"/>
          <p:nvPr/>
        </p:nvSpPr>
        <p:spPr>
          <a:xfrm>
            <a:off x="10128995" y="2805303"/>
            <a:ext cx="1182543" cy="640703"/>
          </a:xfrm>
          <a:prstGeom prst="rect">
            <a:avLst/>
          </a:prstGeom>
          <a:noFill/>
        </p:spPr>
        <p:txBody>
          <a:bodyPr wrap="square" rtlCol="0">
            <a:spAutoFit/>
          </a:bodyPr>
          <a:lstStyle/>
          <a:p>
            <a:r>
              <a:rPr lang="en-US" dirty="0"/>
              <a:t>Zoomed in</a:t>
            </a:r>
          </a:p>
        </p:txBody>
      </p:sp>
      <p:sp>
        <p:nvSpPr>
          <p:cNvPr id="12" name="TextBox 11">
            <a:extLst>
              <a:ext uri="{FF2B5EF4-FFF2-40B4-BE49-F238E27FC236}">
                <a16:creationId xmlns:a16="http://schemas.microsoft.com/office/drawing/2014/main" id="{B50719F2-B431-86A0-3EBE-380FEED707C9}"/>
              </a:ext>
            </a:extLst>
          </p:cNvPr>
          <p:cNvSpPr txBox="1"/>
          <p:nvPr/>
        </p:nvSpPr>
        <p:spPr>
          <a:xfrm>
            <a:off x="10128995" y="5196128"/>
            <a:ext cx="1267146" cy="646331"/>
          </a:xfrm>
          <a:prstGeom prst="rect">
            <a:avLst/>
          </a:prstGeom>
          <a:noFill/>
        </p:spPr>
        <p:txBody>
          <a:bodyPr wrap="square" rtlCol="0">
            <a:spAutoFit/>
          </a:bodyPr>
          <a:lstStyle/>
          <a:p>
            <a:r>
              <a:rPr lang="en-US" dirty="0"/>
              <a:t>Zoomed Out</a:t>
            </a:r>
          </a:p>
        </p:txBody>
      </p:sp>
      <p:pic>
        <p:nvPicPr>
          <p:cNvPr id="6" name="Picture 5">
            <a:extLst>
              <a:ext uri="{FF2B5EF4-FFF2-40B4-BE49-F238E27FC236}">
                <a16:creationId xmlns:a16="http://schemas.microsoft.com/office/drawing/2014/main" id="{C0EB3F5F-9453-97E3-2502-642EFC13BB46}"/>
              </a:ext>
            </a:extLst>
          </p:cNvPr>
          <p:cNvPicPr>
            <a:picLocks noChangeAspect="1"/>
          </p:cNvPicPr>
          <p:nvPr/>
        </p:nvPicPr>
        <p:blipFill>
          <a:blip r:embed="rId2"/>
          <a:stretch>
            <a:fillRect/>
          </a:stretch>
        </p:blipFill>
        <p:spPr>
          <a:xfrm>
            <a:off x="6752368" y="2218554"/>
            <a:ext cx="3014511" cy="2132347"/>
          </a:xfrm>
          <a:prstGeom prst="rect">
            <a:avLst/>
          </a:prstGeom>
        </p:spPr>
      </p:pic>
      <p:pic>
        <p:nvPicPr>
          <p:cNvPr id="13" name="Picture 12">
            <a:extLst>
              <a:ext uri="{FF2B5EF4-FFF2-40B4-BE49-F238E27FC236}">
                <a16:creationId xmlns:a16="http://schemas.microsoft.com/office/drawing/2014/main" id="{0CA8918C-06E9-4CA6-CFE3-EC0E3A43872E}"/>
              </a:ext>
            </a:extLst>
          </p:cNvPr>
          <p:cNvPicPr>
            <a:picLocks noChangeAspect="1"/>
          </p:cNvPicPr>
          <p:nvPr/>
        </p:nvPicPr>
        <p:blipFill>
          <a:blip r:embed="rId3"/>
          <a:stretch>
            <a:fillRect/>
          </a:stretch>
        </p:blipFill>
        <p:spPr>
          <a:xfrm>
            <a:off x="6752368" y="4532994"/>
            <a:ext cx="3101596" cy="2132347"/>
          </a:xfrm>
          <a:prstGeom prst="rect">
            <a:avLst/>
          </a:prstGeom>
        </p:spPr>
      </p:pic>
      <p:pic>
        <p:nvPicPr>
          <p:cNvPr id="14" name="Picture 13">
            <a:extLst>
              <a:ext uri="{FF2B5EF4-FFF2-40B4-BE49-F238E27FC236}">
                <a16:creationId xmlns:a16="http://schemas.microsoft.com/office/drawing/2014/main" id="{7D924D43-B4B7-5177-43FE-C251D0981E74}"/>
              </a:ext>
            </a:extLst>
          </p:cNvPr>
          <p:cNvPicPr>
            <a:picLocks noChangeAspect="1"/>
          </p:cNvPicPr>
          <p:nvPr/>
        </p:nvPicPr>
        <p:blipFill>
          <a:blip r:embed="rId4"/>
          <a:stretch>
            <a:fillRect/>
          </a:stretch>
        </p:blipFill>
        <p:spPr>
          <a:xfrm>
            <a:off x="6374801" y="279216"/>
            <a:ext cx="5021112" cy="1869574"/>
          </a:xfrm>
          <a:prstGeom prst="rect">
            <a:avLst/>
          </a:prstGeom>
        </p:spPr>
      </p:pic>
      <p:sp>
        <p:nvSpPr>
          <p:cNvPr id="15" name="Oval 14">
            <a:extLst>
              <a:ext uri="{FF2B5EF4-FFF2-40B4-BE49-F238E27FC236}">
                <a16:creationId xmlns:a16="http://schemas.microsoft.com/office/drawing/2014/main" id="{5E4BA1FE-31FB-02A9-1842-6AAF5E164F66}"/>
              </a:ext>
            </a:extLst>
          </p:cNvPr>
          <p:cNvSpPr/>
          <p:nvPr/>
        </p:nvSpPr>
        <p:spPr>
          <a:xfrm>
            <a:off x="7810008" y="2272455"/>
            <a:ext cx="493158" cy="1870226"/>
          </a:xfrm>
          <a:prstGeom prst="ellipse">
            <a:avLst/>
          </a:prstGeom>
          <a:noFill/>
          <a:ln w="28575">
            <a:solidFill>
              <a:srgbClr val="C00D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3545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B2686-7335-5A09-83B9-6ED788AFB130}"/>
              </a:ext>
            </a:extLst>
          </p:cNvPr>
          <p:cNvSpPr>
            <a:spLocks noGrp="1"/>
          </p:cNvSpPr>
          <p:nvPr>
            <p:ph type="title"/>
          </p:nvPr>
        </p:nvSpPr>
        <p:spPr>
          <a:xfrm>
            <a:off x="3373776" y="2495812"/>
            <a:ext cx="7095590" cy="646331"/>
          </a:xfrm>
        </p:spPr>
        <p:txBody>
          <a:bodyPr/>
          <a:lstStyle/>
          <a:p>
            <a:r>
              <a:rPr lang="en-US" sz="4000" dirty="0"/>
              <a:t>New Version of Code</a:t>
            </a:r>
          </a:p>
        </p:txBody>
      </p:sp>
      <p:sp>
        <p:nvSpPr>
          <p:cNvPr id="3" name="Slide Number Placeholder 2">
            <a:extLst>
              <a:ext uri="{FF2B5EF4-FFF2-40B4-BE49-F238E27FC236}">
                <a16:creationId xmlns:a16="http://schemas.microsoft.com/office/drawing/2014/main" id="{3DF8EBF1-3AFE-7157-3C1A-2ADF61D7EF3E}"/>
              </a:ext>
            </a:extLst>
          </p:cNvPr>
          <p:cNvSpPr>
            <a:spLocks noGrp="1"/>
          </p:cNvSpPr>
          <p:nvPr>
            <p:ph type="sldNum" sz="quarter" idx="12"/>
          </p:nvPr>
        </p:nvSpPr>
        <p:spPr/>
        <p:txBody>
          <a:bodyPr/>
          <a:lstStyle/>
          <a:p>
            <a:fld id="{B7E7695C-FCF1-4AA0-9B93-7941FED13DC4}" type="slidenum">
              <a:rPr lang="en-US" smtClean="0"/>
              <a:pPr/>
              <a:t>21</a:t>
            </a:fld>
            <a:endParaRPr lang="en-US" dirty="0"/>
          </a:p>
        </p:txBody>
      </p:sp>
    </p:spTree>
    <p:extLst>
      <p:ext uri="{BB962C8B-B14F-4D97-AF65-F5344CB8AC3E}">
        <p14:creationId xmlns:p14="http://schemas.microsoft.com/office/powerpoint/2010/main" val="341023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013AF-6EC4-B0EB-5063-980D710D2FD8}"/>
              </a:ext>
            </a:extLst>
          </p:cNvPr>
          <p:cNvSpPr>
            <a:spLocks noGrp="1"/>
          </p:cNvSpPr>
          <p:nvPr>
            <p:ph type="title"/>
          </p:nvPr>
        </p:nvSpPr>
        <p:spPr>
          <a:xfrm>
            <a:off x="349250" y="260545"/>
            <a:ext cx="11506200" cy="590931"/>
          </a:xfrm>
        </p:spPr>
        <p:txBody>
          <a:bodyPr/>
          <a:lstStyle/>
          <a:p>
            <a:r>
              <a:rPr lang="en-US" dirty="0"/>
              <a:t>Comparison Table</a:t>
            </a:r>
          </a:p>
        </p:txBody>
      </p:sp>
      <p:sp>
        <p:nvSpPr>
          <p:cNvPr id="3" name="Slide Number Placeholder 2">
            <a:extLst>
              <a:ext uri="{FF2B5EF4-FFF2-40B4-BE49-F238E27FC236}">
                <a16:creationId xmlns:a16="http://schemas.microsoft.com/office/drawing/2014/main" id="{3D9BDA85-E9A1-8FC5-CAD3-5153D8715C55}"/>
              </a:ext>
            </a:extLst>
          </p:cNvPr>
          <p:cNvSpPr>
            <a:spLocks noGrp="1"/>
          </p:cNvSpPr>
          <p:nvPr>
            <p:ph type="sldNum" sz="quarter" idx="12"/>
          </p:nvPr>
        </p:nvSpPr>
        <p:spPr/>
        <p:txBody>
          <a:bodyPr/>
          <a:lstStyle/>
          <a:p>
            <a:fld id="{B7E7695C-FCF1-4AA0-9B93-7941FED13DC4}" type="slidenum">
              <a:rPr lang="en-US" smtClean="0"/>
              <a:pPr/>
              <a:t>22</a:t>
            </a:fld>
            <a:endParaRPr lang="en-US" dirty="0"/>
          </a:p>
        </p:txBody>
      </p:sp>
      <p:graphicFrame>
        <p:nvGraphicFramePr>
          <p:cNvPr id="7" name="Table 7">
            <a:extLst>
              <a:ext uri="{FF2B5EF4-FFF2-40B4-BE49-F238E27FC236}">
                <a16:creationId xmlns:a16="http://schemas.microsoft.com/office/drawing/2014/main" id="{E23EC548-55A2-1741-9A6E-E494BD6669EA}"/>
              </a:ext>
            </a:extLst>
          </p:cNvPr>
          <p:cNvGraphicFramePr>
            <a:graphicFrameLocks noGrp="1"/>
          </p:cNvGraphicFramePr>
          <p:nvPr>
            <p:extLst>
              <p:ext uri="{D42A27DB-BD31-4B8C-83A1-F6EECF244321}">
                <p14:modId xmlns:p14="http://schemas.microsoft.com/office/powerpoint/2010/main" val="3927712561"/>
              </p:ext>
            </p:extLst>
          </p:nvPr>
        </p:nvGraphicFramePr>
        <p:xfrm>
          <a:off x="302515" y="927887"/>
          <a:ext cx="11653178" cy="5461000"/>
        </p:xfrm>
        <a:graphic>
          <a:graphicData uri="http://schemas.openxmlformats.org/drawingml/2006/table">
            <a:tbl>
              <a:tblPr firstRow="1" bandRow="1">
                <a:tableStyleId>{F5AB1C69-6EDB-4FF4-983F-18BD219EF322}</a:tableStyleId>
              </a:tblPr>
              <a:tblGrid>
                <a:gridCol w="5826589">
                  <a:extLst>
                    <a:ext uri="{9D8B030D-6E8A-4147-A177-3AD203B41FA5}">
                      <a16:colId xmlns:a16="http://schemas.microsoft.com/office/drawing/2014/main" val="2906243268"/>
                    </a:ext>
                  </a:extLst>
                </a:gridCol>
                <a:gridCol w="5826589">
                  <a:extLst>
                    <a:ext uri="{9D8B030D-6E8A-4147-A177-3AD203B41FA5}">
                      <a16:colId xmlns:a16="http://schemas.microsoft.com/office/drawing/2014/main" val="3739875758"/>
                    </a:ext>
                  </a:extLst>
                </a:gridCol>
              </a:tblGrid>
              <a:tr h="370840">
                <a:tc>
                  <a:txBody>
                    <a:bodyPr/>
                    <a:lstStyle/>
                    <a:p>
                      <a:r>
                        <a:rPr lang="en-US" sz="1600" dirty="0"/>
                        <a:t>Challenges to Previous Version</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r>
                        <a:rPr lang="en-US" sz="1600" dirty="0"/>
                        <a:t>Advantages of New Approach</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2681730149"/>
                  </a:ext>
                </a:extLst>
              </a:tr>
              <a:tr h="4533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Results given in terms of start and end time indices. Rather, SME’s want results in terms of transition points.</a:t>
                      </a:r>
                    </a:p>
                    <a:p>
                      <a:endParaRPr lang="en-US" sz="1600" dirty="0"/>
                    </a:p>
                  </a:txBody>
                  <a:tcPr>
                    <a:lnL w="12700" cap="flat" cmpd="sng" algn="ctr">
                      <a:noFill/>
                      <a:prstDash val="solid"/>
                      <a:round/>
                      <a:headEnd type="none" w="med" len="med"/>
                      <a:tailEnd type="none" w="med" len="med"/>
                    </a:lnL>
                  </a:tcPr>
                </a:tc>
                <a:tc>
                  <a:txBody>
                    <a:bodyPr/>
                    <a:lstStyle/>
                    <a:p>
                      <a:r>
                        <a:rPr lang="en-US" sz="1600" dirty="0"/>
                        <a:t>Uses the criteria of density in a local neighborhood.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Results are now given as a list of transition points as desired by SME’s. Also gives an added advantage to apply various post-filtering techniques to eliminate the false positives.</a:t>
                      </a:r>
                    </a:p>
                    <a:p>
                      <a:endParaRPr lang="en-US" sz="1600" dirty="0"/>
                    </a:p>
                  </a:txBody>
                  <a:tcPr>
                    <a:lnR w="12700" cap="flat" cmpd="sng" algn="ctr">
                      <a:noFill/>
                      <a:prstDash val="solid"/>
                      <a:round/>
                      <a:headEnd type="none" w="med" len="med"/>
                      <a:tailEnd type="none" w="med" len="med"/>
                    </a:lnR>
                  </a:tcPr>
                </a:tc>
                <a:extLst>
                  <a:ext uri="{0D108BD9-81ED-4DB2-BD59-A6C34878D82A}">
                    <a16:rowId xmlns:a16="http://schemas.microsoft.com/office/drawing/2014/main" val="763004463"/>
                  </a:ext>
                </a:extLst>
              </a:tr>
              <a:tr h="370840">
                <a:tc>
                  <a:txBody>
                    <a:bodyPr/>
                    <a:lstStyle/>
                    <a:p>
                      <a:r>
                        <a:rPr lang="en-US" sz="1600" dirty="0"/>
                        <a:t>A lot of tunable parameters are there. Instead, SME’s wants minimal human intervention from their side.</a:t>
                      </a:r>
                    </a:p>
                    <a:p>
                      <a:endParaRPr lang="en-US" sz="1600" dirty="0"/>
                    </a:p>
                  </a:txBody>
                  <a:tcPr>
                    <a:lnL w="12700" cap="flat" cmpd="sng" algn="ctr">
                      <a:no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Eliminates the need for tuning a lot of parameters, instead let the model decide the local and global thresholds.</a:t>
                      </a:r>
                    </a:p>
                    <a:p>
                      <a:endParaRPr lang="en-US" sz="1600" dirty="0"/>
                    </a:p>
                  </a:txBody>
                  <a:tcPr>
                    <a:lnR w="12700" cap="flat" cmpd="sng" algn="ctr">
                      <a:noFill/>
                      <a:prstDash val="solid"/>
                      <a:round/>
                      <a:headEnd type="none" w="med" len="med"/>
                      <a:tailEnd type="none" w="med" len="med"/>
                    </a:lnR>
                  </a:tcPr>
                </a:tc>
                <a:extLst>
                  <a:ext uri="{0D108BD9-81ED-4DB2-BD59-A6C34878D82A}">
                    <a16:rowId xmlns:a16="http://schemas.microsoft.com/office/drawing/2014/main" val="2871221378"/>
                  </a:ext>
                </a:extLst>
              </a:tr>
              <a:tr h="370840">
                <a:tc>
                  <a:txBody>
                    <a:bodyPr/>
                    <a:lstStyle/>
                    <a:p>
                      <a:r>
                        <a:rPr lang="en-US" sz="1600" dirty="0"/>
                        <a:t>Need of Secondary Ramp detection when the ramps are not predicted as per desired. The need can be decided only once the results are given, not before hand. Also is costly and time-consuming affair.</a:t>
                      </a:r>
                    </a:p>
                    <a:p>
                      <a:endParaRPr lang="en-US" sz="1600" dirty="0"/>
                    </a:p>
                  </a:txBody>
                  <a:tcPr>
                    <a:lnL w="12700" cap="flat" cmpd="sng" algn="ctr">
                      <a:noFill/>
                      <a:prstDash val="solid"/>
                      <a:round/>
                      <a:headEnd type="none" w="med" len="med"/>
                      <a:tailEnd type="none" w="med" len="med"/>
                    </a:lnL>
                  </a:tcPr>
                </a:tc>
                <a:tc>
                  <a:txBody>
                    <a:bodyPr/>
                    <a:lstStyle/>
                    <a:p>
                      <a:r>
                        <a:rPr lang="en-US" sz="1600" dirty="0"/>
                        <a:t>No need for secondary ramp detection. Two list of points predicted will be given to the end user, depending on weather small ramps are needed or not, any of those can be used.</a:t>
                      </a:r>
                    </a:p>
                    <a:p>
                      <a:endParaRPr lang="en-US" sz="1600" dirty="0"/>
                    </a:p>
                  </a:txBody>
                  <a:tcPr>
                    <a:lnR w="12700" cap="flat" cmpd="sng" algn="ctr">
                      <a:noFill/>
                      <a:prstDash val="solid"/>
                      <a:round/>
                      <a:headEnd type="none" w="med" len="med"/>
                      <a:tailEnd type="none" w="med" len="med"/>
                    </a:lnR>
                  </a:tcPr>
                </a:tc>
                <a:extLst>
                  <a:ext uri="{0D108BD9-81ED-4DB2-BD59-A6C34878D82A}">
                    <a16:rowId xmlns:a16="http://schemas.microsoft.com/office/drawing/2014/main" val="3666675974"/>
                  </a:ext>
                </a:extLst>
              </a:tr>
              <a:tr h="370840">
                <a:tc>
                  <a:txBody>
                    <a:bodyPr/>
                    <a:lstStyle/>
                    <a:p>
                      <a:r>
                        <a:rPr lang="en-US" sz="1600" dirty="0"/>
                        <a:t>Down sampling may neglect small variations which are sometimes very necessary for a few cases.</a:t>
                      </a:r>
                    </a:p>
                    <a:p>
                      <a:endParaRPr lang="en-US" sz="1600" dirty="0"/>
                    </a:p>
                  </a:txBody>
                  <a:tcPr>
                    <a:lnL w="12700" cap="flat" cmpd="sng" algn="ctr">
                      <a:no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No down sampling needed. A million data points can be handled easily in seconds of time.</a:t>
                      </a:r>
                    </a:p>
                    <a:p>
                      <a:endParaRPr lang="en-US" sz="1600" dirty="0"/>
                    </a:p>
                  </a:txBody>
                  <a:tcPr>
                    <a:lnR w="12700" cap="flat" cmpd="sng" algn="ctr">
                      <a:noFill/>
                      <a:prstDash val="solid"/>
                      <a:round/>
                      <a:headEnd type="none" w="med" len="med"/>
                      <a:tailEnd type="none" w="med" len="med"/>
                    </a:lnR>
                  </a:tcPr>
                </a:tc>
                <a:extLst>
                  <a:ext uri="{0D108BD9-81ED-4DB2-BD59-A6C34878D82A}">
                    <a16:rowId xmlns:a16="http://schemas.microsoft.com/office/drawing/2014/main" val="15206862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Y direction threshold (0.2 DAC value) is fixed. But can vary depending on the noise level of the waveform. </a:t>
                      </a:r>
                    </a:p>
                    <a:p>
                      <a:endParaRPr lang="en-US" sz="1600" dirty="0"/>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Y-direction threshold is not fixed. Instead, it is depended on the noise level of the waveform.</a:t>
                      </a:r>
                    </a:p>
                    <a:p>
                      <a:endParaRPr lang="en-US" sz="1600" dirty="0"/>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306732731"/>
                  </a:ext>
                </a:extLst>
              </a:tr>
            </a:tbl>
          </a:graphicData>
        </a:graphic>
      </p:graphicFrame>
    </p:spTree>
    <p:extLst>
      <p:ext uri="{BB962C8B-B14F-4D97-AF65-F5344CB8AC3E}">
        <p14:creationId xmlns:p14="http://schemas.microsoft.com/office/powerpoint/2010/main" val="3324841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D9978-5899-EE86-B7CE-6C7FCE3D59C3}"/>
              </a:ext>
            </a:extLst>
          </p:cNvPr>
          <p:cNvSpPr>
            <a:spLocks noGrp="1"/>
          </p:cNvSpPr>
          <p:nvPr>
            <p:ph type="title"/>
          </p:nvPr>
        </p:nvSpPr>
        <p:spPr>
          <a:xfrm>
            <a:off x="342900" y="454799"/>
            <a:ext cx="11506200" cy="590931"/>
          </a:xfrm>
        </p:spPr>
        <p:txBody>
          <a:bodyPr/>
          <a:lstStyle/>
          <a:p>
            <a:r>
              <a:rPr lang="en-US" dirty="0"/>
              <a:t>Results </a:t>
            </a:r>
          </a:p>
        </p:txBody>
      </p:sp>
      <p:sp>
        <p:nvSpPr>
          <p:cNvPr id="3" name="Slide Number Placeholder 2">
            <a:extLst>
              <a:ext uri="{FF2B5EF4-FFF2-40B4-BE49-F238E27FC236}">
                <a16:creationId xmlns:a16="http://schemas.microsoft.com/office/drawing/2014/main" id="{4D54F4E3-38BB-122C-6FEA-0611B08D1D13}"/>
              </a:ext>
            </a:extLst>
          </p:cNvPr>
          <p:cNvSpPr>
            <a:spLocks noGrp="1"/>
          </p:cNvSpPr>
          <p:nvPr>
            <p:ph type="sldNum" sz="quarter" idx="12"/>
          </p:nvPr>
        </p:nvSpPr>
        <p:spPr/>
        <p:txBody>
          <a:bodyPr/>
          <a:lstStyle/>
          <a:p>
            <a:fld id="{B7E7695C-FCF1-4AA0-9B93-7941FED13DC4}" type="slidenum">
              <a:rPr lang="en-US" smtClean="0"/>
              <a:pPr/>
              <a:t>23</a:t>
            </a:fld>
            <a:endParaRPr lang="en-US" dirty="0"/>
          </a:p>
        </p:txBody>
      </p:sp>
      <p:sp>
        <p:nvSpPr>
          <p:cNvPr id="5" name="Content Placeholder 4">
            <a:extLst>
              <a:ext uri="{FF2B5EF4-FFF2-40B4-BE49-F238E27FC236}">
                <a16:creationId xmlns:a16="http://schemas.microsoft.com/office/drawing/2014/main" id="{F81E740A-1882-BCEB-69A9-CC70857120BC}"/>
              </a:ext>
            </a:extLst>
          </p:cNvPr>
          <p:cNvSpPr>
            <a:spLocks noGrp="1"/>
          </p:cNvSpPr>
          <p:nvPr>
            <p:ph sz="quarter" idx="29"/>
          </p:nvPr>
        </p:nvSpPr>
        <p:spPr>
          <a:xfrm>
            <a:off x="336550" y="1156203"/>
            <a:ext cx="11506200" cy="4792533"/>
          </a:xfrm>
        </p:spPr>
        <p:txBody>
          <a:bodyPr>
            <a:normAutofit/>
          </a:bodyPr>
          <a:lstStyle/>
          <a:p>
            <a:r>
              <a:rPr lang="en-US" sz="2400" dirty="0"/>
              <a:t>The following tests are run on </a:t>
            </a:r>
            <a:r>
              <a:rPr lang="en-US" sz="2400" b="1" dirty="0"/>
              <a:t>B48R waveform.</a:t>
            </a:r>
          </a:p>
          <a:p>
            <a:r>
              <a:rPr lang="en-US" sz="2400" dirty="0"/>
              <a:t>This is the test data where </a:t>
            </a:r>
            <a:r>
              <a:rPr lang="en-US" sz="2400" b="1" dirty="0"/>
              <a:t>no actual ground truth labels are provided.</a:t>
            </a:r>
          </a:p>
          <a:p>
            <a:r>
              <a:rPr lang="en-US" sz="2400" dirty="0"/>
              <a:t>There are 3 categories of waveforms Read, Erase and Program.</a:t>
            </a:r>
          </a:p>
          <a:p>
            <a:r>
              <a:rPr lang="en-US" sz="2400" dirty="0"/>
              <a:t>The following waveforms are being shown in the slides:</a:t>
            </a:r>
          </a:p>
          <a:p>
            <a:pPr lvl="1">
              <a:buFont typeface="Arial" panose="020B0604020202020204" pitchFamily="34" charset="0"/>
              <a:buChar char="•"/>
            </a:pPr>
            <a:r>
              <a:rPr lang="en-US" sz="2000" b="1" dirty="0"/>
              <a:t>Read:</a:t>
            </a:r>
          </a:p>
          <a:p>
            <a:pPr lvl="2">
              <a:buFont typeface="Arial" panose="020B0604020202020204" pitchFamily="34" charset="0"/>
              <a:buChar char="•"/>
            </a:pPr>
            <a:r>
              <a:rPr lang="en-US" sz="1800" b="1" dirty="0"/>
              <a:t>Read Waveform 1 :</a:t>
            </a:r>
            <a:r>
              <a:rPr lang="en-US" sz="1800" dirty="0"/>
              <a:t> EXP2_SQ1_wl_37837_X24497_Y-62422_na_na_30C.h5</a:t>
            </a:r>
          </a:p>
          <a:p>
            <a:pPr lvl="2">
              <a:buFont typeface="Arial" panose="020B0604020202020204" pitchFamily="34" charset="0"/>
              <a:buChar char="•"/>
            </a:pPr>
            <a:r>
              <a:rPr lang="en-US" sz="1800" b="1" dirty="0"/>
              <a:t>Read Waveform 2 : </a:t>
            </a:r>
            <a:r>
              <a:rPr lang="en-US" sz="1800" dirty="0"/>
              <a:t>EXP1_SQ3_src_gate_e_p0_X39084_Y-74380_na_na_30C.h5</a:t>
            </a:r>
          </a:p>
          <a:p>
            <a:pPr lvl="1">
              <a:buFont typeface="Arial" panose="020B0604020202020204" pitchFamily="34" charset="0"/>
              <a:buChar char="•"/>
            </a:pPr>
            <a:r>
              <a:rPr lang="en-US" sz="2000" b="1" dirty="0"/>
              <a:t>Erase:</a:t>
            </a:r>
          </a:p>
          <a:p>
            <a:pPr lvl="2">
              <a:buFont typeface="Arial" panose="020B0604020202020204" pitchFamily="34" charset="0"/>
              <a:buChar char="•"/>
            </a:pPr>
            <a:r>
              <a:rPr lang="en-US" sz="1800" b="1" dirty="0"/>
              <a:t>Erase Waveform 1 : </a:t>
            </a:r>
            <a:r>
              <a:rPr lang="en-US" sz="1800" dirty="0"/>
              <a:t>EXP10_SQ11_vpass_pgr_0_X47195_Y-46587_na_na_30C.h5</a:t>
            </a:r>
          </a:p>
          <a:p>
            <a:pPr lvl="2">
              <a:buFont typeface="Arial" panose="020B0604020202020204" pitchFamily="34" charset="0"/>
              <a:buChar char="•"/>
            </a:pPr>
            <a:r>
              <a:rPr lang="en-US" sz="1800" b="1" dirty="0"/>
              <a:t>Erase Waveform 2 : </a:t>
            </a:r>
            <a:r>
              <a:rPr lang="en-US" sz="1800" dirty="0"/>
              <a:t>EXP10_SQ7_src_gate_o_p0_X39050_Y-76974_na_na_30C.h5</a:t>
            </a:r>
          </a:p>
          <a:p>
            <a:pPr lvl="1">
              <a:buFont typeface="Arial" panose="020B0604020202020204" pitchFamily="34" charset="0"/>
              <a:buChar char="•"/>
            </a:pPr>
            <a:r>
              <a:rPr lang="en-US" sz="2000" b="1" dirty="0"/>
              <a:t>Program:</a:t>
            </a:r>
          </a:p>
          <a:p>
            <a:pPr lvl="2">
              <a:buFont typeface="Arial" panose="020B0604020202020204" pitchFamily="34" charset="0"/>
              <a:buChar char="•"/>
            </a:pPr>
            <a:r>
              <a:rPr lang="en-US" sz="1800" b="1" dirty="0"/>
              <a:t>Program Waveform 1 : </a:t>
            </a:r>
            <a:r>
              <a:rPr lang="en-US" sz="1800" dirty="0"/>
              <a:t>EXP1_SQ4_swvpx_pgr0_X32664_Y-47254_na_na_30C.h5</a:t>
            </a:r>
          </a:p>
          <a:p>
            <a:pPr lvl="2">
              <a:buFont typeface="Arial" panose="020B0604020202020204" pitchFamily="34" charset="0"/>
              <a:buChar char="•"/>
            </a:pPr>
            <a:r>
              <a:rPr lang="en-US" sz="1800" b="1" dirty="0"/>
              <a:t>Program Waveform 2 : </a:t>
            </a:r>
            <a:r>
              <a:rPr lang="en-US" sz="1800" dirty="0"/>
              <a:t>EXP1_SQ1_sgd4_l_155_X24497_Y-68518_na_na_30C.h5"</a:t>
            </a:r>
          </a:p>
          <a:p>
            <a:pPr marL="548640" lvl="2" indent="0">
              <a:buNone/>
            </a:pPr>
            <a:endParaRPr lang="en-US" sz="1800" dirty="0"/>
          </a:p>
        </p:txBody>
      </p:sp>
    </p:spTree>
    <p:extLst>
      <p:ext uri="{BB962C8B-B14F-4D97-AF65-F5344CB8AC3E}">
        <p14:creationId xmlns:p14="http://schemas.microsoft.com/office/powerpoint/2010/main" val="829161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F608D-8D3A-4CFF-8488-58FAE614E928}"/>
              </a:ext>
            </a:extLst>
          </p:cNvPr>
          <p:cNvSpPr>
            <a:spLocks noGrp="1"/>
          </p:cNvSpPr>
          <p:nvPr>
            <p:ph type="title"/>
          </p:nvPr>
        </p:nvSpPr>
        <p:spPr>
          <a:xfrm>
            <a:off x="8635051" y="336956"/>
            <a:ext cx="2735524" cy="1321475"/>
          </a:xfrm>
        </p:spPr>
        <p:txBody>
          <a:bodyPr/>
          <a:lstStyle/>
          <a:p>
            <a:r>
              <a:rPr lang="en-US" dirty="0"/>
              <a:t>Read Waveform 1</a:t>
            </a:r>
          </a:p>
        </p:txBody>
      </p:sp>
      <p:sp>
        <p:nvSpPr>
          <p:cNvPr id="3" name="Slide Number Placeholder 2">
            <a:extLst>
              <a:ext uri="{FF2B5EF4-FFF2-40B4-BE49-F238E27FC236}">
                <a16:creationId xmlns:a16="http://schemas.microsoft.com/office/drawing/2014/main" id="{6DF8868E-F3A5-0E65-2058-C0244EF58077}"/>
              </a:ext>
            </a:extLst>
          </p:cNvPr>
          <p:cNvSpPr>
            <a:spLocks noGrp="1"/>
          </p:cNvSpPr>
          <p:nvPr>
            <p:ph type="sldNum" sz="quarter" idx="12"/>
          </p:nvPr>
        </p:nvSpPr>
        <p:spPr/>
        <p:txBody>
          <a:bodyPr/>
          <a:lstStyle/>
          <a:p>
            <a:fld id="{B7E7695C-FCF1-4AA0-9B93-7941FED13DC4}" type="slidenum">
              <a:rPr lang="en-US" smtClean="0"/>
              <a:pPr/>
              <a:t>24</a:t>
            </a:fld>
            <a:endParaRPr lang="en-US" dirty="0"/>
          </a:p>
        </p:txBody>
      </p:sp>
      <p:pic>
        <p:nvPicPr>
          <p:cNvPr id="8" name="Content Placeholder 7">
            <a:extLst>
              <a:ext uri="{FF2B5EF4-FFF2-40B4-BE49-F238E27FC236}">
                <a16:creationId xmlns:a16="http://schemas.microsoft.com/office/drawing/2014/main" id="{8E39E45B-90B7-33F8-BE6B-1B21E22F347C}"/>
              </a:ext>
            </a:extLst>
          </p:cNvPr>
          <p:cNvPicPr>
            <a:picLocks noGrp="1" noChangeAspect="1"/>
          </p:cNvPicPr>
          <p:nvPr>
            <p:ph sz="quarter" idx="29"/>
          </p:nvPr>
        </p:nvPicPr>
        <p:blipFill>
          <a:blip r:embed="rId2"/>
          <a:stretch>
            <a:fillRect/>
          </a:stretch>
        </p:blipFill>
        <p:spPr>
          <a:xfrm>
            <a:off x="3923809" y="139387"/>
            <a:ext cx="4175614" cy="1949105"/>
          </a:xfrm>
        </p:spPr>
      </p:pic>
      <p:pic>
        <p:nvPicPr>
          <p:cNvPr id="10" name="Picture 9">
            <a:extLst>
              <a:ext uri="{FF2B5EF4-FFF2-40B4-BE49-F238E27FC236}">
                <a16:creationId xmlns:a16="http://schemas.microsoft.com/office/drawing/2014/main" id="{1C135125-61CF-5489-2E81-47D96F5C44A4}"/>
              </a:ext>
            </a:extLst>
          </p:cNvPr>
          <p:cNvPicPr>
            <a:picLocks noChangeAspect="1"/>
          </p:cNvPicPr>
          <p:nvPr/>
        </p:nvPicPr>
        <p:blipFill>
          <a:blip r:embed="rId3"/>
          <a:stretch>
            <a:fillRect/>
          </a:stretch>
        </p:blipFill>
        <p:spPr>
          <a:xfrm>
            <a:off x="3895514" y="4410792"/>
            <a:ext cx="4236585" cy="2051108"/>
          </a:xfrm>
          <a:prstGeom prst="rect">
            <a:avLst/>
          </a:prstGeom>
        </p:spPr>
      </p:pic>
      <p:pic>
        <p:nvPicPr>
          <p:cNvPr id="14" name="Picture 13">
            <a:extLst>
              <a:ext uri="{FF2B5EF4-FFF2-40B4-BE49-F238E27FC236}">
                <a16:creationId xmlns:a16="http://schemas.microsoft.com/office/drawing/2014/main" id="{A1640646-4DD5-C5C7-CA65-62C2D964B143}"/>
              </a:ext>
            </a:extLst>
          </p:cNvPr>
          <p:cNvPicPr>
            <a:picLocks noChangeAspect="1"/>
          </p:cNvPicPr>
          <p:nvPr/>
        </p:nvPicPr>
        <p:blipFill>
          <a:blip r:embed="rId4"/>
          <a:stretch>
            <a:fillRect/>
          </a:stretch>
        </p:blipFill>
        <p:spPr>
          <a:xfrm>
            <a:off x="8175266" y="2088492"/>
            <a:ext cx="3667483" cy="2199143"/>
          </a:xfrm>
          <a:prstGeom prst="rect">
            <a:avLst/>
          </a:prstGeom>
        </p:spPr>
      </p:pic>
      <p:grpSp>
        <p:nvGrpSpPr>
          <p:cNvPr id="18" name="Group 17">
            <a:extLst>
              <a:ext uri="{FF2B5EF4-FFF2-40B4-BE49-F238E27FC236}">
                <a16:creationId xmlns:a16="http://schemas.microsoft.com/office/drawing/2014/main" id="{62C0E279-F03F-34AD-0217-E65E282943A6}"/>
              </a:ext>
            </a:extLst>
          </p:cNvPr>
          <p:cNvGrpSpPr/>
          <p:nvPr/>
        </p:nvGrpSpPr>
        <p:grpSpPr>
          <a:xfrm>
            <a:off x="3923809" y="2062474"/>
            <a:ext cx="4236585" cy="2348318"/>
            <a:chOff x="5245274" y="607767"/>
            <a:chExt cx="3722051" cy="1952900"/>
          </a:xfrm>
        </p:grpSpPr>
        <p:pic>
          <p:nvPicPr>
            <p:cNvPr id="12" name="Picture 11">
              <a:extLst>
                <a:ext uri="{FF2B5EF4-FFF2-40B4-BE49-F238E27FC236}">
                  <a16:creationId xmlns:a16="http://schemas.microsoft.com/office/drawing/2014/main" id="{9AFB45ED-E652-4AB5-539A-AD5E70F0C572}"/>
                </a:ext>
              </a:extLst>
            </p:cNvPr>
            <p:cNvPicPr>
              <a:picLocks noChangeAspect="1"/>
            </p:cNvPicPr>
            <p:nvPr/>
          </p:nvPicPr>
          <p:blipFill>
            <a:blip r:embed="rId5"/>
            <a:stretch>
              <a:fillRect/>
            </a:stretch>
          </p:blipFill>
          <p:spPr>
            <a:xfrm>
              <a:off x="5245274" y="607768"/>
              <a:ext cx="3722051" cy="1952899"/>
            </a:xfrm>
            <a:prstGeom prst="rect">
              <a:avLst/>
            </a:prstGeom>
          </p:spPr>
        </p:pic>
        <p:sp>
          <p:nvSpPr>
            <p:cNvPr id="15" name="Oval 14">
              <a:extLst>
                <a:ext uri="{FF2B5EF4-FFF2-40B4-BE49-F238E27FC236}">
                  <a16:creationId xmlns:a16="http://schemas.microsoft.com/office/drawing/2014/main" id="{672A350D-2ED8-6D4B-35D0-3C8132F21592}"/>
                </a:ext>
              </a:extLst>
            </p:cNvPr>
            <p:cNvSpPr/>
            <p:nvPr/>
          </p:nvSpPr>
          <p:spPr>
            <a:xfrm>
              <a:off x="5774078" y="607767"/>
              <a:ext cx="271068" cy="1755289"/>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a:extLst>
              <a:ext uri="{FF2B5EF4-FFF2-40B4-BE49-F238E27FC236}">
                <a16:creationId xmlns:a16="http://schemas.microsoft.com/office/drawing/2014/main" id="{DF4C9042-1346-101E-B71F-085E3454AD94}"/>
              </a:ext>
            </a:extLst>
          </p:cNvPr>
          <p:cNvPicPr>
            <a:picLocks noChangeAspect="1"/>
          </p:cNvPicPr>
          <p:nvPr/>
        </p:nvPicPr>
        <p:blipFill>
          <a:blip r:embed="rId6"/>
          <a:stretch>
            <a:fillRect/>
          </a:stretch>
        </p:blipFill>
        <p:spPr>
          <a:xfrm>
            <a:off x="8132099" y="4345154"/>
            <a:ext cx="3741429" cy="2051108"/>
          </a:xfrm>
          <a:prstGeom prst="rect">
            <a:avLst/>
          </a:prstGeom>
        </p:spPr>
      </p:pic>
      <p:sp>
        <p:nvSpPr>
          <p:cNvPr id="21" name="TextBox 20">
            <a:extLst>
              <a:ext uri="{FF2B5EF4-FFF2-40B4-BE49-F238E27FC236}">
                <a16:creationId xmlns:a16="http://schemas.microsoft.com/office/drawing/2014/main" id="{1168B66B-752A-18F8-2E1C-C9CF776DC76E}"/>
              </a:ext>
            </a:extLst>
          </p:cNvPr>
          <p:cNvSpPr txBox="1"/>
          <p:nvPr/>
        </p:nvSpPr>
        <p:spPr>
          <a:xfrm>
            <a:off x="519575" y="301682"/>
            <a:ext cx="3400746" cy="2031325"/>
          </a:xfrm>
          <a:prstGeom prst="rect">
            <a:avLst/>
          </a:prstGeom>
          <a:noFill/>
        </p:spPr>
        <p:txBody>
          <a:bodyPr wrap="square" rtlCol="0">
            <a:spAutoFit/>
          </a:bodyPr>
          <a:lstStyle/>
          <a:p>
            <a:pPr marL="285750" indent="-285750">
              <a:buFont typeface="Arial" panose="020B0604020202020204" pitchFamily="34" charset="0"/>
              <a:buChar char="•"/>
            </a:pPr>
            <a:r>
              <a:rPr lang="en-US" sz="1400" b="1" dirty="0"/>
              <a:t>Previous Version</a:t>
            </a:r>
          </a:p>
          <a:p>
            <a:pPr marL="285750" indent="-285750">
              <a:buFont typeface="Arial" panose="020B0604020202020204" pitchFamily="34" charset="0"/>
              <a:buChar char="•"/>
            </a:pPr>
            <a:r>
              <a:rPr lang="en-US" sz="1400" b="1" dirty="0"/>
              <a:t>Predicted No of Points = </a:t>
            </a:r>
            <a:r>
              <a:rPr lang="en-US" sz="1400" dirty="0"/>
              <a:t>6</a:t>
            </a:r>
          </a:p>
          <a:p>
            <a:pPr marL="285750" indent="-285750">
              <a:buFont typeface="Arial" panose="020B0604020202020204" pitchFamily="34" charset="0"/>
              <a:buChar char="•"/>
            </a:pPr>
            <a:r>
              <a:rPr lang="en-US" sz="1400" b="1" dirty="0"/>
              <a:t>Time taken = </a:t>
            </a:r>
            <a:r>
              <a:rPr lang="en-US" sz="1400" dirty="0"/>
              <a:t>2.4 sec</a:t>
            </a:r>
          </a:p>
          <a:p>
            <a:pPr marL="285750" indent="-285750">
              <a:buFont typeface="Arial" panose="020B0604020202020204" pitchFamily="34" charset="0"/>
              <a:buChar char="•"/>
            </a:pPr>
            <a:r>
              <a:rPr lang="en-US" sz="1400" b="1" dirty="0"/>
              <a:t>Tunable parameters =</a:t>
            </a:r>
            <a:r>
              <a:rPr lang="en-US" sz="1400" dirty="0"/>
              <a:t> </a:t>
            </a:r>
            <a:r>
              <a:rPr lang="en-US" sz="1400" dirty="0" err="1"/>
              <a:t>x_th</a:t>
            </a:r>
            <a:r>
              <a:rPr lang="en-US" sz="1400" dirty="0"/>
              <a:t>, </a:t>
            </a:r>
            <a:r>
              <a:rPr lang="en-US" sz="1400" dirty="0" err="1"/>
              <a:t>y_th</a:t>
            </a:r>
            <a:r>
              <a:rPr lang="en-US" sz="1400" dirty="0"/>
              <a:t>, </a:t>
            </a:r>
            <a:r>
              <a:rPr lang="en-US" sz="1400" dirty="0" err="1"/>
              <a:t>min_height_of_ramp</a:t>
            </a:r>
            <a:r>
              <a:rPr lang="en-US" sz="1400" dirty="0"/>
              <a:t>, </a:t>
            </a:r>
            <a:r>
              <a:rPr lang="en-US" sz="1400" dirty="0" err="1"/>
              <a:t>min_distance_between_ramps</a:t>
            </a:r>
            <a:r>
              <a:rPr lang="en-US" sz="1400" dirty="0"/>
              <a:t>, </a:t>
            </a:r>
            <a:r>
              <a:rPr lang="en-US" sz="1400" dirty="0" err="1"/>
              <a:t>secondary_detection_needed</a:t>
            </a:r>
            <a:endParaRPr lang="en-US" sz="1400" dirty="0"/>
          </a:p>
          <a:p>
            <a:pPr marL="285750" indent="-285750">
              <a:buFont typeface="Arial" panose="020B0604020202020204" pitchFamily="34" charset="0"/>
              <a:buChar char="•"/>
            </a:pPr>
            <a:r>
              <a:rPr lang="en-US" sz="1400" b="1" dirty="0"/>
              <a:t>Remarks = </a:t>
            </a:r>
            <a:r>
              <a:rPr lang="en-US" sz="1400" dirty="0"/>
              <a:t> Makes good predictions but lot of time taken </a:t>
            </a:r>
            <a:r>
              <a:rPr lang="en-US" sz="1400" b="1" dirty="0"/>
              <a:t> </a:t>
            </a:r>
          </a:p>
        </p:txBody>
      </p:sp>
      <p:sp>
        <p:nvSpPr>
          <p:cNvPr id="22" name="TextBox 21">
            <a:extLst>
              <a:ext uri="{FF2B5EF4-FFF2-40B4-BE49-F238E27FC236}">
                <a16:creationId xmlns:a16="http://schemas.microsoft.com/office/drawing/2014/main" id="{B11978F5-DB8C-20A3-A658-33EC793368D3}"/>
              </a:ext>
            </a:extLst>
          </p:cNvPr>
          <p:cNvSpPr txBox="1"/>
          <p:nvPr/>
        </p:nvSpPr>
        <p:spPr>
          <a:xfrm>
            <a:off x="494768" y="2736591"/>
            <a:ext cx="3400746" cy="1384995"/>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1)</a:t>
            </a:r>
          </a:p>
          <a:p>
            <a:pPr marL="285750" indent="-285750">
              <a:buFont typeface="Arial" panose="020B0604020202020204" pitchFamily="34" charset="0"/>
              <a:buChar char="•"/>
            </a:pPr>
            <a:r>
              <a:rPr lang="en-US" sz="1400" b="1" dirty="0"/>
              <a:t>Predicted No of Points =</a:t>
            </a:r>
            <a:r>
              <a:rPr lang="en-US" sz="1400" dirty="0"/>
              <a:t> 10</a:t>
            </a:r>
          </a:p>
          <a:p>
            <a:pPr marL="285750" indent="-285750">
              <a:buFont typeface="Arial" panose="020B0604020202020204" pitchFamily="34" charset="0"/>
              <a:buChar char="•"/>
            </a:pPr>
            <a:r>
              <a:rPr lang="en-US" sz="1400" b="1" dirty="0"/>
              <a:t>Time taken =</a:t>
            </a:r>
            <a:r>
              <a:rPr lang="en-US" sz="1400" dirty="0"/>
              <a:t> 0.27 sec</a:t>
            </a:r>
          </a:p>
          <a:p>
            <a:pPr marL="285750" indent="-285750">
              <a:buFont typeface="Arial" panose="020B0604020202020204" pitchFamily="34" charset="0"/>
              <a:buChar char="•"/>
            </a:pPr>
            <a:r>
              <a:rPr lang="en-US" sz="1400" b="1" dirty="0"/>
              <a:t>Tunable parameters = </a:t>
            </a:r>
            <a:r>
              <a:rPr lang="en-US" sz="1400" dirty="0"/>
              <a:t>None</a:t>
            </a:r>
          </a:p>
          <a:p>
            <a:pPr marL="285750" indent="-285750">
              <a:buFont typeface="Arial" panose="020B0604020202020204" pitchFamily="34" charset="0"/>
              <a:buChar char="•"/>
            </a:pPr>
            <a:r>
              <a:rPr lang="en-US" sz="1400" b="1" dirty="0"/>
              <a:t>Remarks =</a:t>
            </a:r>
            <a:r>
              <a:rPr lang="en-US" sz="1400" dirty="0"/>
              <a:t> Small ramps are also detected</a:t>
            </a:r>
          </a:p>
        </p:txBody>
      </p:sp>
      <p:sp>
        <p:nvSpPr>
          <p:cNvPr id="23" name="TextBox 22">
            <a:extLst>
              <a:ext uri="{FF2B5EF4-FFF2-40B4-BE49-F238E27FC236}">
                <a16:creationId xmlns:a16="http://schemas.microsoft.com/office/drawing/2014/main" id="{47518129-92F2-99DE-74DC-EBC2F09EF97C}"/>
              </a:ext>
            </a:extLst>
          </p:cNvPr>
          <p:cNvSpPr txBox="1"/>
          <p:nvPr/>
        </p:nvSpPr>
        <p:spPr>
          <a:xfrm>
            <a:off x="494768" y="4723104"/>
            <a:ext cx="3400746" cy="1384995"/>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2)</a:t>
            </a:r>
          </a:p>
          <a:p>
            <a:pPr marL="285750" indent="-285750">
              <a:buFont typeface="Arial" panose="020B0604020202020204" pitchFamily="34" charset="0"/>
              <a:buChar char="•"/>
            </a:pPr>
            <a:r>
              <a:rPr lang="en-US" sz="1400" b="1" dirty="0"/>
              <a:t>Predicted No of Points = </a:t>
            </a:r>
            <a:r>
              <a:rPr lang="en-US" sz="1400" dirty="0"/>
              <a:t>8</a:t>
            </a:r>
            <a:endParaRPr lang="en-US" sz="1400" b="1" dirty="0"/>
          </a:p>
          <a:p>
            <a:pPr marL="285750" indent="-285750">
              <a:buFont typeface="Arial" panose="020B0604020202020204" pitchFamily="34" charset="0"/>
              <a:buChar char="•"/>
            </a:pPr>
            <a:r>
              <a:rPr lang="en-US" sz="1400" b="1" dirty="0"/>
              <a:t>Time taken = </a:t>
            </a:r>
            <a:r>
              <a:rPr lang="en-US" sz="1400" dirty="0"/>
              <a:t>0.3 sec</a:t>
            </a:r>
          </a:p>
          <a:p>
            <a:pPr marL="285750" indent="-285750">
              <a:buFont typeface="Arial" panose="020B0604020202020204" pitchFamily="34" charset="0"/>
              <a:buChar char="•"/>
            </a:pPr>
            <a:r>
              <a:rPr lang="en-US" sz="1400" b="1" dirty="0"/>
              <a:t>Tunable parameters = </a:t>
            </a:r>
            <a:r>
              <a:rPr lang="en-US" sz="1400" dirty="0"/>
              <a:t>None</a:t>
            </a:r>
          </a:p>
          <a:p>
            <a:pPr marL="285750" indent="-285750">
              <a:buFont typeface="Arial" panose="020B0604020202020204" pitchFamily="34" charset="0"/>
              <a:buChar char="•"/>
            </a:pPr>
            <a:r>
              <a:rPr lang="en-US" sz="1400" b="1" dirty="0"/>
              <a:t>Remarks =</a:t>
            </a:r>
            <a:r>
              <a:rPr lang="en-US" sz="1400" dirty="0"/>
              <a:t> Small ramps are correctly ignored</a:t>
            </a:r>
          </a:p>
        </p:txBody>
      </p:sp>
    </p:spTree>
    <p:extLst>
      <p:ext uri="{BB962C8B-B14F-4D97-AF65-F5344CB8AC3E}">
        <p14:creationId xmlns:p14="http://schemas.microsoft.com/office/powerpoint/2010/main" val="1739093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AC7E-1AAE-C3AE-98D5-1FAFE30F7ECA}"/>
              </a:ext>
            </a:extLst>
          </p:cNvPr>
          <p:cNvSpPr>
            <a:spLocks noGrp="1"/>
          </p:cNvSpPr>
          <p:nvPr>
            <p:ph type="title"/>
          </p:nvPr>
        </p:nvSpPr>
        <p:spPr>
          <a:xfrm>
            <a:off x="8749121" y="614871"/>
            <a:ext cx="3093628" cy="1296312"/>
          </a:xfrm>
        </p:spPr>
        <p:txBody>
          <a:bodyPr/>
          <a:lstStyle/>
          <a:p>
            <a:r>
              <a:rPr lang="en-US" dirty="0"/>
              <a:t>Read Waveform 2</a:t>
            </a:r>
          </a:p>
        </p:txBody>
      </p:sp>
      <p:sp>
        <p:nvSpPr>
          <p:cNvPr id="3" name="Slide Number Placeholder 2">
            <a:extLst>
              <a:ext uri="{FF2B5EF4-FFF2-40B4-BE49-F238E27FC236}">
                <a16:creationId xmlns:a16="http://schemas.microsoft.com/office/drawing/2014/main" id="{85E5489E-7EA0-E422-0920-4CA5972EB4E2}"/>
              </a:ext>
            </a:extLst>
          </p:cNvPr>
          <p:cNvSpPr>
            <a:spLocks noGrp="1"/>
          </p:cNvSpPr>
          <p:nvPr>
            <p:ph type="sldNum" sz="quarter" idx="12"/>
          </p:nvPr>
        </p:nvSpPr>
        <p:spPr/>
        <p:txBody>
          <a:bodyPr/>
          <a:lstStyle/>
          <a:p>
            <a:fld id="{B7E7695C-FCF1-4AA0-9B93-7941FED13DC4}" type="slidenum">
              <a:rPr lang="en-US" smtClean="0"/>
              <a:pPr/>
              <a:t>25</a:t>
            </a:fld>
            <a:endParaRPr lang="en-US" dirty="0"/>
          </a:p>
        </p:txBody>
      </p:sp>
      <p:pic>
        <p:nvPicPr>
          <p:cNvPr id="8" name="Picture 7">
            <a:extLst>
              <a:ext uri="{FF2B5EF4-FFF2-40B4-BE49-F238E27FC236}">
                <a16:creationId xmlns:a16="http://schemas.microsoft.com/office/drawing/2014/main" id="{744BF713-44BB-E40E-187B-81BC7F1F80F5}"/>
              </a:ext>
            </a:extLst>
          </p:cNvPr>
          <p:cNvPicPr>
            <a:picLocks noChangeAspect="1"/>
          </p:cNvPicPr>
          <p:nvPr/>
        </p:nvPicPr>
        <p:blipFill>
          <a:blip r:embed="rId2"/>
          <a:stretch>
            <a:fillRect/>
          </a:stretch>
        </p:blipFill>
        <p:spPr>
          <a:xfrm>
            <a:off x="3883631" y="2141404"/>
            <a:ext cx="3952018" cy="2105234"/>
          </a:xfrm>
          <a:prstGeom prst="rect">
            <a:avLst/>
          </a:prstGeom>
        </p:spPr>
      </p:pic>
      <p:pic>
        <p:nvPicPr>
          <p:cNvPr id="10" name="Picture 9">
            <a:extLst>
              <a:ext uri="{FF2B5EF4-FFF2-40B4-BE49-F238E27FC236}">
                <a16:creationId xmlns:a16="http://schemas.microsoft.com/office/drawing/2014/main" id="{D23FF2C0-8ADE-FAC6-59FB-141B662F9024}"/>
              </a:ext>
            </a:extLst>
          </p:cNvPr>
          <p:cNvPicPr>
            <a:picLocks noChangeAspect="1"/>
          </p:cNvPicPr>
          <p:nvPr/>
        </p:nvPicPr>
        <p:blipFill>
          <a:blip r:embed="rId3"/>
          <a:stretch>
            <a:fillRect/>
          </a:stretch>
        </p:blipFill>
        <p:spPr>
          <a:xfrm>
            <a:off x="3883631" y="4279691"/>
            <a:ext cx="3952018" cy="2104685"/>
          </a:xfrm>
          <a:prstGeom prst="rect">
            <a:avLst/>
          </a:prstGeom>
        </p:spPr>
      </p:pic>
      <p:pic>
        <p:nvPicPr>
          <p:cNvPr id="12" name="Picture 11">
            <a:extLst>
              <a:ext uri="{FF2B5EF4-FFF2-40B4-BE49-F238E27FC236}">
                <a16:creationId xmlns:a16="http://schemas.microsoft.com/office/drawing/2014/main" id="{C67F60C3-3E6E-2C30-035E-3845AA75F44B}"/>
              </a:ext>
            </a:extLst>
          </p:cNvPr>
          <p:cNvPicPr>
            <a:picLocks noChangeAspect="1"/>
          </p:cNvPicPr>
          <p:nvPr/>
        </p:nvPicPr>
        <p:blipFill>
          <a:blip r:embed="rId4"/>
          <a:stretch>
            <a:fillRect/>
          </a:stretch>
        </p:blipFill>
        <p:spPr>
          <a:xfrm>
            <a:off x="3998059" y="224954"/>
            <a:ext cx="3837590" cy="1857372"/>
          </a:xfrm>
          <a:prstGeom prst="rect">
            <a:avLst/>
          </a:prstGeom>
        </p:spPr>
      </p:pic>
      <p:sp>
        <p:nvSpPr>
          <p:cNvPr id="15" name="TextBox 14">
            <a:extLst>
              <a:ext uri="{FF2B5EF4-FFF2-40B4-BE49-F238E27FC236}">
                <a16:creationId xmlns:a16="http://schemas.microsoft.com/office/drawing/2014/main" id="{5E5DD4BB-63F7-CE9C-8C9E-9DE5F078A669}"/>
              </a:ext>
            </a:extLst>
          </p:cNvPr>
          <p:cNvSpPr txBox="1"/>
          <p:nvPr/>
        </p:nvSpPr>
        <p:spPr>
          <a:xfrm>
            <a:off x="407049" y="336956"/>
            <a:ext cx="3400746" cy="2462213"/>
          </a:xfrm>
          <a:prstGeom prst="rect">
            <a:avLst/>
          </a:prstGeom>
          <a:noFill/>
        </p:spPr>
        <p:txBody>
          <a:bodyPr wrap="square" rtlCol="0">
            <a:spAutoFit/>
          </a:bodyPr>
          <a:lstStyle/>
          <a:p>
            <a:pPr marL="285750" indent="-285750">
              <a:buFont typeface="Arial" panose="020B0604020202020204" pitchFamily="34" charset="0"/>
              <a:buChar char="•"/>
            </a:pPr>
            <a:r>
              <a:rPr lang="en-US" sz="1400" b="1" dirty="0"/>
              <a:t>Previous Version</a:t>
            </a:r>
          </a:p>
          <a:p>
            <a:pPr marL="285750" indent="-285750">
              <a:buFont typeface="Arial" panose="020B0604020202020204" pitchFamily="34" charset="0"/>
              <a:buChar char="•"/>
            </a:pPr>
            <a:r>
              <a:rPr lang="en-US" sz="1400" b="1" dirty="0"/>
              <a:t>Predicted No of Points = 22</a:t>
            </a:r>
          </a:p>
          <a:p>
            <a:pPr marL="285750" indent="-285750">
              <a:buFont typeface="Arial" panose="020B0604020202020204" pitchFamily="34" charset="0"/>
              <a:buChar char="•"/>
            </a:pPr>
            <a:r>
              <a:rPr lang="en-US" sz="1400" b="1" dirty="0"/>
              <a:t>Time taken = </a:t>
            </a:r>
            <a:r>
              <a:rPr lang="en-US" sz="1400" dirty="0"/>
              <a:t>2.9 sec</a:t>
            </a:r>
          </a:p>
          <a:p>
            <a:pPr marL="285750" indent="-285750">
              <a:buFont typeface="Arial" panose="020B0604020202020204" pitchFamily="34" charset="0"/>
              <a:buChar char="•"/>
            </a:pPr>
            <a:r>
              <a:rPr lang="en-US" sz="1400" b="1" dirty="0"/>
              <a:t>Tunable parameters =</a:t>
            </a:r>
            <a:r>
              <a:rPr lang="en-US" sz="1400" dirty="0"/>
              <a:t> </a:t>
            </a:r>
            <a:r>
              <a:rPr lang="en-US" sz="1400" dirty="0" err="1"/>
              <a:t>x_th</a:t>
            </a:r>
            <a:r>
              <a:rPr lang="en-US" sz="1400" dirty="0"/>
              <a:t>, </a:t>
            </a:r>
            <a:r>
              <a:rPr lang="en-US" sz="1400" dirty="0" err="1"/>
              <a:t>y_th</a:t>
            </a:r>
            <a:r>
              <a:rPr lang="en-US" sz="1400" dirty="0"/>
              <a:t>, </a:t>
            </a:r>
            <a:r>
              <a:rPr lang="en-US" sz="1400" dirty="0" err="1"/>
              <a:t>min_height_of_ramp</a:t>
            </a:r>
            <a:r>
              <a:rPr lang="en-US" sz="1400" dirty="0"/>
              <a:t>, </a:t>
            </a:r>
            <a:r>
              <a:rPr lang="en-US" sz="1400" dirty="0" err="1"/>
              <a:t>min_distance_between_ramps</a:t>
            </a:r>
            <a:r>
              <a:rPr lang="en-US" sz="1400" dirty="0"/>
              <a:t>, </a:t>
            </a:r>
            <a:r>
              <a:rPr lang="en-US" sz="1400" dirty="0" err="1"/>
              <a:t>secondary_detection_needed</a:t>
            </a:r>
            <a:endParaRPr lang="en-US" sz="1400" dirty="0"/>
          </a:p>
          <a:p>
            <a:pPr marL="285750" indent="-285750">
              <a:buFont typeface="Arial" panose="020B0604020202020204" pitchFamily="34" charset="0"/>
              <a:buChar char="•"/>
            </a:pPr>
            <a:r>
              <a:rPr lang="en-US" sz="1400" b="1" dirty="0"/>
              <a:t>Remarks = </a:t>
            </a:r>
            <a:r>
              <a:rPr lang="en-US" sz="1400" dirty="0"/>
              <a:t> Makes good predictions but lot of time taken </a:t>
            </a:r>
            <a:r>
              <a:rPr lang="en-US" sz="1400" b="1" dirty="0"/>
              <a:t> </a:t>
            </a:r>
          </a:p>
          <a:p>
            <a:endParaRPr lang="en-US" sz="1400" dirty="0"/>
          </a:p>
          <a:p>
            <a:endParaRPr lang="en-US" sz="1400" dirty="0"/>
          </a:p>
        </p:txBody>
      </p:sp>
      <p:sp>
        <p:nvSpPr>
          <p:cNvPr id="16" name="TextBox 15">
            <a:extLst>
              <a:ext uri="{FF2B5EF4-FFF2-40B4-BE49-F238E27FC236}">
                <a16:creationId xmlns:a16="http://schemas.microsoft.com/office/drawing/2014/main" id="{4A5F3884-61A5-5906-94D8-255D75B52612}"/>
              </a:ext>
            </a:extLst>
          </p:cNvPr>
          <p:cNvSpPr txBox="1"/>
          <p:nvPr/>
        </p:nvSpPr>
        <p:spPr>
          <a:xfrm>
            <a:off x="439123" y="2646200"/>
            <a:ext cx="3400746" cy="1600438"/>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1)</a:t>
            </a:r>
          </a:p>
          <a:p>
            <a:pPr marL="285750" indent="-285750">
              <a:buFont typeface="Arial" panose="020B0604020202020204" pitchFamily="34" charset="0"/>
              <a:buChar char="•"/>
            </a:pPr>
            <a:r>
              <a:rPr lang="en-US" sz="1400" b="1" dirty="0"/>
              <a:t>Predicted No of Points = 65</a:t>
            </a:r>
          </a:p>
          <a:p>
            <a:pPr marL="285750" indent="-285750">
              <a:buFont typeface="Arial" panose="020B0604020202020204" pitchFamily="34" charset="0"/>
              <a:buChar char="•"/>
            </a:pPr>
            <a:r>
              <a:rPr lang="en-US" sz="1400" b="1" dirty="0"/>
              <a:t>Time taken =</a:t>
            </a:r>
            <a:r>
              <a:rPr lang="en-US" sz="1400" dirty="0"/>
              <a:t> 0.4 sec</a:t>
            </a:r>
          </a:p>
          <a:p>
            <a:pPr marL="285750" indent="-285750">
              <a:buFont typeface="Arial" panose="020B0604020202020204" pitchFamily="34" charset="0"/>
              <a:buChar char="•"/>
            </a:pPr>
            <a:r>
              <a:rPr lang="en-US" sz="1400" b="1" dirty="0"/>
              <a:t>Tunable parameters =</a:t>
            </a:r>
            <a:r>
              <a:rPr lang="en-US" sz="1400" dirty="0"/>
              <a:t> None</a:t>
            </a:r>
          </a:p>
          <a:p>
            <a:pPr marL="285750" indent="-285750">
              <a:buFont typeface="Arial" panose="020B0604020202020204" pitchFamily="34" charset="0"/>
              <a:buChar char="•"/>
            </a:pPr>
            <a:r>
              <a:rPr lang="en-US" sz="1400" b="1" dirty="0"/>
              <a:t>Remarks = </a:t>
            </a:r>
            <a:r>
              <a:rPr lang="en-US" sz="1400" dirty="0"/>
              <a:t>Even smaller ramps are correctly marked</a:t>
            </a:r>
            <a:endParaRPr lang="en-US" sz="1400" b="1" dirty="0"/>
          </a:p>
          <a:p>
            <a:endParaRPr lang="en-US" sz="1400" dirty="0"/>
          </a:p>
        </p:txBody>
      </p:sp>
      <p:sp>
        <p:nvSpPr>
          <p:cNvPr id="17" name="TextBox 16">
            <a:extLst>
              <a:ext uri="{FF2B5EF4-FFF2-40B4-BE49-F238E27FC236}">
                <a16:creationId xmlns:a16="http://schemas.microsoft.com/office/drawing/2014/main" id="{BBB8B717-1012-B7AE-98E7-21728BDDDD17}"/>
              </a:ext>
            </a:extLst>
          </p:cNvPr>
          <p:cNvSpPr txBox="1"/>
          <p:nvPr/>
        </p:nvSpPr>
        <p:spPr>
          <a:xfrm>
            <a:off x="439123" y="4531814"/>
            <a:ext cx="3488269" cy="1600438"/>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2)</a:t>
            </a:r>
          </a:p>
          <a:p>
            <a:pPr marL="285750" indent="-285750">
              <a:buFont typeface="Arial" panose="020B0604020202020204" pitchFamily="34" charset="0"/>
              <a:buChar char="•"/>
            </a:pPr>
            <a:r>
              <a:rPr lang="en-US" sz="1400" b="1" dirty="0"/>
              <a:t>Predicted No of Points = 20</a:t>
            </a:r>
          </a:p>
          <a:p>
            <a:pPr marL="285750" indent="-285750">
              <a:buFont typeface="Arial" panose="020B0604020202020204" pitchFamily="34" charset="0"/>
              <a:buChar char="•"/>
            </a:pPr>
            <a:r>
              <a:rPr lang="en-US" sz="1400" b="1" dirty="0"/>
              <a:t>Time taken = </a:t>
            </a:r>
            <a:r>
              <a:rPr lang="en-US" sz="1400" dirty="0"/>
              <a:t>0.88 sec</a:t>
            </a:r>
          </a:p>
          <a:p>
            <a:pPr marL="285750" indent="-285750">
              <a:buFont typeface="Arial" panose="020B0604020202020204" pitchFamily="34" charset="0"/>
              <a:buChar char="•"/>
            </a:pPr>
            <a:r>
              <a:rPr lang="en-US" sz="1400" b="1" dirty="0"/>
              <a:t>Tunable parameters =</a:t>
            </a:r>
            <a:r>
              <a:rPr lang="en-US" sz="1400" dirty="0"/>
              <a:t> None</a:t>
            </a:r>
          </a:p>
          <a:p>
            <a:pPr marL="285750" indent="-285750">
              <a:buFont typeface="Arial" panose="020B0604020202020204" pitchFamily="34" charset="0"/>
              <a:buChar char="•"/>
            </a:pPr>
            <a:r>
              <a:rPr lang="en-US" sz="1400" b="1" dirty="0"/>
              <a:t>Remarks = </a:t>
            </a:r>
            <a:r>
              <a:rPr lang="en-US" sz="1400" dirty="0"/>
              <a:t> Clubs all smaller ramps as one single ramp</a:t>
            </a:r>
            <a:endParaRPr lang="en-US" sz="1400" b="1" dirty="0"/>
          </a:p>
          <a:p>
            <a:endParaRPr lang="en-US" sz="1400" dirty="0"/>
          </a:p>
        </p:txBody>
      </p:sp>
      <p:pic>
        <p:nvPicPr>
          <p:cNvPr id="21" name="Picture 20">
            <a:extLst>
              <a:ext uri="{FF2B5EF4-FFF2-40B4-BE49-F238E27FC236}">
                <a16:creationId xmlns:a16="http://schemas.microsoft.com/office/drawing/2014/main" id="{45C6C824-45EA-1C3C-7BCA-7BAE22F4AFD3}"/>
              </a:ext>
            </a:extLst>
          </p:cNvPr>
          <p:cNvPicPr>
            <a:picLocks noChangeAspect="1"/>
          </p:cNvPicPr>
          <p:nvPr/>
        </p:nvPicPr>
        <p:blipFill>
          <a:blip r:embed="rId5"/>
          <a:stretch>
            <a:fillRect/>
          </a:stretch>
        </p:blipFill>
        <p:spPr>
          <a:xfrm>
            <a:off x="7987321" y="2192774"/>
            <a:ext cx="3707662" cy="1916731"/>
          </a:xfrm>
          <a:prstGeom prst="rect">
            <a:avLst/>
          </a:prstGeom>
        </p:spPr>
      </p:pic>
      <p:pic>
        <p:nvPicPr>
          <p:cNvPr id="23" name="Picture 22">
            <a:extLst>
              <a:ext uri="{FF2B5EF4-FFF2-40B4-BE49-F238E27FC236}">
                <a16:creationId xmlns:a16="http://schemas.microsoft.com/office/drawing/2014/main" id="{D9C89C26-798B-6FD3-AAF4-26A95F3789E6}"/>
              </a:ext>
            </a:extLst>
          </p:cNvPr>
          <p:cNvPicPr>
            <a:picLocks noChangeAspect="1"/>
          </p:cNvPicPr>
          <p:nvPr/>
        </p:nvPicPr>
        <p:blipFill>
          <a:blip r:embed="rId6"/>
          <a:stretch>
            <a:fillRect/>
          </a:stretch>
        </p:blipFill>
        <p:spPr>
          <a:xfrm>
            <a:off x="7987902" y="4279691"/>
            <a:ext cx="3854847" cy="1833433"/>
          </a:xfrm>
          <a:prstGeom prst="rect">
            <a:avLst/>
          </a:prstGeom>
        </p:spPr>
      </p:pic>
    </p:spTree>
    <p:extLst>
      <p:ext uri="{BB962C8B-B14F-4D97-AF65-F5344CB8AC3E}">
        <p14:creationId xmlns:p14="http://schemas.microsoft.com/office/powerpoint/2010/main" val="1561589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EBB3D-E7AF-E18B-CCAF-6EB0F944DC17}"/>
              </a:ext>
            </a:extLst>
          </p:cNvPr>
          <p:cNvSpPr>
            <a:spLocks noGrp="1"/>
          </p:cNvSpPr>
          <p:nvPr>
            <p:ph type="title"/>
          </p:nvPr>
        </p:nvSpPr>
        <p:spPr>
          <a:xfrm>
            <a:off x="8664486" y="534521"/>
            <a:ext cx="2729554" cy="1188312"/>
          </a:xfrm>
        </p:spPr>
        <p:txBody>
          <a:bodyPr/>
          <a:lstStyle/>
          <a:p>
            <a:r>
              <a:rPr lang="en-US" dirty="0"/>
              <a:t>Erase Waveform 1</a:t>
            </a:r>
          </a:p>
        </p:txBody>
      </p:sp>
      <p:sp>
        <p:nvSpPr>
          <p:cNvPr id="3" name="Slide Number Placeholder 2">
            <a:extLst>
              <a:ext uri="{FF2B5EF4-FFF2-40B4-BE49-F238E27FC236}">
                <a16:creationId xmlns:a16="http://schemas.microsoft.com/office/drawing/2014/main" id="{6825AD76-EC56-0B41-6AFD-6A52C64D71D7}"/>
              </a:ext>
            </a:extLst>
          </p:cNvPr>
          <p:cNvSpPr>
            <a:spLocks noGrp="1"/>
          </p:cNvSpPr>
          <p:nvPr>
            <p:ph type="sldNum" sz="quarter" idx="12"/>
          </p:nvPr>
        </p:nvSpPr>
        <p:spPr/>
        <p:txBody>
          <a:bodyPr/>
          <a:lstStyle/>
          <a:p>
            <a:fld id="{B7E7695C-FCF1-4AA0-9B93-7941FED13DC4}" type="slidenum">
              <a:rPr lang="en-US" smtClean="0"/>
              <a:pPr/>
              <a:t>26</a:t>
            </a:fld>
            <a:endParaRPr lang="en-US" dirty="0"/>
          </a:p>
        </p:txBody>
      </p:sp>
      <p:pic>
        <p:nvPicPr>
          <p:cNvPr id="8" name="Picture 7">
            <a:extLst>
              <a:ext uri="{FF2B5EF4-FFF2-40B4-BE49-F238E27FC236}">
                <a16:creationId xmlns:a16="http://schemas.microsoft.com/office/drawing/2014/main" id="{207305CB-FB3D-82F7-5E02-15FB46B16352}"/>
              </a:ext>
            </a:extLst>
          </p:cNvPr>
          <p:cNvPicPr>
            <a:picLocks noChangeAspect="1"/>
          </p:cNvPicPr>
          <p:nvPr/>
        </p:nvPicPr>
        <p:blipFill>
          <a:blip r:embed="rId2"/>
          <a:stretch>
            <a:fillRect/>
          </a:stretch>
        </p:blipFill>
        <p:spPr>
          <a:xfrm>
            <a:off x="3945275" y="4260901"/>
            <a:ext cx="4056579" cy="2144413"/>
          </a:xfrm>
          <a:prstGeom prst="rect">
            <a:avLst/>
          </a:prstGeom>
        </p:spPr>
      </p:pic>
      <p:pic>
        <p:nvPicPr>
          <p:cNvPr id="10" name="Picture 9">
            <a:extLst>
              <a:ext uri="{FF2B5EF4-FFF2-40B4-BE49-F238E27FC236}">
                <a16:creationId xmlns:a16="http://schemas.microsoft.com/office/drawing/2014/main" id="{0AC65852-A43A-35EF-0F54-F50E8A9BEFE2}"/>
              </a:ext>
            </a:extLst>
          </p:cNvPr>
          <p:cNvPicPr>
            <a:picLocks noChangeAspect="1"/>
          </p:cNvPicPr>
          <p:nvPr/>
        </p:nvPicPr>
        <p:blipFill>
          <a:blip r:embed="rId3"/>
          <a:stretch>
            <a:fillRect/>
          </a:stretch>
        </p:blipFill>
        <p:spPr>
          <a:xfrm>
            <a:off x="8116584" y="4273384"/>
            <a:ext cx="3904180" cy="2030950"/>
          </a:xfrm>
          <a:prstGeom prst="rect">
            <a:avLst/>
          </a:prstGeom>
        </p:spPr>
      </p:pic>
      <p:pic>
        <p:nvPicPr>
          <p:cNvPr id="12" name="Picture 11">
            <a:extLst>
              <a:ext uri="{FF2B5EF4-FFF2-40B4-BE49-F238E27FC236}">
                <a16:creationId xmlns:a16="http://schemas.microsoft.com/office/drawing/2014/main" id="{0FC54C85-1A16-80D2-181E-82EAA8D51024}"/>
              </a:ext>
            </a:extLst>
          </p:cNvPr>
          <p:cNvPicPr>
            <a:picLocks noChangeAspect="1"/>
          </p:cNvPicPr>
          <p:nvPr/>
        </p:nvPicPr>
        <p:blipFill>
          <a:blip r:embed="rId4"/>
          <a:stretch>
            <a:fillRect/>
          </a:stretch>
        </p:blipFill>
        <p:spPr>
          <a:xfrm>
            <a:off x="3941848" y="2410061"/>
            <a:ext cx="4056579" cy="1954380"/>
          </a:xfrm>
          <a:prstGeom prst="rect">
            <a:avLst/>
          </a:prstGeom>
        </p:spPr>
      </p:pic>
      <p:pic>
        <p:nvPicPr>
          <p:cNvPr id="14" name="Picture 13">
            <a:extLst>
              <a:ext uri="{FF2B5EF4-FFF2-40B4-BE49-F238E27FC236}">
                <a16:creationId xmlns:a16="http://schemas.microsoft.com/office/drawing/2014/main" id="{5EC5FD65-CE5B-B814-C7E9-800965175347}"/>
              </a:ext>
            </a:extLst>
          </p:cNvPr>
          <p:cNvPicPr>
            <a:picLocks noChangeAspect="1"/>
          </p:cNvPicPr>
          <p:nvPr/>
        </p:nvPicPr>
        <p:blipFill>
          <a:blip r:embed="rId5"/>
          <a:stretch>
            <a:fillRect/>
          </a:stretch>
        </p:blipFill>
        <p:spPr>
          <a:xfrm>
            <a:off x="8116584" y="2443291"/>
            <a:ext cx="3824834" cy="1817610"/>
          </a:xfrm>
          <a:prstGeom prst="rect">
            <a:avLst/>
          </a:prstGeom>
        </p:spPr>
      </p:pic>
      <p:pic>
        <p:nvPicPr>
          <p:cNvPr id="16" name="Picture 15">
            <a:extLst>
              <a:ext uri="{FF2B5EF4-FFF2-40B4-BE49-F238E27FC236}">
                <a16:creationId xmlns:a16="http://schemas.microsoft.com/office/drawing/2014/main" id="{58B6696B-8B7B-2D89-F81C-5BE428E15F88}"/>
              </a:ext>
            </a:extLst>
          </p:cNvPr>
          <p:cNvPicPr>
            <a:picLocks noChangeAspect="1"/>
          </p:cNvPicPr>
          <p:nvPr/>
        </p:nvPicPr>
        <p:blipFill>
          <a:blip r:embed="rId6"/>
          <a:stretch>
            <a:fillRect/>
          </a:stretch>
        </p:blipFill>
        <p:spPr>
          <a:xfrm>
            <a:off x="3945274" y="513"/>
            <a:ext cx="4171310" cy="2400555"/>
          </a:xfrm>
          <a:prstGeom prst="rect">
            <a:avLst/>
          </a:prstGeom>
        </p:spPr>
      </p:pic>
      <p:sp>
        <p:nvSpPr>
          <p:cNvPr id="17" name="TextBox 16">
            <a:extLst>
              <a:ext uri="{FF2B5EF4-FFF2-40B4-BE49-F238E27FC236}">
                <a16:creationId xmlns:a16="http://schemas.microsoft.com/office/drawing/2014/main" id="{FC03F0E7-471C-3503-CD3B-8DED4E5460B5}"/>
              </a:ext>
            </a:extLst>
          </p:cNvPr>
          <p:cNvSpPr txBox="1"/>
          <p:nvPr/>
        </p:nvSpPr>
        <p:spPr>
          <a:xfrm>
            <a:off x="0" y="221474"/>
            <a:ext cx="3959827" cy="2677656"/>
          </a:xfrm>
          <a:prstGeom prst="rect">
            <a:avLst/>
          </a:prstGeom>
          <a:noFill/>
        </p:spPr>
        <p:txBody>
          <a:bodyPr wrap="square" rtlCol="0">
            <a:spAutoFit/>
          </a:bodyPr>
          <a:lstStyle/>
          <a:p>
            <a:pPr marL="285750" indent="-285750">
              <a:buFont typeface="Arial" panose="020B0604020202020204" pitchFamily="34" charset="0"/>
              <a:buChar char="•"/>
            </a:pPr>
            <a:r>
              <a:rPr lang="en-US" sz="1400" b="1" dirty="0"/>
              <a:t>Previous Version</a:t>
            </a:r>
          </a:p>
          <a:p>
            <a:pPr marL="285750" indent="-285750">
              <a:buFont typeface="Arial" panose="020B0604020202020204" pitchFamily="34" charset="0"/>
              <a:buChar char="•"/>
            </a:pPr>
            <a:r>
              <a:rPr lang="en-US" sz="1400" b="1" dirty="0"/>
              <a:t>Predicted No of Points = 3</a:t>
            </a:r>
          </a:p>
          <a:p>
            <a:pPr marL="285750" indent="-285750">
              <a:buFont typeface="Arial" panose="020B0604020202020204" pitchFamily="34" charset="0"/>
              <a:buChar char="•"/>
            </a:pPr>
            <a:r>
              <a:rPr lang="en-US" sz="1400" b="1" dirty="0"/>
              <a:t>Time taken = </a:t>
            </a:r>
            <a:r>
              <a:rPr lang="en-US" sz="1400" dirty="0"/>
              <a:t>18.57 sec</a:t>
            </a:r>
          </a:p>
          <a:p>
            <a:pPr marL="285750" indent="-285750">
              <a:buFont typeface="Arial" panose="020B0604020202020204" pitchFamily="34" charset="0"/>
              <a:buChar char="•"/>
            </a:pPr>
            <a:r>
              <a:rPr lang="en-US" sz="1400" b="1" dirty="0"/>
              <a:t>Tunable parameters =</a:t>
            </a:r>
            <a:r>
              <a:rPr lang="en-US" sz="1400" dirty="0"/>
              <a:t> </a:t>
            </a:r>
            <a:r>
              <a:rPr lang="en-US" sz="1400" dirty="0" err="1"/>
              <a:t>x_th</a:t>
            </a:r>
            <a:r>
              <a:rPr lang="en-US" sz="1400" dirty="0"/>
              <a:t>, </a:t>
            </a:r>
            <a:r>
              <a:rPr lang="en-US" sz="1400" dirty="0" err="1"/>
              <a:t>y_th</a:t>
            </a:r>
            <a:r>
              <a:rPr lang="en-US" sz="1400" dirty="0"/>
              <a:t>, </a:t>
            </a:r>
            <a:r>
              <a:rPr lang="en-US" sz="1400" dirty="0" err="1"/>
              <a:t>min_height_of_ramp</a:t>
            </a:r>
            <a:r>
              <a:rPr lang="en-US" sz="1400" dirty="0"/>
              <a:t>, </a:t>
            </a:r>
            <a:r>
              <a:rPr lang="en-US" sz="1400" dirty="0" err="1"/>
              <a:t>min_distance_between_ramps</a:t>
            </a:r>
            <a:r>
              <a:rPr lang="en-US" sz="1400" dirty="0"/>
              <a:t>, </a:t>
            </a:r>
            <a:r>
              <a:rPr lang="en-US" sz="1400" dirty="0" err="1"/>
              <a:t>secondary_detection_needed</a:t>
            </a:r>
            <a:endParaRPr lang="en-US" sz="1400" dirty="0"/>
          </a:p>
          <a:p>
            <a:pPr marL="285750" indent="-285750">
              <a:buFont typeface="Arial" panose="020B0604020202020204" pitchFamily="34" charset="0"/>
              <a:buChar char="•"/>
            </a:pPr>
            <a:r>
              <a:rPr lang="en-US" sz="1400" b="1" dirty="0"/>
              <a:t>Remarks = </a:t>
            </a:r>
            <a:r>
              <a:rPr lang="en-US" sz="1400" dirty="0"/>
              <a:t> Makes very bad predictions, very few points predicted. Lot of time is also taken. Additional time needed for secondary detection</a:t>
            </a:r>
            <a:endParaRPr lang="en-US" sz="1400" b="1" dirty="0"/>
          </a:p>
          <a:p>
            <a:endParaRPr lang="en-US" sz="1400" dirty="0"/>
          </a:p>
        </p:txBody>
      </p:sp>
      <p:sp>
        <p:nvSpPr>
          <p:cNvPr id="18" name="TextBox 17">
            <a:extLst>
              <a:ext uri="{FF2B5EF4-FFF2-40B4-BE49-F238E27FC236}">
                <a16:creationId xmlns:a16="http://schemas.microsoft.com/office/drawing/2014/main" id="{DF2A109B-9A5E-374A-3BD6-A59946D051E8}"/>
              </a:ext>
            </a:extLst>
          </p:cNvPr>
          <p:cNvSpPr txBox="1"/>
          <p:nvPr/>
        </p:nvSpPr>
        <p:spPr>
          <a:xfrm>
            <a:off x="39379" y="2889960"/>
            <a:ext cx="3905894" cy="1600438"/>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1)</a:t>
            </a:r>
          </a:p>
          <a:p>
            <a:pPr marL="285750" indent="-285750">
              <a:buFont typeface="Arial" panose="020B0604020202020204" pitchFamily="34" charset="0"/>
              <a:buChar char="•"/>
            </a:pPr>
            <a:r>
              <a:rPr lang="en-US" sz="1400" b="1" dirty="0"/>
              <a:t>Predicted No of Points = 815</a:t>
            </a:r>
          </a:p>
          <a:p>
            <a:pPr marL="285750" indent="-285750">
              <a:buFont typeface="Arial" panose="020B0604020202020204" pitchFamily="34" charset="0"/>
              <a:buChar char="•"/>
            </a:pPr>
            <a:r>
              <a:rPr lang="en-US" sz="1400" b="1" dirty="0"/>
              <a:t>Time taken =</a:t>
            </a:r>
            <a:r>
              <a:rPr lang="en-US" sz="1400" dirty="0"/>
              <a:t> 3.57 sec</a:t>
            </a:r>
          </a:p>
          <a:p>
            <a:pPr marL="285750" indent="-285750">
              <a:buFont typeface="Arial" panose="020B0604020202020204" pitchFamily="34" charset="0"/>
              <a:buChar char="•"/>
            </a:pPr>
            <a:r>
              <a:rPr lang="en-US" sz="1400" b="1" dirty="0"/>
              <a:t>Tunable parameters =</a:t>
            </a:r>
            <a:r>
              <a:rPr lang="en-US" sz="1400" dirty="0"/>
              <a:t> None</a:t>
            </a:r>
          </a:p>
          <a:p>
            <a:pPr marL="285750" indent="-285750">
              <a:buFont typeface="Arial" panose="020B0604020202020204" pitchFamily="34" charset="0"/>
              <a:buChar char="•"/>
            </a:pPr>
            <a:r>
              <a:rPr lang="en-US" sz="1400" b="1" dirty="0"/>
              <a:t>Remarks = </a:t>
            </a:r>
            <a:r>
              <a:rPr lang="en-US" sz="1400" dirty="0"/>
              <a:t> Makes good predictions in small time frame. </a:t>
            </a:r>
            <a:endParaRPr lang="en-US" sz="1400" b="1" dirty="0"/>
          </a:p>
          <a:p>
            <a:endParaRPr lang="en-US" sz="1400" dirty="0"/>
          </a:p>
        </p:txBody>
      </p:sp>
      <p:sp>
        <p:nvSpPr>
          <p:cNvPr id="19" name="TextBox 18">
            <a:extLst>
              <a:ext uri="{FF2B5EF4-FFF2-40B4-BE49-F238E27FC236}">
                <a16:creationId xmlns:a16="http://schemas.microsoft.com/office/drawing/2014/main" id="{83B72632-CAD1-6673-ABDC-143397E1E2AA}"/>
              </a:ext>
            </a:extLst>
          </p:cNvPr>
          <p:cNvSpPr txBox="1"/>
          <p:nvPr/>
        </p:nvSpPr>
        <p:spPr>
          <a:xfrm>
            <a:off x="39379" y="4597099"/>
            <a:ext cx="3920448" cy="1600438"/>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2)</a:t>
            </a:r>
          </a:p>
          <a:p>
            <a:pPr marL="285750" indent="-285750">
              <a:buFont typeface="Arial" panose="020B0604020202020204" pitchFamily="34" charset="0"/>
              <a:buChar char="•"/>
            </a:pPr>
            <a:r>
              <a:rPr lang="en-US" sz="1400" b="1" dirty="0"/>
              <a:t>Predicted No of Points = 154</a:t>
            </a:r>
          </a:p>
          <a:p>
            <a:pPr marL="285750" indent="-285750">
              <a:buFont typeface="Arial" panose="020B0604020202020204" pitchFamily="34" charset="0"/>
              <a:buChar char="•"/>
            </a:pPr>
            <a:r>
              <a:rPr lang="en-US" sz="1400" b="1" dirty="0"/>
              <a:t>Time taken = </a:t>
            </a:r>
            <a:r>
              <a:rPr lang="en-US" sz="1400" dirty="0"/>
              <a:t>4.1 sec</a:t>
            </a:r>
          </a:p>
          <a:p>
            <a:pPr marL="285750" indent="-285750">
              <a:buFont typeface="Arial" panose="020B0604020202020204" pitchFamily="34" charset="0"/>
              <a:buChar char="•"/>
            </a:pPr>
            <a:r>
              <a:rPr lang="en-US" sz="1400" b="1" dirty="0"/>
              <a:t>Tunable parameters =</a:t>
            </a:r>
            <a:r>
              <a:rPr lang="en-US" sz="1400" dirty="0"/>
              <a:t> None</a:t>
            </a:r>
          </a:p>
          <a:p>
            <a:pPr marL="285750" indent="-285750">
              <a:buFont typeface="Arial" panose="020B0604020202020204" pitchFamily="34" charset="0"/>
              <a:buChar char="•"/>
            </a:pPr>
            <a:r>
              <a:rPr lang="en-US" sz="1400" b="1" dirty="0"/>
              <a:t>Remarks = </a:t>
            </a:r>
            <a:r>
              <a:rPr lang="en-US" sz="1400" dirty="0"/>
              <a:t> Makes good predictions in small time frame</a:t>
            </a:r>
            <a:endParaRPr lang="en-US" sz="1400" b="1" dirty="0"/>
          </a:p>
          <a:p>
            <a:endParaRPr lang="en-US" sz="1400" dirty="0"/>
          </a:p>
        </p:txBody>
      </p:sp>
      <p:sp>
        <p:nvSpPr>
          <p:cNvPr id="20" name="Oval 19">
            <a:extLst>
              <a:ext uri="{FF2B5EF4-FFF2-40B4-BE49-F238E27FC236}">
                <a16:creationId xmlns:a16="http://schemas.microsoft.com/office/drawing/2014/main" id="{65FD4A30-12C9-9F22-1AE1-768508D4273A}"/>
              </a:ext>
            </a:extLst>
          </p:cNvPr>
          <p:cNvSpPr/>
          <p:nvPr/>
        </p:nvSpPr>
        <p:spPr>
          <a:xfrm>
            <a:off x="5067725" y="2452439"/>
            <a:ext cx="602750" cy="1793784"/>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2D77287-6FB0-3905-F0E0-36F05FE37339}"/>
              </a:ext>
            </a:extLst>
          </p:cNvPr>
          <p:cNvSpPr/>
          <p:nvPr/>
        </p:nvSpPr>
        <p:spPr>
          <a:xfrm>
            <a:off x="5118243" y="4334430"/>
            <a:ext cx="602750" cy="1863107"/>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454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E9888-63F3-255E-031A-D1B5CD4DC44F}"/>
              </a:ext>
            </a:extLst>
          </p:cNvPr>
          <p:cNvSpPr>
            <a:spLocks noGrp="1"/>
          </p:cNvSpPr>
          <p:nvPr>
            <p:ph type="title"/>
          </p:nvPr>
        </p:nvSpPr>
        <p:spPr>
          <a:xfrm>
            <a:off x="8559332" y="685912"/>
            <a:ext cx="3074970" cy="1151515"/>
          </a:xfrm>
        </p:spPr>
        <p:txBody>
          <a:bodyPr anchor="t">
            <a:normAutofit/>
          </a:bodyPr>
          <a:lstStyle/>
          <a:p>
            <a:r>
              <a:rPr lang="en-US" dirty="0"/>
              <a:t>Erase Waveform 2</a:t>
            </a:r>
          </a:p>
        </p:txBody>
      </p:sp>
      <p:sp>
        <p:nvSpPr>
          <p:cNvPr id="3" name="Slide Number Placeholder 2">
            <a:extLst>
              <a:ext uri="{FF2B5EF4-FFF2-40B4-BE49-F238E27FC236}">
                <a16:creationId xmlns:a16="http://schemas.microsoft.com/office/drawing/2014/main" id="{3DD89515-FAEB-9E01-C0B4-F64EB1F616F6}"/>
              </a:ext>
            </a:extLst>
          </p:cNvPr>
          <p:cNvSpPr>
            <a:spLocks noGrp="1"/>
          </p:cNvSpPr>
          <p:nvPr>
            <p:ph type="sldNum" sz="quarter" idx="12"/>
          </p:nvPr>
        </p:nvSpPr>
        <p:spPr>
          <a:xfrm>
            <a:off x="11255731" y="221540"/>
            <a:ext cx="587019" cy="230832"/>
          </a:xfrm>
        </p:spPr>
        <p:txBody>
          <a:bodyPr>
            <a:normAutofit/>
          </a:bodyPr>
          <a:lstStyle/>
          <a:p>
            <a:pPr>
              <a:spcAft>
                <a:spcPts val="600"/>
              </a:spcAft>
            </a:pPr>
            <a:fld id="{B7E7695C-FCF1-4AA0-9B93-7941FED13DC4}" type="slidenum">
              <a:rPr lang="en-US" smtClean="0"/>
              <a:pPr>
                <a:spcAft>
                  <a:spcPts val="600"/>
                </a:spcAft>
              </a:pPr>
              <a:t>27</a:t>
            </a:fld>
            <a:endParaRPr lang="en-US"/>
          </a:p>
        </p:txBody>
      </p:sp>
      <p:pic>
        <p:nvPicPr>
          <p:cNvPr id="10" name="Picture 9" descr="Chart&#10;&#10;Description automatically generated with low confidence">
            <a:extLst>
              <a:ext uri="{FF2B5EF4-FFF2-40B4-BE49-F238E27FC236}">
                <a16:creationId xmlns:a16="http://schemas.microsoft.com/office/drawing/2014/main" id="{652613D6-823F-2AB9-C9A6-F74E1AA75C08}"/>
              </a:ext>
            </a:extLst>
          </p:cNvPr>
          <p:cNvPicPr>
            <a:picLocks noChangeAspect="1"/>
          </p:cNvPicPr>
          <p:nvPr/>
        </p:nvPicPr>
        <p:blipFill>
          <a:blip r:embed="rId2"/>
          <a:stretch>
            <a:fillRect/>
          </a:stretch>
        </p:blipFill>
        <p:spPr>
          <a:xfrm>
            <a:off x="8261124" y="2728270"/>
            <a:ext cx="3671385" cy="1716035"/>
          </a:xfrm>
          <a:prstGeom prst="rect">
            <a:avLst/>
          </a:prstGeom>
          <a:noFill/>
        </p:spPr>
      </p:pic>
      <p:pic>
        <p:nvPicPr>
          <p:cNvPr id="12" name="Picture 11">
            <a:extLst>
              <a:ext uri="{FF2B5EF4-FFF2-40B4-BE49-F238E27FC236}">
                <a16:creationId xmlns:a16="http://schemas.microsoft.com/office/drawing/2014/main" id="{C145D4D7-476C-299A-234F-60B579F9F554}"/>
              </a:ext>
            </a:extLst>
          </p:cNvPr>
          <p:cNvPicPr>
            <a:picLocks noChangeAspect="1"/>
          </p:cNvPicPr>
          <p:nvPr/>
        </p:nvPicPr>
        <p:blipFill>
          <a:blip r:embed="rId3"/>
          <a:stretch>
            <a:fillRect/>
          </a:stretch>
        </p:blipFill>
        <p:spPr>
          <a:xfrm>
            <a:off x="4215843" y="2733428"/>
            <a:ext cx="3964269" cy="1710877"/>
          </a:xfrm>
          <a:prstGeom prst="rect">
            <a:avLst/>
          </a:prstGeom>
        </p:spPr>
      </p:pic>
      <p:pic>
        <p:nvPicPr>
          <p:cNvPr id="14" name="Picture 13">
            <a:extLst>
              <a:ext uri="{FF2B5EF4-FFF2-40B4-BE49-F238E27FC236}">
                <a16:creationId xmlns:a16="http://schemas.microsoft.com/office/drawing/2014/main" id="{FA19DC5C-2DF4-5FC8-91C6-FCA2E3814345}"/>
              </a:ext>
            </a:extLst>
          </p:cNvPr>
          <p:cNvPicPr>
            <a:picLocks noChangeAspect="1"/>
          </p:cNvPicPr>
          <p:nvPr/>
        </p:nvPicPr>
        <p:blipFill>
          <a:blip r:embed="rId4"/>
          <a:stretch>
            <a:fillRect/>
          </a:stretch>
        </p:blipFill>
        <p:spPr>
          <a:xfrm>
            <a:off x="8261852" y="4449463"/>
            <a:ext cx="3671385" cy="1870194"/>
          </a:xfrm>
          <a:prstGeom prst="rect">
            <a:avLst/>
          </a:prstGeom>
        </p:spPr>
      </p:pic>
      <p:pic>
        <p:nvPicPr>
          <p:cNvPr id="18" name="Picture 17">
            <a:extLst>
              <a:ext uri="{FF2B5EF4-FFF2-40B4-BE49-F238E27FC236}">
                <a16:creationId xmlns:a16="http://schemas.microsoft.com/office/drawing/2014/main" id="{901A3F13-F31B-50F7-1B27-6E2168186B9C}"/>
              </a:ext>
            </a:extLst>
          </p:cNvPr>
          <p:cNvPicPr>
            <a:picLocks noChangeAspect="1"/>
          </p:cNvPicPr>
          <p:nvPr/>
        </p:nvPicPr>
        <p:blipFill>
          <a:blip r:embed="rId5"/>
          <a:stretch>
            <a:fillRect/>
          </a:stretch>
        </p:blipFill>
        <p:spPr>
          <a:xfrm>
            <a:off x="4236639" y="4449463"/>
            <a:ext cx="3861734" cy="1947009"/>
          </a:xfrm>
          <a:prstGeom prst="rect">
            <a:avLst/>
          </a:prstGeom>
        </p:spPr>
      </p:pic>
      <p:pic>
        <p:nvPicPr>
          <p:cNvPr id="20" name="Picture 19">
            <a:extLst>
              <a:ext uri="{FF2B5EF4-FFF2-40B4-BE49-F238E27FC236}">
                <a16:creationId xmlns:a16="http://schemas.microsoft.com/office/drawing/2014/main" id="{4BE181F0-E3E4-E363-2985-54AE53756AC3}"/>
              </a:ext>
            </a:extLst>
          </p:cNvPr>
          <p:cNvPicPr>
            <a:picLocks noChangeAspect="1"/>
          </p:cNvPicPr>
          <p:nvPr/>
        </p:nvPicPr>
        <p:blipFill>
          <a:blip r:embed="rId6"/>
          <a:stretch>
            <a:fillRect/>
          </a:stretch>
        </p:blipFill>
        <p:spPr>
          <a:xfrm>
            <a:off x="4147952" y="221540"/>
            <a:ext cx="3964269" cy="2315630"/>
          </a:xfrm>
          <a:prstGeom prst="rect">
            <a:avLst/>
          </a:prstGeom>
        </p:spPr>
      </p:pic>
      <p:sp>
        <p:nvSpPr>
          <p:cNvPr id="21" name="TextBox 20">
            <a:extLst>
              <a:ext uri="{FF2B5EF4-FFF2-40B4-BE49-F238E27FC236}">
                <a16:creationId xmlns:a16="http://schemas.microsoft.com/office/drawing/2014/main" id="{B3B8E654-0348-1C66-07F1-94AFDA25AF53}"/>
              </a:ext>
            </a:extLst>
          </p:cNvPr>
          <p:cNvSpPr txBox="1"/>
          <p:nvPr/>
        </p:nvSpPr>
        <p:spPr>
          <a:xfrm>
            <a:off x="63669" y="358188"/>
            <a:ext cx="4126239" cy="2677656"/>
          </a:xfrm>
          <a:prstGeom prst="rect">
            <a:avLst/>
          </a:prstGeom>
          <a:noFill/>
        </p:spPr>
        <p:txBody>
          <a:bodyPr wrap="square" rtlCol="0">
            <a:spAutoFit/>
          </a:bodyPr>
          <a:lstStyle/>
          <a:p>
            <a:pPr marL="285750" indent="-285750">
              <a:buFont typeface="Arial" panose="020B0604020202020204" pitchFamily="34" charset="0"/>
              <a:buChar char="•"/>
            </a:pPr>
            <a:r>
              <a:rPr lang="en-US" sz="1400" b="1" dirty="0"/>
              <a:t>Previous Version</a:t>
            </a:r>
          </a:p>
          <a:p>
            <a:pPr marL="285750" indent="-285750">
              <a:buFont typeface="Arial" panose="020B0604020202020204" pitchFamily="34" charset="0"/>
              <a:buChar char="•"/>
            </a:pPr>
            <a:r>
              <a:rPr lang="en-US" sz="1400" b="1" dirty="0"/>
              <a:t>Predicted No of Points = 6</a:t>
            </a:r>
          </a:p>
          <a:p>
            <a:pPr marL="285750" indent="-285750">
              <a:buFont typeface="Arial" panose="020B0604020202020204" pitchFamily="34" charset="0"/>
              <a:buChar char="•"/>
            </a:pPr>
            <a:r>
              <a:rPr lang="en-US" sz="1400" b="1" dirty="0"/>
              <a:t>Time taken = </a:t>
            </a:r>
            <a:r>
              <a:rPr lang="en-US" sz="1400" dirty="0"/>
              <a:t>14.8 sec</a:t>
            </a:r>
          </a:p>
          <a:p>
            <a:pPr marL="285750" indent="-285750">
              <a:buFont typeface="Arial" panose="020B0604020202020204" pitchFamily="34" charset="0"/>
              <a:buChar char="•"/>
            </a:pPr>
            <a:r>
              <a:rPr lang="en-US" sz="1400" b="1" dirty="0"/>
              <a:t>Tunable parameters =</a:t>
            </a:r>
            <a:r>
              <a:rPr lang="en-US" sz="1400" dirty="0"/>
              <a:t> </a:t>
            </a:r>
            <a:r>
              <a:rPr lang="en-US" sz="1400" dirty="0" err="1"/>
              <a:t>x_th</a:t>
            </a:r>
            <a:r>
              <a:rPr lang="en-US" sz="1400" dirty="0"/>
              <a:t>, </a:t>
            </a:r>
            <a:r>
              <a:rPr lang="en-US" sz="1400" dirty="0" err="1"/>
              <a:t>y_th</a:t>
            </a:r>
            <a:r>
              <a:rPr lang="en-US" sz="1400" dirty="0"/>
              <a:t>, </a:t>
            </a:r>
            <a:r>
              <a:rPr lang="en-US" sz="1400" dirty="0" err="1"/>
              <a:t>min_height_of_ramp</a:t>
            </a:r>
            <a:r>
              <a:rPr lang="en-US" sz="1400" dirty="0"/>
              <a:t>, </a:t>
            </a:r>
            <a:r>
              <a:rPr lang="en-US" sz="1400" dirty="0" err="1"/>
              <a:t>min_distance_between_ramps</a:t>
            </a:r>
            <a:r>
              <a:rPr lang="en-US" sz="1400" dirty="0"/>
              <a:t>, </a:t>
            </a:r>
            <a:r>
              <a:rPr lang="en-US" sz="1400" dirty="0" err="1"/>
              <a:t>secondary_detection_needed</a:t>
            </a:r>
            <a:endParaRPr lang="en-US" sz="1400" dirty="0"/>
          </a:p>
          <a:p>
            <a:pPr marL="285750" indent="-285750">
              <a:buFont typeface="Arial" panose="020B0604020202020204" pitchFamily="34" charset="0"/>
              <a:buChar char="•"/>
            </a:pPr>
            <a:r>
              <a:rPr lang="en-US" sz="1400" b="1" dirty="0"/>
              <a:t>Remarks = </a:t>
            </a:r>
            <a:r>
              <a:rPr lang="en-US" sz="1400" dirty="0"/>
              <a:t> Makes very bad predictions, very few points predicted. Lot of time is also taken. Additional time needed for secondary detection</a:t>
            </a:r>
            <a:endParaRPr lang="en-US" sz="1400" b="1" dirty="0"/>
          </a:p>
          <a:p>
            <a:endParaRPr lang="en-US" sz="1400" dirty="0"/>
          </a:p>
        </p:txBody>
      </p:sp>
      <p:sp>
        <p:nvSpPr>
          <p:cNvPr id="22" name="TextBox 21">
            <a:extLst>
              <a:ext uri="{FF2B5EF4-FFF2-40B4-BE49-F238E27FC236}">
                <a16:creationId xmlns:a16="http://schemas.microsoft.com/office/drawing/2014/main" id="{FBDE50C0-99AE-34DF-F0D9-FE8494C720C6}"/>
              </a:ext>
            </a:extLst>
          </p:cNvPr>
          <p:cNvSpPr txBox="1"/>
          <p:nvPr/>
        </p:nvSpPr>
        <p:spPr>
          <a:xfrm>
            <a:off x="20859" y="3035844"/>
            <a:ext cx="3861734" cy="1600438"/>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1)</a:t>
            </a:r>
          </a:p>
          <a:p>
            <a:pPr marL="285750" indent="-285750">
              <a:buFont typeface="Arial" panose="020B0604020202020204" pitchFamily="34" charset="0"/>
              <a:buChar char="•"/>
            </a:pPr>
            <a:r>
              <a:rPr lang="en-US" sz="1400" b="1" dirty="0"/>
              <a:t>Predicted No of Points = 120</a:t>
            </a:r>
          </a:p>
          <a:p>
            <a:pPr marL="285750" indent="-285750">
              <a:buFont typeface="Arial" panose="020B0604020202020204" pitchFamily="34" charset="0"/>
              <a:buChar char="•"/>
            </a:pPr>
            <a:r>
              <a:rPr lang="en-US" sz="1400" b="1" dirty="0"/>
              <a:t>Time taken = </a:t>
            </a:r>
            <a:r>
              <a:rPr lang="en-US" sz="1400" dirty="0"/>
              <a:t>3.4 sec</a:t>
            </a:r>
          </a:p>
          <a:p>
            <a:pPr marL="285750" indent="-285750">
              <a:buFont typeface="Arial" panose="020B0604020202020204" pitchFamily="34" charset="0"/>
              <a:buChar char="•"/>
            </a:pPr>
            <a:r>
              <a:rPr lang="en-US" sz="1400" b="1" dirty="0"/>
              <a:t>Tunable parameters = </a:t>
            </a:r>
            <a:r>
              <a:rPr lang="en-US" sz="1400" dirty="0"/>
              <a:t>None</a:t>
            </a:r>
            <a:endParaRPr lang="en-US" sz="1400" b="1" dirty="0"/>
          </a:p>
          <a:p>
            <a:pPr marL="285750" indent="-285750">
              <a:buFont typeface="Arial" panose="020B0604020202020204" pitchFamily="34" charset="0"/>
              <a:buChar char="•"/>
            </a:pPr>
            <a:r>
              <a:rPr lang="en-US" sz="1400" b="1" dirty="0"/>
              <a:t>Remarks = </a:t>
            </a:r>
            <a:r>
              <a:rPr lang="en-US" sz="1400" dirty="0"/>
              <a:t>Make good predictions in small time interval</a:t>
            </a:r>
            <a:endParaRPr lang="en-US" sz="1400" b="1" dirty="0"/>
          </a:p>
          <a:p>
            <a:endParaRPr lang="en-US" sz="1400" dirty="0"/>
          </a:p>
        </p:txBody>
      </p:sp>
      <p:sp>
        <p:nvSpPr>
          <p:cNvPr id="23" name="TextBox 22">
            <a:extLst>
              <a:ext uri="{FF2B5EF4-FFF2-40B4-BE49-F238E27FC236}">
                <a16:creationId xmlns:a16="http://schemas.microsoft.com/office/drawing/2014/main" id="{D8D6FA93-5682-7DF0-1512-10C94B4A501C}"/>
              </a:ext>
            </a:extLst>
          </p:cNvPr>
          <p:cNvSpPr txBox="1"/>
          <p:nvPr/>
        </p:nvSpPr>
        <p:spPr>
          <a:xfrm>
            <a:off x="279049" y="4787021"/>
            <a:ext cx="3400746" cy="1384995"/>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2)</a:t>
            </a:r>
          </a:p>
          <a:p>
            <a:pPr marL="285750" indent="-285750">
              <a:buFont typeface="Arial" panose="020B0604020202020204" pitchFamily="34" charset="0"/>
              <a:buChar char="•"/>
            </a:pPr>
            <a:r>
              <a:rPr lang="en-US" sz="1400" b="1" dirty="0"/>
              <a:t>Predicted No of Points = 33</a:t>
            </a:r>
          </a:p>
          <a:p>
            <a:pPr marL="285750" indent="-285750">
              <a:buFont typeface="Arial" panose="020B0604020202020204" pitchFamily="34" charset="0"/>
              <a:buChar char="•"/>
            </a:pPr>
            <a:r>
              <a:rPr lang="en-US" sz="1400" b="1" dirty="0"/>
              <a:t>Time taken = </a:t>
            </a:r>
            <a:r>
              <a:rPr lang="en-US" sz="1400" dirty="0"/>
              <a:t>3.9 sec</a:t>
            </a:r>
          </a:p>
          <a:p>
            <a:pPr marL="285750" indent="-285750">
              <a:buFont typeface="Arial" panose="020B0604020202020204" pitchFamily="34" charset="0"/>
              <a:buChar char="•"/>
            </a:pPr>
            <a:r>
              <a:rPr lang="en-US" sz="1400" b="1" dirty="0"/>
              <a:t>Tunable parameters =</a:t>
            </a:r>
            <a:r>
              <a:rPr lang="en-US" sz="1400" dirty="0"/>
              <a:t> None</a:t>
            </a:r>
          </a:p>
          <a:p>
            <a:pPr marL="285750" indent="-285750">
              <a:buFont typeface="Arial" panose="020B0604020202020204" pitchFamily="34" charset="0"/>
              <a:buChar char="•"/>
            </a:pPr>
            <a:r>
              <a:rPr lang="en-US" sz="1400" b="1" dirty="0"/>
              <a:t>Remarks = </a:t>
            </a:r>
            <a:r>
              <a:rPr lang="en-US" sz="1400" dirty="0"/>
              <a:t>Make good predictions in small time interval</a:t>
            </a:r>
            <a:endParaRPr lang="en-US" sz="1400" b="1" dirty="0"/>
          </a:p>
        </p:txBody>
      </p:sp>
      <p:sp>
        <p:nvSpPr>
          <p:cNvPr id="26" name="Oval 25">
            <a:extLst>
              <a:ext uri="{FF2B5EF4-FFF2-40B4-BE49-F238E27FC236}">
                <a16:creationId xmlns:a16="http://schemas.microsoft.com/office/drawing/2014/main" id="{766CBEAC-E9B2-4F13-93B4-777C582440AC}"/>
              </a:ext>
            </a:extLst>
          </p:cNvPr>
          <p:cNvSpPr/>
          <p:nvPr/>
        </p:nvSpPr>
        <p:spPr>
          <a:xfrm>
            <a:off x="5280917" y="2728270"/>
            <a:ext cx="544530" cy="1524935"/>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96EB62D-1D7A-8FC3-E573-07A2D97F42FE}"/>
              </a:ext>
            </a:extLst>
          </p:cNvPr>
          <p:cNvSpPr/>
          <p:nvPr/>
        </p:nvSpPr>
        <p:spPr>
          <a:xfrm>
            <a:off x="5268930" y="4449463"/>
            <a:ext cx="544530" cy="1844669"/>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1814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35027-2490-2035-FD95-94A4DBC321C1}"/>
              </a:ext>
            </a:extLst>
          </p:cNvPr>
          <p:cNvSpPr>
            <a:spLocks noGrp="1"/>
          </p:cNvSpPr>
          <p:nvPr>
            <p:ph type="title"/>
          </p:nvPr>
        </p:nvSpPr>
        <p:spPr>
          <a:xfrm>
            <a:off x="8106310" y="433336"/>
            <a:ext cx="2702103" cy="1346724"/>
          </a:xfrm>
        </p:spPr>
        <p:txBody>
          <a:bodyPr/>
          <a:lstStyle/>
          <a:p>
            <a:r>
              <a:rPr lang="en-US" dirty="0"/>
              <a:t>Program Waveform 1</a:t>
            </a:r>
          </a:p>
        </p:txBody>
      </p:sp>
      <p:sp>
        <p:nvSpPr>
          <p:cNvPr id="3" name="Slide Number Placeholder 2">
            <a:extLst>
              <a:ext uri="{FF2B5EF4-FFF2-40B4-BE49-F238E27FC236}">
                <a16:creationId xmlns:a16="http://schemas.microsoft.com/office/drawing/2014/main" id="{0456BAB9-199D-D292-A90C-3FC8B7926A16}"/>
              </a:ext>
            </a:extLst>
          </p:cNvPr>
          <p:cNvSpPr>
            <a:spLocks noGrp="1"/>
          </p:cNvSpPr>
          <p:nvPr>
            <p:ph type="sldNum" sz="quarter" idx="12"/>
          </p:nvPr>
        </p:nvSpPr>
        <p:spPr/>
        <p:txBody>
          <a:bodyPr/>
          <a:lstStyle/>
          <a:p>
            <a:fld id="{B7E7695C-FCF1-4AA0-9B93-7941FED13DC4}" type="slidenum">
              <a:rPr lang="en-US" smtClean="0"/>
              <a:pPr/>
              <a:t>28</a:t>
            </a:fld>
            <a:endParaRPr lang="en-US" dirty="0"/>
          </a:p>
        </p:txBody>
      </p:sp>
      <p:pic>
        <p:nvPicPr>
          <p:cNvPr id="12" name="Content Placeholder 11">
            <a:extLst>
              <a:ext uri="{FF2B5EF4-FFF2-40B4-BE49-F238E27FC236}">
                <a16:creationId xmlns:a16="http://schemas.microsoft.com/office/drawing/2014/main" id="{22141D81-7451-D92B-EB0A-63A7CE112675}"/>
              </a:ext>
            </a:extLst>
          </p:cNvPr>
          <p:cNvPicPr>
            <a:picLocks noGrp="1" noChangeAspect="1"/>
          </p:cNvPicPr>
          <p:nvPr>
            <p:ph sz="quarter" idx="29"/>
          </p:nvPr>
        </p:nvPicPr>
        <p:blipFill>
          <a:blip r:embed="rId2"/>
          <a:stretch>
            <a:fillRect/>
          </a:stretch>
        </p:blipFill>
        <p:spPr>
          <a:xfrm>
            <a:off x="8018400" y="2047045"/>
            <a:ext cx="3798605" cy="1972539"/>
          </a:xfrm>
        </p:spPr>
      </p:pic>
      <p:pic>
        <p:nvPicPr>
          <p:cNvPr id="8" name="Picture 7">
            <a:extLst>
              <a:ext uri="{FF2B5EF4-FFF2-40B4-BE49-F238E27FC236}">
                <a16:creationId xmlns:a16="http://schemas.microsoft.com/office/drawing/2014/main" id="{92395C71-883C-2E6C-9FB0-1484AE3B2360}"/>
              </a:ext>
            </a:extLst>
          </p:cNvPr>
          <p:cNvPicPr>
            <a:picLocks noChangeAspect="1"/>
          </p:cNvPicPr>
          <p:nvPr/>
        </p:nvPicPr>
        <p:blipFill>
          <a:blip r:embed="rId3"/>
          <a:stretch>
            <a:fillRect/>
          </a:stretch>
        </p:blipFill>
        <p:spPr>
          <a:xfrm>
            <a:off x="3910641" y="4185155"/>
            <a:ext cx="4035021" cy="2161341"/>
          </a:xfrm>
          <a:prstGeom prst="rect">
            <a:avLst/>
          </a:prstGeom>
        </p:spPr>
      </p:pic>
      <p:pic>
        <p:nvPicPr>
          <p:cNvPr id="10" name="Picture 9">
            <a:extLst>
              <a:ext uri="{FF2B5EF4-FFF2-40B4-BE49-F238E27FC236}">
                <a16:creationId xmlns:a16="http://schemas.microsoft.com/office/drawing/2014/main" id="{8F0668E1-A8E6-51B0-6825-82CD3A7830E3}"/>
              </a:ext>
            </a:extLst>
          </p:cNvPr>
          <p:cNvPicPr>
            <a:picLocks noChangeAspect="1"/>
          </p:cNvPicPr>
          <p:nvPr/>
        </p:nvPicPr>
        <p:blipFill>
          <a:blip r:embed="rId4"/>
          <a:stretch>
            <a:fillRect/>
          </a:stretch>
        </p:blipFill>
        <p:spPr>
          <a:xfrm>
            <a:off x="7970717" y="4185154"/>
            <a:ext cx="4173071" cy="2161341"/>
          </a:xfrm>
          <a:prstGeom prst="rect">
            <a:avLst/>
          </a:prstGeom>
        </p:spPr>
      </p:pic>
      <p:pic>
        <p:nvPicPr>
          <p:cNvPr id="14" name="Picture 13">
            <a:extLst>
              <a:ext uri="{FF2B5EF4-FFF2-40B4-BE49-F238E27FC236}">
                <a16:creationId xmlns:a16="http://schemas.microsoft.com/office/drawing/2014/main" id="{575047E8-6823-7538-11CD-2066BC578B73}"/>
              </a:ext>
            </a:extLst>
          </p:cNvPr>
          <p:cNvPicPr>
            <a:picLocks noChangeAspect="1"/>
          </p:cNvPicPr>
          <p:nvPr/>
        </p:nvPicPr>
        <p:blipFill>
          <a:blip r:embed="rId5"/>
          <a:stretch>
            <a:fillRect/>
          </a:stretch>
        </p:blipFill>
        <p:spPr>
          <a:xfrm>
            <a:off x="3965824" y="2098021"/>
            <a:ext cx="3924657" cy="2084895"/>
          </a:xfrm>
          <a:prstGeom prst="rect">
            <a:avLst/>
          </a:prstGeom>
        </p:spPr>
      </p:pic>
      <p:pic>
        <p:nvPicPr>
          <p:cNvPr id="16" name="Picture 15">
            <a:extLst>
              <a:ext uri="{FF2B5EF4-FFF2-40B4-BE49-F238E27FC236}">
                <a16:creationId xmlns:a16="http://schemas.microsoft.com/office/drawing/2014/main" id="{C62E18C1-B6D4-264E-4E48-167BEA87D9F0}"/>
              </a:ext>
            </a:extLst>
          </p:cNvPr>
          <p:cNvPicPr>
            <a:picLocks noChangeAspect="1"/>
          </p:cNvPicPr>
          <p:nvPr/>
        </p:nvPicPr>
        <p:blipFill>
          <a:blip r:embed="rId6"/>
          <a:stretch>
            <a:fillRect/>
          </a:stretch>
        </p:blipFill>
        <p:spPr>
          <a:xfrm>
            <a:off x="3840505" y="54296"/>
            <a:ext cx="4130212" cy="1992749"/>
          </a:xfrm>
          <a:prstGeom prst="rect">
            <a:avLst/>
          </a:prstGeom>
        </p:spPr>
      </p:pic>
      <p:sp>
        <p:nvSpPr>
          <p:cNvPr id="17" name="TextBox 16">
            <a:extLst>
              <a:ext uri="{FF2B5EF4-FFF2-40B4-BE49-F238E27FC236}">
                <a16:creationId xmlns:a16="http://schemas.microsoft.com/office/drawing/2014/main" id="{4C478ED6-5AD1-3C22-336F-4ADF1B9A8125}"/>
              </a:ext>
            </a:extLst>
          </p:cNvPr>
          <p:cNvSpPr txBox="1"/>
          <p:nvPr/>
        </p:nvSpPr>
        <p:spPr>
          <a:xfrm>
            <a:off x="114837" y="221540"/>
            <a:ext cx="3714687" cy="2893100"/>
          </a:xfrm>
          <a:prstGeom prst="rect">
            <a:avLst/>
          </a:prstGeom>
          <a:noFill/>
        </p:spPr>
        <p:txBody>
          <a:bodyPr wrap="square" rtlCol="0">
            <a:spAutoFit/>
          </a:bodyPr>
          <a:lstStyle/>
          <a:p>
            <a:pPr marL="285750" indent="-285750">
              <a:buFont typeface="Arial" panose="020B0604020202020204" pitchFamily="34" charset="0"/>
              <a:buChar char="•"/>
            </a:pPr>
            <a:r>
              <a:rPr lang="en-US" sz="1400" b="1" dirty="0"/>
              <a:t>Previous Version</a:t>
            </a:r>
          </a:p>
          <a:p>
            <a:pPr marL="285750" indent="-285750">
              <a:buFont typeface="Arial" panose="020B0604020202020204" pitchFamily="34" charset="0"/>
              <a:buChar char="•"/>
            </a:pPr>
            <a:r>
              <a:rPr lang="en-US" sz="1400" b="1" dirty="0"/>
              <a:t>Predicted No of Points = 176</a:t>
            </a:r>
          </a:p>
          <a:p>
            <a:pPr marL="285750" indent="-285750">
              <a:buFont typeface="Arial" panose="020B0604020202020204" pitchFamily="34" charset="0"/>
              <a:buChar char="•"/>
            </a:pPr>
            <a:r>
              <a:rPr lang="en-US" sz="1400" b="1" dirty="0"/>
              <a:t>Time taken = </a:t>
            </a:r>
            <a:r>
              <a:rPr lang="en-US" sz="1400" dirty="0"/>
              <a:t>3.7 sec</a:t>
            </a:r>
          </a:p>
          <a:p>
            <a:pPr marL="285750" indent="-285750">
              <a:buFont typeface="Arial" panose="020B0604020202020204" pitchFamily="34" charset="0"/>
              <a:buChar char="•"/>
            </a:pPr>
            <a:r>
              <a:rPr lang="en-US" sz="1400" b="1" dirty="0"/>
              <a:t>Tunable parameters =</a:t>
            </a:r>
            <a:r>
              <a:rPr lang="en-US" sz="1400" dirty="0"/>
              <a:t> </a:t>
            </a:r>
            <a:r>
              <a:rPr lang="en-US" sz="1400" dirty="0" err="1"/>
              <a:t>x_th</a:t>
            </a:r>
            <a:r>
              <a:rPr lang="en-US" sz="1400" dirty="0"/>
              <a:t>, </a:t>
            </a:r>
            <a:r>
              <a:rPr lang="en-US" sz="1400" dirty="0" err="1"/>
              <a:t>y_th</a:t>
            </a:r>
            <a:r>
              <a:rPr lang="en-US" sz="1400" dirty="0"/>
              <a:t>, </a:t>
            </a:r>
            <a:r>
              <a:rPr lang="en-US" sz="1400" dirty="0" err="1"/>
              <a:t>min_height_of_ramp</a:t>
            </a:r>
            <a:r>
              <a:rPr lang="en-US" sz="1400" dirty="0"/>
              <a:t>, </a:t>
            </a:r>
            <a:r>
              <a:rPr lang="en-US" sz="1400" dirty="0" err="1"/>
              <a:t>min_distance_between_ramps</a:t>
            </a:r>
            <a:r>
              <a:rPr lang="en-US" sz="1400" dirty="0"/>
              <a:t>, </a:t>
            </a:r>
            <a:r>
              <a:rPr lang="en-US" sz="1400" dirty="0" err="1"/>
              <a:t>secondary_detection_needed</a:t>
            </a:r>
            <a:endParaRPr lang="en-US" sz="1400" dirty="0"/>
          </a:p>
          <a:p>
            <a:pPr marL="285750" indent="-285750">
              <a:buFont typeface="Arial" panose="020B0604020202020204" pitchFamily="34" charset="0"/>
              <a:buChar char="•"/>
            </a:pPr>
            <a:r>
              <a:rPr lang="en-US" sz="1400" b="1" dirty="0"/>
              <a:t>Remarks = </a:t>
            </a:r>
            <a:r>
              <a:rPr lang="en-US" sz="1400" dirty="0"/>
              <a:t> Makes good predictions. Additional time need for points predicted. Lot of time needed for secondary detection</a:t>
            </a:r>
            <a:endParaRPr lang="en-US" sz="1400" b="1" dirty="0"/>
          </a:p>
          <a:p>
            <a:endParaRPr lang="en-US" sz="1400" dirty="0"/>
          </a:p>
          <a:p>
            <a:endParaRPr lang="en-US" sz="1400" dirty="0"/>
          </a:p>
        </p:txBody>
      </p:sp>
      <p:sp>
        <p:nvSpPr>
          <p:cNvPr id="18" name="TextBox 17">
            <a:extLst>
              <a:ext uri="{FF2B5EF4-FFF2-40B4-BE49-F238E27FC236}">
                <a16:creationId xmlns:a16="http://schemas.microsoft.com/office/drawing/2014/main" id="{63EFCA87-4402-FD8F-7420-FF29023EA947}"/>
              </a:ext>
            </a:extLst>
          </p:cNvPr>
          <p:cNvSpPr txBox="1"/>
          <p:nvPr/>
        </p:nvSpPr>
        <p:spPr>
          <a:xfrm>
            <a:off x="170387" y="2897151"/>
            <a:ext cx="3400746" cy="1384995"/>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1)</a:t>
            </a:r>
          </a:p>
          <a:p>
            <a:pPr marL="285750" indent="-285750">
              <a:buFont typeface="Arial" panose="020B0604020202020204" pitchFamily="34" charset="0"/>
              <a:buChar char="•"/>
            </a:pPr>
            <a:r>
              <a:rPr lang="en-US" sz="1400" b="1" dirty="0"/>
              <a:t>Predicted No of Points = 186</a:t>
            </a:r>
          </a:p>
          <a:p>
            <a:pPr marL="285750" indent="-285750">
              <a:buFont typeface="Arial" panose="020B0604020202020204" pitchFamily="34" charset="0"/>
              <a:buChar char="•"/>
            </a:pPr>
            <a:r>
              <a:rPr lang="en-US" sz="1400" b="1" dirty="0"/>
              <a:t>Time taken = </a:t>
            </a:r>
            <a:r>
              <a:rPr lang="en-US" sz="1400" dirty="0"/>
              <a:t>0.82 sec</a:t>
            </a:r>
          </a:p>
          <a:p>
            <a:pPr marL="285750" indent="-285750">
              <a:buFont typeface="Arial" panose="020B0604020202020204" pitchFamily="34" charset="0"/>
              <a:buChar char="•"/>
            </a:pPr>
            <a:r>
              <a:rPr lang="en-US" sz="1400" b="1" dirty="0"/>
              <a:t>Tunable parameters = </a:t>
            </a:r>
            <a:r>
              <a:rPr lang="en-US" sz="1400" dirty="0"/>
              <a:t>None</a:t>
            </a:r>
          </a:p>
          <a:p>
            <a:pPr marL="285750" indent="-285750">
              <a:buFont typeface="Arial" panose="020B0604020202020204" pitchFamily="34" charset="0"/>
              <a:buChar char="•"/>
            </a:pPr>
            <a:r>
              <a:rPr lang="en-US" sz="1400" b="1" dirty="0"/>
              <a:t>Remarks = </a:t>
            </a:r>
            <a:r>
              <a:rPr lang="en-US" sz="1400" dirty="0"/>
              <a:t>Good Prediction, Detects smaller ramps, Less time taken</a:t>
            </a:r>
          </a:p>
        </p:txBody>
      </p:sp>
      <p:sp>
        <p:nvSpPr>
          <p:cNvPr id="19" name="TextBox 18">
            <a:extLst>
              <a:ext uri="{FF2B5EF4-FFF2-40B4-BE49-F238E27FC236}">
                <a16:creationId xmlns:a16="http://schemas.microsoft.com/office/drawing/2014/main" id="{C7AAFBCA-8960-9C22-E050-0C7AFDBCA2F1}"/>
              </a:ext>
            </a:extLst>
          </p:cNvPr>
          <p:cNvSpPr txBox="1"/>
          <p:nvPr/>
        </p:nvSpPr>
        <p:spPr>
          <a:xfrm>
            <a:off x="170387" y="4562844"/>
            <a:ext cx="3400746" cy="1600438"/>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2)</a:t>
            </a:r>
          </a:p>
          <a:p>
            <a:pPr marL="285750" indent="-285750">
              <a:buFont typeface="Arial" panose="020B0604020202020204" pitchFamily="34" charset="0"/>
              <a:buChar char="•"/>
            </a:pPr>
            <a:r>
              <a:rPr lang="en-US" sz="1400" b="1" dirty="0"/>
              <a:t>Predicted No of Points = 107</a:t>
            </a:r>
          </a:p>
          <a:p>
            <a:pPr marL="285750" indent="-285750">
              <a:buFont typeface="Arial" panose="020B0604020202020204" pitchFamily="34" charset="0"/>
              <a:buChar char="•"/>
            </a:pPr>
            <a:r>
              <a:rPr lang="en-US" sz="1400" b="1" dirty="0"/>
              <a:t>Time taken = </a:t>
            </a:r>
            <a:r>
              <a:rPr lang="en-US" sz="1400" dirty="0"/>
              <a:t>0.88 sec</a:t>
            </a:r>
          </a:p>
          <a:p>
            <a:pPr marL="285750" indent="-285750">
              <a:buFont typeface="Arial" panose="020B0604020202020204" pitchFamily="34" charset="0"/>
              <a:buChar char="•"/>
            </a:pPr>
            <a:r>
              <a:rPr lang="en-US" sz="1400" b="1" dirty="0"/>
              <a:t>Tunable parameters =</a:t>
            </a:r>
            <a:r>
              <a:rPr lang="en-US" sz="1400" dirty="0"/>
              <a:t> None</a:t>
            </a:r>
          </a:p>
          <a:p>
            <a:pPr marL="285750" indent="-285750">
              <a:buFont typeface="Arial" panose="020B0604020202020204" pitchFamily="34" charset="0"/>
              <a:buChar char="•"/>
            </a:pPr>
            <a:r>
              <a:rPr lang="en-US" sz="1400" b="1" dirty="0"/>
              <a:t>Remarks = </a:t>
            </a:r>
            <a:r>
              <a:rPr lang="en-US" sz="1400" dirty="0"/>
              <a:t>Good Prediction, Does not detects smaller ramps, Less time taken</a:t>
            </a:r>
          </a:p>
        </p:txBody>
      </p:sp>
      <p:sp>
        <p:nvSpPr>
          <p:cNvPr id="22" name="Oval 21">
            <a:extLst>
              <a:ext uri="{FF2B5EF4-FFF2-40B4-BE49-F238E27FC236}">
                <a16:creationId xmlns:a16="http://schemas.microsoft.com/office/drawing/2014/main" id="{E43CAC5F-AD9C-4ACD-5EC5-57C68649B77E}"/>
              </a:ext>
            </a:extLst>
          </p:cNvPr>
          <p:cNvSpPr/>
          <p:nvPr/>
        </p:nvSpPr>
        <p:spPr>
          <a:xfrm>
            <a:off x="5547406" y="2062443"/>
            <a:ext cx="246580" cy="1908281"/>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2B4E218-C0E3-A596-A13F-82EE6604DC9C}"/>
              </a:ext>
            </a:extLst>
          </p:cNvPr>
          <p:cNvSpPr/>
          <p:nvPr/>
        </p:nvSpPr>
        <p:spPr>
          <a:xfrm>
            <a:off x="9917702" y="2062443"/>
            <a:ext cx="527973" cy="1820348"/>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1468A4E-E7A9-364F-BFC3-CD63F879AC76}"/>
              </a:ext>
            </a:extLst>
          </p:cNvPr>
          <p:cNvSpPr/>
          <p:nvPr/>
        </p:nvSpPr>
        <p:spPr>
          <a:xfrm>
            <a:off x="9793267" y="4385906"/>
            <a:ext cx="527973" cy="1759835"/>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C28DEEB-C7A9-E350-0CFE-A714751395A5}"/>
              </a:ext>
            </a:extLst>
          </p:cNvPr>
          <p:cNvSpPr/>
          <p:nvPr/>
        </p:nvSpPr>
        <p:spPr>
          <a:xfrm>
            <a:off x="5547406" y="4282146"/>
            <a:ext cx="246580" cy="1908281"/>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3076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97F5-365E-891B-0A8C-DB6796A21B15}"/>
              </a:ext>
            </a:extLst>
          </p:cNvPr>
          <p:cNvSpPr>
            <a:spLocks noGrp="1"/>
          </p:cNvSpPr>
          <p:nvPr>
            <p:ph type="title"/>
          </p:nvPr>
        </p:nvSpPr>
        <p:spPr>
          <a:xfrm>
            <a:off x="8695109" y="452372"/>
            <a:ext cx="2854131" cy="1148742"/>
          </a:xfrm>
        </p:spPr>
        <p:txBody>
          <a:bodyPr/>
          <a:lstStyle/>
          <a:p>
            <a:r>
              <a:rPr lang="en-US" dirty="0"/>
              <a:t>Program Waveform 2</a:t>
            </a:r>
          </a:p>
        </p:txBody>
      </p:sp>
      <p:sp>
        <p:nvSpPr>
          <p:cNvPr id="3" name="Slide Number Placeholder 2">
            <a:extLst>
              <a:ext uri="{FF2B5EF4-FFF2-40B4-BE49-F238E27FC236}">
                <a16:creationId xmlns:a16="http://schemas.microsoft.com/office/drawing/2014/main" id="{8378F7FD-87EC-56CF-0D3B-4571343E5C56}"/>
              </a:ext>
            </a:extLst>
          </p:cNvPr>
          <p:cNvSpPr>
            <a:spLocks noGrp="1"/>
          </p:cNvSpPr>
          <p:nvPr>
            <p:ph type="sldNum" sz="quarter" idx="12"/>
          </p:nvPr>
        </p:nvSpPr>
        <p:spPr/>
        <p:txBody>
          <a:bodyPr/>
          <a:lstStyle/>
          <a:p>
            <a:fld id="{B7E7695C-FCF1-4AA0-9B93-7941FED13DC4}" type="slidenum">
              <a:rPr lang="en-US" smtClean="0"/>
              <a:pPr/>
              <a:t>29</a:t>
            </a:fld>
            <a:endParaRPr lang="en-US" dirty="0"/>
          </a:p>
        </p:txBody>
      </p:sp>
      <p:pic>
        <p:nvPicPr>
          <p:cNvPr id="8" name="Picture 7">
            <a:extLst>
              <a:ext uri="{FF2B5EF4-FFF2-40B4-BE49-F238E27FC236}">
                <a16:creationId xmlns:a16="http://schemas.microsoft.com/office/drawing/2014/main" id="{BDB5F28F-CBF0-6324-1C22-AF7273CC0F67}"/>
              </a:ext>
            </a:extLst>
          </p:cNvPr>
          <p:cNvPicPr>
            <a:picLocks noChangeAspect="1"/>
          </p:cNvPicPr>
          <p:nvPr/>
        </p:nvPicPr>
        <p:blipFill>
          <a:blip r:embed="rId2"/>
          <a:stretch>
            <a:fillRect/>
          </a:stretch>
        </p:blipFill>
        <p:spPr>
          <a:xfrm>
            <a:off x="7863417" y="2124707"/>
            <a:ext cx="3979333" cy="1959784"/>
          </a:xfrm>
          <a:prstGeom prst="rect">
            <a:avLst/>
          </a:prstGeom>
        </p:spPr>
      </p:pic>
      <p:pic>
        <p:nvPicPr>
          <p:cNvPr id="10" name="Picture 9">
            <a:extLst>
              <a:ext uri="{FF2B5EF4-FFF2-40B4-BE49-F238E27FC236}">
                <a16:creationId xmlns:a16="http://schemas.microsoft.com/office/drawing/2014/main" id="{01FF1BDA-C4F9-4029-F1D3-EEE4121F51D8}"/>
              </a:ext>
            </a:extLst>
          </p:cNvPr>
          <p:cNvPicPr>
            <a:picLocks noChangeAspect="1"/>
          </p:cNvPicPr>
          <p:nvPr/>
        </p:nvPicPr>
        <p:blipFill>
          <a:blip r:embed="rId3"/>
          <a:stretch>
            <a:fillRect/>
          </a:stretch>
        </p:blipFill>
        <p:spPr>
          <a:xfrm>
            <a:off x="3842482" y="2124707"/>
            <a:ext cx="3927805" cy="2072385"/>
          </a:xfrm>
          <a:prstGeom prst="rect">
            <a:avLst/>
          </a:prstGeom>
        </p:spPr>
      </p:pic>
      <p:pic>
        <p:nvPicPr>
          <p:cNvPr id="12" name="Picture 11">
            <a:extLst>
              <a:ext uri="{FF2B5EF4-FFF2-40B4-BE49-F238E27FC236}">
                <a16:creationId xmlns:a16="http://schemas.microsoft.com/office/drawing/2014/main" id="{6DCE7F74-9548-14DE-438B-13C839FC2E54}"/>
              </a:ext>
            </a:extLst>
          </p:cNvPr>
          <p:cNvPicPr>
            <a:picLocks noChangeAspect="1"/>
          </p:cNvPicPr>
          <p:nvPr/>
        </p:nvPicPr>
        <p:blipFill>
          <a:blip r:embed="rId4"/>
          <a:stretch>
            <a:fillRect/>
          </a:stretch>
        </p:blipFill>
        <p:spPr>
          <a:xfrm>
            <a:off x="3842483" y="4368112"/>
            <a:ext cx="3907004" cy="2065772"/>
          </a:xfrm>
          <a:prstGeom prst="rect">
            <a:avLst/>
          </a:prstGeom>
        </p:spPr>
      </p:pic>
      <p:pic>
        <p:nvPicPr>
          <p:cNvPr id="14" name="Picture 13">
            <a:extLst>
              <a:ext uri="{FF2B5EF4-FFF2-40B4-BE49-F238E27FC236}">
                <a16:creationId xmlns:a16="http://schemas.microsoft.com/office/drawing/2014/main" id="{E0C9F1F1-5844-7788-29B7-BB39ACADDF50}"/>
              </a:ext>
            </a:extLst>
          </p:cNvPr>
          <p:cNvPicPr>
            <a:picLocks noChangeAspect="1"/>
          </p:cNvPicPr>
          <p:nvPr/>
        </p:nvPicPr>
        <p:blipFill>
          <a:blip r:embed="rId5"/>
          <a:stretch>
            <a:fillRect/>
          </a:stretch>
        </p:blipFill>
        <p:spPr>
          <a:xfrm>
            <a:off x="7935746" y="4368112"/>
            <a:ext cx="3907004" cy="1919455"/>
          </a:xfrm>
          <a:prstGeom prst="rect">
            <a:avLst/>
          </a:prstGeom>
        </p:spPr>
      </p:pic>
      <p:pic>
        <p:nvPicPr>
          <p:cNvPr id="16" name="Picture 15">
            <a:extLst>
              <a:ext uri="{FF2B5EF4-FFF2-40B4-BE49-F238E27FC236}">
                <a16:creationId xmlns:a16="http://schemas.microsoft.com/office/drawing/2014/main" id="{662B3949-3FFD-DB6A-DCBB-A5AA919EBDCA}"/>
              </a:ext>
            </a:extLst>
          </p:cNvPr>
          <p:cNvPicPr>
            <a:picLocks noChangeAspect="1"/>
          </p:cNvPicPr>
          <p:nvPr/>
        </p:nvPicPr>
        <p:blipFill>
          <a:blip r:embed="rId6"/>
          <a:stretch>
            <a:fillRect/>
          </a:stretch>
        </p:blipFill>
        <p:spPr>
          <a:xfrm>
            <a:off x="3821682" y="228855"/>
            <a:ext cx="3927805" cy="1845068"/>
          </a:xfrm>
          <a:prstGeom prst="rect">
            <a:avLst/>
          </a:prstGeom>
        </p:spPr>
      </p:pic>
      <p:sp>
        <p:nvSpPr>
          <p:cNvPr id="17" name="TextBox 16">
            <a:extLst>
              <a:ext uri="{FF2B5EF4-FFF2-40B4-BE49-F238E27FC236}">
                <a16:creationId xmlns:a16="http://schemas.microsoft.com/office/drawing/2014/main" id="{673F394B-6707-A3D7-DD3C-BD8159B8DF69}"/>
              </a:ext>
            </a:extLst>
          </p:cNvPr>
          <p:cNvSpPr txBox="1"/>
          <p:nvPr/>
        </p:nvSpPr>
        <p:spPr>
          <a:xfrm>
            <a:off x="148226" y="262286"/>
            <a:ext cx="3400746" cy="2677656"/>
          </a:xfrm>
          <a:prstGeom prst="rect">
            <a:avLst/>
          </a:prstGeom>
          <a:noFill/>
        </p:spPr>
        <p:txBody>
          <a:bodyPr wrap="square" rtlCol="0">
            <a:spAutoFit/>
          </a:bodyPr>
          <a:lstStyle/>
          <a:p>
            <a:pPr marL="285750" indent="-285750">
              <a:buFont typeface="Arial" panose="020B0604020202020204" pitchFamily="34" charset="0"/>
              <a:buChar char="•"/>
            </a:pPr>
            <a:r>
              <a:rPr lang="en-US" sz="1400" b="1" dirty="0"/>
              <a:t>Previous Version</a:t>
            </a:r>
          </a:p>
          <a:p>
            <a:pPr marL="285750" indent="-285750">
              <a:buFont typeface="Arial" panose="020B0604020202020204" pitchFamily="34" charset="0"/>
              <a:buChar char="•"/>
            </a:pPr>
            <a:r>
              <a:rPr lang="en-US" sz="1400" b="1" dirty="0"/>
              <a:t>Predicted No of Points = 178</a:t>
            </a:r>
          </a:p>
          <a:p>
            <a:pPr marL="285750" indent="-285750">
              <a:buFont typeface="Arial" panose="020B0604020202020204" pitchFamily="34" charset="0"/>
              <a:buChar char="•"/>
            </a:pPr>
            <a:r>
              <a:rPr lang="en-US" sz="1400" b="1" dirty="0"/>
              <a:t>Time taken = </a:t>
            </a:r>
            <a:r>
              <a:rPr lang="en-US" sz="1400" dirty="0"/>
              <a:t>2.61 sec</a:t>
            </a:r>
          </a:p>
          <a:p>
            <a:pPr marL="285750" indent="-285750">
              <a:buFont typeface="Arial" panose="020B0604020202020204" pitchFamily="34" charset="0"/>
              <a:buChar char="•"/>
            </a:pPr>
            <a:r>
              <a:rPr lang="en-US" sz="1400" b="1" dirty="0"/>
              <a:t>Tunable parameters =</a:t>
            </a:r>
            <a:r>
              <a:rPr lang="en-US" sz="1400" dirty="0"/>
              <a:t> </a:t>
            </a:r>
            <a:r>
              <a:rPr lang="en-US" sz="1400" dirty="0" err="1"/>
              <a:t>x_th</a:t>
            </a:r>
            <a:r>
              <a:rPr lang="en-US" sz="1400" dirty="0"/>
              <a:t>, </a:t>
            </a:r>
            <a:r>
              <a:rPr lang="en-US" sz="1400" dirty="0" err="1"/>
              <a:t>y_th</a:t>
            </a:r>
            <a:r>
              <a:rPr lang="en-US" sz="1400" dirty="0"/>
              <a:t>, </a:t>
            </a:r>
            <a:r>
              <a:rPr lang="en-US" sz="1400" dirty="0" err="1"/>
              <a:t>min_height_of_ramp</a:t>
            </a:r>
            <a:r>
              <a:rPr lang="en-US" sz="1400" dirty="0"/>
              <a:t>, </a:t>
            </a:r>
            <a:r>
              <a:rPr lang="en-US" sz="1400" dirty="0" err="1"/>
              <a:t>min_distance_between_ramps</a:t>
            </a:r>
            <a:r>
              <a:rPr lang="en-US" sz="1400" dirty="0"/>
              <a:t>, </a:t>
            </a:r>
            <a:r>
              <a:rPr lang="en-US" sz="1400" dirty="0" err="1"/>
              <a:t>secondary_detection_needed</a:t>
            </a:r>
            <a:endParaRPr lang="en-US" sz="1400" dirty="0"/>
          </a:p>
          <a:p>
            <a:pPr marL="285750" indent="-285750">
              <a:buFont typeface="Arial" panose="020B0604020202020204" pitchFamily="34" charset="0"/>
              <a:buChar char="•"/>
            </a:pPr>
            <a:r>
              <a:rPr lang="en-US" sz="1400" b="1" dirty="0"/>
              <a:t>Remarks = </a:t>
            </a:r>
            <a:r>
              <a:rPr lang="en-US" sz="1400" dirty="0"/>
              <a:t> Makes good predictions. Additional time need for points predicted. Lot of time needed for secondary detection</a:t>
            </a:r>
            <a:endParaRPr lang="en-US" sz="1400" b="1" dirty="0"/>
          </a:p>
          <a:p>
            <a:endParaRPr lang="en-US" sz="1400" dirty="0"/>
          </a:p>
        </p:txBody>
      </p:sp>
      <p:sp>
        <p:nvSpPr>
          <p:cNvPr id="18" name="TextBox 17">
            <a:extLst>
              <a:ext uri="{FF2B5EF4-FFF2-40B4-BE49-F238E27FC236}">
                <a16:creationId xmlns:a16="http://schemas.microsoft.com/office/drawing/2014/main" id="{0E4FBC17-4BD0-7D40-6950-942CBA955521}"/>
              </a:ext>
            </a:extLst>
          </p:cNvPr>
          <p:cNvSpPr txBox="1"/>
          <p:nvPr/>
        </p:nvSpPr>
        <p:spPr>
          <a:xfrm>
            <a:off x="129079" y="2914940"/>
            <a:ext cx="3400746" cy="1384995"/>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1)</a:t>
            </a:r>
          </a:p>
          <a:p>
            <a:pPr marL="285750" indent="-285750">
              <a:buFont typeface="Arial" panose="020B0604020202020204" pitchFamily="34" charset="0"/>
              <a:buChar char="•"/>
            </a:pPr>
            <a:r>
              <a:rPr lang="en-US" sz="1400" b="1" dirty="0"/>
              <a:t>Predicted No of Points = 108</a:t>
            </a:r>
          </a:p>
          <a:p>
            <a:pPr marL="285750" indent="-285750">
              <a:buFont typeface="Arial" panose="020B0604020202020204" pitchFamily="34" charset="0"/>
              <a:buChar char="•"/>
            </a:pPr>
            <a:r>
              <a:rPr lang="en-US" sz="1400" b="1" dirty="0"/>
              <a:t>Time taken = </a:t>
            </a:r>
            <a:r>
              <a:rPr lang="en-US" sz="1400" dirty="0"/>
              <a:t>0.42 sec</a:t>
            </a:r>
          </a:p>
          <a:p>
            <a:pPr marL="285750" indent="-285750">
              <a:buFont typeface="Arial" panose="020B0604020202020204" pitchFamily="34" charset="0"/>
              <a:buChar char="•"/>
            </a:pPr>
            <a:r>
              <a:rPr lang="en-US" sz="1400" b="1" dirty="0"/>
              <a:t>Tunable parameters = </a:t>
            </a:r>
            <a:r>
              <a:rPr lang="en-US" sz="1400" dirty="0"/>
              <a:t>None</a:t>
            </a:r>
          </a:p>
          <a:p>
            <a:pPr marL="285750" indent="-285750">
              <a:buFont typeface="Arial" panose="020B0604020202020204" pitchFamily="34" charset="0"/>
              <a:buChar char="•"/>
            </a:pPr>
            <a:r>
              <a:rPr lang="en-US" sz="1400" b="1" dirty="0"/>
              <a:t>Remarks = </a:t>
            </a:r>
            <a:r>
              <a:rPr lang="en-US" sz="1400" dirty="0"/>
              <a:t>Good Prediction, Detects smaller ramps, Less time taken</a:t>
            </a:r>
          </a:p>
        </p:txBody>
      </p:sp>
      <p:sp>
        <p:nvSpPr>
          <p:cNvPr id="19" name="TextBox 18">
            <a:extLst>
              <a:ext uri="{FF2B5EF4-FFF2-40B4-BE49-F238E27FC236}">
                <a16:creationId xmlns:a16="http://schemas.microsoft.com/office/drawing/2014/main" id="{3CC3DFCE-E0BA-F657-D32A-E9CE0C7F0CFB}"/>
              </a:ext>
            </a:extLst>
          </p:cNvPr>
          <p:cNvSpPr txBox="1"/>
          <p:nvPr/>
        </p:nvSpPr>
        <p:spPr>
          <a:xfrm>
            <a:off x="83017" y="4600779"/>
            <a:ext cx="3400746" cy="1600438"/>
          </a:xfrm>
          <a:prstGeom prst="rect">
            <a:avLst/>
          </a:prstGeom>
          <a:noFill/>
        </p:spPr>
        <p:txBody>
          <a:bodyPr wrap="square" rtlCol="0">
            <a:spAutoFit/>
          </a:bodyPr>
          <a:lstStyle/>
          <a:p>
            <a:pPr marL="285750" indent="-285750">
              <a:buFont typeface="Arial" panose="020B0604020202020204" pitchFamily="34" charset="0"/>
              <a:buChar char="•"/>
            </a:pPr>
            <a:r>
              <a:rPr lang="en-US" sz="1400" b="1" dirty="0"/>
              <a:t>New Version (Predictions 2)</a:t>
            </a:r>
          </a:p>
          <a:p>
            <a:pPr marL="285750" indent="-285750">
              <a:buFont typeface="Arial" panose="020B0604020202020204" pitchFamily="34" charset="0"/>
              <a:buChar char="•"/>
            </a:pPr>
            <a:r>
              <a:rPr lang="en-US" sz="1400" b="1" dirty="0"/>
              <a:t>Predicted No of Points = 60</a:t>
            </a:r>
          </a:p>
          <a:p>
            <a:pPr marL="285750" indent="-285750">
              <a:buFont typeface="Arial" panose="020B0604020202020204" pitchFamily="34" charset="0"/>
              <a:buChar char="•"/>
            </a:pPr>
            <a:r>
              <a:rPr lang="en-US" sz="1400" b="1" dirty="0"/>
              <a:t>Time taken = </a:t>
            </a:r>
            <a:r>
              <a:rPr lang="en-US" sz="1400" dirty="0"/>
              <a:t>0.88 sec</a:t>
            </a:r>
          </a:p>
          <a:p>
            <a:pPr marL="285750" indent="-285750">
              <a:buFont typeface="Arial" panose="020B0604020202020204" pitchFamily="34" charset="0"/>
              <a:buChar char="•"/>
            </a:pPr>
            <a:r>
              <a:rPr lang="en-US" sz="1400" b="1" dirty="0"/>
              <a:t>Tunable parameters =</a:t>
            </a:r>
            <a:r>
              <a:rPr lang="en-US" sz="1400" dirty="0"/>
              <a:t> None</a:t>
            </a:r>
          </a:p>
          <a:p>
            <a:pPr marL="285750" indent="-285750">
              <a:buFont typeface="Arial" panose="020B0604020202020204" pitchFamily="34" charset="0"/>
              <a:buChar char="•"/>
            </a:pPr>
            <a:r>
              <a:rPr lang="en-US" sz="1400" b="1" dirty="0"/>
              <a:t>Remarks = </a:t>
            </a:r>
            <a:r>
              <a:rPr lang="en-US" sz="1400" dirty="0"/>
              <a:t>Good Prediction, Does not detects smaller ramps, Less time taken</a:t>
            </a:r>
          </a:p>
        </p:txBody>
      </p:sp>
      <p:sp>
        <p:nvSpPr>
          <p:cNvPr id="20" name="Oval 19">
            <a:extLst>
              <a:ext uri="{FF2B5EF4-FFF2-40B4-BE49-F238E27FC236}">
                <a16:creationId xmlns:a16="http://schemas.microsoft.com/office/drawing/2014/main" id="{5EED2E46-C748-39AF-0A74-963707B8A432}"/>
              </a:ext>
            </a:extLst>
          </p:cNvPr>
          <p:cNvSpPr/>
          <p:nvPr/>
        </p:nvSpPr>
        <p:spPr>
          <a:xfrm>
            <a:off x="9996755" y="4447920"/>
            <a:ext cx="1058238" cy="1675477"/>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B06951A-8D57-1B55-7DC8-DE68B9202424}"/>
              </a:ext>
            </a:extLst>
          </p:cNvPr>
          <p:cNvSpPr/>
          <p:nvPr/>
        </p:nvSpPr>
        <p:spPr>
          <a:xfrm>
            <a:off x="9996755" y="2141404"/>
            <a:ext cx="1058238" cy="1803872"/>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FFEC528-31BC-72ED-E4A1-71A0AB13BAB0}"/>
              </a:ext>
            </a:extLst>
          </p:cNvPr>
          <p:cNvSpPr/>
          <p:nvPr/>
        </p:nvSpPr>
        <p:spPr>
          <a:xfrm>
            <a:off x="5277265" y="4447920"/>
            <a:ext cx="168038" cy="1839647"/>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AF80130-AD4C-19CE-AC6C-640A185DF822}"/>
              </a:ext>
            </a:extLst>
          </p:cNvPr>
          <p:cNvSpPr/>
          <p:nvPr/>
        </p:nvSpPr>
        <p:spPr>
          <a:xfrm>
            <a:off x="5276763" y="2184483"/>
            <a:ext cx="168540" cy="1760501"/>
          </a:xfrm>
          <a:prstGeom prst="ellipse">
            <a:avLst/>
          </a:pr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86867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A1932-F920-4FDA-CB65-A783C429F0DF}"/>
              </a:ext>
            </a:extLst>
          </p:cNvPr>
          <p:cNvSpPr>
            <a:spLocks noGrp="1"/>
          </p:cNvSpPr>
          <p:nvPr>
            <p:ph type="title"/>
          </p:nvPr>
        </p:nvSpPr>
        <p:spPr>
          <a:xfrm>
            <a:off x="3661452" y="2454715"/>
            <a:ext cx="4681163" cy="1089529"/>
          </a:xfrm>
        </p:spPr>
        <p:txBody>
          <a:bodyPr/>
          <a:lstStyle/>
          <a:p>
            <a:pPr algn="ctr"/>
            <a:r>
              <a:rPr lang="en-US" dirty="0"/>
              <a:t>Local Maxima and Minima</a:t>
            </a:r>
          </a:p>
        </p:txBody>
      </p:sp>
      <p:sp>
        <p:nvSpPr>
          <p:cNvPr id="3" name="Slide Number Placeholder 2">
            <a:extLst>
              <a:ext uri="{FF2B5EF4-FFF2-40B4-BE49-F238E27FC236}">
                <a16:creationId xmlns:a16="http://schemas.microsoft.com/office/drawing/2014/main" id="{7C18727E-6151-4D3B-7BF6-05AAAA11BB7E}"/>
              </a:ext>
            </a:extLst>
          </p:cNvPr>
          <p:cNvSpPr>
            <a:spLocks noGrp="1"/>
          </p:cNvSpPr>
          <p:nvPr>
            <p:ph type="sldNum" sz="quarter" idx="12"/>
          </p:nvPr>
        </p:nvSpPr>
        <p:spPr/>
        <p:txBody>
          <a:bodyPr/>
          <a:lstStyle/>
          <a:p>
            <a:fld id="{B7E7695C-FCF1-4AA0-9B93-7941FED13DC4}" type="slidenum">
              <a:rPr lang="en-US" smtClean="0"/>
              <a:pPr/>
              <a:t>30</a:t>
            </a:fld>
            <a:endParaRPr lang="en-US" dirty="0"/>
          </a:p>
        </p:txBody>
      </p:sp>
    </p:spTree>
    <p:extLst>
      <p:ext uri="{BB962C8B-B14F-4D97-AF65-F5344CB8AC3E}">
        <p14:creationId xmlns:p14="http://schemas.microsoft.com/office/powerpoint/2010/main" val="3776040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5B1D6-40BE-3957-FFCC-8BD339847468}"/>
              </a:ext>
            </a:extLst>
          </p:cNvPr>
          <p:cNvSpPr>
            <a:spLocks noGrp="1"/>
          </p:cNvSpPr>
          <p:nvPr>
            <p:ph type="title"/>
          </p:nvPr>
        </p:nvSpPr>
        <p:spPr/>
        <p:txBody>
          <a:bodyPr/>
          <a:lstStyle/>
          <a:p>
            <a:r>
              <a:rPr lang="en-US" dirty="0"/>
              <a:t>Previous Approach</a:t>
            </a:r>
          </a:p>
        </p:txBody>
      </p:sp>
      <p:sp>
        <p:nvSpPr>
          <p:cNvPr id="3" name="Slide Number Placeholder 2">
            <a:extLst>
              <a:ext uri="{FF2B5EF4-FFF2-40B4-BE49-F238E27FC236}">
                <a16:creationId xmlns:a16="http://schemas.microsoft.com/office/drawing/2014/main" id="{614FEEAE-2887-258E-F33E-90F28CA56917}"/>
              </a:ext>
            </a:extLst>
          </p:cNvPr>
          <p:cNvSpPr>
            <a:spLocks noGrp="1"/>
          </p:cNvSpPr>
          <p:nvPr>
            <p:ph type="sldNum" sz="quarter" idx="12"/>
          </p:nvPr>
        </p:nvSpPr>
        <p:spPr/>
        <p:txBody>
          <a:bodyPr/>
          <a:lstStyle/>
          <a:p>
            <a:fld id="{B7E7695C-FCF1-4AA0-9B93-7941FED13DC4}" type="slidenum">
              <a:rPr lang="en-US" smtClean="0"/>
              <a:pPr/>
              <a:t>31</a:t>
            </a:fld>
            <a:endParaRPr lang="en-US" dirty="0"/>
          </a:p>
        </p:txBody>
      </p:sp>
      <p:sp>
        <p:nvSpPr>
          <p:cNvPr id="5" name="Content Placeholder 4">
            <a:extLst>
              <a:ext uri="{FF2B5EF4-FFF2-40B4-BE49-F238E27FC236}">
                <a16:creationId xmlns:a16="http://schemas.microsoft.com/office/drawing/2014/main" id="{C32E2C65-C85A-B57C-D0E8-3715E916433B}"/>
              </a:ext>
            </a:extLst>
          </p:cNvPr>
          <p:cNvSpPr>
            <a:spLocks noGrp="1"/>
          </p:cNvSpPr>
          <p:nvPr>
            <p:ph sz="quarter" idx="29"/>
          </p:nvPr>
        </p:nvSpPr>
        <p:spPr>
          <a:xfrm>
            <a:off x="336550" y="1052459"/>
            <a:ext cx="11506200" cy="1960282"/>
          </a:xfrm>
        </p:spPr>
        <p:txBody>
          <a:bodyPr>
            <a:normAutofit/>
          </a:bodyPr>
          <a:lstStyle/>
          <a:p>
            <a:r>
              <a:rPr lang="en-US" dirty="0"/>
              <a:t>Used DB Scan Algorithm to find outliers.</a:t>
            </a:r>
          </a:p>
          <a:p>
            <a:r>
              <a:rPr lang="en-US" dirty="0"/>
              <a:t>Used a 100 nanoseconds window size.</a:t>
            </a:r>
          </a:p>
          <a:p>
            <a:r>
              <a:rPr lang="en-US" dirty="0"/>
              <a:t>Used a 20-degree slope criteria.</a:t>
            </a:r>
          </a:p>
          <a:p>
            <a:r>
              <a:rPr lang="en-US" dirty="0"/>
              <a:t>Used </a:t>
            </a:r>
            <a:r>
              <a:rPr lang="en-US" dirty="0" err="1"/>
              <a:t>scipy</a:t>
            </a:r>
            <a:r>
              <a:rPr lang="en-US" dirty="0"/>
              <a:t> </a:t>
            </a:r>
            <a:r>
              <a:rPr lang="en-US" dirty="0" err="1"/>
              <a:t>peak_find</a:t>
            </a:r>
            <a:r>
              <a:rPr lang="en-US" dirty="0"/>
              <a:t> to find peaks and troughs.</a:t>
            </a:r>
          </a:p>
          <a:p>
            <a:r>
              <a:rPr lang="en-US" dirty="0"/>
              <a:t>A lot of tunable parameters were needed.</a:t>
            </a:r>
          </a:p>
          <a:p>
            <a:r>
              <a:rPr lang="en-US" dirty="0"/>
              <a:t>Not able to detect smaller peaks.</a:t>
            </a:r>
          </a:p>
          <a:p>
            <a:endParaRPr lang="en-US" dirty="0"/>
          </a:p>
        </p:txBody>
      </p:sp>
      <p:sp>
        <p:nvSpPr>
          <p:cNvPr id="7" name="Title 1">
            <a:extLst>
              <a:ext uri="{FF2B5EF4-FFF2-40B4-BE49-F238E27FC236}">
                <a16:creationId xmlns:a16="http://schemas.microsoft.com/office/drawing/2014/main" id="{332C3F4E-1421-EE34-AB7E-306759AAF0AA}"/>
              </a:ext>
            </a:extLst>
          </p:cNvPr>
          <p:cNvSpPr txBox="1">
            <a:spLocks/>
          </p:cNvSpPr>
          <p:nvPr/>
        </p:nvSpPr>
        <p:spPr>
          <a:xfrm>
            <a:off x="336550" y="3270071"/>
            <a:ext cx="11506200" cy="590931"/>
          </a:xfrm>
          <a:prstGeom prst="rect">
            <a:avLst/>
          </a:prstGeom>
        </p:spPr>
        <p:txBody>
          <a:bodyPr vert="horz"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New Approach</a:t>
            </a:r>
          </a:p>
        </p:txBody>
      </p:sp>
      <p:sp>
        <p:nvSpPr>
          <p:cNvPr id="8" name="Content Placeholder 4">
            <a:extLst>
              <a:ext uri="{FF2B5EF4-FFF2-40B4-BE49-F238E27FC236}">
                <a16:creationId xmlns:a16="http://schemas.microsoft.com/office/drawing/2014/main" id="{07996A39-07E2-6FB8-7663-645E4D73AA38}"/>
              </a:ext>
            </a:extLst>
          </p:cNvPr>
          <p:cNvSpPr txBox="1">
            <a:spLocks/>
          </p:cNvSpPr>
          <p:nvPr/>
        </p:nvSpPr>
        <p:spPr>
          <a:xfrm>
            <a:off x="330200" y="3861001"/>
            <a:ext cx="11506200" cy="2230777"/>
          </a:xfrm>
          <a:prstGeom prst="rect">
            <a:avLst/>
          </a:prstGeom>
        </p:spPr>
        <p:txBody>
          <a:bodyPr vert="horz" lIns="91440" tIns="45720" rIns="91440" bIns="45720" rtlCol="0">
            <a:normAutofit/>
          </a:bodyPr>
          <a:lstStyle>
            <a:lvl1pPr marL="182880" marR="0" indent="-182880" algn="l" defTabSz="914400" rtl="0" eaLnBrk="1" fontAlgn="auto" latinLnBrk="0" hangingPunct="1">
              <a:lnSpc>
                <a:spcPct val="100000"/>
              </a:lnSpc>
              <a:spcBef>
                <a:spcPts val="0"/>
              </a:spcBef>
              <a:spcAft>
                <a:spcPts val="0"/>
              </a:spcAft>
              <a:buClrTx/>
              <a:buSzPct val="75000"/>
              <a:buFont typeface="Wingdings" pitchFamily="2" charset="2"/>
              <a:buChar char="§"/>
              <a:tabLst/>
              <a:defRPr sz="2000" b="0" kern="1200" spc="0" baseline="0">
                <a:solidFill>
                  <a:schemeClr val="tx1"/>
                </a:solidFill>
                <a:latin typeface="+mn-lt"/>
                <a:ea typeface="+mn-ea"/>
                <a:cs typeface="+mn-cs"/>
              </a:defRPr>
            </a:lvl1pPr>
            <a:lvl2pPr marL="457200" marR="0" indent="-182880" algn="l" defTabSz="914400" rtl="0" eaLnBrk="1" fontAlgn="auto" latinLnBrk="0" hangingPunct="1">
              <a:lnSpc>
                <a:spcPct val="100000"/>
              </a:lnSpc>
              <a:spcBef>
                <a:spcPts val="0"/>
              </a:spcBef>
              <a:spcAft>
                <a:spcPts val="400"/>
              </a:spcAft>
              <a:buClrTx/>
              <a:buSzTx/>
              <a:buFont typeface="Apple Symbols" panose="02000000000000000000" pitchFamily="2" charset="-79"/>
              <a:buChar char="⎻"/>
              <a:tabLst/>
              <a:defRPr sz="1800" b="0" kern="1200" spc="0" baseline="0">
                <a:solidFill>
                  <a:schemeClr val="tx1"/>
                </a:solidFill>
                <a:latin typeface="+mn-lt"/>
                <a:ea typeface="+mn-ea"/>
                <a:cs typeface="+mn-cs"/>
              </a:defRPr>
            </a:lvl2pPr>
            <a:lvl3pPr marL="73152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600" b="0" kern="1200" spc="0">
                <a:solidFill>
                  <a:schemeClr val="tx1"/>
                </a:solidFill>
                <a:latin typeface="+mn-lt"/>
                <a:ea typeface="+mn-ea"/>
                <a:cs typeface="+mn-cs"/>
              </a:defRPr>
            </a:lvl3pPr>
            <a:lvl4pPr marL="1005840" marR="0" indent="-182880" algn="l" defTabSz="914400" rtl="0" eaLnBrk="1" fontAlgn="auto" latinLnBrk="0" hangingPunct="1">
              <a:lnSpc>
                <a:spcPct val="100000"/>
              </a:lnSpc>
              <a:spcBef>
                <a:spcPts val="0"/>
              </a:spcBef>
              <a:spcAft>
                <a:spcPts val="400"/>
              </a:spcAft>
              <a:buClrTx/>
              <a:buSzTx/>
              <a:buFont typeface="Apple Symbols" panose="02000000000000000000" pitchFamily="2" charset="-79"/>
              <a:buChar char="⎻"/>
              <a:tabLst/>
              <a:defRPr sz="1400" b="0" kern="1200" spc="0">
                <a:solidFill>
                  <a:schemeClr val="tx1"/>
                </a:solidFill>
                <a:latin typeface="+mn-lt"/>
                <a:ea typeface="+mn-ea"/>
                <a:cs typeface="+mn-cs"/>
              </a:defRPr>
            </a:lvl4pPr>
            <a:lvl5pPr marL="128016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200" b="0" kern="1200" spc="0">
                <a:solidFill>
                  <a:schemeClr val="tx1"/>
                </a:solidFill>
                <a:latin typeface="+mn-lt"/>
                <a:ea typeface="+mn-ea"/>
                <a:cs typeface="+mn-cs"/>
              </a:defRPr>
            </a:lvl5pPr>
            <a:lvl6pPr marL="54864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600" kern="1200">
                <a:solidFill>
                  <a:srgbClr val="000000"/>
                </a:solidFill>
                <a:latin typeface="+mn-lt"/>
                <a:ea typeface="+mn-ea"/>
                <a:cs typeface="+mn-cs"/>
              </a:defRPr>
            </a:lvl6pPr>
            <a:lvl7pPr marL="731520" marR="0" indent="-182880" algn="l" defTabSz="914400" rtl="0" eaLnBrk="1" fontAlgn="auto" latinLnBrk="0" hangingPunct="1">
              <a:lnSpc>
                <a:spcPct val="100000"/>
              </a:lnSpc>
              <a:spcBef>
                <a:spcPts val="0"/>
              </a:spcBef>
              <a:spcAft>
                <a:spcPts val="400"/>
              </a:spcAft>
              <a:buClrTx/>
              <a:buSzPct val="100000"/>
              <a:buFont typeface="System Font Regular"/>
              <a:buChar char="‒"/>
              <a:tabLst/>
              <a:defRPr sz="1600" b="0" kern="1200">
                <a:solidFill>
                  <a:schemeClr val="tx1"/>
                </a:solidFill>
                <a:latin typeface="+mn-lt"/>
                <a:ea typeface="+mn-ea"/>
                <a:cs typeface="+mn-cs"/>
              </a:defRPr>
            </a:lvl7pPr>
            <a:lvl8pPr marL="91440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400" kern="1200">
                <a:solidFill>
                  <a:schemeClr val="tx1"/>
                </a:solidFill>
                <a:latin typeface="+mn-lt"/>
                <a:ea typeface="+mn-ea"/>
                <a:cs typeface="+mn-cs"/>
              </a:defRPr>
            </a:lvl8pPr>
            <a:lvl9pPr marL="1097280" marR="0" indent="-182880" algn="l" defTabSz="914400" rtl="0" eaLnBrk="1" fontAlgn="auto" latinLnBrk="0" hangingPunct="1">
              <a:lnSpc>
                <a:spcPct val="100000"/>
              </a:lnSpc>
              <a:spcBef>
                <a:spcPts val="0"/>
              </a:spcBef>
              <a:spcAft>
                <a:spcPts val="400"/>
              </a:spcAft>
              <a:buClrTx/>
              <a:buSzPct val="100000"/>
              <a:buFont typeface="System Font Regular"/>
              <a:buChar char="‒"/>
              <a:tabLst/>
              <a:defRPr sz="1400" kern="1200">
                <a:solidFill>
                  <a:schemeClr val="tx1"/>
                </a:solidFill>
                <a:latin typeface="+mn-lt"/>
                <a:ea typeface="+mn-ea"/>
                <a:cs typeface="+mn-cs"/>
              </a:defRPr>
            </a:lvl9pPr>
          </a:lstStyle>
          <a:p>
            <a:r>
              <a:rPr lang="en-US" dirty="0"/>
              <a:t>Input is only a waveform.</a:t>
            </a:r>
          </a:p>
          <a:p>
            <a:r>
              <a:rPr lang="en-US" dirty="0"/>
              <a:t>Find peaks in local maxima and minima.</a:t>
            </a:r>
          </a:p>
          <a:p>
            <a:r>
              <a:rPr lang="en-US" dirty="0"/>
              <a:t>No other input needed.</a:t>
            </a:r>
          </a:p>
          <a:p>
            <a:r>
              <a:rPr lang="en-US" dirty="0"/>
              <a:t>Only number of local inputs to be considered at a time is needed (default = 100)</a:t>
            </a:r>
          </a:p>
          <a:p>
            <a:r>
              <a:rPr lang="en-US" dirty="0"/>
              <a:t>Reduced No of missed ramps earlier from 66% to now only 2%.</a:t>
            </a:r>
          </a:p>
          <a:p>
            <a:r>
              <a:rPr lang="en-US" dirty="0"/>
              <a:t>All ramps correctly predicted with &gt;90% accuracy.</a:t>
            </a:r>
          </a:p>
          <a:p>
            <a:r>
              <a:rPr lang="en-US" dirty="0"/>
              <a:t>Reduction in number of False Detection earlier from 82% to now only 9%</a:t>
            </a:r>
          </a:p>
          <a:p>
            <a:endParaRPr lang="en-US" dirty="0"/>
          </a:p>
          <a:p>
            <a:endParaRPr lang="en-US" dirty="0"/>
          </a:p>
        </p:txBody>
      </p:sp>
    </p:spTree>
    <p:extLst>
      <p:ext uri="{BB962C8B-B14F-4D97-AF65-F5344CB8AC3E}">
        <p14:creationId xmlns:p14="http://schemas.microsoft.com/office/powerpoint/2010/main" val="42159548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99C4-FEB7-630E-184F-6277CB17233C}"/>
              </a:ext>
            </a:extLst>
          </p:cNvPr>
          <p:cNvSpPr>
            <a:spLocks noGrp="1"/>
          </p:cNvSpPr>
          <p:nvPr>
            <p:ph type="title"/>
          </p:nvPr>
        </p:nvSpPr>
        <p:spPr>
          <a:xfrm>
            <a:off x="342900" y="461528"/>
            <a:ext cx="4814727" cy="1588127"/>
          </a:xfrm>
        </p:spPr>
        <p:txBody>
          <a:bodyPr/>
          <a:lstStyle/>
          <a:p>
            <a:r>
              <a:rPr lang="en-US" dirty="0"/>
              <a:t>Previous approach </a:t>
            </a:r>
          </a:p>
        </p:txBody>
      </p:sp>
      <p:sp>
        <p:nvSpPr>
          <p:cNvPr id="3" name="Slide Number Placeholder 2">
            <a:extLst>
              <a:ext uri="{FF2B5EF4-FFF2-40B4-BE49-F238E27FC236}">
                <a16:creationId xmlns:a16="http://schemas.microsoft.com/office/drawing/2014/main" id="{1B5A83FF-B155-7883-D8E8-6E3934117BF7}"/>
              </a:ext>
            </a:extLst>
          </p:cNvPr>
          <p:cNvSpPr>
            <a:spLocks noGrp="1"/>
          </p:cNvSpPr>
          <p:nvPr>
            <p:ph type="sldNum" sz="quarter" idx="12"/>
          </p:nvPr>
        </p:nvSpPr>
        <p:spPr/>
        <p:txBody>
          <a:bodyPr/>
          <a:lstStyle/>
          <a:p>
            <a:fld id="{B7E7695C-FCF1-4AA0-9B93-7941FED13DC4}" type="slidenum">
              <a:rPr lang="en-US" smtClean="0"/>
              <a:pPr/>
              <a:t>32</a:t>
            </a:fld>
            <a:endParaRPr lang="en-US" dirty="0"/>
          </a:p>
        </p:txBody>
      </p:sp>
      <p:sp>
        <p:nvSpPr>
          <p:cNvPr id="7" name="Title 1">
            <a:extLst>
              <a:ext uri="{FF2B5EF4-FFF2-40B4-BE49-F238E27FC236}">
                <a16:creationId xmlns:a16="http://schemas.microsoft.com/office/drawing/2014/main" id="{0021C29E-C2EC-19E5-5A13-82902DD05BF4}"/>
              </a:ext>
            </a:extLst>
          </p:cNvPr>
          <p:cNvSpPr txBox="1">
            <a:spLocks/>
          </p:cNvSpPr>
          <p:nvPr/>
        </p:nvSpPr>
        <p:spPr>
          <a:xfrm>
            <a:off x="8026257" y="461528"/>
            <a:ext cx="3624637" cy="5909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New Approach</a:t>
            </a:r>
          </a:p>
        </p:txBody>
      </p:sp>
      <p:pic>
        <p:nvPicPr>
          <p:cNvPr id="9" name="Picture 8">
            <a:extLst>
              <a:ext uri="{FF2B5EF4-FFF2-40B4-BE49-F238E27FC236}">
                <a16:creationId xmlns:a16="http://schemas.microsoft.com/office/drawing/2014/main" id="{0F4D72FC-41B3-C7D5-3B2E-8AB1A6A5B511}"/>
              </a:ext>
            </a:extLst>
          </p:cNvPr>
          <p:cNvPicPr>
            <a:picLocks noChangeAspect="1"/>
          </p:cNvPicPr>
          <p:nvPr/>
        </p:nvPicPr>
        <p:blipFill>
          <a:blip r:embed="rId2"/>
          <a:stretch>
            <a:fillRect/>
          </a:stretch>
        </p:blipFill>
        <p:spPr>
          <a:xfrm>
            <a:off x="6606259" y="1157295"/>
            <a:ext cx="5236491" cy="2613321"/>
          </a:xfrm>
          <a:prstGeom prst="rect">
            <a:avLst/>
          </a:prstGeom>
        </p:spPr>
      </p:pic>
      <p:pic>
        <p:nvPicPr>
          <p:cNvPr id="11" name="Picture 10">
            <a:extLst>
              <a:ext uri="{FF2B5EF4-FFF2-40B4-BE49-F238E27FC236}">
                <a16:creationId xmlns:a16="http://schemas.microsoft.com/office/drawing/2014/main" id="{551542F1-B6F4-852C-A8BC-F0F45ECFB623}"/>
              </a:ext>
            </a:extLst>
          </p:cNvPr>
          <p:cNvPicPr>
            <a:picLocks noChangeAspect="1"/>
          </p:cNvPicPr>
          <p:nvPr/>
        </p:nvPicPr>
        <p:blipFill>
          <a:blip r:embed="rId3"/>
          <a:stretch>
            <a:fillRect/>
          </a:stretch>
        </p:blipFill>
        <p:spPr>
          <a:xfrm>
            <a:off x="246580" y="1157294"/>
            <a:ext cx="5223326" cy="2613321"/>
          </a:xfrm>
          <a:prstGeom prst="rect">
            <a:avLst/>
          </a:prstGeom>
        </p:spPr>
      </p:pic>
      <p:sp>
        <p:nvSpPr>
          <p:cNvPr id="12" name="TextBox 11">
            <a:extLst>
              <a:ext uri="{FF2B5EF4-FFF2-40B4-BE49-F238E27FC236}">
                <a16:creationId xmlns:a16="http://schemas.microsoft.com/office/drawing/2014/main" id="{84E62083-DE5C-468D-915B-9D85C6EA73BD}"/>
              </a:ext>
            </a:extLst>
          </p:cNvPr>
          <p:cNvSpPr txBox="1"/>
          <p:nvPr/>
        </p:nvSpPr>
        <p:spPr>
          <a:xfrm>
            <a:off x="356485" y="4383206"/>
            <a:ext cx="5003515" cy="1200329"/>
          </a:xfrm>
          <a:prstGeom prst="rect">
            <a:avLst/>
          </a:prstGeom>
          <a:noFill/>
        </p:spPr>
        <p:txBody>
          <a:bodyPr wrap="square" rtlCol="0">
            <a:spAutoFit/>
          </a:bodyPr>
          <a:lstStyle/>
          <a:p>
            <a:r>
              <a:rPr lang="en-US" b="1" dirty="0"/>
              <a:t>Total Number of predictions = </a:t>
            </a:r>
            <a:r>
              <a:rPr lang="en-US" dirty="0"/>
              <a:t>8</a:t>
            </a:r>
          </a:p>
          <a:p>
            <a:r>
              <a:rPr lang="en-US" b="1" dirty="0"/>
              <a:t>Correct Prediction = </a:t>
            </a:r>
            <a:r>
              <a:rPr lang="en-US" dirty="0"/>
              <a:t>6</a:t>
            </a:r>
            <a:endParaRPr lang="en-US" b="1" dirty="0"/>
          </a:p>
          <a:p>
            <a:r>
              <a:rPr lang="en-US" b="1" dirty="0"/>
              <a:t>Wrong Prediction = </a:t>
            </a:r>
            <a:r>
              <a:rPr lang="en-US" dirty="0"/>
              <a:t>2</a:t>
            </a:r>
          </a:p>
          <a:p>
            <a:r>
              <a:rPr lang="en-US" b="1" dirty="0"/>
              <a:t>Missed =</a:t>
            </a:r>
            <a:r>
              <a:rPr lang="en-US" dirty="0"/>
              <a:t> 44</a:t>
            </a:r>
          </a:p>
        </p:txBody>
      </p:sp>
      <p:sp>
        <p:nvSpPr>
          <p:cNvPr id="13" name="TextBox 12">
            <a:extLst>
              <a:ext uri="{FF2B5EF4-FFF2-40B4-BE49-F238E27FC236}">
                <a16:creationId xmlns:a16="http://schemas.microsoft.com/office/drawing/2014/main" id="{E95FD6E5-2E1C-2F4D-C0E8-68A186E22E34}"/>
              </a:ext>
            </a:extLst>
          </p:cNvPr>
          <p:cNvSpPr txBox="1"/>
          <p:nvPr/>
        </p:nvSpPr>
        <p:spPr>
          <a:xfrm>
            <a:off x="6722746" y="4290873"/>
            <a:ext cx="5003515" cy="1200329"/>
          </a:xfrm>
          <a:prstGeom prst="rect">
            <a:avLst/>
          </a:prstGeom>
          <a:noFill/>
        </p:spPr>
        <p:txBody>
          <a:bodyPr wrap="square" rtlCol="0">
            <a:spAutoFit/>
          </a:bodyPr>
          <a:lstStyle/>
          <a:p>
            <a:r>
              <a:rPr lang="en-US" b="1" dirty="0"/>
              <a:t>Total Number of predictions = </a:t>
            </a:r>
            <a:r>
              <a:rPr lang="en-US" dirty="0"/>
              <a:t>50</a:t>
            </a:r>
          </a:p>
          <a:p>
            <a:r>
              <a:rPr lang="en-US" b="1" dirty="0"/>
              <a:t>Correct Prediction = </a:t>
            </a:r>
            <a:r>
              <a:rPr lang="en-US" dirty="0"/>
              <a:t>50</a:t>
            </a:r>
          </a:p>
          <a:p>
            <a:r>
              <a:rPr lang="en-US" b="1" dirty="0"/>
              <a:t>Wrong Prediction = </a:t>
            </a:r>
            <a:r>
              <a:rPr lang="en-US" dirty="0"/>
              <a:t>0</a:t>
            </a:r>
          </a:p>
          <a:p>
            <a:r>
              <a:rPr lang="en-US" b="1" dirty="0"/>
              <a:t>Missed = </a:t>
            </a:r>
            <a:r>
              <a:rPr lang="en-US" dirty="0"/>
              <a:t>0</a:t>
            </a:r>
          </a:p>
        </p:txBody>
      </p:sp>
      <p:sp>
        <p:nvSpPr>
          <p:cNvPr id="14" name="TextBox 13">
            <a:extLst>
              <a:ext uri="{FF2B5EF4-FFF2-40B4-BE49-F238E27FC236}">
                <a16:creationId xmlns:a16="http://schemas.microsoft.com/office/drawing/2014/main" id="{B465AFEA-AD7F-8590-1E39-F1967852FF90}"/>
              </a:ext>
            </a:extLst>
          </p:cNvPr>
          <p:cNvSpPr txBox="1"/>
          <p:nvPr/>
        </p:nvSpPr>
        <p:spPr>
          <a:xfrm>
            <a:off x="356485" y="5907640"/>
            <a:ext cx="8818337" cy="369332"/>
          </a:xfrm>
          <a:prstGeom prst="rect">
            <a:avLst/>
          </a:prstGeom>
          <a:noFill/>
        </p:spPr>
        <p:txBody>
          <a:bodyPr wrap="square" rtlCol="0">
            <a:spAutoFit/>
          </a:bodyPr>
          <a:lstStyle/>
          <a:p>
            <a:r>
              <a:rPr lang="en-US" b="1" dirty="0"/>
              <a:t>Waveform Name = </a:t>
            </a:r>
            <a:r>
              <a:rPr lang="pl-PL" dirty="0"/>
              <a:t>EXP1_SQ3_RB_na_na_30C</a:t>
            </a:r>
            <a:r>
              <a:rPr lang="en-US" dirty="0"/>
              <a:t>.h5</a:t>
            </a:r>
          </a:p>
        </p:txBody>
      </p:sp>
    </p:spTree>
    <p:extLst>
      <p:ext uri="{BB962C8B-B14F-4D97-AF65-F5344CB8AC3E}">
        <p14:creationId xmlns:p14="http://schemas.microsoft.com/office/powerpoint/2010/main" val="6211351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99C4-FEB7-630E-184F-6277CB17233C}"/>
              </a:ext>
            </a:extLst>
          </p:cNvPr>
          <p:cNvSpPr>
            <a:spLocks noGrp="1"/>
          </p:cNvSpPr>
          <p:nvPr>
            <p:ph type="title"/>
          </p:nvPr>
        </p:nvSpPr>
        <p:spPr>
          <a:xfrm>
            <a:off x="342900" y="461528"/>
            <a:ext cx="4814727" cy="1588127"/>
          </a:xfrm>
        </p:spPr>
        <p:txBody>
          <a:bodyPr/>
          <a:lstStyle/>
          <a:p>
            <a:r>
              <a:rPr lang="en-US" dirty="0"/>
              <a:t>Previous approach </a:t>
            </a:r>
          </a:p>
        </p:txBody>
      </p:sp>
      <p:sp>
        <p:nvSpPr>
          <p:cNvPr id="3" name="Slide Number Placeholder 2">
            <a:extLst>
              <a:ext uri="{FF2B5EF4-FFF2-40B4-BE49-F238E27FC236}">
                <a16:creationId xmlns:a16="http://schemas.microsoft.com/office/drawing/2014/main" id="{1B5A83FF-B155-7883-D8E8-6E3934117BF7}"/>
              </a:ext>
            </a:extLst>
          </p:cNvPr>
          <p:cNvSpPr>
            <a:spLocks noGrp="1"/>
          </p:cNvSpPr>
          <p:nvPr>
            <p:ph type="sldNum" sz="quarter" idx="12"/>
          </p:nvPr>
        </p:nvSpPr>
        <p:spPr/>
        <p:txBody>
          <a:bodyPr/>
          <a:lstStyle/>
          <a:p>
            <a:fld id="{B7E7695C-FCF1-4AA0-9B93-7941FED13DC4}" type="slidenum">
              <a:rPr lang="en-US" smtClean="0"/>
              <a:pPr/>
              <a:t>33</a:t>
            </a:fld>
            <a:endParaRPr lang="en-US" dirty="0"/>
          </a:p>
        </p:txBody>
      </p:sp>
      <p:sp>
        <p:nvSpPr>
          <p:cNvPr id="7" name="Title 1">
            <a:extLst>
              <a:ext uri="{FF2B5EF4-FFF2-40B4-BE49-F238E27FC236}">
                <a16:creationId xmlns:a16="http://schemas.microsoft.com/office/drawing/2014/main" id="{0021C29E-C2EC-19E5-5A13-82902DD05BF4}"/>
              </a:ext>
            </a:extLst>
          </p:cNvPr>
          <p:cNvSpPr txBox="1">
            <a:spLocks/>
          </p:cNvSpPr>
          <p:nvPr/>
        </p:nvSpPr>
        <p:spPr>
          <a:xfrm>
            <a:off x="8026257" y="461528"/>
            <a:ext cx="3624637" cy="5909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New Approach</a:t>
            </a:r>
          </a:p>
        </p:txBody>
      </p:sp>
      <p:sp>
        <p:nvSpPr>
          <p:cNvPr id="12" name="TextBox 11">
            <a:extLst>
              <a:ext uri="{FF2B5EF4-FFF2-40B4-BE49-F238E27FC236}">
                <a16:creationId xmlns:a16="http://schemas.microsoft.com/office/drawing/2014/main" id="{84E62083-DE5C-468D-915B-9D85C6EA73BD}"/>
              </a:ext>
            </a:extLst>
          </p:cNvPr>
          <p:cNvSpPr txBox="1"/>
          <p:nvPr/>
        </p:nvSpPr>
        <p:spPr>
          <a:xfrm>
            <a:off x="342900" y="4312114"/>
            <a:ext cx="5003515" cy="1200329"/>
          </a:xfrm>
          <a:prstGeom prst="rect">
            <a:avLst/>
          </a:prstGeom>
          <a:noFill/>
        </p:spPr>
        <p:txBody>
          <a:bodyPr wrap="square" rtlCol="0">
            <a:spAutoFit/>
          </a:bodyPr>
          <a:lstStyle/>
          <a:p>
            <a:r>
              <a:rPr lang="en-US" b="1" dirty="0"/>
              <a:t>Total Number of predictions = </a:t>
            </a:r>
            <a:r>
              <a:rPr lang="en-US" dirty="0"/>
              <a:t>22</a:t>
            </a:r>
          </a:p>
          <a:p>
            <a:r>
              <a:rPr lang="en-US" b="1" dirty="0"/>
              <a:t>Correct Prediction = </a:t>
            </a:r>
            <a:r>
              <a:rPr lang="en-US" dirty="0"/>
              <a:t>21</a:t>
            </a:r>
            <a:endParaRPr lang="en-US" b="1" dirty="0"/>
          </a:p>
          <a:p>
            <a:r>
              <a:rPr lang="en-US" b="1" dirty="0"/>
              <a:t>Wrong Prediction = </a:t>
            </a:r>
            <a:r>
              <a:rPr lang="en-US" dirty="0"/>
              <a:t>1</a:t>
            </a:r>
          </a:p>
          <a:p>
            <a:r>
              <a:rPr lang="en-US" b="1" dirty="0"/>
              <a:t>Missed =</a:t>
            </a:r>
            <a:r>
              <a:rPr lang="en-US" dirty="0"/>
              <a:t> 287</a:t>
            </a:r>
          </a:p>
        </p:txBody>
      </p:sp>
      <p:sp>
        <p:nvSpPr>
          <p:cNvPr id="13" name="TextBox 12">
            <a:extLst>
              <a:ext uri="{FF2B5EF4-FFF2-40B4-BE49-F238E27FC236}">
                <a16:creationId xmlns:a16="http://schemas.microsoft.com/office/drawing/2014/main" id="{E95FD6E5-2E1C-2F4D-C0E8-68A186E22E34}"/>
              </a:ext>
            </a:extLst>
          </p:cNvPr>
          <p:cNvSpPr txBox="1"/>
          <p:nvPr/>
        </p:nvSpPr>
        <p:spPr>
          <a:xfrm>
            <a:off x="6722746" y="4290873"/>
            <a:ext cx="5003515" cy="1200329"/>
          </a:xfrm>
          <a:prstGeom prst="rect">
            <a:avLst/>
          </a:prstGeom>
          <a:noFill/>
        </p:spPr>
        <p:txBody>
          <a:bodyPr wrap="square" rtlCol="0">
            <a:spAutoFit/>
          </a:bodyPr>
          <a:lstStyle/>
          <a:p>
            <a:r>
              <a:rPr lang="en-US" b="1" dirty="0"/>
              <a:t>Total Number of predictions = </a:t>
            </a:r>
            <a:r>
              <a:rPr lang="en-US" dirty="0"/>
              <a:t>310</a:t>
            </a:r>
          </a:p>
          <a:p>
            <a:r>
              <a:rPr lang="en-US" b="1" dirty="0"/>
              <a:t>Correct Prediction = </a:t>
            </a:r>
            <a:r>
              <a:rPr lang="en-US" dirty="0"/>
              <a:t>308</a:t>
            </a:r>
          </a:p>
          <a:p>
            <a:r>
              <a:rPr lang="en-US" b="1" dirty="0"/>
              <a:t>Wrong Prediction = </a:t>
            </a:r>
            <a:r>
              <a:rPr lang="en-US" dirty="0"/>
              <a:t>2</a:t>
            </a:r>
          </a:p>
          <a:p>
            <a:r>
              <a:rPr lang="en-US" b="1" dirty="0"/>
              <a:t>Missed = </a:t>
            </a:r>
            <a:r>
              <a:rPr lang="en-US" dirty="0"/>
              <a:t>0</a:t>
            </a:r>
          </a:p>
        </p:txBody>
      </p:sp>
      <p:sp>
        <p:nvSpPr>
          <p:cNvPr id="14" name="TextBox 13">
            <a:extLst>
              <a:ext uri="{FF2B5EF4-FFF2-40B4-BE49-F238E27FC236}">
                <a16:creationId xmlns:a16="http://schemas.microsoft.com/office/drawing/2014/main" id="{B465AFEA-AD7F-8590-1E39-F1967852FF90}"/>
              </a:ext>
            </a:extLst>
          </p:cNvPr>
          <p:cNvSpPr txBox="1"/>
          <p:nvPr/>
        </p:nvSpPr>
        <p:spPr>
          <a:xfrm>
            <a:off x="342900" y="5889306"/>
            <a:ext cx="12099104" cy="369332"/>
          </a:xfrm>
          <a:prstGeom prst="rect">
            <a:avLst/>
          </a:prstGeom>
          <a:noFill/>
        </p:spPr>
        <p:txBody>
          <a:bodyPr wrap="square" rtlCol="0">
            <a:spAutoFit/>
          </a:bodyPr>
          <a:lstStyle/>
          <a:p>
            <a:r>
              <a:rPr lang="en-US" b="1" dirty="0"/>
              <a:t>Waveform Name = </a:t>
            </a:r>
            <a:r>
              <a:rPr lang="pl-PL" dirty="0"/>
              <a:t>EXP1_SQ4_vpassreg_src_pgr_0_X47433_Y88785_na_na_30</a:t>
            </a:r>
            <a:r>
              <a:rPr lang="en-US" dirty="0"/>
              <a:t>.h5</a:t>
            </a:r>
          </a:p>
        </p:txBody>
      </p:sp>
      <p:pic>
        <p:nvPicPr>
          <p:cNvPr id="5" name="Picture 4">
            <a:extLst>
              <a:ext uri="{FF2B5EF4-FFF2-40B4-BE49-F238E27FC236}">
                <a16:creationId xmlns:a16="http://schemas.microsoft.com/office/drawing/2014/main" id="{44214F40-525A-9ACC-381C-362CD6CE3086}"/>
              </a:ext>
            </a:extLst>
          </p:cNvPr>
          <p:cNvPicPr>
            <a:picLocks noChangeAspect="1"/>
          </p:cNvPicPr>
          <p:nvPr/>
        </p:nvPicPr>
        <p:blipFill>
          <a:blip r:embed="rId2"/>
          <a:stretch>
            <a:fillRect/>
          </a:stretch>
        </p:blipFill>
        <p:spPr>
          <a:xfrm>
            <a:off x="6096000" y="968694"/>
            <a:ext cx="5917888" cy="2971881"/>
          </a:xfrm>
          <a:prstGeom prst="rect">
            <a:avLst/>
          </a:prstGeom>
        </p:spPr>
      </p:pic>
      <p:pic>
        <p:nvPicPr>
          <p:cNvPr id="8" name="Picture 7">
            <a:extLst>
              <a:ext uri="{FF2B5EF4-FFF2-40B4-BE49-F238E27FC236}">
                <a16:creationId xmlns:a16="http://schemas.microsoft.com/office/drawing/2014/main" id="{AAF7B265-9849-A823-42D7-B738DC02D1DD}"/>
              </a:ext>
            </a:extLst>
          </p:cNvPr>
          <p:cNvPicPr>
            <a:picLocks noChangeAspect="1"/>
          </p:cNvPicPr>
          <p:nvPr/>
        </p:nvPicPr>
        <p:blipFill>
          <a:blip r:embed="rId3"/>
          <a:stretch>
            <a:fillRect/>
          </a:stretch>
        </p:blipFill>
        <p:spPr>
          <a:xfrm>
            <a:off x="178112" y="968694"/>
            <a:ext cx="5733006" cy="2836254"/>
          </a:xfrm>
          <a:prstGeom prst="rect">
            <a:avLst/>
          </a:prstGeom>
        </p:spPr>
      </p:pic>
    </p:spTree>
    <p:extLst>
      <p:ext uri="{BB962C8B-B14F-4D97-AF65-F5344CB8AC3E}">
        <p14:creationId xmlns:p14="http://schemas.microsoft.com/office/powerpoint/2010/main" val="27575083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99C4-FEB7-630E-184F-6277CB17233C}"/>
              </a:ext>
            </a:extLst>
          </p:cNvPr>
          <p:cNvSpPr>
            <a:spLocks noGrp="1"/>
          </p:cNvSpPr>
          <p:nvPr>
            <p:ph type="title"/>
          </p:nvPr>
        </p:nvSpPr>
        <p:spPr>
          <a:xfrm>
            <a:off x="342900" y="461528"/>
            <a:ext cx="4814727" cy="1588127"/>
          </a:xfrm>
        </p:spPr>
        <p:txBody>
          <a:bodyPr/>
          <a:lstStyle/>
          <a:p>
            <a:r>
              <a:rPr lang="en-US" dirty="0"/>
              <a:t>Previous approach </a:t>
            </a:r>
          </a:p>
        </p:txBody>
      </p:sp>
      <p:sp>
        <p:nvSpPr>
          <p:cNvPr id="3" name="Slide Number Placeholder 2">
            <a:extLst>
              <a:ext uri="{FF2B5EF4-FFF2-40B4-BE49-F238E27FC236}">
                <a16:creationId xmlns:a16="http://schemas.microsoft.com/office/drawing/2014/main" id="{1B5A83FF-B155-7883-D8E8-6E3934117BF7}"/>
              </a:ext>
            </a:extLst>
          </p:cNvPr>
          <p:cNvSpPr>
            <a:spLocks noGrp="1"/>
          </p:cNvSpPr>
          <p:nvPr>
            <p:ph type="sldNum" sz="quarter" idx="12"/>
          </p:nvPr>
        </p:nvSpPr>
        <p:spPr/>
        <p:txBody>
          <a:bodyPr/>
          <a:lstStyle/>
          <a:p>
            <a:fld id="{B7E7695C-FCF1-4AA0-9B93-7941FED13DC4}" type="slidenum">
              <a:rPr lang="en-US" smtClean="0"/>
              <a:pPr/>
              <a:t>34</a:t>
            </a:fld>
            <a:endParaRPr lang="en-US" dirty="0"/>
          </a:p>
        </p:txBody>
      </p:sp>
      <p:sp>
        <p:nvSpPr>
          <p:cNvPr id="7" name="Title 1">
            <a:extLst>
              <a:ext uri="{FF2B5EF4-FFF2-40B4-BE49-F238E27FC236}">
                <a16:creationId xmlns:a16="http://schemas.microsoft.com/office/drawing/2014/main" id="{0021C29E-C2EC-19E5-5A13-82902DD05BF4}"/>
              </a:ext>
            </a:extLst>
          </p:cNvPr>
          <p:cNvSpPr txBox="1">
            <a:spLocks/>
          </p:cNvSpPr>
          <p:nvPr/>
        </p:nvSpPr>
        <p:spPr>
          <a:xfrm>
            <a:off x="8026257" y="461528"/>
            <a:ext cx="3624637" cy="5909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New Approach</a:t>
            </a:r>
          </a:p>
        </p:txBody>
      </p:sp>
      <p:sp>
        <p:nvSpPr>
          <p:cNvPr id="12" name="TextBox 11">
            <a:extLst>
              <a:ext uri="{FF2B5EF4-FFF2-40B4-BE49-F238E27FC236}">
                <a16:creationId xmlns:a16="http://schemas.microsoft.com/office/drawing/2014/main" id="{84E62083-DE5C-468D-915B-9D85C6EA73BD}"/>
              </a:ext>
            </a:extLst>
          </p:cNvPr>
          <p:cNvSpPr txBox="1"/>
          <p:nvPr/>
        </p:nvSpPr>
        <p:spPr>
          <a:xfrm>
            <a:off x="342900" y="4312114"/>
            <a:ext cx="5003515" cy="1200329"/>
          </a:xfrm>
          <a:prstGeom prst="rect">
            <a:avLst/>
          </a:prstGeom>
          <a:noFill/>
        </p:spPr>
        <p:txBody>
          <a:bodyPr wrap="square" rtlCol="0">
            <a:spAutoFit/>
          </a:bodyPr>
          <a:lstStyle/>
          <a:p>
            <a:r>
              <a:rPr lang="en-US" b="1" dirty="0"/>
              <a:t>Total Number of predictions = </a:t>
            </a:r>
            <a:r>
              <a:rPr lang="en-US" dirty="0"/>
              <a:t>22</a:t>
            </a:r>
          </a:p>
          <a:p>
            <a:r>
              <a:rPr lang="en-US" b="1" dirty="0"/>
              <a:t>Correct Prediction = </a:t>
            </a:r>
            <a:r>
              <a:rPr lang="en-US" dirty="0"/>
              <a:t>10</a:t>
            </a:r>
            <a:endParaRPr lang="en-US" b="1" dirty="0"/>
          </a:p>
          <a:p>
            <a:r>
              <a:rPr lang="en-US" b="1" dirty="0"/>
              <a:t>Wrong Prediction = </a:t>
            </a:r>
            <a:r>
              <a:rPr lang="en-US" dirty="0"/>
              <a:t>12</a:t>
            </a:r>
          </a:p>
          <a:p>
            <a:r>
              <a:rPr lang="en-US" b="1" dirty="0"/>
              <a:t>Missed =</a:t>
            </a:r>
            <a:r>
              <a:rPr lang="en-US" dirty="0"/>
              <a:t> 23</a:t>
            </a:r>
          </a:p>
        </p:txBody>
      </p:sp>
      <p:sp>
        <p:nvSpPr>
          <p:cNvPr id="13" name="TextBox 12">
            <a:extLst>
              <a:ext uri="{FF2B5EF4-FFF2-40B4-BE49-F238E27FC236}">
                <a16:creationId xmlns:a16="http://schemas.microsoft.com/office/drawing/2014/main" id="{E95FD6E5-2E1C-2F4D-C0E8-68A186E22E34}"/>
              </a:ext>
            </a:extLst>
          </p:cNvPr>
          <p:cNvSpPr txBox="1"/>
          <p:nvPr/>
        </p:nvSpPr>
        <p:spPr>
          <a:xfrm>
            <a:off x="6722746" y="4290873"/>
            <a:ext cx="5003515" cy="1200329"/>
          </a:xfrm>
          <a:prstGeom prst="rect">
            <a:avLst/>
          </a:prstGeom>
          <a:noFill/>
        </p:spPr>
        <p:txBody>
          <a:bodyPr wrap="square" rtlCol="0">
            <a:spAutoFit/>
          </a:bodyPr>
          <a:lstStyle/>
          <a:p>
            <a:r>
              <a:rPr lang="en-US" b="1" dirty="0"/>
              <a:t>Total Number of predictions = </a:t>
            </a:r>
            <a:r>
              <a:rPr lang="en-US" dirty="0"/>
              <a:t>36</a:t>
            </a:r>
          </a:p>
          <a:p>
            <a:r>
              <a:rPr lang="en-US" b="1" dirty="0"/>
              <a:t>Correct Prediction = </a:t>
            </a:r>
            <a:r>
              <a:rPr lang="en-US" dirty="0"/>
              <a:t>32</a:t>
            </a:r>
          </a:p>
          <a:p>
            <a:r>
              <a:rPr lang="en-US" b="1" dirty="0"/>
              <a:t>Wrong Prediction = </a:t>
            </a:r>
            <a:r>
              <a:rPr lang="en-US" dirty="0"/>
              <a:t>4</a:t>
            </a:r>
          </a:p>
          <a:p>
            <a:r>
              <a:rPr lang="en-US" b="1" dirty="0"/>
              <a:t>Missed = </a:t>
            </a:r>
            <a:r>
              <a:rPr lang="en-US" dirty="0"/>
              <a:t>1</a:t>
            </a:r>
          </a:p>
        </p:txBody>
      </p:sp>
      <p:sp>
        <p:nvSpPr>
          <p:cNvPr id="14" name="TextBox 13">
            <a:extLst>
              <a:ext uri="{FF2B5EF4-FFF2-40B4-BE49-F238E27FC236}">
                <a16:creationId xmlns:a16="http://schemas.microsoft.com/office/drawing/2014/main" id="{B465AFEA-AD7F-8590-1E39-F1967852FF90}"/>
              </a:ext>
            </a:extLst>
          </p:cNvPr>
          <p:cNvSpPr txBox="1"/>
          <p:nvPr/>
        </p:nvSpPr>
        <p:spPr>
          <a:xfrm>
            <a:off x="342900" y="5889306"/>
            <a:ext cx="12099104" cy="369332"/>
          </a:xfrm>
          <a:prstGeom prst="rect">
            <a:avLst/>
          </a:prstGeom>
          <a:noFill/>
        </p:spPr>
        <p:txBody>
          <a:bodyPr wrap="square" rtlCol="0">
            <a:spAutoFit/>
          </a:bodyPr>
          <a:lstStyle/>
          <a:p>
            <a:r>
              <a:rPr lang="en-US" b="1" dirty="0"/>
              <a:t>Waveform Name = </a:t>
            </a:r>
            <a:r>
              <a:rPr lang="pl-PL" dirty="0"/>
              <a:t>EXP1_SQ1_wl_37837_X24497_Y-62422_na_na_30C.h5</a:t>
            </a:r>
            <a:endParaRPr lang="en-US" dirty="0"/>
          </a:p>
        </p:txBody>
      </p:sp>
      <p:pic>
        <p:nvPicPr>
          <p:cNvPr id="6" name="Picture 5">
            <a:extLst>
              <a:ext uri="{FF2B5EF4-FFF2-40B4-BE49-F238E27FC236}">
                <a16:creationId xmlns:a16="http://schemas.microsoft.com/office/drawing/2014/main" id="{68945453-47AC-1D18-DBF2-265EF1140EE4}"/>
              </a:ext>
            </a:extLst>
          </p:cNvPr>
          <p:cNvPicPr>
            <a:picLocks noChangeAspect="1"/>
          </p:cNvPicPr>
          <p:nvPr/>
        </p:nvPicPr>
        <p:blipFill>
          <a:blip r:embed="rId2"/>
          <a:stretch>
            <a:fillRect/>
          </a:stretch>
        </p:blipFill>
        <p:spPr>
          <a:xfrm>
            <a:off x="6280884" y="1052459"/>
            <a:ext cx="5561493" cy="2836254"/>
          </a:xfrm>
          <a:prstGeom prst="rect">
            <a:avLst/>
          </a:prstGeom>
        </p:spPr>
      </p:pic>
      <p:pic>
        <p:nvPicPr>
          <p:cNvPr id="10" name="Picture 9">
            <a:extLst>
              <a:ext uri="{FF2B5EF4-FFF2-40B4-BE49-F238E27FC236}">
                <a16:creationId xmlns:a16="http://schemas.microsoft.com/office/drawing/2014/main" id="{EC027DDB-9657-E788-A9B4-941440E8C555}"/>
              </a:ext>
            </a:extLst>
          </p:cNvPr>
          <p:cNvPicPr>
            <a:picLocks noChangeAspect="1"/>
          </p:cNvPicPr>
          <p:nvPr/>
        </p:nvPicPr>
        <p:blipFill>
          <a:blip r:embed="rId3"/>
          <a:stretch>
            <a:fillRect/>
          </a:stretch>
        </p:blipFill>
        <p:spPr>
          <a:xfrm>
            <a:off x="274692" y="1052459"/>
            <a:ext cx="5636425" cy="2836255"/>
          </a:xfrm>
          <a:prstGeom prst="rect">
            <a:avLst/>
          </a:prstGeom>
        </p:spPr>
      </p:pic>
    </p:spTree>
    <p:extLst>
      <p:ext uri="{BB962C8B-B14F-4D97-AF65-F5344CB8AC3E}">
        <p14:creationId xmlns:p14="http://schemas.microsoft.com/office/powerpoint/2010/main" val="39466379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99C4-FEB7-630E-184F-6277CB17233C}"/>
              </a:ext>
            </a:extLst>
          </p:cNvPr>
          <p:cNvSpPr>
            <a:spLocks noGrp="1"/>
          </p:cNvSpPr>
          <p:nvPr>
            <p:ph type="title"/>
          </p:nvPr>
        </p:nvSpPr>
        <p:spPr>
          <a:xfrm>
            <a:off x="342900" y="461528"/>
            <a:ext cx="4814727" cy="1588127"/>
          </a:xfrm>
        </p:spPr>
        <p:txBody>
          <a:bodyPr/>
          <a:lstStyle/>
          <a:p>
            <a:r>
              <a:rPr lang="en-US" dirty="0"/>
              <a:t>Previous approach </a:t>
            </a:r>
          </a:p>
        </p:txBody>
      </p:sp>
      <p:sp>
        <p:nvSpPr>
          <p:cNvPr id="3" name="Slide Number Placeholder 2">
            <a:extLst>
              <a:ext uri="{FF2B5EF4-FFF2-40B4-BE49-F238E27FC236}">
                <a16:creationId xmlns:a16="http://schemas.microsoft.com/office/drawing/2014/main" id="{1B5A83FF-B155-7883-D8E8-6E3934117BF7}"/>
              </a:ext>
            </a:extLst>
          </p:cNvPr>
          <p:cNvSpPr>
            <a:spLocks noGrp="1"/>
          </p:cNvSpPr>
          <p:nvPr>
            <p:ph type="sldNum" sz="quarter" idx="12"/>
          </p:nvPr>
        </p:nvSpPr>
        <p:spPr/>
        <p:txBody>
          <a:bodyPr/>
          <a:lstStyle/>
          <a:p>
            <a:fld id="{B7E7695C-FCF1-4AA0-9B93-7941FED13DC4}" type="slidenum">
              <a:rPr lang="en-US" smtClean="0"/>
              <a:pPr/>
              <a:t>35</a:t>
            </a:fld>
            <a:endParaRPr lang="en-US" dirty="0"/>
          </a:p>
        </p:txBody>
      </p:sp>
      <p:sp>
        <p:nvSpPr>
          <p:cNvPr id="7" name="Title 1">
            <a:extLst>
              <a:ext uri="{FF2B5EF4-FFF2-40B4-BE49-F238E27FC236}">
                <a16:creationId xmlns:a16="http://schemas.microsoft.com/office/drawing/2014/main" id="{0021C29E-C2EC-19E5-5A13-82902DD05BF4}"/>
              </a:ext>
            </a:extLst>
          </p:cNvPr>
          <p:cNvSpPr txBox="1">
            <a:spLocks/>
          </p:cNvSpPr>
          <p:nvPr/>
        </p:nvSpPr>
        <p:spPr>
          <a:xfrm>
            <a:off x="8026257" y="461528"/>
            <a:ext cx="3624637" cy="5909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New Approach</a:t>
            </a:r>
          </a:p>
        </p:txBody>
      </p:sp>
      <p:sp>
        <p:nvSpPr>
          <p:cNvPr id="12" name="TextBox 11">
            <a:extLst>
              <a:ext uri="{FF2B5EF4-FFF2-40B4-BE49-F238E27FC236}">
                <a16:creationId xmlns:a16="http://schemas.microsoft.com/office/drawing/2014/main" id="{84E62083-DE5C-468D-915B-9D85C6EA73BD}"/>
              </a:ext>
            </a:extLst>
          </p:cNvPr>
          <p:cNvSpPr txBox="1"/>
          <p:nvPr/>
        </p:nvSpPr>
        <p:spPr>
          <a:xfrm>
            <a:off x="342900" y="4312114"/>
            <a:ext cx="5003515" cy="1200329"/>
          </a:xfrm>
          <a:prstGeom prst="rect">
            <a:avLst/>
          </a:prstGeom>
          <a:noFill/>
        </p:spPr>
        <p:txBody>
          <a:bodyPr wrap="square" rtlCol="0">
            <a:spAutoFit/>
          </a:bodyPr>
          <a:lstStyle/>
          <a:p>
            <a:r>
              <a:rPr lang="en-US" b="1" dirty="0"/>
              <a:t>Total Number of predictions = </a:t>
            </a:r>
            <a:r>
              <a:rPr lang="en-US" dirty="0"/>
              <a:t>223</a:t>
            </a:r>
          </a:p>
          <a:p>
            <a:r>
              <a:rPr lang="en-US" b="1" dirty="0"/>
              <a:t>Correct Prediction = </a:t>
            </a:r>
            <a:r>
              <a:rPr lang="en-US" dirty="0"/>
              <a:t>150</a:t>
            </a:r>
            <a:endParaRPr lang="en-US" b="1" dirty="0"/>
          </a:p>
          <a:p>
            <a:r>
              <a:rPr lang="en-US" b="1" dirty="0"/>
              <a:t>Wrong Prediction = </a:t>
            </a:r>
            <a:r>
              <a:rPr lang="en-US" dirty="0"/>
              <a:t>73</a:t>
            </a:r>
          </a:p>
          <a:p>
            <a:r>
              <a:rPr lang="en-US" b="1" dirty="0"/>
              <a:t>Missed =</a:t>
            </a:r>
            <a:r>
              <a:rPr lang="en-US" dirty="0"/>
              <a:t> 851</a:t>
            </a:r>
          </a:p>
        </p:txBody>
      </p:sp>
      <p:sp>
        <p:nvSpPr>
          <p:cNvPr id="13" name="TextBox 12">
            <a:extLst>
              <a:ext uri="{FF2B5EF4-FFF2-40B4-BE49-F238E27FC236}">
                <a16:creationId xmlns:a16="http://schemas.microsoft.com/office/drawing/2014/main" id="{E95FD6E5-2E1C-2F4D-C0E8-68A186E22E34}"/>
              </a:ext>
            </a:extLst>
          </p:cNvPr>
          <p:cNvSpPr txBox="1"/>
          <p:nvPr/>
        </p:nvSpPr>
        <p:spPr>
          <a:xfrm>
            <a:off x="6722746" y="4290873"/>
            <a:ext cx="5003515" cy="1200329"/>
          </a:xfrm>
          <a:prstGeom prst="rect">
            <a:avLst/>
          </a:prstGeom>
          <a:noFill/>
        </p:spPr>
        <p:txBody>
          <a:bodyPr wrap="square" rtlCol="0">
            <a:spAutoFit/>
          </a:bodyPr>
          <a:lstStyle/>
          <a:p>
            <a:r>
              <a:rPr lang="en-US" b="1" dirty="0"/>
              <a:t>Total Number of predictions = </a:t>
            </a:r>
            <a:r>
              <a:rPr lang="en-US" dirty="0"/>
              <a:t>1000</a:t>
            </a:r>
          </a:p>
          <a:p>
            <a:r>
              <a:rPr lang="en-US" b="1" dirty="0"/>
              <a:t>Correct Prediction = </a:t>
            </a:r>
            <a:r>
              <a:rPr lang="en-US" dirty="0"/>
              <a:t>995</a:t>
            </a:r>
          </a:p>
          <a:p>
            <a:r>
              <a:rPr lang="en-US" b="1" dirty="0"/>
              <a:t>Wrong Prediction = </a:t>
            </a:r>
            <a:r>
              <a:rPr lang="en-US" dirty="0"/>
              <a:t>5</a:t>
            </a:r>
          </a:p>
          <a:p>
            <a:r>
              <a:rPr lang="en-US" b="1" dirty="0"/>
              <a:t>Missed = </a:t>
            </a:r>
            <a:r>
              <a:rPr lang="en-US" dirty="0"/>
              <a:t>6</a:t>
            </a:r>
          </a:p>
        </p:txBody>
      </p:sp>
      <p:sp>
        <p:nvSpPr>
          <p:cNvPr id="14" name="TextBox 13">
            <a:extLst>
              <a:ext uri="{FF2B5EF4-FFF2-40B4-BE49-F238E27FC236}">
                <a16:creationId xmlns:a16="http://schemas.microsoft.com/office/drawing/2014/main" id="{B465AFEA-AD7F-8590-1E39-F1967852FF90}"/>
              </a:ext>
            </a:extLst>
          </p:cNvPr>
          <p:cNvSpPr txBox="1"/>
          <p:nvPr/>
        </p:nvSpPr>
        <p:spPr>
          <a:xfrm>
            <a:off x="342900" y="5889306"/>
            <a:ext cx="12099104" cy="369332"/>
          </a:xfrm>
          <a:prstGeom prst="rect">
            <a:avLst/>
          </a:prstGeom>
          <a:noFill/>
        </p:spPr>
        <p:txBody>
          <a:bodyPr wrap="square" rtlCol="0">
            <a:spAutoFit/>
          </a:bodyPr>
          <a:lstStyle/>
          <a:p>
            <a:r>
              <a:rPr lang="en-US" b="1" dirty="0"/>
              <a:t>Waveform Name = </a:t>
            </a:r>
            <a:r>
              <a:rPr lang="pl-PL" dirty="0"/>
              <a:t>pgm_EXP1_SQ1_wl_37840_X24497_Y-61387_na_na_30C.h5</a:t>
            </a:r>
            <a:endParaRPr lang="en-US" dirty="0"/>
          </a:p>
        </p:txBody>
      </p:sp>
      <p:pic>
        <p:nvPicPr>
          <p:cNvPr id="5" name="Picture 4">
            <a:extLst>
              <a:ext uri="{FF2B5EF4-FFF2-40B4-BE49-F238E27FC236}">
                <a16:creationId xmlns:a16="http://schemas.microsoft.com/office/drawing/2014/main" id="{72A1BBF0-D777-F762-7792-70C19BF14439}"/>
              </a:ext>
            </a:extLst>
          </p:cNvPr>
          <p:cNvPicPr>
            <a:picLocks noChangeAspect="1"/>
          </p:cNvPicPr>
          <p:nvPr/>
        </p:nvPicPr>
        <p:blipFill>
          <a:blip r:embed="rId2"/>
          <a:stretch>
            <a:fillRect/>
          </a:stretch>
        </p:blipFill>
        <p:spPr>
          <a:xfrm>
            <a:off x="6280885" y="1052458"/>
            <a:ext cx="5586780" cy="2836255"/>
          </a:xfrm>
          <a:prstGeom prst="rect">
            <a:avLst/>
          </a:prstGeom>
        </p:spPr>
      </p:pic>
      <p:pic>
        <p:nvPicPr>
          <p:cNvPr id="9" name="Picture 8">
            <a:extLst>
              <a:ext uri="{FF2B5EF4-FFF2-40B4-BE49-F238E27FC236}">
                <a16:creationId xmlns:a16="http://schemas.microsoft.com/office/drawing/2014/main" id="{1BE2A762-8A4D-632F-0F49-286101B74133}"/>
              </a:ext>
            </a:extLst>
          </p:cNvPr>
          <p:cNvPicPr>
            <a:picLocks noChangeAspect="1"/>
          </p:cNvPicPr>
          <p:nvPr/>
        </p:nvPicPr>
        <p:blipFill>
          <a:blip r:embed="rId3"/>
          <a:stretch>
            <a:fillRect/>
          </a:stretch>
        </p:blipFill>
        <p:spPr>
          <a:xfrm>
            <a:off x="324334" y="1102808"/>
            <a:ext cx="5557560" cy="2785905"/>
          </a:xfrm>
          <a:prstGeom prst="rect">
            <a:avLst/>
          </a:prstGeom>
        </p:spPr>
      </p:pic>
    </p:spTree>
    <p:extLst>
      <p:ext uri="{BB962C8B-B14F-4D97-AF65-F5344CB8AC3E}">
        <p14:creationId xmlns:p14="http://schemas.microsoft.com/office/powerpoint/2010/main" val="2527552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99C4-FEB7-630E-184F-6277CB17233C}"/>
              </a:ext>
            </a:extLst>
          </p:cNvPr>
          <p:cNvSpPr>
            <a:spLocks noGrp="1"/>
          </p:cNvSpPr>
          <p:nvPr>
            <p:ph type="title"/>
          </p:nvPr>
        </p:nvSpPr>
        <p:spPr>
          <a:xfrm>
            <a:off x="342900" y="461528"/>
            <a:ext cx="4814727" cy="1588127"/>
          </a:xfrm>
        </p:spPr>
        <p:txBody>
          <a:bodyPr/>
          <a:lstStyle/>
          <a:p>
            <a:r>
              <a:rPr lang="en-US" dirty="0"/>
              <a:t>Previous approach </a:t>
            </a:r>
          </a:p>
        </p:txBody>
      </p:sp>
      <p:sp>
        <p:nvSpPr>
          <p:cNvPr id="3" name="Slide Number Placeholder 2">
            <a:extLst>
              <a:ext uri="{FF2B5EF4-FFF2-40B4-BE49-F238E27FC236}">
                <a16:creationId xmlns:a16="http://schemas.microsoft.com/office/drawing/2014/main" id="{1B5A83FF-B155-7883-D8E8-6E3934117BF7}"/>
              </a:ext>
            </a:extLst>
          </p:cNvPr>
          <p:cNvSpPr>
            <a:spLocks noGrp="1"/>
          </p:cNvSpPr>
          <p:nvPr>
            <p:ph type="sldNum" sz="quarter" idx="12"/>
          </p:nvPr>
        </p:nvSpPr>
        <p:spPr/>
        <p:txBody>
          <a:bodyPr/>
          <a:lstStyle/>
          <a:p>
            <a:fld id="{B7E7695C-FCF1-4AA0-9B93-7941FED13DC4}" type="slidenum">
              <a:rPr lang="en-US" smtClean="0"/>
              <a:pPr/>
              <a:t>36</a:t>
            </a:fld>
            <a:endParaRPr lang="en-US" dirty="0"/>
          </a:p>
        </p:txBody>
      </p:sp>
      <p:sp>
        <p:nvSpPr>
          <p:cNvPr id="7" name="Title 1">
            <a:extLst>
              <a:ext uri="{FF2B5EF4-FFF2-40B4-BE49-F238E27FC236}">
                <a16:creationId xmlns:a16="http://schemas.microsoft.com/office/drawing/2014/main" id="{0021C29E-C2EC-19E5-5A13-82902DD05BF4}"/>
              </a:ext>
            </a:extLst>
          </p:cNvPr>
          <p:cNvSpPr txBox="1">
            <a:spLocks/>
          </p:cNvSpPr>
          <p:nvPr/>
        </p:nvSpPr>
        <p:spPr>
          <a:xfrm>
            <a:off x="8026257" y="461528"/>
            <a:ext cx="3624637" cy="5909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New Approach</a:t>
            </a:r>
          </a:p>
        </p:txBody>
      </p:sp>
      <p:sp>
        <p:nvSpPr>
          <p:cNvPr id="12" name="TextBox 11">
            <a:extLst>
              <a:ext uri="{FF2B5EF4-FFF2-40B4-BE49-F238E27FC236}">
                <a16:creationId xmlns:a16="http://schemas.microsoft.com/office/drawing/2014/main" id="{84E62083-DE5C-468D-915B-9D85C6EA73BD}"/>
              </a:ext>
            </a:extLst>
          </p:cNvPr>
          <p:cNvSpPr txBox="1"/>
          <p:nvPr/>
        </p:nvSpPr>
        <p:spPr>
          <a:xfrm>
            <a:off x="342900" y="4312114"/>
            <a:ext cx="5003515" cy="1200329"/>
          </a:xfrm>
          <a:prstGeom prst="rect">
            <a:avLst/>
          </a:prstGeom>
          <a:noFill/>
        </p:spPr>
        <p:txBody>
          <a:bodyPr wrap="square" rtlCol="0">
            <a:spAutoFit/>
          </a:bodyPr>
          <a:lstStyle/>
          <a:p>
            <a:r>
              <a:rPr lang="en-US" b="1" dirty="0"/>
              <a:t>Total Number of predictions = </a:t>
            </a:r>
            <a:r>
              <a:rPr lang="en-US" dirty="0"/>
              <a:t>128</a:t>
            </a:r>
          </a:p>
          <a:p>
            <a:r>
              <a:rPr lang="en-US" b="1" dirty="0"/>
              <a:t>Correct Prediction = </a:t>
            </a:r>
            <a:r>
              <a:rPr lang="en-US" dirty="0"/>
              <a:t>75</a:t>
            </a:r>
          </a:p>
          <a:p>
            <a:r>
              <a:rPr lang="en-US" b="1" dirty="0"/>
              <a:t>Wrong Prediction = </a:t>
            </a:r>
            <a:r>
              <a:rPr lang="en-US" dirty="0"/>
              <a:t>53</a:t>
            </a:r>
          </a:p>
          <a:p>
            <a:r>
              <a:rPr lang="en-US" b="1" dirty="0"/>
              <a:t>Missed =</a:t>
            </a:r>
            <a:r>
              <a:rPr lang="en-US" dirty="0"/>
              <a:t> 3</a:t>
            </a:r>
          </a:p>
        </p:txBody>
      </p:sp>
      <p:sp>
        <p:nvSpPr>
          <p:cNvPr id="13" name="TextBox 12">
            <a:extLst>
              <a:ext uri="{FF2B5EF4-FFF2-40B4-BE49-F238E27FC236}">
                <a16:creationId xmlns:a16="http://schemas.microsoft.com/office/drawing/2014/main" id="{E95FD6E5-2E1C-2F4D-C0E8-68A186E22E34}"/>
              </a:ext>
            </a:extLst>
          </p:cNvPr>
          <p:cNvSpPr txBox="1"/>
          <p:nvPr/>
        </p:nvSpPr>
        <p:spPr>
          <a:xfrm>
            <a:off x="6722746" y="4290873"/>
            <a:ext cx="5003515" cy="1200329"/>
          </a:xfrm>
          <a:prstGeom prst="rect">
            <a:avLst/>
          </a:prstGeom>
          <a:noFill/>
        </p:spPr>
        <p:txBody>
          <a:bodyPr wrap="square" rtlCol="0">
            <a:spAutoFit/>
          </a:bodyPr>
          <a:lstStyle/>
          <a:p>
            <a:r>
              <a:rPr lang="en-US" b="1" dirty="0"/>
              <a:t>Total Number of predictions = </a:t>
            </a:r>
            <a:r>
              <a:rPr lang="en-US" dirty="0"/>
              <a:t>78</a:t>
            </a:r>
          </a:p>
          <a:p>
            <a:r>
              <a:rPr lang="en-US" b="1" dirty="0"/>
              <a:t>Correct Prediction = </a:t>
            </a:r>
            <a:r>
              <a:rPr lang="en-US" dirty="0"/>
              <a:t>78</a:t>
            </a:r>
          </a:p>
          <a:p>
            <a:r>
              <a:rPr lang="en-US" b="1" dirty="0"/>
              <a:t>Wrong Prediction = </a:t>
            </a:r>
            <a:r>
              <a:rPr lang="en-US" dirty="0"/>
              <a:t>0</a:t>
            </a:r>
          </a:p>
          <a:p>
            <a:r>
              <a:rPr lang="en-US" b="1" dirty="0"/>
              <a:t>Missed = </a:t>
            </a:r>
            <a:r>
              <a:rPr lang="en-US" dirty="0"/>
              <a:t>0</a:t>
            </a:r>
          </a:p>
        </p:txBody>
      </p:sp>
      <p:sp>
        <p:nvSpPr>
          <p:cNvPr id="14" name="TextBox 13">
            <a:extLst>
              <a:ext uri="{FF2B5EF4-FFF2-40B4-BE49-F238E27FC236}">
                <a16:creationId xmlns:a16="http://schemas.microsoft.com/office/drawing/2014/main" id="{B465AFEA-AD7F-8590-1E39-F1967852FF90}"/>
              </a:ext>
            </a:extLst>
          </p:cNvPr>
          <p:cNvSpPr txBox="1"/>
          <p:nvPr/>
        </p:nvSpPr>
        <p:spPr>
          <a:xfrm>
            <a:off x="342900" y="5889306"/>
            <a:ext cx="12099104" cy="369332"/>
          </a:xfrm>
          <a:prstGeom prst="rect">
            <a:avLst/>
          </a:prstGeom>
          <a:noFill/>
        </p:spPr>
        <p:txBody>
          <a:bodyPr wrap="square" rtlCol="0">
            <a:spAutoFit/>
          </a:bodyPr>
          <a:lstStyle/>
          <a:p>
            <a:r>
              <a:rPr lang="en-US" b="1" dirty="0"/>
              <a:t>Waveform Name = </a:t>
            </a:r>
            <a:r>
              <a:rPr lang="pl-PL" dirty="0"/>
              <a:t>EXP6_SQ6_sgd1_0_l_620_X24497_Y-68315_na_na_30C.h5</a:t>
            </a:r>
            <a:endParaRPr lang="en-US" dirty="0"/>
          </a:p>
        </p:txBody>
      </p:sp>
      <p:pic>
        <p:nvPicPr>
          <p:cNvPr id="6" name="Picture 5">
            <a:extLst>
              <a:ext uri="{FF2B5EF4-FFF2-40B4-BE49-F238E27FC236}">
                <a16:creationId xmlns:a16="http://schemas.microsoft.com/office/drawing/2014/main" id="{FC4C38FD-E4AC-784E-88B3-6A3674A29606}"/>
              </a:ext>
            </a:extLst>
          </p:cNvPr>
          <p:cNvPicPr>
            <a:picLocks noChangeAspect="1"/>
          </p:cNvPicPr>
          <p:nvPr/>
        </p:nvPicPr>
        <p:blipFill>
          <a:blip r:embed="rId2"/>
          <a:stretch>
            <a:fillRect/>
          </a:stretch>
        </p:blipFill>
        <p:spPr>
          <a:xfrm>
            <a:off x="6378169" y="1098819"/>
            <a:ext cx="5497186" cy="2785904"/>
          </a:xfrm>
          <a:prstGeom prst="rect">
            <a:avLst/>
          </a:prstGeom>
        </p:spPr>
      </p:pic>
      <p:pic>
        <p:nvPicPr>
          <p:cNvPr id="10" name="Picture 9">
            <a:extLst>
              <a:ext uri="{FF2B5EF4-FFF2-40B4-BE49-F238E27FC236}">
                <a16:creationId xmlns:a16="http://schemas.microsoft.com/office/drawing/2014/main" id="{76C5FC5C-BA5E-A672-C6F5-838925861935}"/>
              </a:ext>
            </a:extLst>
          </p:cNvPr>
          <p:cNvPicPr>
            <a:picLocks noChangeAspect="1"/>
          </p:cNvPicPr>
          <p:nvPr/>
        </p:nvPicPr>
        <p:blipFill>
          <a:blip r:embed="rId3"/>
          <a:stretch>
            <a:fillRect/>
          </a:stretch>
        </p:blipFill>
        <p:spPr>
          <a:xfrm>
            <a:off x="503434" y="1063153"/>
            <a:ext cx="5596859" cy="2843829"/>
          </a:xfrm>
          <a:prstGeom prst="rect">
            <a:avLst/>
          </a:prstGeom>
        </p:spPr>
      </p:pic>
    </p:spTree>
    <p:extLst>
      <p:ext uri="{BB962C8B-B14F-4D97-AF65-F5344CB8AC3E}">
        <p14:creationId xmlns:p14="http://schemas.microsoft.com/office/powerpoint/2010/main" val="1706128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99C4-FEB7-630E-184F-6277CB17233C}"/>
              </a:ext>
            </a:extLst>
          </p:cNvPr>
          <p:cNvSpPr>
            <a:spLocks noGrp="1"/>
          </p:cNvSpPr>
          <p:nvPr>
            <p:ph type="title"/>
          </p:nvPr>
        </p:nvSpPr>
        <p:spPr>
          <a:xfrm>
            <a:off x="342900" y="461528"/>
            <a:ext cx="4814727" cy="1588127"/>
          </a:xfrm>
        </p:spPr>
        <p:txBody>
          <a:bodyPr/>
          <a:lstStyle/>
          <a:p>
            <a:r>
              <a:rPr lang="en-US" dirty="0"/>
              <a:t>Previous approach </a:t>
            </a:r>
          </a:p>
        </p:txBody>
      </p:sp>
      <p:sp>
        <p:nvSpPr>
          <p:cNvPr id="3" name="Slide Number Placeholder 2">
            <a:extLst>
              <a:ext uri="{FF2B5EF4-FFF2-40B4-BE49-F238E27FC236}">
                <a16:creationId xmlns:a16="http://schemas.microsoft.com/office/drawing/2014/main" id="{1B5A83FF-B155-7883-D8E8-6E3934117BF7}"/>
              </a:ext>
            </a:extLst>
          </p:cNvPr>
          <p:cNvSpPr>
            <a:spLocks noGrp="1"/>
          </p:cNvSpPr>
          <p:nvPr>
            <p:ph type="sldNum" sz="quarter" idx="12"/>
          </p:nvPr>
        </p:nvSpPr>
        <p:spPr/>
        <p:txBody>
          <a:bodyPr/>
          <a:lstStyle/>
          <a:p>
            <a:fld id="{B7E7695C-FCF1-4AA0-9B93-7941FED13DC4}" type="slidenum">
              <a:rPr lang="en-US" smtClean="0"/>
              <a:pPr/>
              <a:t>37</a:t>
            </a:fld>
            <a:endParaRPr lang="en-US" dirty="0"/>
          </a:p>
        </p:txBody>
      </p:sp>
      <p:sp>
        <p:nvSpPr>
          <p:cNvPr id="7" name="Title 1">
            <a:extLst>
              <a:ext uri="{FF2B5EF4-FFF2-40B4-BE49-F238E27FC236}">
                <a16:creationId xmlns:a16="http://schemas.microsoft.com/office/drawing/2014/main" id="{0021C29E-C2EC-19E5-5A13-82902DD05BF4}"/>
              </a:ext>
            </a:extLst>
          </p:cNvPr>
          <p:cNvSpPr txBox="1">
            <a:spLocks/>
          </p:cNvSpPr>
          <p:nvPr/>
        </p:nvSpPr>
        <p:spPr>
          <a:xfrm>
            <a:off x="8026257" y="461528"/>
            <a:ext cx="3624637" cy="5909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New Approach</a:t>
            </a:r>
          </a:p>
        </p:txBody>
      </p:sp>
      <p:sp>
        <p:nvSpPr>
          <p:cNvPr id="12" name="TextBox 11">
            <a:extLst>
              <a:ext uri="{FF2B5EF4-FFF2-40B4-BE49-F238E27FC236}">
                <a16:creationId xmlns:a16="http://schemas.microsoft.com/office/drawing/2014/main" id="{84E62083-DE5C-468D-915B-9D85C6EA73BD}"/>
              </a:ext>
            </a:extLst>
          </p:cNvPr>
          <p:cNvSpPr txBox="1"/>
          <p:nvPr/>
        </p:nvSpPr>
        <p:spPr>
          <a:xfrm>
            <a:off x="342900" y="4312114"/>
            <a:ext cx="5003515" cy="1200329"/>
          </a:xfrm>
          <a:prstGeom prst="rect">
            <a:avLst/>
          </a:prstGeom>
          <a:noFill/>
        </p:spPr>
        <p:txBody>
          <a:bodyPr wrap="square" rtlCol="0">
            <a:spAutoFit/>
          </a:bodyPr>
          <a:lstStyle/>
          <a:p>
            <a:r>
              <a:rPr lang="en-US" b="1" dirty="0"/>
              <a:t>Total Number of predictions = </a:t>
            </a:r>
            <a:r>
              <a:rPr lang="en-US" dirty="0"/>
              <a:t>25</a:t>
            </a:r>
          </a:p>
          <a:p>
            <a:r>
              <a:rPr lang="en-US" b="1" dirty="0"/>
              <a:t>Correct Prediction = </a:t>
            </a:r>
            <a:r>
              <a:rPr lang="en-US" dirty="0"/>
              <a:t>20</a:t>
            </a:r>
            <a:endParaRPr lang="en-US" b="1" dirty="0"/>
          </a:p>
          <a:p>
            <a:r>
              <a:rPr lang="en-US" b="1" dirty="0"/>
              <a:t>Wrong Prediction = </a:t>
            </a:r>
            <a:r>
              <a:rPr lang="en-US" dirty="0"/>
              <a:t>5</a:t>
            </a:r>
          </a:p>
          <a:p>
            <a:r>
              <a:rPr lang="en-US" b="1" dirty="0"/>
              <a:t>Missed = </a:t>
            </a:r>
            <a:r>
              <a:rPr lang="en-US" dirty="0"/>
              <a:t>300</a:t>
            </a:r>
          </a:p>
        </p:txBody>
      </p:sp>
      <p:sp>
        <p:nvSpPr>
          <p:cNvPr id="13" name="TextBox 12">
            <a:extLst>
              <a:ext uri="{FF2B5EF4-FFF2-40B4-BE49-F238E27FC236}">
                <a16:creationId xmlns:a16="http://schemas.microsoft.com/office/drawing/2014/main" id="{E95FD6E5-2E1C-2F4D-C0E8-68A186E22E34}"/>
              </a:ext>
            </a:extLst>
          </p:cNvPr>
          <p:cNvSpPr txBox="1"/>
          <p:nvPr/>
        </p:nvSpPr>
        <p:spPr>
          <a:xfrm>
            <a:off x="6722746" y="4290873"/>
            <a:ext cx="5003515" cy="1200329"/>
          </a:xfrm>
          <a:prstGeom prst="rect">
            <a:avLst/>
          </a:prstGeom>
          <a:noFill/>
        </p:spPr>
        <p:txBody>
          <a:bodyPr wrap="square" rtlCol="0">
            <a:spAutoFit/>
          </a:bodyPr>
          <a:lstStyle/>
          <a:p>
            <a:r>
              <a:rPr lang="en-US" b="1" dirty="0"/>
              <a:t>Total Number of predictions = </a:t>
            </a:r>
            <a:r>
              <a:rPr lang="en-US" dirty="0"/>
              <a:t>326</a:t>
            </a:r>
          </a:p>
          <a:p>
            <a:r>
              <a:rPr lang="en-US" b="1" dirty="0"/>
              <a:t>Correct Prediction = </a:t>
            </a:r>
            <a:r>
              <a:rPr lang="en-US" dirty="0"/>
              <a:t>320</a:t>
            </a:r>
          </a:p>
          <a:p>
            <a:r>
              <a:rPr lang="en-US" b="1" dirty="0"/>
              <a:t>Wrong Prediction = </a:t>
            </a:r>
            <a:r>
              <a:rPr lang="en-US" dirty="0"/>
              <a:t>0</a:t>
            </a:r>
          </a:p>
          <a:p>
            <a:r>
              <a:rPr lang="en-US" b="1" dirty="0"/>
              <a:t>Missed = </a:t>
            </a:r>
            <a:r>
              <a:rPr lang="en-US" dirty="0"/>
              <a:t>26</a:t>
            </a:r>
          </a:p>
        </p:txBody>
      </p:sp>
      <p:sp>
        <p:nvSpPr>
          <p:cNvPr id="14" name="TextBox 13">
            <a:extLst>
              <a:ext uri="{FF2B5EF4-FFF2-40B4-BE49-F238E27FC236}">
                <a16:creationId xmlns:a16="http://schemas.microsoft.com/office/drawing/2014/main" id="{B465AFEA-AD7F-8590-1E39-F1967852FF90}"/>
              </a:ext>
            </a:extLst>
          </p:cNvPr>
          <p:cNvSpPr txBox="1"/>
          <p:nvPr/>
        </p:nvSpPr>
        <p:spPr>
          <a:xfrm>
            <a:off x="342900" y="5889306"/>
            <a:ext cx="12099104" cy="369332"/>
          </a:xfrm>
          <a:prstGeom prst="rect">
            <a:avLst/>
          </a:prstGeom>
          <a:noFill/>
        </p:spPr>
        <p:txBody>
          <a:bodyPr wrap="square" rtlCol="0">
            <a:spAutoFit/>
          </a:bodyPr>
          <a:lstStyle/>
          <a:p>
            <a:r>
              <a:rPr lang="en-US" b="1" dirty="0"/>
              <a:t>Waveform Name = </a:t>
            </a:r>
            <a:r>
              <a:rPr lang="pl-PL" dirty="0"/>
              <a:t>EXP2_SQ4_vpassreg_src_pgr_0_X47433_Y88785_na_na_30C.h5</a:t>
            </a:r>
            <a:endParaRPr lang="en-US" dirty="0"/>
          </a:p>
        </p:txBody>
      </p:sp>
      <p:pic>
        <p:nvPicPr>
          <p:cNvPr id="5" name="Picture 4">
            <a:extLst>
              <a:ext uri="{FF2B5EF4-FFF2-40B4-BE49-F238E27FC236}">
                <a16:creationId xmlns:a16="http://schemas.microsoft.com/office/drawing/2014/main" id="{391AB19D-6C27-FA42-CF29-8BB3494167C7}"/>
              </a:ext>
            </a:extLst>
          </p:cNvPr>
          <p:cNvPicPr>
            <a:picLocks noChangeAspect="1"/>
          </p:cNvPicPr>
          <p:nvPr/>
        </p:nvPicPr>
        <p:blipFill>
          <a:blip r:embed="rId2"/>
          <a:stretch>
            <a:fillRect/>
          </a:stretch>
        </p:blipFill>
        <p:spPr>
          <a:xfrm>
            <a:off x="6096000" y="1052459"/>
            <a:ext cx="5879174" cy="2941439"/>
          </a:xfrm>
          <a:prstGeom prst="rect">
            <a:avLst/>
          </a:prstGeom>
        </p:spPr>
      </p:pic>
      <p:pic>
        <p:nvPicPr>
          <p:cNvPr id="10" name="Picture 9">
            <a:extLst>
              <a:ext uri="{FF2B5EF4-FFF2-40B4-BE49-F238E27FC236}">
                <a16:creationId xmlns:a16="http://schemas.microsoft.com/office/drawing/2014/main" id="{00EE09A4-2D86-A95D-BD74-8970766C5668}"/>
              </a:ext>
            </a:extLst>
          </p:cNvPr>
          <p:cNvPicPr>
            <a:picLocks noChangeAspect="1"/>
          </p:cNvPicPr>
          <p:nvPr/>
        </p:nvPicPr>
        <p:blipFill>
          <a:blip r:embed="rId3"/>
          <a:stretch>
            <a:fillRect/>
          </a:stretch>
        </p:blipFill>
        <p:spPr>
          <a:xfrm>
            <a:off x="342900" y="1081782"/>
            <a:ext cx="5648530" cy="2882792"/>
          </a:xfrm>
          <a:prstGeom prst="rect">
            <a:avLst/>
          </a:prstGeom>
        </p:spPr>
      </p:pic>
    </p:spTree>
    <p:extLst>
      <p:ext uri="{BB962C8B-B14F-4D97-AF65-F5344CB8AC3E}">
        <p14:creationId xmlns:p14="http://schemas.microsoft.com/office/powerpoint/2010/main" val="1849941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71B21-517B-EA29-57C9-8B5AA78CE1CC}"/>
              </a:ext>
            </a:extLst>
          </p:cNvPr>
          <p:cNvSpPr>
            <a:spLocks noGrp="1"/>
          </p:cNvSpPr>
          <p:nvPr>
            <p:ph type="title"/>
          </p:nvPr>
        </p:nvSpPr>
        <p:spPr>
          <a:xfrm>
            <a:off x="2962810" y="1840873"/>
            <a:ext cx="4814727" cy="1588127"/>
          </a:xfrm>
        </p:spPr>
        <p:txBody>
          <a:bodyPr/>
          <a:lstStyle/>
          <a:p>
            <a:pPr algn="ctr"/>
            <a:r>
              <a:rPr lang="en-US" dirty="0"/>
              <a:t>Improvement of the Smoothening/ Denoising criteria</a:t>
            </a:r>
          </a:p>
        </p:txBody>
      </p:sp>
      <p:sp>
        <p:nvSpPr>
          <p:cNvPr id="3" name="Slide Number Placeholder 2">
            <a:extLst>
              <a:ext uri="{FF2B5EF4-FFF2-40B4-BE49-F238E27FC236}">
                <a16:creationId xmlns:a16="http://schemas.microsoft.com/office/drawing/2014/main" id="{BCAC2238-7D85-E967-6CE1-86EF8341B9FF}"/>
              </a:ext>
            </a:extLst>
          </p:cNvPr>
          <p:cNvSpPr>
            <a:spLocks noGrp="1"/>
          </p:cNvSpPr>
          <p:nvPr>
            <p:ph type="sldNum" sz="quarter" idx="12"/>
          </p:nvPr>
        </p:nvSpPr>
        <p:spPr/>
        <p:txBody>
          <a:bodyPr/>
          <a:lstStyle/>
          <a:p>
            <a:fld id="{B7E7695C-FCF1-4AA0-9B93-7941FED13DC4}" type="slidenum">
              <a:rPr lang="en-US" smtClean="0"/>
              <a:pPr/>
              <a:t>38</a:t>
            </a:fld>
            <a:endParaRPr lang="en-US" dirty="0"/>
          </a:p>
        </p:txBody>
      </p:sp>
      <p:sp>
        <p:nvSpPr>
          <p:cNvPr id="6" name="Text Placeholder 5">
            <a:extLst>
              <a:ext uri="{FF2B5EF4-FFF2-40B4-BE49-F238E27FC236}">
                <a16:creationId xmlns:a16="http://schemas.microsoft.com/office/drawing/2014/main" id="{97A3B8C8-2BF2-3605-EA57-97360AA53E48}"/>
              </a:ext>
            </a:extLst>
          </p:cNvPr>
          <p:cNvSpPr>
            <a:spLocks noGrp="1"/>
          </p:cNvSpPr>
          <p:nvPr>
            <p:ph type="body" sz="quarter" idx="27"/>
          </p:nvPr>
        </p:nvSpPr>
        <p:spPr/>
        <p:txBody>
          <a:bodyPr/>
          <a:lstStyle/>
          <a:p>
            <a:endParaRPr lang="en-US"/>
          </a:p>
        </p:txBody>
      </p:sp>
    </p:spTree>
    <p:extLst>
      <p:ext uri="{BB962C8B-B14F-4D97-AF65-F5344CB8AC3E}">
        <p14:creationId xmlns:p14="http://schemas.microsoft.com/office/powerpoint/2010/main" val="42890170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0C60D-FF16-6524-5E49-07B4022E2865}"/>
              </a:ext>
            </a:extLst>
          </p:cNvPr>
          <p:cNvSpPr>
            <a:spLocks noGrp="1"/>
          </p:cNvSpPr>
          <p:nvPr>
            <p:ph type="title"/>
          </p:nvPr>
        </p:nvSpPr>
        <p:spPr/>
        <p:txBody>
          <a:bodyPr/>
          <a:lstStyle/>
          <a:p>
            <a:r>
              <a:rPr lang="en-US" dirty="0"/>
              <a:t>Present Denoising Criteria</a:t>
            </a:r>
          </a:p>
        </p:txBody>
      </p:sp>
      <p:sp>
        <p:nvSpPr>
          <p:cNvPr id="3" name="Slide Number Placeholder 2">
            <a:extLst>
              <a:ext uri="{FF2B5EF4-FFF2-40B4-BE49-F238E27FC236}">
                <a16:creationId xmlns:a16="http://schemas.microsoft.com/office/drawing/2014/main" id="{9E84E4CE-0EC0-46B9-D5C1-48A603055917}"/>
              </a:ext>
            </a:extLst>
          </p:cNvPr>
          <p:cNvSpPr>
            <a:spLocks noGrp="1"/>
          </p:cNvSpPr>
          <p:nvPr>
            <p:ph type="sldNum" sz="quarter" idx="12"/>
          </p:nvPr>
        </p:nvSpPr>
        <p:spPr/>
        <p:txBody>
          <a:bodyPr/>
          <a:lstStyle/>
          <a:p>
            <a:fld id="{B7E7695C-FCF1-4AA0-9B93-7941FED13DC4}" type="slidenum">
              <a:rPr lang="en-US" smtClean="0"/>
              <a:pPr/>
              <a:t>39</a:t>
            </a:fld>
            <a:endParaRPr lang="en-US" dirty="0"/>
          </a:p>
        </p:txBody>
      </p:sp>
      <p:sp>
        <p:nvSpPr>
          <p:cNvPr id="5" name="Content Placeholder 4">
            <a:extLst>
              <a:ext uri="{FF2B5EF4-FFF2-40B4-BE49-F238E27FC236}">
                <a16:creationId xmlns:a16="http://schemas.microsoft.com/office/drawing/2014/main" id="{5A0A7B94-8618-4DF8-6B4B-DEF8478E98D1}"/>
              </a:ext>
            </a:extLst>
          </p:cNvPr>
          <p:cNvSpPr>
            <a:spLocks noGrp="1"/>
          </p:cNvSpPr>
          <p:nvPr>
            <p:ph sz="quarter" idx="29"/>
          </p:nvPr>
        </p:nvSpPr>
        <p:spPr>
          <a:xfrm>
            <a:off x="240159" y="1052459"/>
            <a:ext cx="11506200" cy="2475190"/>
          </a:xfrm>
        </p:spPr>
        <p:txBody>
          <a:bodyPr>
            <a:normAutofit/>
          </a:bodyPr>
          <a:lstStyle/>
          <a:p>
            <a:r>
              <a:rPr lang="en-US" dirty="0"/>
              <a:t>As the waveform is very noisy, it is filtered using a Low pass moving average filter.</a:t>
            </a:r>
          </a:p>
          <a:p>
            <a:r>
              <a:rPr lang="en-US" dirty="0"/>
              <a:t>The filter goes by name </a:t>
            </a:r>
            <a:r>
              <a:rPr lang="en-US" dirty="0" err="1"/>
              <a:t>Savgol</a:t>
            </a:r>
            <a:r>
              <a:rPr lang="en-US" dirty="0"/>
              <a:t> filter.</a:t>
            </a:r>
          </a:p>
          <a:p>
            <a:r>
              <a:rPr lang="en-US" dirty="0"/>
              <a:t>The problem arises as the higher frequencies (sharp rise and fall) are filtered out. </a:t>
            </a:r>
          </a:p>
          <a:p>
            <a:r>
              <a:rPr lang="en-US" dirty="0"/>
              <a:t>This leads to phase shifting when smoothening.</a:t>
            </a:r>
          </a:p>
        </p:txBody>
      </p:sp>
      <p:sp>
        <p:nvSpPr>
          <p:cNvPr id="7" name="Title 1">
            <a:extLst>
              <a:ext uri="{FF2B5EF4-FFF2-40B4-BE49-F238E27FC236}">
                <a16:creationId xmlns:a16="http://schemas.microsoft.com/office/drawing/2014/main" id="{92440238-0091-BC2B-BF77-D14A2617E631}"/>
              </a:ext>
            </a:extLst>
          </p:cNvPr>
          <p:cNvSpPr txBox="1">
            <a:spLocks/>
          </p:cNvSpPr>
          <p:nvPr/>
        </p:nvSpPr>
        <p:spPr>
          <a:xfrm>
            <a:off x="342900" y="2739421"/>
            <a:ext cx="11506200" cy="590931"/>
          </a:xfrm>
          <a:prstGeom prst="rect">
            <a:avLst/>
          </a:prstGeom>
        </p:spPr>
        <p:txBody>
          <a:bodyPr vert="horz" lIns="91440" tIns="45720" rIns="91440" bIns="45720" rtlCol="0" anchor="t">
            <a:spAutoFit/>
          </a:bodyPr>
          <a:lstStyle>
            <a:lvl1pPr algn="l" defTabSz="914400" rtl="0" eaLnBrk="1" latinLnBrk="0" hangingPunct="1">
              <a:lnSpc>
                <a:spcPct val="90000"/>
              </a:lnSpc>
              <a:spcBef>
                <a:spcPct val="0"/>
              </a:spcBef>
              <a:buNone/>
              <a:defRPr sz="3600" b="1" kern="1200" spc="-100" baseline="0">
                <a:solidFill>
                  <a:srgbClr val="000000"/>
                </a:solidFill>
                <a:latin typeface="+mj-lt"/>
                <a:ea typeface="+mj-ea"/>
                <a:cs typeface="+mj-cs"/>
              </a:defRPr>
            </a:lvl1pPr>
          </a:lstStyle>
          <a:p>
            <a:r>
              <a:rPr lang="en-US" dirty="0"/>
              <a:t>Improved Denoising Criteria</a:t>
            </a:r>
          </a:p>
        </p:txBody>
      </p:sp>
      <p:sp>
        <p:nvSpPr>
          <p:cNvPr id="8" name="Content Placeholder 4">
            <a:extLst>
              <a:ext uri="{FF2B5EF4-FFF2-40B4-BE49-F238E27FC236}">
                <a16:creationId xmlns:a16="http://schemas.microsoft.com/office/drawing/2014/main" id="{CCDF5054-9B48-1D59-AFD7-311AD42FAB38}"/>
              </a:ext>
            </a:extLst>
          </p:cNvPr>
          <p:cNvSpPr txBox="1">
            <a:spLocks/>
          </p:cNvSpPr>
          <p:nvPr/>
        </p:nvSpPr>
        <p:spPr>
          <a:xfrm>
            <a:off x="240159" y="3429000"/>
            <a:ext cx="11506200" cy="2628659"/>
          </a:xfrm>
          <a:prstGeom prst="rect">
            <a:avLst/>
          </a:prstGeom>
        </p:spPr>
        <p:txBody>
          <a:bodyPr vert="horz" lIns="91440" tIns="45720" rIns="91440" bIns="45720" rtlCol="0">
            <a:normAutofit/>
          </a:bodyPr>
          <a:lstStyle>
            <a:lvl1pPr marL="182880" marR="0" indent="-182880" algn="l" defTabSz="914400" rtl="0" eaLnBrk="1" fontAlgn="auto" latinLnBrk="0" hangingPunct="1">
              <a:lnSpc>
                <a:spcPct val="100000"/>
              </a:lnSpc>
              <a:spcBef>
                <a:spcPts val="0"/>
              </a:spcBef>
              <a:spcAft>
                <a:spcPts val="0"/>
              </a:spcAft>
              <a:buClrTx/>
              <a:buSzPct val="75000"/>
              <a:buFont typeface="Wingdings" pitchFamily="2" charset="2"/>
              <a:buChar char="§"/>
              <a:tabLst/>
              <a:defRPr sz="2000" b="0" kern="1200" spc="0" baseline="0">
                <a:solidFill>
                  <a:schemeClr val="tx1"/>
                </a:solidFill>
                <a:latin typeface="+mn-lt"/>
                <a:ea typeface="+mn-ea"/>
                <a:cs typeface="+mn-cs"/>
              </a:defRPr>
            </a:lvl1pPr>
            <a:lvl2pPr marL="457200" marR="0" indent="-182880" algn="l" defTabSz="914400" rtl="0" eaLnBrk="1" fontAlgn="auto" latinLnBrk="0" hangingPunct="1">
              <a:lnSpc>
                <a:spcPct val="100000"/>
              </a:lnSpc>
              <a:spcBef>
                <a:spcPts val="0"/>
              </a:spcBef>
              <a:spcAft>
                <a:spcPts val="400"/>
              </a:spcAft>
              <a:buClrTx/>
              <a:buSzTx/>
              <a:buFont typeface="Apple Symbols" panose="02000000000000000000" pitchFamily="2" charset="-79"/>
              <a:buChar char="⎻"/>
              <a:tabLst/>
              <a:defRPr sz="1800" b="0" kern="1200" spc="0" baseline="0">
                <a:solidFill>
                  <a:schemeClr val="tx1"/>
                </a:solidFill>
                <a:latin typeface="+mn-lt"/>
                <a:ea typeface="+mn-ea"/>
                <a:cs typeface="+mn-cs"/>
              </a:defRPr>
            </a:lvl2pPr>
            <a:lvl3pPr marL="73152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600" b="0" kern="1200" spc="0">
                <a:solidFill>
                  <a:schemeClr val="tx1"/>
                </a:solidFill>
                <a:latin typeface="+mn-lt"/>
                <a:ea typeface="+mn-ea"/>
                <a:cs typeface="+mn-cs"/>
              </a:defRPr>
            </a:lvl3pPr>
            <a:lvl4pPr marL="1005840" marR="0" indent="-182880" algn="l" defTabSz="914400" rtl="0" eaLnBrk="1" fontAlgn="auto" latinLnBrk="0" hangingPunct="1">
              <a:lnSpc>
                <a:spcPct val="100000"/>
              </a:lnSpc>
              <a:spcBef>
                <a:spcPts val="0"/>
              </a:spcBef>
              <a:spcAft>
                <a:spcPts val="400"/>
              </a:spcAft>
              <a:buClrTx/>
              <a:buSzTx/>
              <a:buFont typeface="Apple Symbols" panose="02000000000000000000" pitchFamily="2" charset="-79"/>
              <a:buChar char="⎻"/>
              <a:tabLst/>
              <a:defRPr sz="1400" b="0" kern="1200" spc="0">
                <a:solidFill>
                  <a:schemeClr val="tx1"/>
                </a:solidFill>
                <a:latin typeface="+mn-lt"/>
                <a:ea typeface="+mn-ea"/>
                <a:cs typeface="+mn-cs"/>
              </a:defRPr>
            </a:lvl4pPr>
            <a:lvl5pPr marL="128016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200" b="0" kern="1200" spc="0">
                <a:solidFill>
                  <a:schemeClr val="tx1"/>
                </a:solidFill>
                <a:latin typeface="+mn-lt"/>
                <a:ea typeface="+mn-ea"/>
                <a:cs typeface="+mn-cs"/>
              </a:defRPr>
            </a:lvl5pPr>
            <a:lvl6pPr marL="54864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600" kern="1200">
                <a:solidFill>
                  <a:srgbClr val="000000"/>
                </a:solidFill>
                <a:latin typeface="+mn-lt"/>
                <a:ea typeface="+mn-ea"/>
                <a:cs typeface="+mn-cs"/>
              </a:defRPr>
            </a:lvl6pPr>
            <a:lvl7pPr marL="731520" marR="0" indent="-182880" algn="l" defTabSz="914400" rtl="0" eaLnBrk="1" fontAlgn="auto" latinLnBrk="0" hangingPunct="1">
              <a:lnSpc>
                <a:spcPct val="100000"/>
              </a:lnSpc>
              <a:spcBef>
                <a:spcPts val="0"/>
              </a:spcBef>
              <a:spcAft>
                <a:spcPts val="400"/>
              </a:spcAft>
              <a:buClrTx/>
              <a:buSzPct val="100000"/>
              <a:buFont typeface="System Font Regular"/>
              <a:buChar char="‒"/>
              <a:tabLst/>
              <a:defRPr sz="1600" b="0" kern="1200">
                <a:solidFill>
                  <a:schemeClr val="tx1"/>
                </a:solidFill>
                <a:latin typeface="+mn-lt"/>
                <a:ea typeface="+mn-ea"/>
                <a:cs typeface="+mn-cs"/>
              </a:defRPr>
            </a:lvl7pPr>
            <a:lvl8pPr marL="914400" marR="0" indent="-182880" algn="l" defTabSz="914400" rtl="0" eaLnBrk="1" fontAlgn="auto" latinLnBrk="0" hangingPunct="1">
              <a:lnSpc>
                <a:spcPct val="100000"/>
              </a:lnSpc>
              <a:spcBef>
                <a:spcPts val="0"/>
              </a:spcBef>
              <a:spcAft>
                <a:spcPts val="400"/>
              </a:spcAft>
              <a:buClrTx/>
              <a:buSzPct val="75000"/>
              <a:buFont typeface="Wingdings" pitchFamily="2" charset="2"/>
              <a:buChar char="§"/>
              <a:tabLst/>
              <a:defRPr sz="1400" kern="1200">
                <a:solidFill>
                  <a:schemeClr val="tx1"/>
                </a:solidFill>
                <a:latin typeface="+mn-lt"/>
                <a:ea typeface="+mn-ea"/>
                <a:cs typeface="+mn-cs"/>
              </a:defRPr>
            </a:lvl8pPr>
            <a:lvl9pPr marL="1097280" marR="0" indent="-182880" algn="l" defTabSz="914400" rtl="0" eaLnBrk="1" fontAlgn="auto" latinLnBrk="0" hangingPunct="1">
              <a:lnSpc>
                <a:spcPct val="100000"/>
              </a:lnSpc>
              <a:spcBef>
                <a:spcPts val="0"/>
              </a:spcBef>
              <a:spcAft>
                <a:spcPts val="400"/>
              </a:spcAft>
              <a:buClrTx/>
              <a:buSzPct val="100000"/>
              <a:buFont typeface="System Font Regular"/>
              <a:buChar char="‒"/>
              <a:tabLst/>
              <a:defRPr sz="1400" kern="1200">
                <a:solidFill>
                  <a:schemeClr val="tx1"/>
                </a:solidFill>
                <a:latin typeface="+mn-lt"/>
                <a:ea typeface="+mn-ea"/>
                <a:cs typeface="+mn-cs"/>
              </a:defRPr>
            </a:lvl9pPr>
          </a:lstStyle>
          <a:p>
            <a:r>
              <a:rPr lang="en-US" dirty="0"/>
              <a:t>The improved denoising filter uses a Low pass filter.</a:t>
            </a:r>
          </a:p>
          <a:p>
            <a:r>
              <a:rPr lang="en-US" dirty="0"/>
              <a:t>To make it more dynamic, the window size which was kept constant earlier, is now being made more dynamic.</a:t>
            </a:r>
          </a:p>
          <a:p>
            <a:r>
              <a:rPr lang="en-US" dirty="0"/>
              <a:t>In case of high frequencies (sharp rise or fall), it is recommended to use a smaller window size to avoid phase shifting.</a:t>
            </a:r>
          </a:p>
          <a:p>
            <a:r>
              <a:rPr lang="en-US" dirty="0"/>
              <a:t>This helps in proper alignment of the smoothened waveform with that of a noisy waveform.</a:t>
            </a:r>
          </a:p>
          <a:p>
            <a:endParaRPr lang="en-US" dirty="0"/>
          </a:p>
        </p:txBody>
      </p:sp>
    </p:spTree>
    <p:extLst>
      <p:ext uri="{BB962C8B-B14F-4D97-AF65-F5344CB8AC3E}">
        <p14:creationId xmlns:p14="http://schemas.microsoft.com/office/powerpoint/2010/main" val="29222467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64DF9-32C0-C139-98E5-AF23859F7AE0}"/>
              </a:ext>
            </a:extLst>
          </p:cNvPr>
          <p:cNvSpPr>
            <a:spLocks noGrp="1"/>
          </p:cNvSpPr>
          <p:nvPr>
            <p:ph type="title"/>
          </p:nvPr>
        </p:nvSpPr>
        <p:spPr/>
        <p:txBody>
          <a:bodyPr/>
          <a:lstStyle/>
          <a:p>
            <a:r>
              <a:rPr lang="en-US" dirty="0"/>
              <a:t>Example 1:</a:t>
            </a:r>
          </a:p>
        </p:txBody>
      </p:sp>
      <p:sp>
        <p:nvSpPr>
          <p:cNvPr id="3" name="Slide Number Placeholder 2">
            <a:extLst>
              <a:ext uri="{FF2B5EF4-FFF2-40B4-BE49-F238E27FC236}">
                <a16:creationId xmlns:a16="http://schemas.microsoft.com/office/drawing/2014/main" id="{230FC27B-626B-E8AA-9D64-96D27D0B0185}"/>
              </a:ext>
            </a:extLst>
          </p:cNvPr>
          <p:cNvSpPr>
            <a:spLocks noGrp="1"/>
          </p:cNvSpPr>
          <p:nvPr>
            <p:ph type="sldNum" sz="quarter" idx="12"/>
          </p:nvPr>
        </p:nvSpPr>
        <p:spPr/>
        <p:txBody>
          <a:bodyPr/>
          <a:lstStyle/>
          <a:p>
            <a:fld id="{B7E7695C-FCF1-4AA0-9B93-7941FED13DC4}" type="slidenum">
              <a:rPr lang="en-US" smtClean="0"/>
              <a:pPr/>
              <a:t>40</a:t>
            </a:fld>
            <a:endParaRPr lang="en-US" dirty="0"/>
          </a:p>
        </p:txBody>
      </p:sp>
      <p:sp>
        <p:nvSpPr>
          <p:cNvPr id="4" name="Text Placeholder 3">
            <a:extLst>
              <a:ext uri="{FF2B5EF4-FFF2-40B4-BE49-F238E27FC236}">
                <a16:creationId xmlns:a16="http://schemas.microsoft.com/office/drawing/2014/main" id="{25E28CD5-FC54-54A7-0D75-339772684EF5}"/>
              </a:ext>
            </a:extLst>
          </p:cNvPr>
          <p:cNvSpPr>
            <a:spLocks noGrp="1"/>
          </p:cNvSpPr>
          <p:nvPr>
            <p:ph type="body" sz="quarter" idx="13"/>
          </p:nvPr>
        </p:nvSpPr>
        <p:spPr/>
        <p:txBody>
          <a:bodyPr/>
          <a:lstStyle/>
          <a:p>
            <a:r>
              <a:rPr lang="en-US" dirty="0"/>
              <a:t>erase\EXP10_SQ6_sgd2_l_620_X24497_Y-68620_na_na_30C.h5</a:t>
            </a:r>
          </a:p>
        </p:txBody>
      </p:sp>
      <p:pic>
        <p:nvPicPr>
          <p:cNvPr id="10" name="Picture 9">
            <a:extLst>
              <a:ext uri="{FF2B5EF4-FFF2-40B4-BE49-F238E27FC236}">
                <a16:creationId xmlns:a16="http://schemas.microsoft.com/office/drawing/2014/main" id="{2E53AFE3-90EE-2783-FC8D-EB53E36F4721}"/>
              </a:ext>
            </a:extLst>
          </p:cNvPr>
          <p:cNvPicPr>
            <a:picLocks noChangeAspect="1"/>
          </p:cNvPicPr>
          <p:nvPr/>
        </p:nvPicPr>
        <p:blipFill>
          <a:blip r:embed="rId2"/>
          <a:stretch>
            <a:fillRect/>
          </a:stretch>
        </p:blipFill>
        <p:spPr>
          <a:xfrm>
            <a:off x="74469" y="2001358"/>
            <a:ext cx="5802349" cy="2994407"/>
          </a:xfrm>
          <a:prstGeom prst="rect">
            <a:avLst/>
          </a:prstGeom>
        </p:spPr>
      </p:pic>
      <p:pic>
        <p:nvPicPr>
          <p:cNvPr id="12" name="Picture 11">
            <a:extLst>
              <a:ext uri="{FF2B5EF4-FFF2-40B4-BE49-F238E27FC236}">
                <a16:creationId xmlns:a16="http://schemas.microsoft.com/office/drawing/2014/main" id="{EEBB4044-9CBC-CF8F-7A9D-D7664CAB9F82}"/>
              </a:ext>
            </a:extLst>
          </p:cNvPr>
          <p:cNvPicPr>
            <a:picLocks noChangeAspect="1"/>
          </p:cNvPicPr>
          <p:nvPr/>
        </p:nvPicPr>
        <p:blipFill>
          <a:blip r:embed="rId3"/>
          <a:stretch>
            <a:fillRect/>
          </a:stretch>
        </p:blipFill>
        <p:spPr>
          <a:xfrm>
            <a:off x="6096000" y="2001358"/>
            <a:ext cx="5721521" cy="2994407"/>
          </a:xfrm>
          <a:prstGeom prst="rect">
            <a:avLst/>
          </a:prstGeom>
        </p:spPr>
      </p:pic>
      <p:sp>
        <p:nvSpPr>
          <p:cNvPr id="13" name="TextBox 12">
            <a:extLst>
              <a:ext uri="{FF2B5EF4-FFF2-40B4-BE49-F238E27FC236}">
                <a16:creationId xmlns:a16="http://schemas.microsoft.com/office/drawing/2014/main" id="{CF326F02-DF4A-4EF2-0296-D31F0A519BCE}"/>
              </a:ext>
            </a:extLst>
          </p:cNvPr>
          <p:cNvSpPr txBox="1"/>
          <p:nvPr/>
        </p:nvSpPr>
        <p:spPr>
          <a:xfrm>
            <a:off x="342900" y="5229546"/>
            <a:ext cx="4263775" cy="923330"/>
          </a:xfrm>
          <a:prstGeom prst="rect">
            <a:avLst/>
          </a:prstGeom>
          <a:noFill/>
        </p:spPr>
        <p:txBody>
          <a:bodyPr wrap="square" rtlCol="0">
            <a:spAutoFit/>
          </a:bodyPr>
          <a:lstStyle/>
          <a:p>
            <a:r>
              <a:rPr lang="en-US" dirty="0"/>
              <a:t>Window Size : 999 (default)</a:t>
            </a:r>
          </a:p>
          <a:p>
            <a:r>
              <a:rPr lang="en-US" dirty="0"/>
              <a:t>Remarks : As can be seen the smoothening tilts it.</a:t>
            </a:r>
          </a:p>
        </p:txBody>
      </p:sp>
      <p:sp>
        <p:nvSpPr>
          <p:cNvPr id="14" name="TextBox 13">
            <a:extLst>
              <a:ext uri="{FF2B5EF4-FFF2-40B4-BE49-F238E27FC236}">
                <a16:creationId xmlns:a16="http://schemas.microsoft.com/office/drawing/2014/main" id="{1F582047-7B69-3898-735C-A17AFE4BE2A4}"/>
              </a:ext>
            </a:extLst>
          </p:cNvPr>
          <p:cNvSpPr txBox="1"/>
          <p:nvPr/>
        </p:nvSpPr>
        <p:spPr>
          <a:xfrm>
            <a:off x="6485825" y="5229546"/>
            <a:ext cx="4263775" cy="923330"/>
          </a:xfrm>
          <a:prstGeom prst="rect">
            <a:avLst/>
          </a:prstGeom>
          <a:noFill/>
        </p:spPr>
        <p:txBody>
          <a:bodyPr wrap="square" rtlCol="0">
            <a:spAutoFit/>
          </a:bodyPr>
          <a:lstStyle/>
          <a:p>
            <a:r>
              <a:rPr lang="en-US" dirty="0"/>
              <a:t>Window Size : 150</a:t>
            </a:r>
          </a:p>
          <a:p>
            <a:r>
              <a:rPr lang="en-US" dirty="0"/>
              <a:t>Remarks : As can be seen the smoothening perfectly aligns.</a:t>
            </a:r>
          </a:p>
        </p:txBody>
      </p:sp>
      <p:sp>
        <p:nvSpPr>
          <p:cNvPr id="15" name="Oval 14">
            <a:extLst>
              <a:ext uri="{FF2B5EF4-FFF2-40B4-BE49-F238E27FC236}">
                <a16:creationId xmlns:a16="http://schemas.microsoft.com/office/drawing/2014/main" id="{1A52F095-7556-D295-0B05-BFE3DD3391A6}"/>
              </a:ext>
            </a:extLst>
          </p:cNvPr>
          <p:cNvSpPr/>
          <p:nvPr/>
        </p:nvSpPr>
        <p:spPr>
          <a:xfrm>
            <a:off x="1962363" y="2250040"/>
            <a:ext cx="832208" cy="215757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4C18C02-644C-5F59-12C3-5D06F8794C97}"/>
              </a:ext>
            </a:extLst>
          </p:cNvPr>
          <p:cNvSpPr/>
          <p:nvPr/>
        </p:nvSpPr>
        <p:spPr>
          <a:xfrm>
            <a:off x="8320354" y="2419774"/>
            <a:ext cx="832208" cy="2157573"/>
          </a:xfrm>
          <a:prstGeom prst="ellipse">
            <a:avLst/>
          </a:prstGeom>
          <a:noFill/>
          <a:ln w="38100">
            <a:solidFill>
              <a:srgbClr val="64A7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8262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64DF9-32C0-C139-98E5-AF23859F7AE0}"/>
              </a:ext>
            </a:extLst>
          </p:cNvPr>
          <p:cNvSpPr>
            <a:spLocks noGrp="1"/>
          </p:cNvSpPr>
          <p:nvPr>
            <p:ph type="title"/>
          </p:nvPr>
        </p:nvSpPr>
        <p:spPr/>
        <p:txBody>
          <a:bodyPr/>
          <a:lstStyle/>
          <a:p>
            <a:r>
              <a:rPr lang="en-US" dirty="0"/>
              <a:t>Example 2:</a:t>
            </a:r>
          </a:p>
        </p:txBody>
      </p:sp>
      <p:sp>
        <p:nvSpPr>
          <p:cNvPr id="3" name="Slide Number Placeholder 2">
            <a:extLst>
              <a:ext uri="{FF2B5EF4-FFF2-40B4-BE49-F238E27FC236}">
                <a16:creationId xmlns:a16="http://schemas.microsoft.com/office/drawing/2014/main" id="{230FC27B-626B-E8AA-9D64-96D27D0B0185}"/>
              </a:ext>
            </a:extLst>
          </p:cNvPr>
          <p:cNvSpPr>
            <a:spLocks noGrp="1"/>
          </p:cNvSpPr>
          <p:nvPr>
            <p:ph type="sldNum" sz="quarter" idx="12"/>
          </p:nvPr>
        </p:nvSpPr>
        <p:spPr/>
        <p:txBody>
          <a:bodyPr/>
          <a:lstStyle/>
          <a:p>
            <a:fld id="{B7E7695C-FCF1-4AA0-9B93-7941FED13DC4}" type="slidenum">
              <a:rPr lang="en-US" smtClean="0"/>
              <a:pPr/>
              <a:t>41</a:t>
            </a:fld>
            <a:endParaRPr lang="en-US" dirty="0"/>
          </a:p>
        </p:txBody>
      </p:sp>
      <p:sp>
        <p:nvSpPr>
          <p:cNvPr id="4" name="Text Placeholder 3">
            <a:extLst>
              <a:ext uri="{FF2B5EF4-FFF2-40B4-BE49-F238E27FC236}">
                <a16:creationId xmlns:a16="http://schemas.microsoft.com/office/drawing/2014/main" id="{25E28CD5-FC54-54A7-0D75-339772684EF5}"/>
              </a:ext>
            </a:extLst>
          </p:cNvPr>
          <p:cNvSpPr>
            <a:spLocks noGrp="1"/>
          </p:cNvSpPr>
          <p:nvPr>
            <p:ph type="body" sz="quarter" idx="13"/>
          </p:nvPr>
        </p:nvSpPr>
        <p:spPr/>
        <p:txBody>
          <a:bodyPr/>
          <a:lstStyle/>
          <a:p>
            <a:r>
              <a:rPr lang="en-US" dirty="0" err="1"/>
              <a:t>testing_waveforms</a:t>
            </a:r>
            <a:r>
              <a:rPr lang="en-US" dirty="0"/>
              <a:t>\</a:t>
            </a:r>
            <a:r>
              <a:rPr lang="en-US" dirty="0" err="1"/>
              <a:t>new_testing</a:t>
            </a:r>
            <a:r>
              <a:rPr lang="en-US" dirty="0"/>
              <a:t>\EXP1_SQ3_RB_na_na_30C.h5</a:t>
            </a:r>
          </a:p>
        </p:txBody>
      </p:sp>
      <p:sp>
        <p:nvSpPr>
          <p:cNvPr id="13" name="TextBox 12">
            <a:extLst>
              <a:ext uri="{FF2B5EF4-FFF2-40B4-BE49-F238E27FC236}">
                <a16:creationId xmlns:a16="http://schemas.microsoft.com/office/drawing/2014/main" id="{CF326F02-DF4A-4EF2-0296-D31F0A519BCE}"/>
              </a:ext>
            </a:extLst>
          </p:cNvPr>
          <p:cNvSpPr txBox="1"/>
          <p:nvPr/>
        </p:nvSpPr>
        <p:spPr>
          <a:xfrm>
            <a:off x="342900" y="5229546"/>
            <a:ext cx="4263775" cy="923330"/>
          </a:xfrm>
          <a:prstGeom prst="rect">
            <a:avLst/>
          </a:prstGeom>
          <a:noFill/>
        </p:spPr>
        <p:txBody>
          <a:bodyPr wrap="square" rtlCol="0">
            <a:spAutoFit/>
          </a:bodyPr>
          <a:lstStyle/>
          <a:p>
            <a:r>
              <a:rPr lang="en-US" dirty="0"/>
              <a:t>Window Size : 999 (default)</a:t>
            </a:r>
          </a:p>
          <a:p>
            <a:r>
              <a:rPr lang="en-US" dirty="0"/>
              <a:t>Remarks : As can be seen the smoothening tilts it.</a:t>
            </a:r>
          </a:p>
        </p:txBody>
      </p:sp>
      <p:sp>
        <p:nvSpPr>
          <p:cNvPr id="14" name="TextBox 13">
            <a:extLst>
              <a:ext uri="{FF2B5EF4-FFF2-40B4-BE49-F238E27FC236}">
                <a16:creationId xmlns:a16="http://schemas.microsoft.com/office/drawing/2014/main" id="{1F582047-7B69-3898-735C-A17AFE4BE2A4}"/>
              </a:ext>
            </a:extLst>
          </p:cNvPr>
          <p:cNvSpPr txBox="1"/>
          <p:nvPr/>
        </p:nvSpPr>
        <p:spPr>
          <a:xfrm>
            <a:off x="6485825" y="5229546"/>
            <a:ext cx="4263775" cy="923330"/>
          </a:xfrm>
          <a:prstGeom prst="rect">
            <a:avLst/>
          </a:prstGeom>
          <a:noFill/>
        </p:spPr>
        <p:txBody>
          <a:bodyPr wrap="square" rtlCol="0">
            <a:spAutoFit/>
          </a:bodyPr>
          <a:lstStyle/>
          <a:p>
            <a:r>
              <a:rPr lang="en-US" dirty="0"/>
              <a:t>Window Size : 150</a:t>
            </a:r>
          </a:p>
          <a:p>
            <a:r>
              <a:rPr lang="en-US" dirty="0"/>
              <a:t>Remarks : As can be seen the smoothening perfectly aligns.</a:t>
            </a:r>
          </a:p>
        </p:txBody>
      </p:sp>
      <p:pic>
        <p:nvPicPr>
          <p:cNvPr id="6" name="Picture 5">
            <a:extLst>
              <a:ext uri="{FF2B5EF4-FFF2-40B4-BE49-F238E27FC236}">
                <a16:creationId xmlns:a16="http://schemas.microsoft.com/office/drawing/2014/main" id="{7CBDF648-C325-D2F4-FF81-E7E2A56F77EA}"/>
              </a:ext>
            </a:extLst>
          </p:cNvPr>
          <p:cNvPicPr>
            <a:picLocks noChangeAspect="1"/>
          </p:cNvPicPr>
          <p:nvPr/>
        </p:nvPicPr>
        <p:blipFill>
          <a:blip r:embed="rId2"/>
          <a:stretch>
            <a:fillRect/>
          </a:stretch>
        </p:blipFill>
        <p:spPr>
          <a:xfrm>
            <a:off x="6096000" y="1769610"/>
            <a:ext cx="5878246" cy="3036469"/>
          </a:xfrm>
          <a:prstGeom prst="rect">
            <a:avLst/>
          </a:prstGeom>
        </p:spPr>
      </p:pic>
      <p:pic>
        <p:nvPicPr>
          <p:cNvPr id="8" name="Picture 7">
            <a:extLst>
              <a:ext uri="{FF2B5EF4-FFF2-40B4-BE49-F238E27FC236}">
                <a16:creationId xmlns:a16="http://schemas.microsoft.com/office/drawing/2014/main" id="{404A3017-490B-6600-EBB8-43F7FC130048}"/>
              </a:ext>
            </a:extLst>
          </p:cNvPr>
          <p:cNvPicPr>
            <a:picLocks noChangeAspect="1"/>
          </p:cNvPicPr>
          <p:nvPr/>
        </p:nvPicPr>
        <p:blipFill>
          <a:blip r:embed="rId3"/>
          <a:stretch>
            <a:fillRect/>
          </a:stretch>
        </p:blipFill>
        <p:spPr>
          <a:xfrm>
            <a:off x="0" y="1828079"/>
            <a:ext cx="6096000" cy="3036469"/>
          </a:xfrm>
          <a:prstGeom prst="rect">
            <a:avLst/>
          </a:prstGeom>
        </p:spPr>
      </p:pic>
      <p:sp>
        <p:nvSpPr>
          <p:cNvPr id="9" name="Oval 8">
            <a:extLst>
              <a:ext uri="{FF2B5EF4-FFF2-40B4-BE49-F238E27FC236}">
                <a16:creationId xmlns:a16="http://schemas.microsoft.com/office/drawing/2014/main" id="{035BD135-80E2-F65E-FABE-85517FC4FB1E}"/>
              </a:ext>
            </a:extLst>
          </p:cNvPr>
          <p:cNvSpPr/>
          <p:nvPr/>
        </p:nvSpPr>
        <p:spPr>
          <a:xfrm>
            <a:off x="972310" y="1782453"/>
            <a:ext cx="1767156" cy="289788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CA1653D-A3F0-ABF4-F90E-0019A429BA72}"/>
              </a:ext>
            </a:extLst>
          </p:cNvPr>
          <p:cNvSpPr/>
          <p:nvPr/>
        </p:nvSpPr>
        <p:spPr>
          <a:xfrm>
            <a:off x="6850556" y="1769610"/>
            <a:ext cx="1767156" cy="3036469"/>
          </a:xfrm>
          <a:prstGeom prst="ellipse">
            <a:avLst/>
          </a:prstGeom>
          <a:noFill/>
          <a:ln w="38100">
            <a:solidFill>
              <a:srgbClr val="64A7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73027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64DF9-32C0-C139-98E5-AF23859F7AE0}"/>
              </a:ext>
            </a:extLst>
          </p:cNvPr>
          <p:cNvSpPr>
            <a:spLocks noGrp="1"/>
          </p:cNvSpPr>
          <p:nvPr>
            <p:ph type="title"/>
          </p:nvPr>
        </p:nvSpPr>
        <p:spPr/>
        <p:txBody>
          <a:bodyPr/>
          <a:lstStyle/>
          <a:p>
            <a:r>
              <a:rPr lang="en-US" dirty="0"/>
              <a:t>Example 3:</a:t>
            </a:r>
          </a:p>
        </p:txBody>
      </p:sp>
      <p:sp>
        <p:nvSpPr>
          <p:cNvPr id="3" name="Slide Number Placeholder 2">
            <a:extLst>
              <a:ext uri="{FF2B5EF4-FFF2-40B4-BE49-F238E27FC236}">
                <a16:creationId xmlns:a16="http://schemas.microsoft.com/office/drawing/2014/main" id="{230FC27B-626B-E8AA-9D64-96D27D0B0185}"/>
              </a:ext>
            </a:extLst>
          </p:cNvPr>
          <p:cNvSpPr>
            <a:spLocks noGrp="1"/>
          </p:cNvSpPr>
          <p:nvPr>
            <p:ph type="sldNum" sz="quarter" idx="12"/>
          </p:nvPr>
        </p:nvSpPr>
        <p:spPr/>
        <p:txBody>
          <a:bodyPr/>
          <a:lstStyle/>
          <a:p>
            <a:fld id="{B7E7695C-FCF1-4AA0-9B93-7941FED13DC4}" type="slidenum">
              <a:rPr lang="en-US" smtClean="0"/>
              <a:pPr/>
              <a:t>42</a:t>
            </a:fld>
            <a:endParaRPr lang="en-US" dirty="0"/>
          </a:p>
        </p:txBody>
      </p:sp>
      <p:sp>
        <p:nvSpPr>
          <p:cNvPr id="4" name="Text Placeholder 3">
            <a:extLst>
              <a:ext uri="{FF2B5EF4-FFF2-40B4-BE49-F238E27FC236}">
                <a16:creationId xmlns:a16="http://schemas.microsoft.com/office/drawing/2014/main" id="{25E28CD5-FC54-54A7-0D75-339772684EF5}"/>
              </a:ext>
            </a:extLst>
          </p:cNvPr>
          <p:cNvSpPr>
            <a:spLocks noGrp="1"/>
          </p:cNvSpPr>
          <p:nvPr>
            <p:ph type="body" sz="quarter" idx="13"/>
          </p:nvPr>
        </p:nvSpPr>
        <p:spPr/>
        <p:txBody>
          <a:bodyPr/>
          <a:lstStyle/>
          <a:p>
            <a:r>
              <a:rPr lang="en-US" dirty="0" err="1"/>
              <a:t>programe</a:t>
            </a:r>
            <a:r>
              <a:rPr lang="en-US" dirty="0"/>
              <a:t>\EXP1_SQ1_sgd4_l_155_X24497_Y-68518_na_na_30C.h5</a:t>
            </a:r>
          </a:p>
        </p:txBody>
      </p:sp>
      <p:sp>
        <p:nvSpPr>
          <p:cNvPr id="13" name="TextBox 12">
            <a:extLst>
              <a:ext uri="{FF2B5EF4-FFF2-40B4-BE49-F238E27FC236}">
                <a16:creationId xmlns:a16="http://schemas.microsoft.com/office/drawing/2014/main" id="{CF326F02-DF4A-4EF2-0296-D31F0A519BCE}"/>
              </a:ext>
            </a:extLst>
          </p:cNvPr>
          <p:cNvSpPr txBox="1"/>
          <p:nvPr/>
        </p:nvSpPr>
        <p:spPr>
          <a:xfrm>
            <a:off x="342900" y="5229546"/>
            <a:ext cx="4263775" cy="923330"/>
          </a:xfrm>
          <a:prstGeom prst="rect">
            <a:avLst/>
          </a:prstGeom>
          <a:noFill/>
        </p:spPr>
        <p:txBody>
          <a:bodyPr wrap="square" rtlCol="0">
            <a:spAutoFit/>
          </a:bodyPr>
          <a:lstStyle/>
          <a:p>
            <a:r>
              <a:rPr lang="en-US" dirty="0"/>
              <a:t>Window Size : 999 (default)</a:t>
            </a:r>
          </a:p>
          <a:p>
            <a:r>
              <a:rPr lang="en-US" dirty="0"/>
              <a:t>Remarks : As can be seen the smoothening tilts it.</a:t>
            </a:r>
          </a:p>
        </p:txBody>
      </p:sp>
      <p:sp>
        <p:nvSpPr>
          <p:cNvPr id="14" name="TextBox 13">
            <a:extLst>
              <a:ext uri="{FF2B5EF4-FFF2-40B4-BE49-F238E27FC236}">
                <a16:creationId xmlns:a16="http://schemas.microsoft.com/office/drawing/2014/main" id="{1F582047-7B69-3898-735C-A17AFE4BE2A4}"/>
              </a:ext>
            </a:extLst>
          </p:cNvPr>
          <p:cNvSpPr txBox="1"/>
          <p:nvPr/>
        </p:nvSpPr>
        <p:spPr>
          <a:xfrm>
            <a:off x="6485825" y="5229546"/>
            <a:ext cx="4263775" cy="923330"/>
          </a:xfrm>
          <a:prstGeom prst="rect">
            <a:avLst/>
          </a:prstGeom>
          <a:noFill/>
        </p:spPr>
        <p:txBody>
          <a:bodyPr wrap="square" rtlCol="0">
            <a:spAutoFit/>
          </a:bodyPr>
          <a:lstStyle/>
          <a:p>
            <a:r>
              <a:rPr lang="en-US" dirty="0"/>
              <a:t>Window Size : 150</a:t>
            </a:r>
          </a:p>
          <a:p>
            <a:r>
              <a:rPr lang="en-US" dirty="0"/>
              <a:t>Remarks : As can be seen the smoothening perfectly aligns.</a:t>
            </a:r>
          </a:p>
        </p:txBody>
      </p:sp>
      <p:pic>
        <p:nvPicPr>
          <p:cNvPr id="7" name="Picture 6">
            <a:extLst>
              <a:ext uri="{FF2B5EF4-FFF2-40B4-BE49-F238E27FC236}">
                <a16:creationId xmlns:a16="http://schemas.microsoft.com/office/drawing/2014/main" id="{DA7D0239-0F12-4368-9303-BE831398457C}"/>
              </a:ext>
            </a:extLst>
          </p:cNvPr>
          <p:cNvPicPr>
            <a:picLocks noChangeAspect="1"/>
          </p:cNvPicPr>
          <p:nvPr/>
        </p:nvPicPr>
        <p:blipFill>
          <a:blip r:embed="rId2"/>
          <a:stretch>
            <a:fillRect/>
          </a:stretch>
        </p:blipFill>
        <p:spPr>
          <a:xfrm>
            <a:off x="218301" y="1782547"/>
            <a:ext cx="5792081" cy="2979849"/>
          </a:xfrm>
          <a:prstGeom prst="rect">
            <a:avLst/>
          </a:prstGeom>
        </p:spPr>
      </p:pic>
      <p:pic>
        <p:nvPicPr>
          <p:cNvPr id="10" name="Picture 9">
            <a:extLst>
              <a:ext uri="{FF2B5EF4-FFF2-40B4-BE49-F238E27FC236}">
                <a16:creationId xmlns:a16="http://schemas.microsoft.com/office/drawing/2014/main" id="{8EAA6C18-BDFF-7109-49DD-D11168125736}"/>
              </a:ext>
            </a:extLst>
          </p:cNvPr>
          <p:cNvPicPr>
            <a:picLocks noChangeAspect="1"/>
          </p:cNvPicPr>
          <p:nvPr/>
        </p:nvPicPr>
        <p:blipFill>
          <a:blip r:embed="rId3"/>
          <a:stretch>
            <a:fillRect/>
          </a:stretch>
        </p:blipFill>
        <p:spPr>
          <a:xfrm>
            <a:off x="6076333" y="1782547"/>
            <a:ext cx="5897366" cy="3001405"/>
          </a:xfrm>
          <a:prstGeom prst="rect">
            <a:avLst/>
          </a:prstGeom>
        </p:spPr>
      </p:pic>
      <p:sp>
        <p:nvSpPr>
          <p:cNvPr id="12" name="Oval 11">
            <a:extLst>
              <a:ext uri="{FF2B5EF4-FFF2-40B4-BE49-F238E27FC236}">
                <a16:creationId xmlns:a16="http://schemas.microsoft.com/office/drawing/2014/main" id="{B597EB04-7D65-CF83-4DE6-554E0C9A9E98}"/>
              </a:ext>
            </a:extLst>
          </p:cNvPr>
          <p:cNvSpPr/>
          <p:nvPr/>
        </p:nvSpPr>
        <p:spPr>
          <a:xfrm>
            <a:off x="1407559" y="2039666"/>
            <a:ext cx="996594" cy="250151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82D557B-8F0C-8A13-BBCE-19B52F5238C2}"/>
              </a:ext>
            </a:extLst>
          </p:cNvPr>
          <p:cNvSpPr/>
          <p:nvPr/>
        </p:nvSpPr>
        <p:spPr>
          <a:xfrm>
            <a:off x="3748354" y="2032492"/>
            <a:ext cx="996594" cy="250151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FC139DD-A92F-FDC4-CC37-6618A31F0FBB}"/>
              </a:ext>
            </a:extLst>
          </p:cNvPr>
          <p:cNvSpPr/>
          <p:nvPr/>
        </p:nvSpPr>
        <p:spPr>
          <a:xfrm>
            <a:off x="7518970" y="2032492"/>
            <a:ext cx="996594" cy="2501512"/>
          </a:xfrm>
          <a:prstGeom prst="ellipse">
            <a:avLst/>
          </a:prstGeom>
          <a:noFill/>
          <a:ln w="38100">
            <a:solidFill>
              <a:srgbClr val="64A7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4BE819E-5BB6-A810-1AB7-CCC59FAB72F3}"/>
              </a:ext>
            </a:extLst>
          </p:cNvPr>
          <p:cNvSpPr/>
          <p:nvPr/>
        </p:nvSpPr>
        <p:spPr>
          <a:xfrm>
            <a:off x="9904524" y="2032492"/>
            <a:ext cx="996594" cy="2501512"/>
          </a:xfrm>
          <a:prstGeom prst="ellipse">
            <a:avLst/>
          </a:prstGeom>
          <a:noFill/>
          <a:ln w="38100">
            <a:solidFill>
              <a:srgbClr val="64A7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45271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64DF9-32C0-C139-98E5-AF23859F7AE0}"/>
              </a:ext>
            </a:extLst>
          </p:cNvPr>
          <p:cNvSpPr>
            <a:spLocks noGrp="1"/>
          </p:cNvSpPr>
          <p:nvPr>
            <p:ph type="title"/>
          </p:nvPr>
        </p:nvSpPr>
        <p:spPr/>
        <p:txBody>
          <a:bodyPr/>
          <a:lstStyle/>
          <a:p>
            <a:r>
              <a:rPr lang="en-US" dirty="0"/>
              <a:t>Example 4:</a:t>
            </a:r>
          </a:p>
        </p:txBody>
      </p:sp>
      <p:sp>
        <p:nvSpPr>
          <p:cNvPr id="3" name="Slide Number Placeholder 2">
            <a:extLst>
              <a:ext uri="{FF2B5EF4-FFF2-40B4-BE49-F238E27FC236}">
                <a16:creationId xmlns:a16="http://schemas.microsoft.com/office/drawing/2014/main" id="{230FC27B-626B-E8AA-9D64-96D27D0B0185}"/>
              </a:ext>
            </a:extLst>
          </p:cNvPr>
          <p:cNvSpPr>
            <a:spLocks noGrp="1"/>
          </p:cNvSpPr>
          <p:nvPr>
            <p:ph type="sldNum" sz="quarter" idx="12"/>
          </p:nvPr>
        </p:nvSpPr>
        <p:spPr/>
        <p:txBody>
          <a:bodyPr/>
          <a:lstStyle/>
          <a:p>
            <a:fld id="{B7E7695C-FCF1-4AA0-9B93-7941FED13DC4}" type="slidenum">
              <a:rPr lang="en-US" smtClean="0"/>
              <a:pPr/>
              <a:t>43</a:t>
            </a:fld>
            <a:endParaRPr lang="en-US" dirty="0"/>
          </a:p>
        </p:txBody>
      </p:sp>
      <p:sp>
        <p:nvSpPr>
          <p:cNvPr id="4" name="Text Placeholder 3">
            <a:extLst>
              <a:ext uri="{FF2B5EF4-FFF2-40B4-BE49-F238E27FC236}">
                <a16:creationId xmlns:a16="http://schemas.microsoft.com/office/drawing/2014/main" id="{25E28CD5-FC54-54A7-0D75-339772684EF5}"/>
              </a:ext>
            </a:extLst>
          </p:cNvPr>
          <p:cNvSpPr>
            <a:spLocks noGrp="1"/>
          </p:cNvSpPr>
          <p:nvPr>
            <p:ph type="body" sz="quarter" idx="13"/>
          </p:nvPr>
        </p:nvSpPr>
        <p:spPr/>
        <p:txBody>
          <a:bodyPr/>
          <a:lstStyle/>
          <a:p>
            <a:r>
              <a:rPr lang="en-US" dirty="0" err="1"/>
              <a:t>programe</a:t>
            </a:r>
            <a:r>
              <a:rPr lang="en-US" dirty="0"/>
              <a:t>\EXP1_SQ1_sgd4_l_155_X24497_Y-68518_na_na_30C.h5</a:t>
            </a:r>
          </a:p>
        </p:txBody>
      </p:sp>
      <p:sp>
        <p:nvSpPr>
          <p:cNvPr id="13" name="TextBox 12">
            <a:extLst>
              <a:ext uri="{FF2B5EF4-FFF2-40B4-BE49-F238E27FC236}">
                <a16:creationId xmlns:a16="http://schemas.microsoft.com/office/drawing/2014/main" id="{CF326F02-DF4A-4EF2-0296-D31F0A519BCE}"/>
              </a:ext>
            </a:extLst>
          </p:cNvPr>
          <p:cNvSpPr txBox="1"/>
          <p:nvPr/>
        </p:nvSpPr>
        <p:spPr>
          <a:xfrm>
            <a:off x="342900" y="5229546"/>
            <a:ext cx="4263775" cy="923330"/>
          </a:xfrm>
          <a:prstGeom prst="rect">
            <a:avLst/>
          </a:prstGeom>
          <a:noFill/>
        </p:spPr>
        <p:txBody>
          <a:bodyPr wrap="square" rtlCol="0">
            <a:spAutoFit/>
          </a:bodyPr>
          <a:lstStyle/>
          <a:p>
            <a:r>
              <a:rPr lang="en-US" dirty="0"/>
              <a:t>Window Size : 999 (default)</a:t>
            </a:r>
          </a:p>
          <a:p>
            <a:r>
              <a:rPr lang="en-US" dirty="0"/>
              <a:t>Remarks : As can be seen the smoothening tilts it.</a:t>
            </a:r>
          </a:p>
        </p:txBody>
      </p:sp>
      <p:sp>
        <p:nvSpPr>
          <p:cNvPr id="14" name="TextBox 13">
            <a:extLst>
              <a:ext uri="{FF2B5EF4-FFF2-40B4-BE49-F238E27FC236}">
                <a16:creationId xmlns:a16="http://schemas.microsoft.com/office/drawing/2014/main" id="{1F582047-7B69-3898-735C-A17AFE4BE2A4}"/>
              </a:ext>
            </a:extLst>
          </p:cNvPr>
          <p:cNvSpPr txBox="1"/>
          <p:nvPr/>
        </p:nvSpPr>
        <p:spPr>
          <a:xfrm>
            <a:off x="6485825" y="5229546"/>
            <a:ext cx="4263775" cy="923330"/>
          </a:xfrm>
          <a:prstGeom prst="rect">
            <a:avLst/>
          </a:prstGeom>
          <a:noFill/>
        </p:spPr>
        <p:txBody>
          <a:bodyPr wrap="square" rtlCol="0">
            <a:spAutoFit/>
          </a:bodyPr>
          <a:lstStyle/>
          <a:p>
            <a:r>
              <a:rPr lang="en-US" dirty="0"/>
              <a:t>Window Size : 150</a:t>
            </a:r>
          </a:p>
          <a:p>
            <a:r>
              <a:rPr lang="en-US" dirty="0"/>
              <a:t>Remarks : As can be seen the smoothening perfectly aligns.</a:t>
            </a:r>
          </a:p>
        </p:txBody>
      </p:sp>
      <p:pic>
        <p:nvPicPr>
          <p:cNvPr id="6" name="Picture 5">
            <a:extLst>
              <a:ext uri="{FF2B5EF4-FFF2-40B4-BE49-F238E27FC236}">
                <a16:creationId xmlns:a16="http://schemas.microsoft.com/office/drawing/2014/main" id="{8DA79BDC-923E-F8AA-366F-A7A58CC9DF14}"/>
              </a:ext>
            </a:extLst>
          </p:cNvPr>
          <p:cNvPicPr>
            <a:picLocks noChangeAspect="1"/>
          </p:cNvPicPr>
          <p:nvPr/>
        </p:nvPicPr>
        <p:blipFill>
          <a:blip r:embed="rId2"/>
          <a:stretch>
            <a:fillRect/>
          </a:stretch>
        </p:blipFill>
        <p:spPr>
          <a:xfrm>
            <a:off x="6083278" y="1773703"/>
            <a:ext cx="6008427" cy="2979850"/>
          </a:xfrm>
          <a:prstGeom prst="rect">
            <a:avLst/>
          </a:prstGeom>
        </p:spPr>
      </p:pic>
      <p:pic>
        <p:nvPicPr>
          <p:cNvPr id="9" name="Picture 8">
            <a:extLst>
              <a:ext uri="{FF2B5EF4-FFF2-40B4-BE49-F238E27FC236}">
                <a16:creationId xmlns:a16="http://schemas.microsoft.com/office/drawing/2014/main" id="{9419A504-5227-AE87-0DD9-9958AC5C7D99}"/>
              </a:ext>
            </a:extLst>
          </p:cNvPr>
          <p:cNvPicPr>
            <a:picLocks noChangeAspect="1"/>
          </p:cNvPicPr>
          <p:nvPr/>
        </p:nvPicPr>
        <p:blipFill>
          <a:blip r:embed="rId3"/>
          <a:stretch>
            <a:fillRect/>
          </a:stretch>
        </p:blipFill>
        <p:spPr>
          <a:xfrm>
            <a:off x="72819" y="1782546"/>
            <a:ext cx="6023181" cy="2979850"/>
          </a:xfrm>
          <a:prstGeom prst="rect">
            <a:avLst/>
          </a:prstGeom>
        </p:spPr>
      </p:pic>
      <p:sp>
        <p:nvSpPr>
          <p:cNvPr id="11" name="Oval 10">
            <a:extLst>
              <a:ext uri="{FF2B5EF4-FFF2-40B4-BE49-F238E27FC236}">
                <a16:creationId xmlns:a16="http://schemas.microsoft.com/office/drawing/2014/main" id="{3D861C53-9666-8EF6-A3DA-72A0FB011C13}"/>
              </a:ext>
            </a:extLst>
          </p:cNvPr>
          <p:cNvSpPr/>
          <p:nvPr/>
        </p:nvSpPr>
        <p:spPr>
          <a:xfrm>
            <a:off x="7941923" y="2184326"/>
            <a:ext cx="2188395" cy="1740402"/>
          </a:xfrm>
          <a:prstGeom prst="ellipse">
            <a:avLst/>
          </a:prstGeom>
          <a:noFill/>
          <a:ln w="38100">
            <a:solidFill>
              <a:srgbClr val="64A7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BC94541-9E0D-2911-ABF8-D1826084370A}"/>
              </a:ext>
            </a:extLst>
          </p:cNvPr>
          <p:cNvSpPr/>
          <p:nvPr/>
        </p:nvSpPr>
        <p:spPr>
          <a:xfrm>
            <a:off x="1724345" y="2184326"/>
            <a:ext cx="2188395" cy="174040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24389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C873F-910A-7D07-610C-870679C468AA}"/>
              </a:ext>
            </a:extLst>
          </p:cNvPr>
          <p:cNvSpPr>
            <a:spLocks noGrp="1"/>
          </p:cNvSpPr>
          <p:nvPr>
            <p:ph type="title"/>
          </p:nvPr>
        </p:nvSpPr>
        <p:spPr>
          <a:xfrm>
            <a:off x="336550" y="307780"/>
            <a:ext cx="11506200" cy="590931"/>
          </a:xfrm>
        </p:spPr>
        <p:txBody>
          <a:bodyPr/>
          <a:lstStyle/>
          <a:p>
            <a:r>
              <a:rPr lang="en-US" dirty="0"/>
              <a:t>Code Review</a:t>
            </a:r>
          </a:p>
        </p:txBody>
      </p:sp>
      <p:sp>
        <p:nvSpPr>
          <p:cNvPr id="3" name="Slide Number Placeholder 2">
            <a:extLst>
              <a:ext uri="{FF2B5EF4-FFF2-40B4-BE49-F238E27FC236}">
                <a16:creationId xmlns:a16="http://schemas.microsoft.com/office/drawing/2014/main" id="{5245E3AB-A646-DE1D-0A37-C0478D39FE8B}"/>
              </a:ext>
            </a:extLst>
          </p:cNvPr>
          <p:cNvSpPr>
            <a:spLocks noGrp="1"/>
          </p:cNvSpPr>
          <p:nvPr>
            <p:ph type="sldNum" sz="quarter" idx="12"/>
          </p:nvPr>
        </p:nvSpPr>
        <p:spPr/>
        <p:txBody>
          <a:bodyPr/>
          <a:lstStyle/>
          <a:p>
            <a:fld id="{B7E7695C-FCF1-4AA0-9B93-7941FED13DC4}" type="slidenum">
              <a:rPr lang="en-US" smtClean="0"/>
              <a:pPr/>
              <a:t>44</a:t>
            </a:fld>
            <a:endParaRPr lang="en-US" dirty="0"/>
          </a:p>
        </p:txBody>
      </p:sp>
      <p:pic>
        <p:nvPicPr>
          <p:cNvPr id="8" name="Picture 7">
            <a:extLst>
              <a:ext uri="{FF2B5EF4-FFF2-40B4-BE49-F238E27FC236}">
                <a16:creationId xmlns:a16="http://schemas.microsoft.com/office/drawing/2014/main" id="{2C9B6045-8E37-6032-7CFB-AFDCF87C34F9}"/>
              </a:ext>
            </a:extLst>
          </p:cNvPr>
          <p:cNvPicPr>
            <a:picLocks noChangeAspect="1"/>
          </p:cNvPicPr>
          <p:nvPr/>
        </p:nvPicPr>
        <p:blipFill>
          <a:blip r:embed="rId2"/>
          <a:stretch>
            <a:fillRect/>
          </a:stretch>
        </p:blipFill>
        <p:spPr>
          <a:xfrm>
            <a:off x="1622248" y="1005003"/>
            <a:ext cx="3924300" cy="704850"/>
          </a:xfrm>
          <a:prstGeom prst="rect">
            <a:avLst/>
          </a:prstGeom>
        </p:spPr>
      </p:pic>
      <p:pic>
        <p:nvPicPr>
          <p:cNvPr id="12" name="Picture 11">
            <a:extLst>
              <a:ext uri="{FF2B5EF4-FFF2-40B4-BE49-F238E27FC236}">
                <a16:creationId xmlns:a16="http://schemas.microsoft.com/office/drawing/2014/main" id="{FE60FDC8-2A78-1186-329B-547EDB4D9A1C}"/>
              </a:ext>
            </a:extLst>
          </p:cNvPr>
          <p:cNvPicPr>
            <a:picLocks noChangeAspect="1"/>
          </p:cNvPicPr>
          <p:nvPr/>
        </p:nvPicPr>
        <p:blipFill>
          <a:blip r:embed="rId3"/>
          <a:stretch>
            <a:fillRect/>
          </a:stretch>
        </p:blipFill>
        <p:spPr>
          <a:xfrm>
            <a:off x="376149" y="2482374"/>
            <a:ext cx="7400925" cy="771525"/>
          </a:xfrm>
          <a:prstGeom prst="rect">
            <a:avLst/>
          </a:prstGeom>
        </p:spPr>
      </p:pic>
      <p:pic>
        <p:nvPicPr>
          <p:cNvPr id="14" name="Picture 13">
            <a:extLst>
              <a:ext uri="{FF2B5EF4-FFF2-40B4-BE49-F238E27FC236}">
                <a16:creationId xmlns:a16="http://schemas.microsoft.com/office/drawing/2014/main" id="{76DF55F3-A7FA-E931-AA94-27A3E64C24C1}"/>
              </a:ext>
            </a:extLst>
          </p:cNvPr>
          <p:cNvPicPr>
            <a:picLocks noChangeAspect="1"/>
          </p:cNvPicPr>
          <p:nvPr/>
        </p:nvPicPr>
        <p:blipFill>
          <a:blip r:embed="rId4"/>
          <a:stretch>
            <a:fillRect/>
          </a:stretch>
        </p:blipFill>
        <p:spPr>
          <a:xfrm>
            <a:off x="420171" y="4094092"/>
            <a:ext cx="7200900" cy="647700"/>
          </a:xfrm>
          <a:prstGeom prst="rect">
            <a:avLst/>
          </a:prstGeom>
        </p:spPr>
      </p:pic>
      <p:pic>
        <p:nvPicPr>
          <p:cNvPr id="16" name="Picture 15">
            <a:extLst>
              <a:ext uri="{FF2B5EF4-FFF2-40B4-BE49-F238E27FC236}">
                <a16:creationId xmlns:a16="http://schemas.microsoft.com/office/drawing/2014/main" id="{0A983997-D019-8CBD-C59F-5AB9008242BB}"/>
              </a:ext>
            </a:extLst>
          </p:cNvPr>
          <p:cNvPicPr>
            <a:picLocks noChangeAspect="1"/>
          </p:cNvPicPr>
          <p:nvPr/>
        </p:nvPicPr>
        <p:blipFill>
          <a:blip r:embed="rId5"/>
          <a:stretch>
            <a:fillRect/>
          </a:stretch>
        </p:blipFill>
        <p:spPr>
          <a:xfrm>
            <a:off x="420171" y="5634472"/>
            <a:ext cx="7058025" cy="762000"/>
          </a:xfrm>
          <a:prstGeom prst="rect">
            <a:avLst/>
          </a:prstGeom>
        </p:spPr>
      </p:pic>
      <p:sp>
        <p:nvSpPr>
          <p:cNvPr id="17" name="Arrow: Down 16">
            <a:extLst>
              <a:ext uri="{FF2B5EF4-FFF2-40B4-BE49-F238E27FC236}">
                <a16:creationId xmlns:a16="http://schemas.microsoft.com/office/drawing/2014/main" id="{122BCDCF-52C1-FB3D-2B45-C2ECF45A0254}"/>
              </a:ext>
            </a:extLst>
          </p:cNvPr>
          <p:cNvSpPr/>
          <p:nvPr/>
        </p:nvSpPr>
        <p:spPr>
          <a:xfrm>
            <a:off x="3363503" y="1750182"/>
            <a:ext cx="441789" cy="70485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DCD69B51-CB43-6E50-A12E-AB4D335A181D}"/>
              </a:ext>
            </a:extLst>
          </p:cNvPr>
          <p:cNvSpPr/>
          <p:nvPr/>
        </p:nvSpPr>
        <p:spPr>
          <a:xfrm>
            <a:off x="3363502" y="3258540"/>
            <a:ext cx="441789" cy="812850"/>
          </a:xfrm>
          <a:prstGeom prst="downArrow">
            <a:avLst/>
          </a:prstGeom>
          <a:solidFill>
            <a:srgbClr val="FFD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Arrow: Down 18">
            <a:extLst>
              <a:ext uri="{FF2B5EF4-FFF2-40B4-BE49-F238E27FC236}">
                <a16:creationId xmlns:a16="http://schemas.microsoft.com/office/drawing/2014/main" id="{DABBDE68-183C-AD1D-6DD0-5E020793D070}"/>
              </a:ext>
            </a:extLst>
          </p:cNvPr>
          <p:cNvSpPr/>
          <p:nvPr/>
        </p:nvSpPr>
        <p:spPr>
          <a:xfrm>
            <a:off x="3363502" y="4768035"/>
            <a:ext cx="441789" cy="840193"/>
          </a:xfrm>
          <a:prstGeom prst="downArrow">
            <a:avLst/>
          </a:prstGeom>
          <a:solidFill>
            <a:srgbClr val="64A7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EBDEC043-F3D3-24B9-BA9A-9334DAA211E5}"/>
              </a:ext>
            </a:extLst>
          </p:cNvPr>
          <p:cNvSpPr/>
          <p:nvPr/>
        </p:nvSpPr>
        <p:spPr>
          <a:xfrm>
            <a:off x="3949182" y="1823166"/>
            <a:ext cx="7822129" cy="465256"/>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Initial score using </a:t>
            </a:r>
            <a:r>
              <a:rPr lang="en-US" sz="1600" dirty="0" err="1">
                <a:solidFill>
                  <a:schemeClr val="tx1"/>
                </a:solidFill>
              </a:rPr>
              <a:t>Pylint</a:t>
            </a:r>
            <a:r>
              <a:rPr lang="en-US" sz="1600" dirty="0">
                <a:solidFill>
                  <a:schemeClr val="tx1"/>
                </a:solidFill>
              </a:rPr>
              <a:t>. Used Black to improve the formatting.</a:t>
            </a:r>
          </a:p>
        </p:txBody>
      </p:sp>
      <p:sp>
        <p:nvSpPr>
          <p:cNvPr id="22" name="Rectangle: Rounded Corners 21">
            <a:extLst>
              <a:ext uri="{FF2B5EF4-FFF2-40B4-BE49-F238E27FC236}">
                <a16:creationId xmlns:a16="http://schemas.microsoft.com/office/drawing/2014/main" id="{BE43758C-4924-F64F-2498-A647A9C91056}"/>
              </a:ext>
            </a:extLst>
          </p:cNvPr>
          <p:cNvSpPr/>
          <p:nvPr/>
        </p:nvSpPr>
        <p:spPr>
          <a:xfrm>
            <a:off x="3949182" y="3415124"/>
            <a:ext cx="7822129" cy="465256"/>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Added doc strings, removed white spaces, defined all functions extensively</a:t>
            </a:r>
          </a:p>
        </p:txBody>
      </p:sp>
      <p:sp>
        <p:nvSpPr>
          <p:cNvPr id="24" name="Rectangle: Rounded Corners 23">
            <a:extLst>
              <a:ext uri="{FF2B5EF4-FFF2-40B4-BE49-F238E27FC236}">
                <a16:creationId xmlns:a16="http://schemas.microsoft.com/office/drawing/2014/main" id="{DC1290E2-9A29-EE89-2DBA-E1C5E9E7A239}"/>
              </a:ext>
            </a:extLst>
          </p:cNvPr>
          <p:cNvSpPr/>
          <p:nvPr/>
        </p:nvSpPr>
        <p:spPr>
          <a:xfrm>
            <a:off x="3949183" y="4917053"/>
            <a:ext cx="7822129" cy="59093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Converted all text to </a:t>
            </a:r>
            <a:r>
              <a:rPr lang="en-US" sz="1600" dirty="0" err="1">
                <a:solidFill>
                  <a:schemeClr val="tx1"/>
                </a:solidFill>
              </a:rPr>
              <a:t>snake_case_naming</a:t>
            </a:r>
            <a:r>
              <a:rPr lang="en-US" sz="1600" dirty="0">
                <a:solidFill>
                  <a:schemeClr val="tx1"/>
                </a:solidFill>
              </a:rPr>
              <a:t> convention, proper intends, simultaneously reduced code complexity to some extent.</a:t>
            </a:r>
          </a:p>
        </p:txBody>
      </p:sp>
    </p:spTree>
    <p:extLst>
      <p:ext uri="{BB962C8B-B14F-4D97-AF65-F5344CB8AC3E}">
        <p14:creationId xmlns:p14="http://schemas.microsoft.com/office/powerpoint/2010/main" val="22897775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B5D375-4CA2-8F49-B40B-9ECE6C2F7493}"/>
              </a:ext>
            </a:extLst>
          </p:cNvPr>
          <p:cNvSpPr>
            <a:spLocks noGrp="1"/>
          </p:cNvSpPr>
          <p:nvPr>
            <p:ph type="sldNum" sz="quarter" idx="12"/>
          </p:nvPr>
        </p:nvSpPr>
        <p:spPr>
          <a:xfrm>
            <a:off x="11255731" y="221540"/>
            <a:ext cx="587019" cy="230832"/>
          </a:xfrm>
        </p:spPr>
        <p:txBody>
          <a:bodyPr/>
          <a:lstStyle/>
          <a:p>
            <a:fld id="{B7E7695C-FCF1-4AA0-9B93-7941FED13DC4}" type="slidenum">
              <a:rPr lang="en-US" smtClean="0"/>
              <a:pPr/>
              <a:t>45</a:t>
            </a:fld>
            <a:endParaRPr lang="en-US" dirty="0"/>
          </a:p>
        </p:txBody>
      </p:sp>
    </p:spTree>
    <p:extLst>
      <p:ext uri="{BB962C8B-B14F-4D97-AF65-F5344CB8AC3E}">
        <p14:creationId xmlns:p14="http://schemas.microsoft.com/office/powerpoint/2010/main" val="963046304"/>
      </p:ext>
    </p:extLst>
  </p:cSld>
  <p:clrMapOvr>
    <a:masterClrMapping/>
  </p:clrMapOvr>
</p:sld>
</file>

<file path=ppt/theme/theme1.xml><?xml version="1.0" encoding="utf-8"?>
<a:theme xmlns:a="http://schemas.openxmlformats.org/drawingml/2006/main" name="Micron 3.1.8 corporate template Layouts">
  <a:themeElements>
    <a:clrScheme name="Micron">
      <a:dk1>
        <a:srgbClr val="000000"/>
      </a:dk1>
      <a:lt1>
        <a:srgbClr val="FFFFFF"/>
      </a:lt1>
      <a:dk2>
        <a:srgbClr val="0090DA"/>
      </a:dk2>
      <a:lt2>
        <a:srgbClr val="FFFFFF"/>
      </a:lt2>
      <a:accent1>
        <a:srgbClr val="009C85"/>
      </a:accent1>
      <a:accent2>
        <a:srgbClr val="5E249F"/>
      </a:accent2>
      <a:accent3>
        <a:srgbClr val="70C4E8"/>
      </a:accent3>
      <a:accent4>
        <a:srgbClr val="FF8E1C"/>
      </a:accent4>
      <a:accent5>
        <a:srgbClr val="BB28BB"/>
      </a:accent5>
      <a:accent6>
        <a:srgbClr val="7F7F7F"/>
      </a:accent6>
      <a:hlink>
        <a:srgbClr val="0077C8"/>
      </a:hlink>
      <a:folHlink>
        <a:srgbClr val="0077C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7C8"/>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icron-corporate-powerpoint-template-2" id="{C793DFE4-A046-F246-91A4-65C6CD148B86}" vid="{AED29A57-2BF2-0A40-A20A-9BDE181A93B7}"/>
    </a:ext>
  </a:extLst>
</a:theme>
</file>

<file path=ppt/theme/theme2.xml><?xml version="1.0" encoding="utf-8"?>
<a:theme xmlns:a="http://schemas.openxmlformats.org/drawingml/2006/main" name="Micron 3.1.8 custom layouts">
  <a:themeElements>
    <a:clrScheme name="Micron">
      <a:dk1>
        <a:srgbClr val="000000"/>
      </a:dk1>
      <a:lt1>
        <a:srgbClr val="FFFFFF"/>
      </a:lt1>
      <a:dk2>
        <a:srgbClr val="0090DA"/>
      </a:dk2>
      <a:lt2>
        <a:srgbClr val="FFFFFF"/>
      </a:lt2>
      <a:accent1>
        <a:srgbClr val="009C85"/>
      </a:accent1>
      <a:accent2>
        <a:srgbClr val="5E249F"/>
      </a:accent2>
      <a:accent3>
        <a:srgbClr val="70C4E8"/>
      </a:accent3>
      <a:accent4>
        <a:srgbClr val="FF8E1C"/>
      </a:accent4>
      <a:accent5>
        <a:srgbClr val="BB28BB"/>
      </a:accent5>
      <a:accent6>
        <a:srgbClr val="7F7F7F"/>
      </a:accent6>
      <a:hlink>
        <a:srgbClr val="0077C8"/>
      </a:hlink>
      <a:folHlink>
        <a:srgbClr val="0077C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7C8"/>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icron-corporate-powerpoint-template-2" id="{C793DFE4-A046-F246-91A4-65C6CD148B86}" vid="{5CB90631-2BC0-D142-B85F-A459B55ECFA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7586</TotalTime>
  <Words>4217</Words>
  <Application>Microsoft Office PowerPoint</Application>
  <PresentationFormat>Widescreen</PresentationFormat>
  <Paragraphs>481</Paragraphs>
  <Slides>45</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45</vt:i4>
      </vt:variant>
    </vt:vector>
  </HeadingPairs>
  <TitlesOfParts>
    <vt:vector size="53" baseType="lpstr">
      <vt:lpstr>Apple Symbols</vt:lpstr>
      <vt:lpstr>Arial</vt:lpstr>
      <vt:lpstr>Calibri</vt:lpstr>
      <vt:lpstr>Consolas</vt:lpstr>
      <vt:lpstr>System Font Regular</vt:lpstr>
      <vt:lpstr>Wingdings</vt:lpstr>
      <vt:lpstr>Micron 3.1.8 corporate template Layouts</vt:lpstr>
      <vt:lpstr>Micron 3.1.8 custom layouts</vt:lpstr>
      <vt:lpstr>MAV Waveform Detection</vt:lpstr>
      <vt:lpstr>Results for 1D YoLo V3</vt:lpstr>
      <vt:lpstr>Results for Yolo V3</vt:lpstr>
      <vt:lpstr>New Project Ideas for Waveform Detection</vt:lpstr>
      <vt:lpstr>Results for DB Scan </vt:lpstr>
      <vt:lpstr>Progress PPT from here</vt:lpstr>
      <vt:lpstr>Error Analysis Report </vt:lpstr>
      <vt:lpstr>How is Error Analysis Report prepared?</vt:lpstr>
      <vt:lpstr>Example1:</vt:lpstr>
      <vt:lpstr>Example2:</vt:lpstr>
      <vt:lpstr>Example3:</vt:lpstr>
      <vt:lpstr>Example4:</vt:lpstr>
      <vt:lpstr>Example5:</vt:lpstr>
      <vt:lpstr>Example7:</vt:lpstr>
      <vt:lpstr>Mislabeling of Data</vt:lpstr>
      <vt:lpstr>Example1:</vt:lpstr>
      <vt:lpstr>Example2:</vt:lpstr>
      <vt:lpstr>Example3:</vt:lpstr>
      <vt:lpstr>Example4:</vt:lpstr>
      <vt:lpstr>Example5:</vt:lpstr>
      <vt:lpstr>New Version of Code</vt:lpstr>
      <vt:lpstr>Comparison Table</vt:lpstr>
      <vt:lpstr>Results </vt:lpstr>
      <vt:lpstr>Read Waveform 1</vt:lpstr>
      <vt:lpstr>Read Waveform 2</vt:lpstr>
      <vt:lpstr>Erase Waveform 1</vt:lpstr>
      <vt:lpstr>Erase Waveform 2</vt:lpstr>
      <vt:lpstr>Program Waveform 1</vt:lpstr>
      <vt:lpstr>Program Waveform 2</vt:lpstr>
      <vt:lpstr>Local Maxima and Minima</vt:lpstr>
      <vt:lpstr>Previous Approach</vt:lpstr>
      <vt:lpstr>Previous approach </vt:lpstr>
      <vt:lpstr>Previous approach </vt:lpstr>
      <vt:lpstr>Previous approach </vt:lpstr>
      <vt:lpstr>Previous approach </vt:lpstr>
      <vt:lpstr>Previous approach </vt:lpstr>
      <vt:lpstr>Previous approach </vt:lpstr>
      <vt:lpstr>Improvement of the Smoothening/ Denoising criteria</vt:lpstr>
      <vt:lpstr>Present Denoising Criteria</vt:lpstr>
      <vt:lpstr>Example 1:</vt:lpstr>
      <vt:lpstr>Example 2:</vt:lpstr>
      <vt:lpstr>Example 3:</vt:lpstr>
      <vt:lpstr>Example 4:</vt:lpstr>
      <vt:lpstr>Code Review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MAV Waveform Detection</dc:title>
  <dc:creator>Prasun Agarwal (prasuna)</dc:creator>
  <cp:lastModifiedBy>Prasun Agarwal</cp:lastModifiedBy>
  <cp:revision>30</cp:revision>
  <cp:lastPrinted>2019-07-02T17:09:38Z</cp:lastPrinted>
  <dcterms:created xsi:type="dcterms:W3CDTF">2022-10-10T05:53:40Z</dcterms:created>
  <dcterms:modified xsi:type="dcterms:W3CDTF">2023-06-09T04:02:27Z</dcterms:modified>
  <cp:version>2022</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Micron 3.1 Corporate Template Layouts:7\Micron 3.1 Custom Layouts:7</vt:lpwstr>
  </property>
  <property fmtid="{D5CDD505-2E9C-101B-9397-08002B2CF9AE}" pid="3" name="ClassificationContentMarkingFooterText">
    <vt:lpwstr>Micron Confidential</vt:lpwstr>
  </property>
  <property fmtid="{D5CDD505-2E9C-101B-9397-08002B2CF9AE}" pid="4" name="ClassificationContentMarkingHeaderLocations">
    <vt:lpwstr>Micron 3.1 Corporate Template Layouts:6\Micron 3.1 Custom Layouts:6</vt:lpwstr>
  </property>
  <property fmtid="{D5CDD505-2E9C-101B-9397-08002B2CF9AE}" pid="5" name="ClassificationContentMarkingHeaderText">
    <vt:lpwstr>Micron Confidential</vt:lpwstr>
  </property>
  <property fmtid="{D5CDD505-2E9C-101B-9397-08002B2CF9AE}" pid="6" name="MSIP_Label_37874100-6000-43b6-a204-2d77792600b9_Enabled">
    <vt:lpwstr>true</vt:lpwstr>
  </property>
  <property fmtid="{D5CDD505-2E9C-101B-9397-08002B2CF9AE}" pid="7" name="MSIP_Label_37874100-6000-43b6-a204-2d77792600b9_SetDate">
    <vt:lpwstr>2023-06-09T04:02:27Z</vt:lpwstr>
  </property>
  <property fmtid="{D5CDD505-2E9C-101B-9397-08002B2CF9AE}" pid="8" name="MSIP_Label_37874100-6000-43b6-a204-2d77792600b9_Method">
    <vt:lpwstr>Privileged</vt:lpwstr>
  </property>
  <property fmtid="{D5CDD505-2E9C-101B-9397-08002B2CF9AE}" pid="9" name="MSIP_Label_37874100-6000-43b6-a204-2d77792600b9_Name">
    <vt:lpwstr>Confidential</vt:lpwstr>
  </property>
  <property fmtid="{D5CDD505-2E9C-101B-9397-08002B2CF9AE}" pid="10" name="MSIP_Label_37874100-6000-43b6-a204-2d77792600b9_SiteId">
    <vt:lpwstr>f38a5ecd-2813-4862-b11b-ac1d563c806f</vt:lpwstr>
  </property>
  <property fmtid="{D5CDD505-2E9C-101B-9397-08002B2CF9AE}" pid="11" name="MSIP_Label_37874100-6000-43b6-a204-2d77792600b9_ActionId">
    <vt:lpwstr>6f7bc95b-ef26-4b4f-8e91-498163e372ec</vt:lpwstr>
  </property>
  <property fmtid="{D5CDD505-2E9C-101B-9397-08002B2CF9AE}" pid="12" name="MSIP_Label_37874100-6000-43b6-a204-2d77792600b9_ContentBits">
    <vt:lpwstr>3</vt:lpwstr>
  </property>
</Properties>
</file>